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3A02845-0741-47A0-945E-AF802FB895F4}"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4" Type="http://schemas.openxmlformats.org/officeDocument/2006/relationships/tableStyles" Target="tableStyles.xml"/><Relationship Id="rId133" Type="http://schemas.openxmlformats.org/officeDocument/2006/relationships/viewProps" Target="viewProps.xml"/><Relationship Id="rId132" Type="http://schemas.openxmlformats.org/officeDocument/2006/relationships/presProps" Target="presProps.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Shape 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 name="Shape 19"/>
        <p:cNvGrpSpPr/>
        <p:nvPr/>
      </p:nvGrpSpPr>
      <p:grpSpPr>
        <a:xfrm>
          <a:off x="0" y="0"/>
          <a:ext cx="0" cy="0"/>
          <a:chOff x="0" y="0"/>
          <a:chExt cx="0" cy="0"/>
        </a:xfrm>
      </p:grpSpPr>
      <p:sp>
        <p:nvSpPr>
          <p:cNvPr id="20" name="Shape 2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 name="Shape 2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Shape 2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 name="Shape 2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 name="Shape 33"/>
        <p:cNvGrpSpPr/>
        <p:nvPr/>
      </p:nvGrpSpPr>
      <p:grpSpPr>
        <a:xfrm>
          <a:off x="0" y="0"/>
          <a:ext cx="0" cy="0"/>
          <a:chOff x="0" y="0"/>
          <a:chExt cx="0" cy="0"/>
        </a:xfrm>
      </p:grpSpPr>
      <p:sp>
        <p:nvSpPr>
          <p:cNvPr id="34" name="Shape 3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5" name="Shape 3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Shape 9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94" name="Shape 9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Shape 15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53" name="Shape 15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Shape 16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4" name="Shape 16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9" name="Shape 169"/>
        <p:cNvGrpSpPr/>
        <p:nvPr/>
      </p:nvGrpSpPr>
      <p:grpSpPr>
        <a:xfrm>
          <a:off x="0" y="0"/>
          <a:ext cx="0" cy="0"/>
          <a:chOff x="0" y="0"/>
          <a:chExt cx="0" cy="0"/>
        </a:xfrm>
      </p:grpSpPr>
      <p:sp>
        <p:nvSpPr>
          <p:cNvPr id="170" name="Shape 17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71" name="Shape 17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Shape 17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78" name="Shape 17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 name="Shape 183"/>
        <p:cNvGrpSpPr/>
        <p:nvPr/>
      </p:nvGrpSpPr>
      <p:grpSpPr>
        <a:xfrm>
          <a:off x="0" y="0"/>
          <a:ext cx="0" cy="0"/>
          <a:chOff x="0" y="0"/>
          <a:chExt cx="0" cy="0"/>
        </a:xfrm>
      </p:grpSpPr>
      <p:sp>
        <p:nvSpPr>
          <p:cNvPr id="184" name="Shape 18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85" name="Shape 18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 name="Shape 193"/>
        <p:cNvGrpSpPr/>
        <p:nvPr/>
      </p:nvGrpSpPr>
      <p:grpSpPr>
        <a:xfrm>
          <a:off x="0" y="0"/>
          <a:ext cx="0" cy="0"/>
          <a:chOff x="0" y="0"/>
          <a:chExt cx="0" cy="0"/>
        </a:xfrm>
      </p:grpSpPr>
      <p:sp>
        <p:nvSpPr>
          <p:cNvPr id="194" name="Shape 19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95" name="Shape 19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Shape 20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01" name="Shape 20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Shape 23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38" name="Shape 23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 name="Shape 248"/>
        <p:cNvGrpSpPr/>
        <p:nvPr/>
      </p:nvGrpSpPr>
      <p:grpSpPr>
        <a:xfrm>
          <a:off x="0" y="0"/>
          <a:ext cx="0" cy="0"/>
          <a:chOff x="0" y="0"/>
          <a:chExt cx="0" cy="0"/>
        </a:xfrm>
      </p:grpSpPr>
      <p:sp>
        <p:nvSpPr>
          <p:cNvPr id="249" name="Shape 24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0" name="Shape 25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Shape 32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24" name="Shape 32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0" name="Shape 330"/>
        <p:cNvGrpSpPr/>
        <p:nvPr/>
      </p:nvGrpSpPr>
      <p:grpSpPr>
        <a:xfrm>
          <a:off x="0" y="0"/>
          <a:ext cx="0" cy="0"/>
          <a:chOff x="0" y="0"/>
          <a:chExt cx="0" cy="0"/>
        </a:xfrm>
      </p:grpSpPr>
      <p:sp>
        <p:nvSpPr>
          <p:cNvPr id="331" name="Shape 33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32" name="Shape 33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Shape 34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41" name="Shape 34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1" name="Shape 351"/>
        <p:cNvGrpSpPr/>
        <p:nvPr/>
      </p:nvGrpSpPr>
      <p:grpSpPr>
        <a:xfrm>
          <a:off x="0" y="0"/>
          <a:ext cx="0" cy="0"/>
          <a:chOff x="0" y="0"/>
          <a:chExt cx="0" cy="0"/>
        </a:xfrm>
      </p:grpSpPr>
      <p:sp>
        <p:nvSpPr>
          <p:cNvPr id="352" name="Shape 35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53" name="Shape 35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3" name="Shape 393"/>
        <p:cNvGrpSpPr/>
        <p:nvPr/>
      </p:nvGrpSpPr>
      <p:grpSpPr>
        <a:xfrm>
          <a:off x="0" y="0"/>
          <a:ext cx="0" cy="0"/>
          <a:chOff x="0" y="0"/>
          <a:chExt cx="0" cy="0"/>
        </a:xfrm>
      </p:grpSpPr>
      <p:sp>
        <p:nvSpPr>
          <p:cNvPr id="394" name="Shape 39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395" name="Shape 39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5" name="Shape 485"/>
        <p:cNvGrpSpPr/>
        <p:nvPr/>
      </p:nvGrpSpPr>
      <p:grpSpPr>
        <a:xfrm>
          <a:off x="0" y="0"/>
          <a:ext cx="0" cy="0"/>
          <a:chOff x="0" y="0"/>
          <a:chExt cx="0" cy="0"/>
        </a:xfrm>
      </p:grpSpPr>
      <p:sp>
        <p:nvSpPr>
          <p:cNvPr id="486" name="Shape 48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487" name="Shape 48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4" name="Shape 544"/>
        <p:cNvGrpSpPr/>
        <p:nvPr/>
      </p:nvGrpSpPr>
      <p:grpSpPr>
        <a:xfrm>
          <a:off x="0" y="0"/>
          <a:ext cx="0" cy="0"/>
          <a:chOff x="0" y="0"/>
          <a:chExt cx="0" cy="0"/>
        </a:xfrm>
      </p:grpSpPr>
      <p:sp>
        <p:nvSpPr>
          <p:cNvPr id="545" name="Shape 54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46" name="Shape 54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2" name="Shape 552"/>
        <p:cNvGrpSpPr/>
        <p:nvPr/>
      </p:nvGrpSpPr>
      <p:grpSpPr>
        <a:xfrm>
          <a:off x="0" y="0"/>
          <a:ext cx="0" cy="0"/>
          <a:chOff x="0" y="0"/>
          <a:chExt cx="0" cy="0"/>
        </a:xfrm>
      </p:grpSpPr>
      <p:sp>
        <p:nvSpPr>
          <p:cNvPr id="553" name="Shape 55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54" name="Shape 55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2" name="Shape 562"/>
        <p:cNvGrpSpPr/>
        <p:nvPr/>
      </p:nvGrpSpPr>
      <p:grpSpPr>
        <a:xfrm>
          <a:off x="0" y="0"/>
          <a:ext cx="0" cy="0"/>
          <a:chOff x="0" y="0"/>
          <a:chExt cx="0" cy="0"/>
        </a:xfrm>
      </p:grpSpPr>
      <p:sp>
        <p:nvSpPr>
          <p:cNvPr id="563" name="Shape 56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64" name="Shape 56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9" name="Shape 569"/>
        <p:cNvGrpSpPr/>
        <p:nvPr/>
      </p:nvGrpSpPr>
      <p:grpSpPr>
        <a:xfrm>
          <a:off x="0" y="0"/>
          <a:ext cx="0" cy="0"/>
          <a:chOff x="0" y="0"/>
          <a:chExt cx="0" cy="0"/>
        </a:xfrm>
      </p:grpSpPr>
      <p:sp>
        <p:nvSpPr>
          <p:cNvPr id="570" name="Shape 57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71" name="Shape 57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0" name="Shape 580"/>
        <p:cNvGrpSpPr/>
        <p:nvPr/>
      </p:nvGrpSpPr>
      <p:grpSpPr>
        <a:xfrm>
          <a:off x="0" y="0"/>
          <a:ext cx="0" cy="0"/>
          <a:chOff x="0" y="0"/>
          <a:chExt cx="0" cy="0"/>
        </a:xfrm>
      </p:grpSpPr>
      <p:sp>
        <p:nvSpPr>
          <p:cNvPr id="581" name="Shape 58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82" name="Shape 58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5" name="Shape 595"/>
        <p:cNvGrpSpPr/>
        <p:nvPr/>
      </p:nvGrpSpPr>
      <p:grpSpPr>
        <a:xfrm>
          <a:off x="0" y="0"/>
          <a:ext cx="0" cy="0"/>
          <a:chOff x="0" y="0"/>
          <a:chExt cx="0" cy="0"/>
        </a:xfrm>
      </p:grpSpPr>
      <p:sp>
        <p:nvSpPr>
          <p:cNvPr id="596" name="Shape 59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597" name="Shape 59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9" name="Shape 679"/>
        <p:cNvGrpSpPr/>
        <p:nvPr/>
      </p:nvGrpSpPr>
      <p:grpSpPr>
        <a:xfrm>
          <a:off x="0" y="0"/>
          <a:ext cx="0" cy="0"/>
          <a:chOff x="0" y="0"/>
          <a:chExt cx="0" cy="0"/>
        </a:xfrm>
      </p:grpSpPr>
      <p:sp>
        <p:nvSpPr>
          <p:cNvPr id="680" name="Shape 68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681" name="Shape 68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7" name="Shape 687"/>
        <p:cNvGrpSpPr/>
        <p:nvPr/>
      </p:nvGrpSpPr>
      <p:grpSpPr>
        <a:xfrm>
          <a:off x="0" y="0"/>
          <a:ext cx="0" cy="0"/>
          <a:chOff x="0" y="0"/>
          <a:chExt cx="0" cy="0"/>
        </a:xfrm>
      </p:grpSpPr>
      <p:sp>
        <p:nvSpPr>
          <p:cNvPr id="688" name="Shape 68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689" name="Shape 68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4" name="Shape 694"/>
        <p:cNvGrpSpPr/>
        <p:nvPr/>
      </p:nvGrpSpPr>
      <p:grpSpPr>
        <a:xfrm>
          <a:off x="0" y="0"/>
          <a:ext cx="0" cy="0"/>
          <a:chOff x="0" y="0"/>
          <a:chExt cx="0" cy="0"/>
        </a:xfrm>
      </p:grpSpPr>
      <p:sp>
        <p:nvSpPr>
          <p:cNvPr id="695" name="Shape 69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696" name="Shape 69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4" name="Shape 734"/>
        <p:cNvGrpSpPr/>
        <p:nvPr/>
      </p:nvGrpSpPr>
      <p:grpSpPr>
        <a:xfrm>
          <a:off x="0" y="0"/>
          <a:ext cx="0" cy="0"/>
          <a:chOff x="0" y="0"/>
          <a:chExt cx="0" cy="0"/>
        </a:xfrm>
      </p:grpSpPr>
      <p:sp>
        <p:nvSpPr>
          <p:cNvPr id="735" name="Shape 73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736" name="Shape 73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6" name="Shape 776"/>
        <p:cNvGrpSpPr/>
        <p:nvPr/>
      </p:nvGrpSpPr>
      <p:grpSpPr>
        <a:xfrm>
          <a:off x="0" y="0"/>
          <a:ext cx="0" cy="0"/>
          <a:chOff x="0" y="0"/>
          <a:chExt cx="0" cy="0"/>
        </a:xfrm>
      </p:grpSpPr>
      <p:sp>
        <p:nvSpPr>
          <p:cNvPr id="777" name="Shape 77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778" name="Shape 77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8" name="Shape 828"/>
        <p:cNvGrpSpPr/>
        <p:nvPr/>
      </p:nvGrpSpPr>
      <p:grpSpPr>
        <a:xfrm>
          <a:off x="0" y="0"/>
          <a:ext cx="0" cy="0"/>
          <a:chOff x="0" y="0"/>
          <a:chExt cx="0" cy="0"/>
        </a:xfrm>
      </p:grpSpPr>
      <p:sp>
        <p:nvSpPr>
          <p:cNvPr id="829" name="Shape 82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830" name="Shape 83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36" name="Shape 836"/>
        <p:cNvGrpSpPr/>
        <p:nvPr/>
      </p:nvGrpSpPr>
      <p:grpSpPr>
        <a:xfrm>
          <a:off x="0" y="0"/>
          <a:ext cx="0" cy="0"/>
          <a:chOff x="0" y="0"/>
          <a:chExt cx="0" cy="0"/>
        </a:xfrm>
      </p:grpSpPr>
      <p:sp>
        <p:nvSpPr>
          <p:cNvPr id="837" name="Shape 83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838" name="Shape 83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4" name="Shape 844"/>
        <p:cNvGrpSpPr/>
        <p:nvPr/>
      </p:nvGrpSpPr>
      <p:grpSpPr>
        <a:xfrm>
          <a:off x="0" y="0"/>
          <a:ext cx="0" cy="0"/>
          <a:chOff x="0" y="0"/>
          <a:chExt cx="0" cy="0"/>
        </a:xfrm>
      </p:grpSpPr>
      <p:sp>
        <p:nvSpPr>
          <p:cNvPr id="845" name="Shape 84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846" name="Shape 84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5" name="Shape 855"/>
        <p:cNvGrpSpPr/>
        <p:nvPr/>
      </p:nvGrpSpPr>
      <p:grpSpPr>
        <a:xfrm>
          <a:off x="0" y="0"/>
          <a:ext cx="0" cy="0"/>
          <a:chOff x="0" y="0"/>
          <a:chExt cx="0" cy="0"/>
        </a:xfrm>
      </p:grpSpPr>
      <p:sp>
        <p:nvSpPr>
          <p:cNvPr id="856" name="Shape 85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857" name="Shape 85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0" name="Shape 870"/>
        <p:cNvGrpSpPr/>
        <p:nvPr/>
      </p:nvGrpSpPr>
      <p:grpSpPr>
        <a:xfrm>
          <a:off x="0" y="0"/>
          <a:ext cx="0" cy="0"/>
          <a:chOff x="0" y="0"/>
          <a:chExt cx="0" cy="0"/>
        </a:xfrm>
      </p:grpSpPr>
      <p:sp>
        <p:nvSpPr>
          <p:cNvPr id="871" name="Shape 87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872" name="Shape 87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9" name="Shape 929"/>
        <p:cNvGrpSpPr/>
        <p:nvPr/>
      </p:nvGrpSpPr>
      <p:grpSpPr>
        <a:xfrm>
          <a:off x="0" y="0"/>
          <a:ext cx="0" cy="0"/>
          <a:chOff x="0" y="0"/>
          <a:chExt cx="0" cy="0"/>
        </a:xfrm>
      </p:grpSpPr>
      <p:sp>
        <p:nvSpPr>
          <p:cNvPr id="930" name="Shape 93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931" name="Shape 93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9" name="Shape 939"/>
        <p:cNvGrpSpPr/>
        <p:nvPr/>
      </p:nvGrpSpPr>
      <p:grpSpPr>
        <a:xfrm>
          <a:off x="0" y="0"/>
          <a:ext cx="0" cy="0"/>
          <a:chOff x="0" y="0"/>
          <a:chExt cx="0" cy="0"/>
        </a:xfrm>
      </p:grpSpPr>
      <p:sp>
        <p:nvSpPr>
          <p:cNvPr id="940" name="Shape 94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941" name="Shape 94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7" name="Shape 977"/>
        <p:cNvGrpSpPr/>
        <p:nvPr/>
      </p:nvGrpSpPr>
      <p:grpSpPr>
        <a:xfrm>
          <a:off x="0" y="0"/>
          <a:ext cx="0" cy="0"/>
          <a:chOff x="0" y="0"/>
          <a:chExt cx="0" cy="0"/>
        </a:xfrm>
      </p:grpSpPr>
      <p:sp>
        <p:nvSpPr>
          <p:cNvPr id="978" name="Shape 97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979" name="Shape 97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5" name="Shape 985"/>
        <p:cNvGrpSpPr/>
        <p:nvPr/>
      </p:nvGrpSpPr>
      <p:grpSpPr>
        <a:xfrm>
          <a:off x="0" y="0"/>
          <a:ext cx="0" cy="0"/>
          <a:chOff x="0" y="0"/>
          <a:chExt cx="0" cy="0"/>
        </a:xfrm>
      </p:grpSpPr>
      <p:sp>
        <p:nvSpPr>
          <p:cNvPr id="986" name="Shape 98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987" name="Shape 98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4" name="Shape 1024"/>
        <p:cNvGrpSpPr/>
        <p:nvPr/>
      </p:nvGrpSpPr>
      <p:grpSpPr>
        <a:xfrm>
          <a:off x="0" y="0"/>
          <a:ext cx="0" cy="0"/>
          <a:chOff x="0" y="0"/>
          <a:chExt cx="0" cy="0"/>
        </a:xfrm>
      </p:grpSpPr>
      <p:sp>
        <p:nvSpPr>
          <p:cNvPr id="1025" name="Shape 102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26" name="Shape 102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2" name="Shape 1032"/>
        <p:cNvGrpSpPr/>
        <p:nvPr/>
      </p:nvGrpSpPr>
      <p:grpSpPr>
        <a:xfrm>
          <a:off x="0" y="0"/>
          <a:ext cx="0" cy="0"/>
          <a:chOff x="0" y="0"/>
          <a:chExt cx="0" cy="0"/>
        </a:xfrm>
      </p:grpSpPr>
      <p:sp>
        <p:nvSpPr>
          <p:cNvPr id="1033" name="Shape 103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34" name="Shape 103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1" name="Shape 1051"/>
        <p:cNvGrpSpPr/>
        <p:nvPr/>
      </p:nvGrpSpPr>
      <p:grpSpPr>
        <a:xfrm>
          <a:off x="0" y="0"/>
          <a:ext cx="0" cy="0"/>
          <a:chOff x="0" y="0"/>
          <a:chExt cx="0" cy="0"/>
        </a:xfrm>
      </p:grpSpPr>
      <p:sp>
        <p:nvSpPr>
          <p:cNvPr id="1052" name="Shape 105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53" name="Shape 105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9" name="Shape 1059"/>
        <p:cNvGrpSpPr/>
        <p:nvPr/>
      </p:nvGrpSpPr>
      <p:grpSpPr>
        <a:xfrm>
          <a:off x="0" y="0"/>
          <a:ext cx="0" cy="0"/>
          <a:chOff x="0" y="0"/>
          <a:chExt cx="0" cy="0"/>
        </a:xfrm>
      </p:grpSpPr>
      <p:sp>
        <p:nvSpPr>
          <p:cNvPr id="1060" name="Shape 106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61" name="Shape 106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6" name="Shape 1066"/>
        <p:cNvGrpSpPr/>
        <p:nvPr/>
      </p:nvGrpSpPr>
      <p:grpSpPr>
        <a:xfrm>
          <a:off x="0" y="0"/>
          <a:ext cx="0" cy="0"/>
          <a:chOff x="0" y="0"/>
          <a:chExt cx="0" cy="0"/>
        </a:xfrm>
      </p:grpSpPr>
      <p:sp>
        <p:nvSpPr>
          <p:cNvPr id="1067" name="Shape 106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68" name="Shape 106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4" name="Shape 1094"/>
        <p:cNvGrpSpPr/>
        <p:nvPr/>
      </p:nvGrpSpPr>
      <p:grpSpPr>
        <a:xfrm>
          <a:off x="0" y="0"/>
          <a:ext cx="0" cy="0"/>
          <a:chOff x="0" y="0"/>
          <a:chExt cx="0" cy="0"/>
        </a:xfrm>
      </p:grpSpPr>
      <p:sp>
        <p:nvSpPr>
          <p:cNvPr id="1095" name="Shape 109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096" name="Shape 109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8" name="Shape 1188"/>
        <p:cNvGrpSpPr/>
        <p:nvPr/>
      </p:nvGrpSpPr>
      <p:grpSpPr>
        <a:xfrm>
          <a:off x="0" y="0"/>
          <a:ext cx="0" cy="0"/>
          <a:chOff x="0" y="0"/>
          <a:chExt cx="0" cy="0"/>
        </a:xfrm>
      </p:grpSpPr>
      <p:sp>
        <p:nvSpPr>
          <p:cNvPr id="1189" name="Shape 118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190" name="Shape 119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0" name="Shape 1200"/>
        <p:cNvGrpSpPr/>
        <p:nvPr/>
      </p:nvGrpSpPr>
      <p:grpSpPr>
        <a:xfrm>
          <a:off x="0" y="0"/>
          <a:ext cx="0" cy="0"/>
          <a:chOff x="0" y="0"/>
          <a:chExt cx="0" cy="0"/>
        </a:xfrm>
      </p:grpSpPr>
      <p:sp>
        <p:nvSpPr>
          <p:cNvPr id="1201" name="Shape 120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202" name="Shape 120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1" name="Shape 1211"/>
        <p:cNvGrpSpPr/>
        <p:nvPr/>
      </p:nvGrpSpPr>
      <p:grpSpPr>
        <a:xfrm>
          <a:off x="0" y="0"/>
          <a:ext cx="0" cy="0"/>
          <a:chOff x="0" y="0"/>
          <a:chExt cx="0" cy="0"/>
        </a:xfrm>
      </p:grpSpPr>
      <p:sp>
        <p:nvSpPr>
          <p:cNvPr id="1212" name="Shape 121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213" name="Shape 121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9" name="Shape 1219"/>
        <p:cNvGrpSpPr/>
        <p:nvPr/>
      </p:nvGrpSpPr>
      <p:grpSpPr>
        <a:xfrm>
          <a:off x="0" y="0"/>
          <a:ext cx="0" cy="0"/>
          <a:chOff x="0" y="0"/>
          <a:chExt cx="0" cy="0"/>
        </a:xfrm>
      </p:grpSpPr>
      <p:sp>
        <p:nvSpPr>
          <p:cNvPr id="1220" name="Shape 122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221" name="Shape 122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6" name="Shape 1286"/>
        <p:cNvGrpSpPr/>
        <p:nvPr/>
      </p:nvGrpSpPr>
      <p:grpSpPr>
        <a:xfrm>
          <a:off x="0" y="0"/>
          <a:ext cx="0" cy="0"/>
          <a:chOff x="0" y="0"/>
          <a:chExt cx="0" cy="0"/>
        </a:xfrm>
      </p:grpSpPr>
      <p:sp>
        <p:nvSpPr>
          <p:cNvPr id="1287" name="Shape 128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288" name="Shape 128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3" name="Shape 1293"/>
        <p:cNvGrpSpPr/>
        <p:nvPr/>
      </p:nvGrpSpPr>
      <p:grpSpPr>
        <a:xfrm>
          <a:off x="0" y="0"/>
          <a:ext cx="0" cy="0"/>
          <a:chOff x="0" y="0"/>
          <a:chExt cx="0" cy="0"/>
        </a:xfrm>
      </p:grpSpPr>
      <p:sp>
        <p:nvSpPr>
          <p:cNvPr id="1294" name="Shape 129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295" name="Shape 129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1" name="Shape 1301"/>
        <p:cNvGrpSpPr/>
        <p:nvPr/>
      </p:nvGrpSpPr>
      <p:grpSpPr>
        <a:xfrm>
          <a:off x="0" y="0"/>
          <a:ext cx="0" cy="0"/>
          <a:chOff x="0" y="0"/>
          <a:chExt cx="0" cy="0"/>
        </a:xfrm>
      </p:grpSpPr>
      <p:sp>
        <p:nvSpPr>
          <p:cNvPr id="1302" name="Shape 130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03" name="Shape 130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8" name="Shape 1338"/>
        <p:cNvGrpSpPr/>
        <p:nvPr/>
      </p:nvGrpSpPr>
      <p:grpSpPr>
        <a:xfrm>
          <a:off x="0" y="0"/>
          <a:ext cx="0" cy="0"/>
          <a:chOff x="0" y="0"/>
          <a:chExt cx="0" cy="0"/>
        </a:xfrm>
      </p:grpSpPr>
      <p:sp>
        <p:nvSpPr>
          <p:cNvPr id="1339" name="Shape 133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40" name="Shape 134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6" name="Shape 1346"/>
        <p:cNvGrpSpPr/>
        <p:nvPr/>
      </p:nvGrpSpPr>
      <p:grpSpPr>
        <a:xfrm>
          <a:off x="0" y="0"/>
          <a:ext cx="0" cy="0"/>
          <a:chOff x="0" y="0"/>
          <a:chExt cx="0" cy="0"/>
        </a:xfrm>
      </p:grpSpPr>
      <p:sp>
        <p:nvSpPr>
          <p:cNvPr id="1347" name="Shape 134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48" name="Shape 134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3" name="Shape 1353"/>
        <p:cNvGrpSpPr/>
        <p:nvPr/>
      </p:nvGrpSpPr>
      <p:grpSpPr>
        <a:xfrm>
          <a:off x="0" y="0"/>
          <a:ext cx="0" cy="0"/>
          <a:chOff x="0" y="0"/>
          <a:chExt cx="0" cy="0"/>
        </a:xfrm>
      </p:grpSpPr>
      <p:sp>
        <p:nvSpPr>
          <p:cNvPr id="1354" name="Shape 135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55" name="Shape 135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2" name="Shape 1362"/>
        <p:cNvGrpSpPr/>
        <p:nvPr/>
      </p:nvGrpSpPr>
      <p:grpSpPr>
        <a:xfrm>
          <a:off x="0" y="0"/>
          <a:ext cx="0" cy="0"/>
          <a:chOff x="0" y="0"/>
          <a:chExt cx="0" cy="0"/>
        </a:xfrm>
      </p:grpSpPr>
      <p:sp>
        <p:nvSpPr>
          <p:cNvPr id="1363" name="Shape 136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64" name="Shape 136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1" name="Shape 1391"/>
        <p:cNvGrpSpPr/>
        <p:nvPr/>
      </p:nvGrpSpPr>
      <p:grpSpPr>
        <a:xfrm>
          <a:off x="0" y="0"/>
          <a:ext cx="0" cy="0"/>
          <a:chOff x="0" y="0"/>
          <a:chExt cx="0" cy="0"/>
        </a:xfrm>
      </p:grpSpPr>
      <p:sp>
        <p:nvSpPr>
          <p:cNvPr id="1392" name="Shape 139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393" name="Shape 139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2" name="Shape 1402"/>
        <p:cNvGrpSpPr/>
        <p:nvPr/>
      </p:nvGrpSpPr>
      <p:grpSpPr>
        <a:xfrm>
          <a:off x="0" y="0"/>
          <a:ext cx="0" cy="0"/>
          <a:chOff x="0" y="0"/>
          <a:chExt cx="0" cy="0"/>
        </a:xfrm>
      </p:grpSpPr>
      <p:sp>
        <p:nvSpPr>
          <p:cNvPr id="1403" name="Shape 140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404" name="Shape 140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0" name="Shape 1410"/>
        <p:cNvGrpSpPr/>
        <p:nvPr/>
      </p:nvGrpSpPr>
      <p:grpSpPr>
        <a:xfrm>
          <a:off x="0" y="0"/>
          <a:ext cx="0" cy="0"/>
          <a:chOff x="0" y="0"/>
          <a:chExt cx="0" cy="0"/>
        </a:xfrm>
      </p:grpSpPr>
      <p:sp>
        <p:nvSpPr>
          <p:cNvPr id="1411" name="Shape 141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412" name="Shape 141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9" name="Shape 1449"/>
        <p:cNvGrpSpPr/>
        <p:nvPr/>
      </p:nvGrpSpPr>
      <p:grpSpPr>
        <a:xfrm>
          <a:off x="0" y="0"/>
          <a:ext cx="0" cy="0"/>
          <a:chOff x="0" y="0"/>
          <a:chExt cx="0" cy="0"/>
        </a:xfrm>
      </p:grpSpPr>
      <p:sp>
        <p:nvSpPr>
          <p:cNvPr id="1450" name="Shape 145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451" name="Shape 145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1" name="Shape 1491"/>
        <p:cNvGrpSpPr/>
        <p:nvPr/>
      </p:nvGrpSpPr>
      <p:grpSpPr>
        <a:xfrm>
          <a:off x="0" y="0"/>
          <a:ext cx="0" cy="0"/>
          <a:chOff x="0" y="0"/>
          <a:chExt cx="0" cy="0"/>
        </a:xfrm>
      </p:grpSpPr>
      <p:sp>
        <p:nvSpPr>
          <p:cNvPr id="1492" name="Shape 149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493" name="Shape 149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2" name="Shape 1502"/>
        <p:cNvGrpSpPr/>
        <p:nvPr/>
      </p:nvGrpSpPr>
      <p:grpSpPr>
        <a:xfrm>
          <a:off x="0" y="0"/>
          <a:ext cx="0" cy="0"/>
          <a:chOff x="0" y="0"/>
          <a:chExt cx="0" cy="0"/>
        </a:xfrm>
      </p:grpSpPr>
      <p:sp>
        <p:nvSpPr>
          <p:cNvPr id="1503" name="Shape 150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504" name="Shape 150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9" name="Shape 1539"/>
        <p:cNvGrpSpPr/>
        <p:nvPr/>
      </p:nvGrpSpPr>
      <p:grpSpPr>
        <a:xfrm>
          <a:off x="0" y="0"/>
          <a:ext cx="0" cy="0"/>
          <a:chOff x="0" y="0"/>
          <a:chExt cx="0" cy="0"/>
        </a:xfrm>
      </p:grpSpPr>
      <p:sp>
        <p:nvSpPr>
          <p:cNvPr id="1540" name="Shape 154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541" name="Shape 154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7" name="Shape 1577"/>
        <p:cNvGrpSpPr/>
        <p:nvPr/>
      </p:nvGrpSpPr>
      <p:grpSpPr>
        <a:xfrm>
          <a:off x="0" y="0"/>
          <a:ext cx="0" cy="0"/>
          <a:chOff x="0" y="0"/>
          <a:chExt cx="0" cy="0"/>
        </a:xfrm>
      </p:grpSpPr>
      <p:sp>
        <p:nvSpPr>
          <p:cNvPr id="1578" name="Shape 157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579" name="Shape 157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1" name="Shape 1601"/>
        <p:cNvGrpSpPr/>
        <p:nvPr/>
      </p:nvGrpSpPr>
      <p:grpSpPr>
        <a:xfrm>
          <a:off x="0" y="0"/>
          <a:ext cx="0" cy="0"/>
          <a:chOff x="0" y="0"/>
          <a:chExt cx="0" cy="0"/>
        </a:xfrm>
      </p:grpSpPr>
      <p:sp>
        <p:nvSpPr>
          <p:cNvPr id="1602" name="Shape 160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03" name="Shape 160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9" name="Shape 1609"/>
        <p:cNvGrpSpPr/>
        <p:nvPr/>
      </p:nvGrpSpPr>
      <p:grpSpPr>
        <a:xfrm>
          <a:off x="0" y="0"/>
          <a:ext cx="0" cy="0"/>
          <a:chOff x="0" y="0"/>
          <a:chExt cx="0" cy="0"/>
        </a:xfrm>
      </p:grpSpPr>
      <p:sp>
        <p:nvSpPr>
          <p:cNvPr id="1610" name="Shape 161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11" name="Shape 161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7" name="Shape 1617"/>
        <p:cNvGrpSpPr/>
        <p:nvPr/>
      </p:nvGrpSpPr>
      <p:grpSpPr>
        <a:xfrm>
          <a:off x="0" y="0"/>
          <a:ext cx="0" cy="0"/>
          <a:chOff x="0" y="0"/>
          <a:chExt cx="0" cy="0"/>
        </a:xfrm>
      </p:grpSpPr>
      <p:sp>
        <p:nvSpPr>
          <p:cNvPr id="1618" name="Shape 161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19" name="Shape 161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4" name="Shape 1624"/>
        <p:cNvGrpSpPr/>
        <p:nvPr/>
      </p:nvGrpSpPr>
      <p:grpSpPr>
        <a:xfrm>
          <a:off x="0" y="0"/>
          <a:ext cx="0" cy="0"/>
          <a:chOff x="0" y="0"/>
          <a:chExt cx="0" cy="0"/>
        </a:xfrm>
      </p:grpSpPr>
      <p:sp>
        <p:nvSpPr>
          <p:cNvPr id="1625" name="Shape 162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26" name="Shape 162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5" name="Shape 1665"/>
        <p:cNvGrpSpPr/>
        <p:nvPr/>
      </p:nvGrpSpPr>
      <p:grpSpPr>
        <a:xfrm>
          <a:off x="0" y="0"/>
          <a:ext cx="0" cy="0"/>
          <a:chOff x="0" y="0"/>
          <a:chExt cx="0" cy="0"/>
        </a:xfrm>
      </p:grpSpPr>
      <p:sp>
        <p:nvSpPr>
          <p:cNvPr id="1666" name="Shape 166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667" name="Shape 166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0" name="Shape 1740"/>
        <p:cNvGrpSpPr/>
        <p:nvPr/>
      </p:nvGrpSpPr>
      <p:grpSpPr>
        <a:xfrm>
          <a:off x="0" y="0"/>
          <a:ext cx="0" cy="0"/>
          <a:chOff x="0" y="0"/>
          <a:chExt cx="0" cy="0"/>
        </a:xfrm>
      </p:grpSpPr>
      <p:sp>
        <p:nvSpPr>
          <p:cNvPr id="1741" name="Shape 174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742" name="Shape 174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50" name="Shape 1750"/>
        <p:cNvGrpSpPr/>
        <p:nvPr/>
      </p:nvGrpSpPr>
      <p:grpSpPr>
        <a:xfrm>
          <a:off x="0" y="0"/>
          <a:ext cx="0" cy="0"/>
          <a:chOff x="0" y="0"/>
          <a:chExt cx="0" cy="0"/>
        </a:xfrm>
      </p:grpSpPr>
      <p:sp>
        <p:nvSpPr>
          <p:cNvPr id="1751" name="Shape 175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752" name="Shape 175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9" name="Shape 1789"/>
        <p:cNvGrpSpPr/>
        <p:nvPr/>
      </p:nvGrpSpPr>
      <p:grpSpPr>
        <a:xfrm>
          <a:off x="0" y="0"/>
          <a:ext cx="0" cy="0"/>
          <a:chOff x="0" y="0"/>
          <a:chExt cx="0" cy="0"/>
        </a:xfrm>
      </p:grpSpPr>
      <p:sp>
        <p:nvSpPr>
          <p:cNvPr id="1790" name="Shape 179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791" name="Shape 179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8" name="Shape 1828"/>
        <p:cNvGrpSpPr/>
        <p:nvPr/>
      </p:nvGrpSpPr>
      <p:grpSpPr>
        <a:xfrm>
          <a:off x="0" y="0"/>
          <a:ext cx="0" cy="0"/>
          <a:chOff x="0" y="0"/>
          <a:chExt cx="0" cy="0"/>
        </a:xfrm>
      </p:grpSpPr>
      <p:sp>
        <p:nvSpPr>
          <p:cNvPr id="1829" name="Shape 182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830" name="Shape 183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1" name="Shape 1881"/>
        <p:cNvGrpSpPr/>
        <p:nvPr/>
      </p:nvGrpSpPr>
      <p:grpSpPr>
        <a:xfrm>
          <a:off x="0" y="0"/>
          <a:ext cx="0" cy="0"/>
          <a:chOff x="0" y="0"/>
          <a:chExt cx="0" cy="0"/>
        </a:xfrm>
      </p:grpSpPr>
      <p:sp>
        <p:nvSpPr>
          <p:cNvPr id="1882" name="Shape 188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883" name="Shape 188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2" name="Shape 1892"/>
        <p:cNvGrpSpPr/>
        <p:nvPr/>
      </p:nvGrpSpPr>
      <p:grpSpPr>
        <a:xfrm>
          <a:off x="0" y="0"/>
          <a:ext cx="0" cy="0"/>
          <a:chOff x="0" y="0"/>
          <a:chExt cx="0" cy="0"/>
        </a:xfrm>
      </p:grpSpPr>
      <p:sp>
        <p:nvSpPr>
          <p:cNvPr id="1893" name="Shape 189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894" name="Shape 189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37" name="Shape 1937"/>
        <p:cNvGrpSpPr/>
        <p:nvPr/>
      </p:nvGrpSpPr>
      <p:grpSpPr>
        <a:xfrm>
          <a:off x="0" y="0"/>
          <a:ext cx="0" cy="0"/>
          <a:chOff x="0" y="0"/>
          <a:chExt cx="0" cy="0"/>
        </a:xfrm>
      </p:grpSpPr>
      <p:sp>
        <p:nvSpPr>
          <p:cNvPr id="1938" name="Shape 193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939" name="Shape 193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4" name="Shape 1944"/>
        <p:cNvGrpSpPr/>
        <p:nvPr/>
      </p:nvGrpSpPr>
      <p:grpSpPr>
        <a:xfrm>
          <a:off x="0" y="0"/>
          <a:ext cx="0" cy="0"/>
          <a:chOff x="0" y="0"/>
          <a:chExt cx="0" cy="0"/>
        </a:xfrm>
      </p:grpSpPr>
      <p:sp>
        <p:nvSpPr>
          <p:cNvPr id="1945" name="Shape 194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1946" name="Shape 194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2" name="Shape 2042"/>
        <p:cNvGrpSpPr/>
        <p:nvPr/>
      </p:nvGrpSpPr>
      <p:grpSpPr>
        <a:xfrm>
          <a:off x="0" y="0"/>
          <a:ext cx="0" cy="0"/>
          <a:chOff x="0" y="0"/>
          <a:chExt cx="0" cy="0"/>
        </a:xfrm>
      </p:grpSpPr>
      <p:sp>
        <p:nvSpPr>
          <p:cNvPr id="2043" name="Shape 204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044" name="Shape 204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0" name="Shape 2050"/>
        <p:cNvGrpSpPr/>
        <p:nvPr/>
      </p:nvGrpSpPr>
      <p:grpSpPr>
        <a:xfrm>
          <a:off x="0" y="0"/>
          <a:ext cx="0" cy="0"/>
          <a:chOff x="0" y="0"/>
          <a:chExt cx="0" cy="0"/>
        </a:xfrm>
      </p:grpSpPr>
      <p:sp>
        <p:nvSpPr>
          <p:cNvPr id="2051" name="Shape 205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052" name="Shape 205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17" name="Shape 2117"/>
        <p:cNvGrpSpPr/>
        <p:nvPr/>
      </p:nvGrpSpPr>
      <p:grpSpPr>
        <a:xfrm>
          <a:off x="0" y="0"/>
          <a:ext cx="0" cy="0"/>
          <a:chOff x="0" y="0"/>
          <a:chExt cx="0" cy="0"/>
        </a:xfrm>
      </p:grpSpPr>
      <p:sp>
        <p:nvSpPr>
          <p:cNvPr id="2118" name="Shape 211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19" name="Shape 211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5" name="Shape 2125"/>
        <p:cNvGrpSpPr/>
        <p:nvPr/>
      </p:nvGrpSpPr>
      <p:grpSpPr>
        <a:xfrm>
          <a:off x="0" y="0"/>
          <a:ext cx="0" cy="0"/>
          <a:chOff x="0" y="0"/>
          <a:chExt cx="0" cy="0"/>
        </a:xfrm>
      </p:grpSpPr>
      <p:sp>
        <p:nvSpPr>
          <p:cNvPr id="2126" name="Shape 212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27" name="Shape 212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0" name="Shape 2170"/>
        <p:cNvGrpSpPr/>
        <p:nvPr/>
      </p:nvGrpSpPr>
      <p:grpSpPr>
        <a:xfrm>
          <a:off x="0" y="0"/>
          <a:ext cx="0" cy="0"/>
          <a:chOff x="0" y="0"/>
          <a:chExt cx="0" cy="0"/>
        </a:xfrm>
      </p:grpSpPr>
      <p:sp>
        <p:nvSpPr>
          <p:cNvPr id="2171" name="Shape 217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72" name="Shape 217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8" name="Shape 2178"/>
        <p:cNvGrpSpPr/>
        <p:nvPr/>
      </p:nvGrpSpPr>
      <p:grpSpPr>
        <a:xfrm>
          <a:off x="0" y="0"/>
          <a:ext cx="0" cy="0"/>
          <a:chOff x="0" y="0"/>
          <a:chExt cx="0" cy="0"/>
        </a:xfrm>
      </p:grpSpPr>
      <p:sp>
        <p:nvSpPr>
          <p:cNvPr id="2179" name="Shape 217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80" name="Shape 218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5" name="Shape 2185"/>
        <p:cNvGrpSpPr/>
        <p:nvPr/>
      </p:nvGrpSpPr>
      <p:grpSpPr>
        <a:xfrm>
          <a:off x="0" y="0"/>
          <a:ext cx="0" cy="0"/>
          <a:chOff x="0" y="0"/>
          <a:chExt cx="0" cy="0"/>
        </a:xfrm>
      </p:grpSpPr>
      <p:sp>
        <p:nvSpPr>
          <p:cNvPr id="2186" name="Shape 218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87" name="Shape 218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2" name="Shape 2192"/>
        <p:cNvGrpSpPr/>
        <p:nvPr/>
      </p:nvGrpSpPr>
      <p:grpSpPr>
        <a:xfrm>
          <a:off x="0" y="0"/>
          <a:ext cx="0" cy="0"/>
          <a:chOff x="0" y="0"/>
          <a:chExt cx="0" cy="0"/>
        </a:xfrm>
      </p:grpSpPr>
      <p:sp>
        <p:nvSpPr>
          <p:cNvPr id="2193" name="Shape 219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194" name="Shape 219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0" name="Shape 2200"/>
        <p:cNvGrpSpPr/>
        <p:nvPr/>
      </p:nvGrpSpPr>
      <p:grpSpPr>
        <a:xfrm>
          <a:off x="0" y="0"/>
          <a:ext cx="0" cy="0"/>
          <a:chOff x="0" y="0"/>
          <a:chExt cx="0" cy="0"/>
        </a:xfrm>
      </p:grpSpPr>
      <p:sp>
        <p:nvSpPr>
          <p:cNvPr id="2201" name="Shape 220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202" name="Shape 220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1" name="Shape 2211"/>
        <p:cNvGrpSpPr/>
        <p:nvPr/>
      </p:nvGrpSpPr>
      <p:grpSpPr>
        <a:xfrm>
          <a:off x="0" y="0"/>
          <a:ext cx="0" cy="0"/>
          <a:chOff x="0" y="0"/>
          <a:chExt cx="0" cy="0"/>
        </a:xfrm>
      </p:grpSpPr>
      <p:sp>
        <p:nvSpPr>
          <p:cNvPr id="2212" name="Shape 221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213" name="Shape 221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4" name="Shape 2264"/>
        <p:cNvGrpSpPr/>
        <p:nvPr/>
      </p:nvGrpSpPr>
      <p:grpSpPr>
        <a:xfrm>
          <a:off x="0" y="0"/>
          <a:ext cx="0" cy="0"/>
          <a:chOff x="0" y="0"/>
          <a:chExt cx="0" cy="0"/>
        </a:xfrm>
      </p:grpSpPr>
      <p:sp>
        <p:nvSpPr>
          <p:cNvPr id="2265" name="Shape 226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266" name="Shape 226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0" name="Shape 2320"/>
        <p:cNvGrpSpPr/>
        <p:nvPr/>
      </p:nvGrpSpPr>
      <p:grpSpPr>
        <a:xfrm>
          <a:off x="0" y="0"/>
          <a:ext cx="0" cy="0"/>
          <a:chOff x="0" y="0"/>
          <a:chExt cx="0" cy="0"/>
        </a:xfrm>
      </p:grpSpPr>
      <p:sp>
        <p:nvSpPr>
          <p:cNvPr id="2321" name="Shape 232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322" name="Shape 232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4" name="Shape 2374"/>
        <p:cNvGrpSpPr/>
        <p:nvPr/>
      </p:nvGrpSpPr>
      <p:grpSpPr>
        <a:xfrm>
          <a:off x="0" y="0"/>
          <a:ext cx="0" cy="0"/>
          <a:chOff x="0" y="0"/>
          <a:chExt cx="0" cy="0"/>
        </a:xfrm>
      </p:grpSpPr>
      <p:sp>
        <p:nvSpPr>
          <p:cNvPr id="2375" name="Shape 237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376" name="Shape 237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0" name="Shape 2430"/>
        <p:cNvGrpSpPr/>
        <p:nvPr/>
      </p:nvGrpSpPr>
      <p:grpSpPr>
        <a:xfrm>
          <a:off x="0" y="0"/>
          <a:ext cx="0" cy="0"/>
          <a:chOff x="0" y="0"/>
          <a:chExt cx="0" cy="0"/>
        </a:xfrm>
      </p:grpSpPr>
      <p:sp>
        <p:nvSpPr>
          <p:cNvPr id="2431" name="Shape 243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432" name="Shape 243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3" name="Shape 2483"/>
        <p:cNvGrpSpPr/>
        <p:nvPr/>
      </p:nvGrpSpPr>
      <p:grpSpPr>
        <a:xfrm>
          <a:off x="0" y="0"/>
          <a:ext cx="0" cy="0"/>
          <a:chOff x="0" y="0"/>
          <a:chExt cx="0" cy="0"/>
        </a:xfrm>
      </p:grpSpPr>
      <p:sp>
        <p:nvSpPr>
          <p:cNvPr id="2484" name="Shape 248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485" name="Shape 248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4" name="Shape 2514"/>
        <p:cNvGrpSpPr/>
        <p:nvPr/>
      </p:nvGrpSpPr>
      <p:grpSpPr>
        <a:xfrm>
          <a:off x="0" y="0"/>
          <a:ext cx="0" cy="0"/>
          <a:chOff x="0" y="0"/>
          <a:chExt cx="0" cy="0"/>
        </a:xfrm>
      </p:grpSpPr>
      <p:sp>
        <p:nvSpPr>
          <p:cNvPr id="2515" name="Shape 251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16" name="Shape 251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22" name="Shape 2522"/>
        <p:cNvGrpSpPr/>
        <p:nvPr/>
      </p:nvGrpSpPr>
      <p:grpSpPr>
        <a:xfrm>
          <a:off x="0" y="0"/>
          <a:ext cx="0" cy="0"/>
          <a:chOff x="0" y="0"/>
          <a:chExt cx="0" cy="0"/>
        </a:xfrm>
      </p:grpSpPr>
      <p:sp>
        <p:nvSpPr>
          <p:cNvPr id="2523" name="Shape 252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24" name="Shape 252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61" name="Shape 2561"/>
        <p:cNvGrpSpPr/>
        <p:nvPr/>
      </p:nvGrpSpPr>
      <p:grpSpPr>
        <a:xfrm>
          <a:off x="0" y="0"/>
          <a:ext cx="0" cy="0"/>
          <a:chOff x="0" y="0"/>
          <a:chExt cx="0" cy="0"/>
        </a:xfrm>
      </p:grpSpPr>
      <p:sp>
        <p:nvSpPr>
          <p:cNvPr id="2562" name="Shape 256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63" name="Shape 256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4" name="Shape 2584"/>
        <p:cNvGrpSpPr/>
        <p:nvPr/>
      </p:nvGrpSpPr>
      <p:grpSpPr>
        <a:xfrm>
          <a:off x="0" y="0"/>
          <a:ext cx="0" cy="0"/>
          <a:chOff x="0" y="0"/>
          <a:chExt cx="0" cy="0"/>
        </a:xfrm>
      </p:grpSpPr>
      <p:sp>
        <p:nvSpPr>
          <p:cNvPr id="2585" name="Shape 258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86" name="Shape 258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3" name="Shape 2593"/>
        <p:cNvGrpSpPr/>
        <p:nvPr/>
      </p:nvGrpSpPr>
      <p:grpSpPr>
        <a:xfrm>
          <a:off x="0" y="0"/>
          <a:ext cx="0" cy="0"/>
          <a:chOff x="0" y="0"/>
          <a:chExt cx="0" cy="0"/>
        </a:xfrm>
      </p:grpSpPr>
      <p:sp>
        <p:nvSpPr>
          <p:cNvPr id="2594" name="Shape 259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595" name="Shape 259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2" name="Shape 2622"/>
        <p:cNvGrpSpPr/>
        <p:nvPr/>
      </p:nvGrpSpPr>
      <p:grpSpPr>
        <a:xfrm>
          <a:off x="0" y="0"/>
          <a:ext cx="0" cy="0"/>
          <a:chOff x="0" y="0"/>
          <a:chExt cx="0" cy="0"/>
        </a:xfrm>
      </p:grpSpPr>
      <p:sp>
        <p:nvSpPr>
          <p:cNvPr id="2623" name="Shape 262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24" name="Shape 262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1" name="Shape 2631"/>
        <p:cNvGrpSpPr/>
        <p:nvPr/>
      </p:nvGrpSpPr>
      <p:grpSpPr>
        <a:xfrm>
          <a:off x="0" y="0"/>
          <a:ext cx="0" cy="0"/>
          <a:chOff x="0" y="0"/>
          <a:chExt cx="0" cy="0"/>
        </a:xfrm>
      </p:grpSpPr>
      <p:sp>
        <p:nvSpPr>
          <p:cNvPr id="2632" name="Shape 263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33" name="Shape 263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6" name="Shape 2656"/>
        <p:cNvGrpSpPr/>
        <p:nvPr/>
      </p:nvGrpSpPr>
      <p:grpSpPr>
        <a:xfrm>
          <a:off x="0" y="0"/>
          <a:ext cx="0" cy="0"/>
          <a:chOff x="0" y="0"/>
          <a:chExt cx="0" cy="0"/>
        </a:xfrm>
      </p:grpSpPr>
      <p:sp>
        <p:nvSpPr>
          <p:cNvPr id="2657" name="Shape 265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58" name="Shape 265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5" name="Shape 2665"/>
        <p:cNvGrpSpPr/>
        <p:nvPr/>
      </p:nvGrpSpPr>
      <p:grpSpPr>
        <a:xfrm>
          <a:off x="0" y="0"/>
          <a:ext cx="0" cy="0"/>
          <a:chOff x="0" y="0"/>
          <a:chExt cx="0" cy="0"/>
        </a:xfrm>
      </p:grpSpPr>
      <p:sp>
        <p:nvSpPr>
          <p:cNvPr id="2666" name="Shape 266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67" name="Shape 266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2" name="Shape 2672"/>
        <p:cNvGrpSpPr/>
        <p:nvPr/>
      </p:nvGrpSpPr>
      <p:grpSpPr>
        <a:xfrm>
          <a:off x="0" y="0"/>
          <a:ext cx="0" cy="0"/>
          <a:chOff x="0" y="0"/>
          <a:chExt cx="0" cy="0"/>
        </a:xfrm>
      </p:grpSpPr>
      <p:sp>
        <p:nvSpPr>
          <p:cNvPr id="2673" name="Shape 267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74" name="Shape 267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79" name="Shape 2679"/>
        <p:cNvGrpSpPr/>
        <p:nvPr/>
      </p:nvGrpSpPr>
      <p:grpSpPr>
        <a:xfrm>
          <a:off x="0" y="0"/>
          <a:ext cx="0" cy="0"/>
          <a:chOff x="0" y="0"/>
          <a:chExt cx="0" cy="0"/>
        </a:xfrm>
      </p:grpSpPr>
      <p:sp>
        <p:nvSpPr>
          <p:cNvPr id="2680" name="Shape 268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81" name="Shape 268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6" name="Shape 2686"/>
        <p:cNvGrpSpPr/>
        <p:nvPr/>
      </p:nvGrpSpPr>
      <p:grpSpPr>
        <a:xfrm>
          <a:off x="0" y="0"/>
          <a:ext cx="0" cy="0"/>
          <a:chOff x="0" y="0"/>
          <a:chExt cx="0" cy="0"/>
        </a:xfrm>
      </p:grpSpPr>
      <p:sp>
        <p:nvSpPr>
          <p:cNvPr id="2687" name="Shape 268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88" name="Shape 268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3" name="Shape 2693"/>
        <p:cNvGrpSpPr/>
        <p:nvPr/>
      </p:nvGrpSpPr>
      <p:grpSpPr>
        <a:xfrm>
          <a:off x="0" y="0"/>
          <a:ext cx="0" cy="0"/>
          <a:chOff x="0" y="0"/>
          <a:chExt cx="0" cy="0"/>
        </a:xfrm>
      </p:grpSpPr>
      <p:sp>
        <p:nvSpPr>
          <p:cNvPr id="2694" name="Shape 269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695" name="Shape 269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00" name="Shape 2700"/>
        <p:cNvGrpSpPr/>
        <p:nvPr/>
      </p:nvGrpSpPr>
      <p:grpSpPr>
        <a:xfrm>
          <a:off x="0" y="0"/>
          <a:ext cx="0" cy="0"/>
          <a:chOff x="0" y="0"/>
          <a:chExt cx="0" cy="0"/>
        </a:xfrm>
      </p:grpSpPr>
      <p:sp>
        <p:nvSpPr>
          <p:cNvPr id="2701" name="Shape 270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02" name="Shape 270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4" name="Shape 2714"/>
        <p:cNvGrpSpPr/>
        <p:nvPr/>
      </p:nvGrpSpPr>
      <p:grpSpPr>
        <a:xfrm>
          <a:off x="0" y="0"/>
          <a:ext cx="0" cy="0"/>
          <a:chOff x="0" y="0"/>
          <a:chExt cx="0" cy="0"/>
        </a:xfrm>
      </p:grpSpPr>
      <p:sp>
        <p:nvSpPr>
          <p:cNvPr id="2715" name="Shape 271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16" name="Shape 271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1" name="Shape 2721"/>
        <p:cNvGrpSpPr/>
        <p:nvPr/>
      </p:nvGrpSpPr>
      <p:grpSpPr>
        <a:xfrm>
          <a:off x="0" y="0"/>
          <a:ext cx="0" cy="0"/>
          <a:chOff x="0" y="0"/>
          <a:chExt cx="0" cy="0"/>
        </a:xfrm>
      </p:grpSpPr>
      <p:sp>
        <p:nvSpPr>
          <p:cNvPr id="2722" name="Shape 2722"/>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23" name="Shape 2723"/>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9" name="Shape 2729"/>
        <p:cNvGrpSpPr/>
        <p:nvPr/>
      </p:nvGrpSpPr>
      <p:grpSpPr>
        <a:xfrm>
          <a:off x="0" y="0"/>
          <a:ext cx="0" cy="0"/>
          <a:chOff x="0" y="0"/>
          <a:chExt cx="0" cy="0"/>
        </a:xfrm>
      </p:grpSpPr>
      <p:sp>
        <p:nvSpPr>
          <p:cNvPr id="2730" name="Shape 273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31" name="Shape 273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0" name="Shape 2740"/>
        <p:cNvGrpSpPr/>
        <p:nvPr/>
      </p:nvGrpSpPr>
      <p:grpSpPr>
        <a:xfrm>
          <a:off x="0" y="0"/>
          <a:ext cx="0" cy="0"/>
          <a:chOff x="0" y="0"/>
          <a:chExt cx="0" cy="0"/>
        </a:xfrm>
      </p:grpSpPr>
      <p:sp>
        <p:nvSpPr>
          <p:cNvPr id="2741" name="Shape 274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42" name="Shape 274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8" name="Shape 2748"/>
        <p:cNvGrpSpPr/>
        <p:nvPr/>
      </p:nvGrpSpPr>
      <p:grpSpPr>
        <a:xfrm>
          <a:off x="0" y="0"/>
          <a:ext cx="0" cy="0"/>
          <a:chOff x="0" y="0"/>
          <a:chExt cx="0" cy="0"/>
        </a:xfrm>
      </p:grpSpPr>
      <p:sp>
        <p:nvSpPr>
          <p:cNvPr id="2749" name="Shape 274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50" name="Shape 275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56" name="Shape 2756"/>
        <p:cNvGrpSpPr/>
        <p:nvPr/>
      </p:nvGrpSpPr>
      <p:grpSpPr>
        <a:xfrm>
          <a:off x="0" y="0"/>
          <a:ext cx="0" cy="0"/>
          <a:chOff x="0" y="0"/>
          <a:chExt cx="0" cy="0"/>
        </a:xfrm>
      </p:grpSpPr>
      <p:sp>
        <p:nvSpPr>
          <p:cNvPr id="2757" name="Shape 275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58" name="Shape 275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4" name="Shape 2764"/>
        <p:cNvGrpSpPr/>
        <p:nvPr/>
      </p:nvGrpSpPr>
      <p:grpSpPr>
        <a:xfrm>
          <a:off x="0" y="0"/>
          <a:ext cx="0" cy="0"/>
          <a:chOff x="0" y="0"/>
          <a:chExt cx="0" cy="0"/>
        </a:xfrm>
      </p:grpSpPr>
      <p:sp>
        <p:nvSpPr>
          <p:cNvPr id="2765" name="Shape 2765"/>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66" name="Shape 2766"/>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2" name="Shape 2772"/>
        <p:cNvGrpSpPr/>
        <p:nvPr/>
      </p:nvGrpSpPr>
      <p:grpSpPr>
        <a:xfrm>
          <a:off x="0" y="0"/>
          <a:ext cx="0" cy="0"/>
          <a:chOff x="0" y="0"/>
          <a:chExt cx="0" cy="0"/>
        </a:xfrm>
      </p:grpSpPr>
      <p:sp>
        <p:nvSpPr>
          <p:cNvPr id="2773" name="Shape 277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74" name="Shape 277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80" name="Shape 2780"/>
        <p:cNvGrpSpPr/>
        <p:nvPr/>
      </p:nvGrpSpPr>
      <p:grpSpPr>
        <a:xfrm>
          <a:off x="0" y="0"/>
          <a:ext cx="0" cy="0"/>
          <a:chOff x="0" y="0"/>
          <a:chExt cx="0" cy="0"/>
        </a:xfrm>
      </p:grpSpPr>
      <p:sp>
        <p:nvSpPr>
          <p:cNvPr id="2781" name="Shape 278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82" name="Shape 278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88" name="Shape 2788"/>
        <p:cNvGrpSpPr/>
        <p:nvPr/>
      </p:nvGrpSpPr>
      <p:grpSpPr>
        <a:xfrm>
          <a:off x="0" y="0"/>
          <a:ext cx="0" cy="0"/>
          <a:chOff x="0" y="0"/>
          <a:chExt cx="0" cy="0"/>
        </a:xfrm>
      </p:grpSpPr>
      <p:sp>
        <p:nvSpPr>
          <p:cNvPr id="2789" name="Shape 2789"/>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90" name="Shape 2790"/>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95" name="Shape 2795"/>
        <p:cNvGrpSpPr/>
        <p:nvPr/>
      </p:nvGrpSpPr>
      <p:grpSpPr>
        <a:xfrm>
          <a:off x="0" y="0"/>
          <a:ext cx="0" cy="0"/>
          <a:chOff x="0" y="0"/>
          <a:chExt cx="0" cy="0"/>
        </a:xfrm>
      </p:grpSpPr>
      <p:sp>
        <p:nvSpPr>
          <p:cNvPr id="2796" name="Shape 279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797" name="Shape 279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2" name="Shape 2802"/>
        <p:cNvGrpSpPr/>
        <p:nvPr/>
      </p:nvGrpSpPr>
      <p:grpSpPr>
        <a:xfrm>
          <a:off x="0" y="0"/>
          <a:ext cx="0" cy="0"/>
          <a:chOff x="0" y="0"/>
          <a:chExt cx="0" cy="0"/>
        </a:xfrm>
      </p:grpSpPr>
      <p:sp>
        <p:nvSpPr>
          <p:cNvPr id="2803" name="Shape 280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04" name="Shape 280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9" name="Shape 2809"/>
        <p:cNvGrpSpPr/>
        <p:nvPr/>
      </p:nvGrpSpPr>
      <p:grpSpPr>
        <a:xfrm>
          <a:off x="0" y="0"/>
          <a:ext cx="0" cy="0"/>
          <a:chOff x="0" y="0"/>
          <a:chExt cx="0" cy="0"/>
        </a:xfrm>
      </p:grpSpPr>
      <p:sp>
        <p:nvSpPr>
          <p:cNvPr id="2810" name="Shape 281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11" name="Shape 281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6" name="Shape 2816"/>
        <p:cNvGrpSpPr/>
        <p:nvPr/>
      </p:nvGrpSpPr>
      <p:grpSpPr>
        <a:xfrm>
          <a:off x="0" y="0"/>
          <a:ext cx="0" cy="0"/>
          <a:chOff x="0" y="0"/>
          <a:chExt cx="0" cy="0"/>
        </a:xfrm>
      </p:grpSpPr>
      <p:sp>
        <p:nvSpPr>
          <p:cNvPr id="2817" name="Shape 281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18" name="Shape 281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2" name="Shape 2822"/>
        <p:cNvGrpSpPr/>
        <p:nvPr/>
      </p:nvGrpSpPr>
      <p:grpSpPr>
        <a:xfrm>
          <a:off x="0" y="0"/>
          <a:ext cx="0" cy="0"/>
          <a:chOff x="0" y="0"/>
          <a:chExt cx="0" cy="0"/>
        </a:xfrm>
      </p:grpSpPr>
      <p:sp>
        <p:nvSpPr>
          <p:cNvPr id="2823" name="Shape 282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24" name="Shape 282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9" name="Shape 2829"/>
        <p:cNvGrpSpPr/>
        <p:nvPr/>
      </p:nvGrpSpPr>
      <p:grpSpPr>
        <a:xfrm>
          <a:off x="0" y="0"/>
          <a:ext cx="0" cy="0"/>
          <a:chOff x="0" y="0"/>
          <a:chExt cx="0" cy="0"/>
        </a:xfrm>
      </p:grpSpPr>
      <p:sp>
        <p:nvSpPr>
          <p:cNvPr id="2830" name="Shape 2830"/>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31" name="Shape 2831"/>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6" name="Shape 2836"/>
        <p:cNvGrpSpPr/>
        <p:nvPr/>
      </p:nvGrpSpPr>
      <p:grpSpPr>
        <a:xfrm>
          <a:off x="0" y="0"/>
          <a:ext cx="0" cy="0"/>
          <a:chOff x="0" y="0"/>
          <a:chExt cx="0" cy="0"/>
        </a:xfrm>
      </p:grpSpPr>
      <p:sp>
        <p:nvSpPr>
          <p:cNvPr id="2837" name="Shape 2837"/>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38" name="Shape 2838"/>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43" name="Shape 2843"/>
        <p:cNvGrpSpPr/>
        <p:nvPr/>
      </p:nvGrpSpPr>
      <p:grpSpPr>
        <a:xfrm>
          <a:off x="0" y="0"/>
          <a:ext cx="0" cy="0"/>
          <a:chOff x="0" y="0"/>
          <a:chExt cx="0" cy="0"/>
        </a:xfrm>
      </p:grpSpPr>
      <p:sp>
        <p:nvSpPr>
          <p:cNvPr id="2844" name="Shape 2844"/>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45" name="Shape 2845"/>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0" name="Shape 2850"/>
        <p:cNvGrpSpPr/>
        <p:nvPr/>
      </p:nvGrpSpPr>
      <p:grpSpPr>
        <a:xfrm>
          <a:off x="0" y="0"/>
          <a:ext cx="0" cy="0"/>
          <a:chOff x="0" y="0"/>
          <a:chExt cx="0" cy="0"/>
        </a:xfrm>
      </p:grpSpPr>
      <p:sp>
        <p:nvSpPr>
          <p:cNvPr id="2851" name="Shape 2851"/>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52" name="Shape 2852"/>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57" name="Shape 2857"/>
        <p:cNvGrpSpPr/>
        <p:nvPr/>
      </p:nvGrpSpPr>
      <p:grpSpPr>
        <a:xfrm>
          <a:off x="0" y="0"/>
          <a:ext cx="0" cy="0"/>
          <a:chOff x="0" y="0"/>
          <a:chExt cx="0" cy="0"/>
        </a:xfrm>
      </p:grpSpPr>
      <p:sp>
        <p:nvSpPr>
          <p:cNvPr id="2858" name="Shape 2858"/>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859" name="Shape 2859"/>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5" name="Shape 2915"/>
        <p:cNvGrpSpPr/>
        <p:nvPr/>
      </p:nvGrpSpPr>
      <p:grpSpPr>
        <a:xfrm>
          <a:off x="0" y="0"/>
          <a:ext cx="0" cy="0"/>
          <a:chOff x="0" y="0"/>
          <a:chExt cx="0" cy="0"/>
        </a:xfrm>
      </p:grpSpPr>
      <p:sp>
        <p:nvSpPr>
          <p:cNvPr id="2916" name="Shape 2916"/>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917" name="Shape 2917"/>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2" name="Shape 2972"/>
        <p:cNvGrpSpPr/>
        <p:nvPr/>
      </p:nvGrpSpPr>
      <p:grpSpPr>
        <a:xfrm>
          <a:off x="0" y="0"/>
          <a:ext cx="0" cy="0"/>
          <a:chOff x="0" y="0"/>
          <a:chExt cx="0" cy="0"/>
        </a:xfrm>
      </p:grpSpPr>
      <p:sp>
        <p:nvSpPr>
          <p:cNvPr id="2973" name="Shape 2973"/>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p>
        </p:txBody>
      </p:sp>
      <p:sp>
        <p:nvSpPr>
          <p:cNvPr id="2974" name="Shape 2974"/>
          <p:cNvSpPr/>
          <p:nvPr>
            <p:ph type="sldImg" idx="2"/>
          </p:nvPr>
        </p:nvSpPr>
        <p:spPr>
          <a:xfrm>
            <a:off x="1143225" y="685800"/>
            <a:ext cx="4572225" cy="3429000"/>
          </a:xfrm>
          <a:custGeom>
            <a:avLst/>
            <a:gdLst/>
            <a:ahLst/>
            <a:cxnLst/>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matchingName="Title and text">
  <p:cSld name="TITLE_AND_BODY">
    <p:spTree>
      <p:nvGrpSpPr>
        <p:cNvPr id="9" name="Shape 9"/>
        <p:cNvGrpSpPr/>
        <p:nvPr/>
      </p:nvGrpSpPr>
      <p:grpSpPr>
        <a:xfrm>
          <a:off x="0" y="0"/>
          <a:ext cx="0" cy="0"/>
          <a:chOff x="0" y="0"/>
          <a:chExt cx="0" cy="0"/>
        </a:xfrm>
      </p:grpSpPr>
      <p:sp>
        <p:nvSpPr>
          <p:cNvPr id="10" name="Shape 10"/>
          <p:cNvSpPr txBox="1"/>
          <p:nvPr>
            <p:ph type="title"/>
          </p:nvPr>
        </p:nvSpPr>
        <p:spPr>
          <a:xfrm>
            <a:off x="0" y="0"/>
            <a:ext cx="3000000" cy="3000000"/>
          </a:xfrm>
          <a:prstGeom prst="rect">
            <a:avLst/>
          </a:prstGeom>
          <a:noFill/>
          <a:ln>
            <a:noFill/>
          </a:ln>
        </p:spPr>
        <p:txBody>
          <a:bodyPr spcFirstLastPara="1" wrap="square" lIns="91425" tIns="91425" rIns="91425" bIns="91425" anchor="t" anchorCtr="0"/>
          <a:lstStyle>
            <a:lvl1pPr marR="0" lvl="0"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SzPts val="1400"/>
              <a:buNone/>
              <a:defRPr sz="4400" b="1" i="0" u="none" strike="noStrike" cap="none">
                <a:solidFill>
                  <a:srgbClr val="663300"/>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1" name="Shape 11"/>
          <p:cNvSpPr txBox="1"/>
          <p:nvPr>
            <p:ph type="body" idx="1"/>
          </p:nvPr>
        </p:nvSpPr>
        <p:spPr>
          <a:xfrm>
            <a:off x="0" y="0"/>
            <a:ext cx="3000000" cy="30000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chemeClr val="dk1"/>
              </a:buClr>
              <a:buSzPts val="3200"/>
              <a:buFont typeface="Times New Roman" panose="02020603050405020304"/>
              <a:buChar char="•"/>
              <a:defRPr sz="3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406400" algn="l" rtl="0">
              <a:lnSpc>
                <a:spcPct val="100000"/>
              </a:lnSpc>
              <a:spcBef>
                <a:spcPts val="560"/>
              </a:spcBef>
              <a:spcAft>
                <a:spcPts val="0"/>
              </a:spcAft>
              <a:buClr>
                <a:schemeClr val="dk1"/>
              </a:buClr>
              <a:buSzPts val="2800"/>
              <a:buFont typeface="Times New Roman" panose="02020603050405020304"/>
              <a:buChar char="–"/>
              <a:defRPr sz="2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381000" algn="l" rtl="0">
              <a:lnSpc>
                <a:spcPct val="100000"/>
              </a:lnSpc>
              <a:spcBef>
                <a:spcPts val="480"/>
              </a:spcBef>
              <a:spcAft>
                <a:spcPts val="0"/>
              </a:spcAft>
              <a:buClr>
                <a:schemeClr val="dk1"/>
              </a:buClr>
              <a:buSzPts val="2400"/>
              <a:buFont typeface="Times New Roman" panose="02020603050405020304"/>
              <a:buChar char="•"/>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3200400" marR="0" lvl="6"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3657600" marR="0" lvl="7"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4114800" marR="0" lvl="8" indent="-355600" algn="l" rtl="0">
              <a:lnSpc>
                <a:spcPct val="100000"/>
              </a:lnSpc>
              <a:spcBef>
                <a:spcPts val="400"/>
              </a:spcBef>
              <a:spcAft>
                <a:spcPts val="0"/>
              </a:spcAft>
              <a:buClr>
                <a:schemeClr val="dk1"/>
              </a:buClr>
              <a:buSzPts val="2000"/>
              <a:buFont typeface="Times New Roman" panose="02020603050405020304"/>
              <a:buChar char="»"/>
              <a:defRPr sz="20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2" name="Shape 12"/>
          <p:cNvSpPr txBox="1"/>
          <p:nvPr>
            <p:ph type="dt" idx="10"/>
          </p:nvPr>
        </p:nvSpPr>
        <p:spPr>
          <a:xfrm>
            <a:off x="0" y="0"/>
            <a:ext cx="3000000" cy="30000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3" name="Shape 13"/>
          <p:cNvSpPr txBox="1"/>
          <p:nvPr>
            <p:ph type="ftr" idx="11"/>
          </p:nvPr>
        </p:nvSpPr>
        <p:spPr>
          <a:xfrm>
            <a:off x="0" y="0"/>
            <a:ext cx="3000000" cy="30000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4" name="Shape 14"/>
          <p:cNvSpPr txBox="1"/>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spcBef>
                <a:spcPts val="0"/>
              </a:spcBef>
              <a:spcAft>
                <a:spcPts val="0"/>
              </a:spcAft>
              <a:buNone/>
            </a:pPr>
            <a:fld id="{00000000-1234-1234-1234-123412341234}" type="slidenum">
              <a:rPr lang="en-US"/>
            </a:fld>
            <a:endParaRPr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5" name="Shape 15"/>
        <p:cNvGrpSpPr/>
        <p:nvPr/>
      </p:nvGrpSpPr>
      <p:grpSpPr>
        <a:xfrm>
          <a:off x="0" y="0"/>
          <a:ext cx="0" cy="0"/>
          <a:chOff x="0" y="0"/>
          <a:chExt cx="0" cy="0"/>
        </a:xfrm>
      </p:grpSpPr>
      <p:sp>
        <p:nvSpPr>
          <p:cNvPr id="16" name="Shape 16"/>
          <p:cNvSpPr txBox="1"/>
          <p:nvPr>
            <p:ph type="dt" idx="10"/>
          </p:nvPr>
        </p:nvSpPr>
        <p:spPr>
          <a:xfrm>
            <a:off x="0" y="0"/>
            <a:ext cx="3000000" cy="30000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7" name="Shape 17"/>
          <p:cNvSpPr txBox="1"/>
          <p:nvPr>
            <p:ph type="ftr" idx="11"/>
          </p:nvPr>
        </p:nvSpPr>
        <p:spPr>
          <a:xfrm>
            <a:off x="0" y="0"/>
            <a:ext cx="3000000" cy="30000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SzPts val="1400"/>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8" name="Shape 18"/>
          <p:cNvSpPr txBox="1"/>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l" rtl="0">
              <a:lnSpc>
                <a:spcPct val="100000"/>
              </a:lnSpc>
              <a:spcBef>
                <a:spcPts val="0"/>
              </a:spcBef>
              <a:spcAft>
                <a:spcPts val="0"/>
              </a:spcAft>
              <a:buNone/>
              <a:def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spcBef>
                <a:spcPts val="0"/>
              </a:spcBef>
              <a:spcAft>
                <a:spcPts val="0"/>
              </a:spcAft>
              <a:buNone/>
            </a:pPr>
            <a:fld id="{00000000-1234-1234-1234-123412341234}" type="slidenum">
              <a:rPr lang="en-US"/>
            </a:fld>
            <a:endParaRPr sz="140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 name="Shape 5"/>
        <p:cNvGrpSpPr/>
        <p:nvPr/>
      </p:nvGrpSpPr>
      <p:grpSpPr>
        <a:xfrm>
          <a:off x="0" y="0"/>
          <a:ext cx="0" cy="0"/>
          <a:chOff x="0" y="0"/>
          <a:chExt cx="0" cy="0"/>
        </a:xfrm>
      </p:grpSpPr>
      <p:sp>
        <p:nvSpPr>
          <p:cNvPr id="6" name="Shape 6"/>
          <p:cNvSpPr txBox="1"/>
          <p:nvPr/>
        </p:nvSpPr>
        <p:spPr>
          <a:xfrm>
            <a:off x="6192837" y="14287"/>
            <a:ext cx="2898775" cy="366712"/>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数据结构（C++版）第2版</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 name="Shape 7"/>
          <p:cNvSpPr txBox="1"/>
          <p:nvPr/>
        </p:nvSpPr>
        <p:spPr>
          <a:xfrm>
            <a:off x="0" y="0"/>
            <a:ext cx="247491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清华大学出版社</a:t>
            </a:r>
            <a:endPar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 name="Shape 8"/>
          <p:cNvSpPr/>
          <p:nvPr/>
        </p:nvSpPr>
        <p:spPr>
          <a:xfrm>
            <a:off x="0" y="977900"/>
            <a:ext cx="8991600" cy="76200"/>
          </a:xfrm>
          <a:prstGeom prst="rect">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2" name="Shape 22"/>
        <p:cNvGrpSpPr/>
        <p:nvPr/>
      </p:nvGrpSpPr>
      <p:grpSpPr>
        <a:xfrm>
          <a:off x="0" y="0"/>
          <a:ext cx="0" cy="0"/>
          <a:chOff x="0" y="0"/>
          <a:chExt cx="0" cy="0"/>
        </a:xfrm>
      </p:grpSpPr>
      <p:sp>
        <p:nvSpPr>
          <p:cNvPr id="23" name="Shape 23"/>
          <p:cNvSpPr txBox="1"/>
          <p:nvPr/>
        </p:nvSpPr>
        <p:spPr>
          <a:xfrm>
            <a:off x="2262187" y="304800"/>
            <a:ext cx="4130675" cy="641350"/>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600"/>
              <a:buFont typeface="Arial" panose="020B0604020202020204"/>
              <a:buNone/>
            </a:pPr>
            <a:r>
              <a:rPr lang="en-US" sz="3600" b="1" i="0" u="none">
                <a:solidFill>
                  <a:schemeClr val="accent2"/>
                </a:solidFill>
                <a:latin typeface="Arial" panose="020B0604020202020204"/>
                <a:ea typeface="Arial" panose="020B0604020202020204"/>
                <a:cs typeface="Arial" panose="020B0604020202020204"/>
                <a:sym typeface="Arial" panose="020B0604020202020204"/>
              </a:rPr>
              <a:t>第8章  排序技术</a:t>
            </a:r>
            <a:endParaRPr lang="en-US" sz="36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4" name="Shape 24"/>
          <p:cNvSpPr txBox="1"/>
          <p:nvPr/>
        </p:nvSpPr>
        <p:spPr>
          <a:xfrm>
            <a:off x="1962150" y="1179512"/>
            <a:ext cx="4995862" cy="54419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600"/>
              <a:buFont typeface="Times New Roman" panose="02020603050405020304"/>
              <a:buNone/>
            </a:pPr>
            <a:r>
              <a:rPr lang="en-US" sz="36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本章的基本内容是：</a:t>
            </a:r>
            <a:endParaRPr lang="en-US" sz="36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800"/>
              </a:spcBef>
              <a:spcAft>
                <a:spcPts val="0"/>
              </a:spcAft>
              <a:buClr>
                <a:schemeClr val="dk1"/>
              </a:buClr>
              <a:buSzPts val="1600"/>
              <a:buFont typeface="Times New Roman" panose="02020603050405020304"/>
              <a:buNone/>
            </a:pPr>
            <a:endParaRPr sz="16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排序的基本概念</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插入排序</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交换排序</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选择排序</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归并排序</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分配排序 </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720"/>
              <a:buFont typeface="Noto Sans Symbols"/>
              <a:buChar char="➢"/>
            </a:pPr>
            <a:r>
              <a:rPr lang="en-US" sz="3200" b="1" i="0" u="none">
                <a:solidFill>
                  <a:schemeClr val="dk1"/>
                </a:solidFill>
                <a:latin typeface="Arial" panose="020B0604020202020204"/>
                <a:ea typeface="Arial" panose="020B0604020202020204"/>
                <a:cs typeface="Arial" panose="020B0604020202020204"/>
                <a:sym typeface="Arial" panose="020B0604020202020204"/>
              </a:rPr>
              <a:t>各种排序算法的比较</a:t>
            </a:r>
            <a:endParaRPr lang="en-US" sz="3200" b="1" i="0" u="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 name="Shape 28"/>
        <p:cNvGrpSpPr/>
        <p:nvPr/>
      </p:nvGrpSpPr>
      <p:grpSpPr>
        <a:xfrm>
          <a:off x="0" y="0"/>
          <a:ext cx="0" cy="0"/>
          <a:chOff x="0" y="0"/>
          <a:chExt cx="0" cy="0"/>
        </a:xfrm>
      </p:grpSpPr>
      <p:sp>
        <p:nvSpPr>
          <p:cNvPr id="29" name="Shape 29"/>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Shape 30"/>
          <p:cNvSpPr txBox="1"/>
          <p:nvPr/>
        </p:nvSpPr>
        <p:spPr>
          <a:xfrm>
            <a:off x="250825" y="1943100"/>
            <a:ext cx="8507412" cy="4681537"/>
          </a:xfrm>
          <a:prstGeom prst="rect">
            <a:avLst/>
          </a:prstGeom>
          <a:noFill/>
          <a:ln>
            <a:noFill/>
          </a:ln>
        </p:spPr>
        <p:txBody>
          <a:bodyPr spcFirstLastPara="1" wrap="square" lIns="91425" tIns="45700" rIns="91425" bIns="45700" anchor="t" anchorCtr="0">
            <a:noAutofit/>
          </a:bodyPr>
          <a:lstStyle/>
          <a:p>
            <a:pPr marL="0" marR="0" lvl="0" indent="0" algn="just" rtl="0">
              <a:lnSpc>
                <a:spcPct val="110000"/>
              </a:lnSpc>
              <a:spcBef>
                <a:spcPts val="0"/>
              </a:spcBef>
              <a:spcAft>
                <a:spcPts val="0"/>
              </a:spcAft>
              <a:buClr>
                <a:schemeClr val="dk1"/>
              </a:buClr>
              <a:buSzPts val="2800"/>
              <a:buFont typeface="Noto Sans Symbols"/>
              <a:buChar char="•"/>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 排序：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给定一组</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记录</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的集合{</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}，其相应的关键码分别为{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}，排序是将这些记录排列成顺序为{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}的一个序列，使得相应的关键码满足</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（称为升序）或</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sn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（称为降序）。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177800" algn="l" rtl="0">
              <a:lnSpc>
                <a:spcPct val="110000"/>
              </a:lnSpc>
              <a:spcBef>
                <a:spcPts val="560"/>
              </a:spcBef>
              <a:spcAft>
                <a:spcPts val="0"/>
              </a:spcAft>
              <a:buClr>
                <a:schemeClr val="dk1"/>
              </a:buClr>
              <a:buSzPts val="2800"/>
              <a:buFont typeface="Noto Sans Symbols"/>
              <a:buNone/>
            </a:pPr>
            <a:endParaRPr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10000"/>
              </a:lnSpc>
              <a:spcBef>
                <a:spcPts val="560"/>
              </a:spcBef>
              <a:spcAft>
                <a:spcPts val="0"/>
              </a:spcAft>
              <a:buClr>
                <a:schemeClr val="dk1"/>
              </a:buClr>
              <a:buSzPts val="2800"/>
              <a:buFont typeface="Noto Sans Symbols"/>
              <a:buChar char="•"/>
            </a:pPr>
            <a:r>
              <a:rPr lang="en-US" sz="2800" b="1" i="0" u="none">
                <a:solidFill>
                  <a:srgbClr val="FF3300"/>
                </a:solidFill>
                <a:latin typeface="Arial" panose="020B0604020202020204"/>
                <a:ea typeface="Arial" panose="020B0604020202020204"/>
                <a:cs typeface="Arial" panose="020B0604020202020204"/>
                <a:sym typeface="Arial" panose="020B0604020202020204"/>
              </a:rPr>
              <a:t> 正序：</a:t>
            </a:r>
            <a:r>
              <a:rPr lang="en-US" sz="2800" b="1" i="0" u="none">
                <a:solidFill>
                  <a:schemeClr val="dk1"/>
                </a:solidFill>
                <a:latin typeface="Arial" panose="020B0604020202020204"/>
                <a:ea typeface="Arial" panose="020B0604020202020204"/>
                <a:cs typeface="Arial" panose="020B0604020202020204"/>
                <a:sym typeface="Arial" panose="020B0604020202020204"/>
              </a:rPr>
              <a:t>待排序序列中的记录已按关键码排好序。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0000"/>
              </a:lnSpc>
              <a:spcBef>
                <a:spcPts val="560"/>
              </a:spcBef>
              <a:spcAft>
                <a:spcPts val="0"/>
              </a:spcAft>
              <a:buClr>
                <a:schemeClr val="dk1"/>
              </a:buClr>
              <a:buSzPts val="2800"/>
              <a:buFont typeface="Noto Sans Symbols"/>
              <a:buChar char="•"/>
            </a:pPr>
            <a:r>
              <a:rPr lang="en-US" sz="2800" b="1" i="0" u="none">
                <a:solidFill>
                  <a:srgbClr val="FF3300"/>
                </a:solidFill>
                <a:latin typeface="Arial" panose="020B0604020202020204"/>
                <a:ea typeface="Arial" panose="020B0604020202020204"/>
                <a:cs typeface="Arial" panose="020B0604020202020204"/>
                <a:sym typeface="Arial" panose="020B0604020202020204"/>
              </a:rPr>
              <a:t> 逆序（反序）：</a:t>
            </a:r>
            <a:r>
              <a:rPr lang="en-US" sz="2800" b="1" i="0" u="none">
                <a:solidFill>
                  <a:schemeClr val="dk1"/>
                </a:solidFill>
                <a:latin typeface="Arial" panose="020B0604020202020204"/>
                <a:ea typeface="Arial" panose="020B0604020202020204"/>
                <a:cs typeface="Arial" panose="020B0604020202020204"/>
                <a:sym typeface="Arial" panose="020B0604020202020204"/>
              </a:rPr>
              <a:t>待排序序列中记录的排列顺序与排好序的顺序正好相反。</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31" name="Shape 31"/>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 name="Shape 32"/>
          <p:cNvSpPr txBox="1"/>
          <p:nvPr/>
        </p:nvSpPr>
        <p:spPr>
          <a:xfrm>
            <a:off x="1196975" y="4419600"/>
            <a:ext cx="7246800" cy="547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从操作角度看，排序是线性结构的一种操作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6" name="Shape 36"/>
        <p:cNvGrpSpPr/>
        <p:nvPr/>
      </p:nvGrpSpPr>
      <p:grpSpPr>
        <a:xfrm>
          <a:off x="0" y="0"/>
          <a:ext cx="0" cy="0"/>
          <a:chOff x="0" y="0"/>
          <a:chExt cx="0" cy="0"/>
        </a:xfrm>
      </p:grpSpPr>
      <p:sp>
        <p:nvSpPr>
          <p:cNvPr id="37" name="Shape 37"/>
          <p:cNvSpPr txBox="1"/>
          <p:nvPr/>
        </p:nvSpPr>
        <p:spPr>
          <a:xfrm>
            <a:off x="685800" y="1905000"/>
            <a:ext cx="7772400" cy="4191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 name="Shape 38"/>
          <p:cNvSpPr txBox="1"/>
          <p:nvPr/>
        </p:nvSpPr>
        <p:spPr>
          <a:xfrm>
            <a:off x="385762" y="1898650"/>
            <a:ext cx="8416925" cy="2227262"/>
          </a:xfrm>
          <a:prstGeom prst="rect">
            <a:avLst/>
          </a:prstGeom>
          <a:noFill/>
          <a:ln>
            <a:noFill/>
          </a:ln>
        </p:spPr>
        <p:txBody>
          <a:bodyPr spcFirstLastPara="1" wrap="square" lIns="0" tIns="45700" rIns="0"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排序算法的稳定性：</a:t>
            </a:r>
            <a:r>
              <a:rPr lang="en-US" sz="2800" b="1" i="0" u="none">
                <a:solidFill>
                  <a:schemeClr val="dk1"/>
                </a:solidFill>
                <a:latin typeface="Arial" panose="020B0604020202020204"/>
                <a:ea typeface="Arial" panose="020B0604020202020204"/>
                <a:cs typeface="Arial" panose="020B0604020202020204"/>
                <a:sym typeface="Arial" panose="020B0604020202020204"/>
              </a:rPr>
              <a:t>假定在待排序的记录集中，存在多个具有相同键值的记录，若经过排序，这些记录的</a:t>
            </a:r>
            <a:r>
              <a:rPr lang="en-US" sz="2800" b="1" i="0" u="none">
                <a:solidFill>
                  <a:srgbClr val="FF3300"/>
                </a:solidFill>
                <a:latin typeface="Arial" panose="020B0604020202020204"/>
                <a:ea typeface="Arial" panose="020B0604020202020204"/>
                <a:cs typeface="Arial" panose="020B0604020202020204"/>
                <a:sym typeface="Arial" panose="020B0604020202020204"/>
              </a:rPr>
              <a:t>相对次序</a:t>
            </a:r>
            <a:r>
              <a:rPr lang="en-US" sz="2800" b="1" i="0" u="none">
                <a:solidFill>
                  <a:schemeClr val="dk1"/>
                </a:solidFill>
                <a:latin typeface="Arial" panose="020B0604020202020204"/>
                <a:ea typeface="Arial" panose="020B0604020202020204"/>
                <a:cs typeface="Arial" panose="020B0604020202020204"/>
                <a:sym typeface="Arial" panose="020B0604020202020204"/>
              </a:rPr>
              <a:t>仍然保持不变，即在原序列中，</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且</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之前，</a:t>
            </a:r>
            <a:r>
              <a:rPr lang="en-US" sz="2800" b="1" i="0" u="none">
                <a:solidFill>
                  <a:schemeClr val="dk1"/>
                </a:solidFill>
                <a:latin typeface="Arial" panose="020B0604020202020204"/>
                <a:ea typeface="Arial" panose="020B0604020202020204"/>
                <a:cs typeface="Arial" panose="020B0604020202020204"/>
                <a:sym typeface="Arial" panose="020B0604020202020204"/>
              </a:rPr>
              <a:t>而在排序后的序列中，</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Arial" panose="020B0604020202020204"/>
                <a:ea typeface="Arial" panose="020B0604020202020204"/>
                <a:cs typeface="Arial" panose="020B0604020202020204"/>
                <a:sym typeface="Arial" panose="020B0604020202020204"/>
              </a:rPr>
              <a:t>仍在</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2800" b="1" i="0" u="none">
                <a:solidFill>
                  <a:schemeClr val="dk1"/>
                </a:solidFill>
                <a:latin typeface="Arial" panose="020B0604020202020204"/>
                <a:ea typeface="Arial" panose="020B0604020202020204"/>
                <a:cs typeface="Arial" panose="020B0604020202020204"/>
                <a:sym typeface="Arial" panose="020B0604020202020204"/>
              </a:rPr>
              <a:t>之前，则称这种排序算法是稳定的；否则称为不稳定的。</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 name="Shape 39"/>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0" name="Shape 40"/>
          <p:cNvGrpSpPr/>
          <p:nvPr/>
        </p:nvGrpSpPr>
        <p:grpSpPr>
          <a:xfrm>
            <a:off x="566737" y="4270375"/>
            <a:ext cx="7958137" cy="2428875"/>
            <a:chOff x="349250" y="3119437"/>
            <a:chExt cx="8580437" cy="2959100"/>
          </a:xfrm>
        </p:grpSpPr>
        <p:sp>
          <p:nvSpPr>
            <p:cNvPr id="41" name="Shape 41"/>
            <p:cNvSpPr txBox="1"/>
            <p:nvPr/>
          </p:nvSpPr>
          <p:spPr>
            <a:xfrm>
              <a:off x="473075" y="3119437"/>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学号</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Shape 42"/>
            <p:cNvSpPr/>
            <p:nvPr/>
          </p:nvSpPr>
          <p:spPr>
            <a:xfrm>
              <a:off x="349250" y="3119437"/>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Shape 43"/>
            <p:cNvSpPr txBox="1"/>
            <p:nvPr/>
          </p:nvSpPr>
          <p:spPr>
            <a:xfrm>
              <a:off x="1874837" y="3119437"/>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姓名</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 name="Shape 44"/>
            <p:cNvSpPr/>
            <p:nvPr/>
          </p:nvSpPr>
          <p:spPr>
            <a:xfrm>
              <a:off x="1751012" y="3119437"/>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 name="Shape 45"/>
            <p:cNvSpPr txBox="1"/>
            <p:nvPr/>
          </p:nvSpPr>
          <p:spPr>
            <a:xfrm>
              <a:off x="3773487" y="3119437"/>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高数</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 name="Shape 46"/>
            <p:cNvSpPr/>
            <p:nvPr/>
          </p:nvSpPr>
          <p:spPr>
            <a:xfrm>
              <a:off x="3649662" y="3119437"/>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 name="Shape 47"/>
            <p:cNvSpPr txBox="1"/>
            <p:nvPr/>
          </p:nvSpPr>
          <p:spPr>
            <a:xfrm>
              <a:off x="5464175" y="3119437"/>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英语</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 name="Shape 48"/>
            <p:cNvSpPr/>
            <p:nvPr/>
          </p:nvSpPr>
          <p:spPr>
            <a:xfrm>
              <a:off x="5340350" y="3119437"/>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 name="Shape 49"/>
            <p:cNvSpPr txBox="1"/>
            <p:nvPr/>
          </p:nvSpPr>
          <p:spPr>
            <a:xfrm>
              <a:off x="7362825" y="3119437"/>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思想品德</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 name="Shape 50"/>
            <p:cNvSpPr/>
            <p:nvPr/>
          </p:nvSpPr>
          <p:spPr>
            <a:xfrm>
              <a:off x="7239000" y="3119437"/>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 name="Shape 51"/>
            <p:cNvSpPr txBox="1"/>
            <p:nvPr/>
          </p:nvSpPr>
          <p:spPr>
            <a:xfrm>
              <a:off x="473075" y="3711575"/>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 name="Shape 52"/>
            <p:cNvSpPr/>
            <p:nvPr/>
          </p:nvSpPr>
          <p:spPr>
            <a:xfrm>
              <a:off x="349250" y="3711575"/>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 name="Shape 53"/>
            <p:cNvSpPr txBox="1"/>
            <p:nvPr/>
          </p:nvSpPr>
          <p:spPr>
            <a:xfrm>
              <a:off x="1874837" y="3711575"/>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王  军</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 name="Shape 54"/>
            <p:cNvSpPr/>
            <p:nvPr/>
          </p:nvSpPr>
          <p:spPr>
            <a:xfrm>
              <a:off x="1751012" y="3711575"/>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Shape 55"/>
            <p:cNvSpPr txBox="1"/>
            <p:nvPr/>
          </p:nvSpPr>
          <p:spPr>
            <a:xfrm>
              <a:off x="3773487" y="3711575"/>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85</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 name="Shape 56"/>
            <p:cNvSpPr/>
            <p:nvPr/>
          </p:nvSpPr>
          <p:spPr>
            <a:xfrm>
              <a:off x="3649662" y="3711575"/>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 name="Shape 57"/>
            <p:cNvSpPr txBox="1"/>
            <p:nvPr/>
          </p:nvSpPr>
          <p:spPr>
            <a:xfrm>
              <a:off x="7362825" y="3711575"/>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 name="Shape 58"/>
            <p:cNvSpPr/>
            <p:nvPr/>
          </p:nvSpPr>
          <p:spPr>
            <a:xfrm>
              <a:off x="7239000" y="3711575"/>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 name="Shape 59"/>
            <p:cNvSpPr txBox="1"/>
            <p:nvPr/>
          </p:nvSpPr>
          <p:spPr>
            <a:xfrm>
              <a:off x="473075" y="4303712"/>
              <a:ext cx="1154112"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 name="Shape 60"/>
            <p:cNvSpPr/>
            <p:nvPr/>
          </p:nvSpPr>
          <p:spPr>
            <a:xfrm>
              <a:off x="349250" y="4303712"/>
              <a:ext cx="1401762"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 name="Shape 61"/>
            <p:cNvSpPr txBox="1"/>
            <p:nvPr/>
          </p:nvSpPr>
          <p:spPr>
            <a:xfrm>
              <a:off x="1874837" y="4303712"/>
              <a:ext cx="1651000"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李  明</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 name="Shape 62"/>
            <p:cNvSpPr/>
            <p:nvPr/>
          </p:nvSpPr>
          <p:spPr>
            <a:xfrm>
              <a:off x="1751012" y="4303712"/>
              <a:ext cx="1898650"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 name="Shape 63"/>
            <p:cNvSpPr txBox="1"/>
            <p:nvPr/>
          </p:nvSpPr>
          <p:spPr>
            <a:xfrm>
              <a:off x="3773487" y="4303712"/>
              <a:ext cx="1443037"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64</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 name="Shape 64"/>
            <p:cNvSpPr/>
            <p:nvPr/>
          </p:nvSpPr>
          <p:spPr>
            <a:xfrm>
              <a:off x="3649662" y="4303712"/>
              <a:ext cx="1690687"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 name="Shape 65"/>
            <p:cNvSpPr txBox="1"/>
            <p:nvPr/>
          </p:nvSpPr>
          <p:spPr>
            <a:xfrm>
              <a:off x="7362825" y="4303712"/>
              <a:ext cx="1443037"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92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 name="Shape 66"/>
            <p:cNvSpPr/>
            <p:nvPr/>
          </p:nvSpPr>
          <p:spPr>
            <a:xfrm>
              <a:off x="7239000" y="4303712"/>
              <a:ext cx="1690687"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 name="Shape 67"/>
            <p:cNvSpPr txBox="1"/>
            <p:nvPr/>
          </p:nvSpPr>
          <p:spPr>
            <a:xfrm>
              <a:off x="473075" y="4894262"/>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0003</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 name="Shape 68"/>
            <p:cNvSpPr/>
            <p:nvPr/>
          </p:nvSpPr>
          <p:spPr>
            <a:xfrm>
              <a:off x="349250" y="4894262"/>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 name="Shape 69"/>
            <p:cNvSpPr txBox="1"/>
            <p:nvPr/>
          </p:nvSpPr>
          <p:spPr>
            <a:xfrm>
              <a:off x="1874837" y="4894262"/>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汤晓影</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 name="Shape 70"/>
            <p:cNvSpPr/>
            <p:nvPr/>
          </p:nvSpPr>
          <p:spPr>
            <a:xfrm>
              <a:off x="1751012" y="4894262"/>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 name="Shape 71"/>
            <p:cNvSpPr txBox="1"/>
            <p:nvPr/>
          </p:nvSpPr>
          <p:spPr>
            <a:xfrm>
              <a:off x="3773487" y="4894262"/>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85</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2" name="Shape 72"/>
            <p:cNvSpPr/>
            <p:nvPr/>
          </p:nvSpPr>
          <p:spPr>
            <a:xfrm>
              <a:off x="3649662" y="4894262"/>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3" name="Shape 73"/>
            <p:cNvSpPr txBox="1"/>
            <p:nvPr/>
          </p:nvSpPr>
          <p:spPr>
            <a:xfrm>
              <a:off x="7362825" y="4894262"/>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 name="Shape 74"/>
            <p:cNvSpPr/>
            <p:nvPr/>
          </p:nvSpPr>
          <p:spPr>
            <a:xfrm>
              <a:off x="7239000" y="4894262"/>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 name="Shape 75"/>
            <p:cNvSpPr txBox="1"/>
            <p:nvPr/>
          </p:nvSpPr>
          <p:spPr>
            <a:xfrm>
              <a:off x="473075" y="5486400"/>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6" name="Shape 76"/>
            <p:cNvSpPr/>
            <p:nvPr/>
          </p:nvSpPr>
          <p:spPr>
            <a:xfrm>
              <a:off x="349250" y="5486400"/>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7" name="Shape 77"/>
            <p:cNvSpPr txBox="1"/>
            <p:nvPr/>
          </p:nvSpPr>
          <p:spPr>
            <a:xfrm>
              <a:off x="1874837" y="5486400"/>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8" name="Shape 78"/>
            <p:cNvSpPr/>
            <p:nvPr/>
          </p:nvSpPr>
          <p:spPr>
            <a:xfrm>
              <a:off x="1751012" y="5486400"/>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9" name="Shape 79"/>
            <p:cNvSpPr txBox="1"/>
            <p:nvPr/>
          </p:nvSpPr>
          <p:spPr>
            <a:xfrm>
              <a:off x="3773487" y="5486400"/>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0" name="Shape 80"/>
            <p:cNvSpPr/>
            <p:nvPr/>
          </p:nvSpPr>
          <p:spPr>
            <a:xfrm>
              <a:off x="3649662" y="5486400"/>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1" name="Shape 81"/>
            <p:cNvSpPr txBox="1"/>
            <p:nvPr/>
          </p:nvSpPr>
          <p:spPr>
            <a:xfrm>
              <a:off x="5464175" y="3711575"/>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68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2" name="Shape 82"/>
            <p:cNvSpPr/>
            <p:nvPr/>
          </p:nvSpPr>
          <p:spPr>
            <a:xfrm>
              <a:off x="5340350" y="3711575"/>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3" name="Shape 83"/>
            <p:cNvSpPr txBox="1"/>
            <p:nvPr/>
          </p:nvSpPr>
          <p:spPr>
            <a:xfrm>
              <a:off x="5464175" y="4303712"/>
              <a:ext cx="1651000"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4" name="Shape 84"/>
            <p:cNvSpPr/>
            <p:nvPr/>
          </p:nvSpPr>
          <p:spPr>
            <a:xfrm>
              <a:off x="5340350" y="4303712"/>
              <a:ext cx="1898650"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 name="Shape 85"/>
            <p:cNvSpPr txBox="1"/>
            <p:nvPr/>
          </p:nvSpPr>
          <p:spPr>
            <a:xfrm>
              <a:off x="5464175" y="4894262"/>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Shape 86"/>
            <p:cNvSpPr/>
            <p:nvPr/>
          </p:nvSpPr>
          <p:spPr>
            <a:xfrm>
              <a:off x="5340350" y="4894262"/>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7" name="Shape 87"/>
            <p:cNvSpPr txBox="1"/>
            <p:nvPr/>
          </p:nvSpPr>
          <p:spPr>
            <a:xfrm>
              <a:off x="5464175" y="5486400"/>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8" name="Shape 88"/>
            <p:cNvSpPr/>
            <p:nvPr/>
          </p:nvSpPr>
          <p:spPr>
            <a:xfrm>
              <a:off x="5340350" y="5486400"/>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9" name="Shape 89"/>
            <p:cNvSpPr txBox="1"/>
            <p:nvPr/>
          </p:nvSpPr>
          <p:spPr>
            <a:xfrm>
              <a:off x="7362825" y="5486400"/>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 name="Shape 90"/>
            <p:cNvSpPr/>
            <p:nvPr/>
          </p:nvSpPr>
          <p:spPr>
            <a:xfrm>
              <a:off x="7239000" y="5486400"/>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91" name="Shape 91"/>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95" name="Shape 95"/>
        <p:cNvGrpSpPr/>
        <p:nvPr/>
      </p:nvGrpSpPr>
      <p:grpSpPr>
        <a:xfrm>
          <a:off x="0" y="0"/>
          <a:ext cx="0" cy="0"/>
          <a:chOff x="0" y="0"/>
          <a:chExt cx="0" cy="0"/>
        </a:xfrm>
      </p:grpSpPr>
      <p:sp>
        <p:nvSpPr>
          <p:cNvPr id="96" name="Shape 96"/>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Shape 97"/>
          <p:cNvSpPr txBox="1"/>
          <p:nvPr/>
        </p:nvSpPr>
        <p:spPr>
          <a:xfrm>
            <a:off x="385762" y="1898650"/>
            <a:ext cx="801052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单键排序：</a:t>
            </a:r>
            <a:r>
              <a:rPr lang="en-US" sz="2800" b="1" i="0" u="none">
                <a:solidFill>
                  <a:schemeClr val="dk1"/>
                </a:solidFill>
                <a:latin typeface="Arial" panose="020B0604020202020204"/>
                <a:ea typeface="Arial" panose="020B0604020202020204"/>
                <a:cs typeface="Arial" panose="020B0604020202020204"/>
                <a:sym typeface="Arial" panose="020B0604020202020204"/>
              </a:rPr>
              <a:t>根据一个关键码进行的排序；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多键排序：</a:t>
            </a:r>
            <a:r>
              <a:rPr lang="en-US" sz="2800" b="1" i="0" u="none">
                <a:solidFill>
                  <a:schemeClr val="dk1"/>
                </a:solidFill>
                <a:latin typeface="Arial" panose="020B0604020202020204"/>
                <a:ea typeface="Arial" panose="020B0604020202020204"/>
                <a:cs typeface="Arial" panose="020B0604020202020204"/>
                <a:sym typeface="Arial" panose="020B0604020202020204"/>
              </a:rPr>
              <a:t>根据多个关键码进行的排序。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98" name="Shape 98"/>
          <p:cNvGrpSpPr/>
          <p:nvPr/>
        </p:nvGrpSpPr>
        <p:grpSpPr>
          <a:xfrm>
            <a:off x="566737" y="2979737"/>
            <a:ext cx="7958137" cy="2428875"/>
            <a:chOff x="349250" y="3119437"/>
            <a:chExt cx="8580437" cy="2959100"/>
          </a:xfrm>
        </p:grpSpPr>
        <p:sp>
          <p:nvSpPr>
            <p:cNvPr id="99" name="Shape 99"/>
            <p:cNvSpPr txBox="1"/>
            <p:nvPr/>
          </p:nvSpPr>
          <p:spPr>
            <a:xfrm>
              <a:off x="473075" y="3119437"/>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学号</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0" name="Shape 100"/>
            <p:cNvSpPr/>
            <p:nvPr/>
          </p:nvSpPr>
          <p:spPr>
            <a:xfrm>
              <a:off x="349250" y="3119437"/>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1" name="Shape 101"/>
            <p:cNvSpPr txBox="1"/>
            <p:nvPr/>
          </p:nvSpPr>
          <p:spPr>
            <a:xfrm>
              <a:off x="1874837" y="3119437"/>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姓名</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2" name="Shape 102"/>
            <p:cNvSpPr/>
            <p:nvPr/>
          </p:nvSpPr>
          <p:spPr>
            <a:xfrm>
              <a:off x="1751012" y="3119437"/>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3" name="Shape 103"/>
            <p:cNvSpPr txBox="1"/>
            <p:nvPr/>
          </p:nvSpPr>
          <p:spPr>
            <a:xfrm>
              <a:off x="3773487" y="3119437"/>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高数</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Shape 104"/>
            <p:cNvSpPr/>
            <p:nvPr/>
          </p:nvSpPr>
          <p:spPr>
            <a:xfrm>
              <a:off x="3649662" y="3119437"/>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5" name="Shape 105"/>
            <p:cNvSpPr txBox="1"/>
            <p:nvPr/>
          </p:nvSpPr>
          <p:spPr>
            <a:xfrm>
              <a:off x="5464175" y="3119437"/>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英语</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6" name="Shape 106"/>
            <p:cNvSpPr/>
            <p:nvPr/>
          </p:nvSpPr>
          <p:spPr>
            <a:xfrm>
              <a:off x="5340350" y="3119437"/>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7" name="Shape 107"/>
            <p:cNvSpPr txBox="1"/>
            <p:nvPr/>
          </p:nvSpPr>
          <p:spPr>
            <a:xfrm>
              <a:off x="7362825" y="3119437"/>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思想品德</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8" name="Shape 108"/>
            <p:cNvSpPr/>
            <p:nvPr/>
          </p:nvSpPr>
          <p:spPr>
            <a:xfrm>
              <a:off x="7239000" y="3119437"/>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9" name="Shape 109"/>
            <p:cNvSpPr txBox="1"/>
            <p:nvPr/>
          </p:nvSpPr>
          <p:spPr>
            <a:xfrm>
              <a:off x="473075" y="3711575"/>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Shape 110"/>
            <p:cNvSpPr/>
            <p:nvPr/>
          </p:nvSpPr>
          <p:spPr>
            <a:xfrm>
              <a:off x="349250" y="3711575"/>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1" name="Shape 111"/>
            <p:cNvSpPr txBox="1"/>
            <p:nvPr/>
          </p:nvSpPr>
          <p:spPr>
            <a:xfrm>
              <a:off x="1874837" y="3711575"/>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王  军</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2" name="Shape 112"/>
            <p:cNvSpPr/>
            <p:nvPr/>
          </p:nvSpPr>
          <p:spPr>
            <a:xfrm>
              <a:off x="1751012" y="3711575"/>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3" name="Shape 113"/>
            <p:cNvSpPr txBox="1"/>
            <p:nvPr/>
          </p:nvSpPr>
          <p:spPr>
            <a:xfrm>
              <a:off x="3773487" y="3711575"/>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85</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4" name="Shape 114"/>
            <p:cNvSpPr/>
            <p:nvPr/>
          </p:nvSpPr>
          <p:spPr>
            <a:xfrm>
              <a:off x="3649662" y="3711575"/>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5" name="Shape 115"/>
            <p:cNvSpPr txBox="1"/>
            <p:nvPr/>
          </p:nvSpPr>
          <p:spPr>
            <a:xfrm>
              <a:off x="7362825" y="3711575"/>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 name="Shape 116"/>
            <p:cNvSpPr/>
            <p:nvPr/>
          </p:nvSpPr>
          <p:spPr>
            <a:xfrm>
              <a:off x="7239000" y="3711575"/>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 name="Shape 117"/>
            <p:cNvSpPr txBox="1"/>
            <p:nvPr/>
          </p:nvSpPr>
          <p:spPr>
            <a:xfrm>
              <a:off x="473075" y="4303712"/>
              <a:ext cx="1154112"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 name="Shape 118"/>
            <p:cNvSpPr/>
            <p:nvPr/>
          </p:nvSpPr>
          <p:spPr>
            <a:xfrm>
              <a:off x="349250" y="4303712"/>
              <a:ext cx="1401762"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Shape 119"/>
            <p:cNvSpPr txBox="1"/>
            <p:nvPr/>
          </p:nvSpPr>
          <p:spPr>
            <a:xfrm>
              <a:off x="1874837" y="4303712"/>
              <a:ext cx="1651000"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李  明</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 name="Shape 120"/>
            <p:cNvSpPr/>
            <p:nvPr/>
          </p:nvSpPr>
          <p:spPr>
            <a:xfrm>
              <a:off x="1751012" y="4303712"/>
              <a:ext cx="1898650"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1" name="Shape 121"/>
            <p:cNvSpPr txBox="1"/>
            <p:nvPr/>
          </p:nvSpPr>
          <p:spPr>
            <a:xfrm>
              <a:off x="3773487" y="4303712"/>
              <a:ext cx="1443037"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64</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Shape 122"/>
            <p:cNvSpPr/>
            <p:nvPr/>
          </p:nvSpPr>
          <p:spPr>
            <a:xfrm>
              <a:off x="3649662" y="4303712"/>
              <a:ext cx="1690687"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3" name="Shape 123"/>
            <p:cNvSpPr txBox="1"/>
            <p:nvPr/>
          </p:nvSpPr>
          <p:spPr>
            <a:xfrm>
              <a:off x="7362825" y="4303712"/>
              <a:ext cx="1443037"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92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4" name="Shape 124"/>
            <p:cNvSpPr/>
            <p:nvPr/>
          </p:nvSpPr>
          <p:spPr>
            <a:xfrm>
              <a:off x="7239000" y="4303712"/>
              <a:ext cx="1690687"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Shape 125"/>
            <p:cNvSpPr txBox="1"/>
            <p:nvPr/>
          </p:nvSpPr>
          <p:spPr>
            <a:xfrm>
              <a:off x="473075" y="4894262"/>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0003</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6" name="Shape 126"/>
            <p:cNvSpPr/>
            <p:nvPr/>
          </p:nvSpPr>
          <p:spPr>
            <a:xfrm>
              <a:off x="349250" y="4894262"/>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7" name="Shape 127"/>
            <p:cNvSpPr txBox="1"/>
            <p:nvPr/>
          </p:nvSpPr>
          <p:spPr>
            <a:xfrm>
              <a:off x="1874837" y="4894262"/>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汤晓影</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8" name="Shape 128"/>
            <p:cNvSpPr/>
            <p:nvPr/>
          </p:nvSpPr>
          <p:spPr>
            <a:xfrm>
              <a:off x="1751012" y="4894262"/>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 name="Shape 129"/>
            <p:cNvSpPr txBox="1"/>
            <p:nvPr/>
          </p:nvSpPr>
          <p:spPr>
            <a:xfrm>
              <a:off x="3773487" y="4894262"/>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85</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0" name="Shape 130"/>
            <p:cNvSpPr/>
            <p:nvPr/>
          </p:nvSpPr>
          <p:spPr>
            <a:xfrm>
              <a:off x="3649662" y="4894262"/>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Shape 131"/>
            <p:cNvSpPr txBox="1"/>
            <p:nvPr/>
          </p:nvSpPr>
          <p:spPr>
            <a:xfrm>
              <a:off x="7362825" y="4894262"/>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2" name="Shape 132"/>
            <p:cNvSpPr/>
            <p:nvPr/>
          </p:nvSpPr>
          <p:spPr>
            <a:xfrm>
              <a:off x="7239000" y="4894262"/>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3" name="Shape 133"/>
            <p:cNvSpPr txBox="1"/>
            <p:nvPr/>
          </p:nvSpPr>
          <p:spPr>
            <a:xfrm>
              <a:off x="473075" y="5486400"/>
              <a:ext cx="1154112"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4" name="Shape 134"/>
            <p:cNvSpPr/>
            <p:nvPr/>
          </p:nvSpPr>
          <p:spPr>
            <a:xfrm>
              <a:off x="349250" y="5486400"/>
              <a:ext cx="1401762"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5" name="Shape 135"/>
            <p:cNvSpPr txBox="1"/>
            <p:nvPr/>
          </p:nvSpPr>
          <p:spPr>
            <a:xfrm>
              <a:off x="1874837" y="5486400"/>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6" name="Shape 136"/>
            <p:cNvSpPr/>
            <p:nvPr/>
          </p:nvSpPr>
          <p:spPr>
            <a:xfrm>
              <a:off x="1751012" y="5486400"/>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 name="Shape 137"/>
            <p:cNvSpPr txBox="1"/>
            <p:nvPr/>
          </p:nvSpPr>
          <p:spPr>
            <a:xfrm>
              <a:off x="3773487" y="5486400"/>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Shape 138"/>
            <p:cNvSpPr/>
            <p:nvPr/>
          </p:nvSpPr>
          <p:spPr>
            <a:xfrm>
              <a:off x="3649662" y="5486400"/>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Shape 139"/>
            <p:cNvSpPr txBox="1"/>
            <p:nvPr/>
          </p:nvSpPr>
          <p:spPr>
            <a:xfrm>
              <a:off x="5464175" y="3711575"/>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68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Shape 140"/>
            <p:cNvSpPr/>
            <p:nvPr/>
          </p:nvSpPr>
          <p:spPr>
            <a:xfrm>
              <a:off x="5340350" y="3711575"/>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 name="Shape 141"/>
            <p:cNvSpPr txBox="1"/>
            <p:nvPr/>
          </p:nvSpPr>
          <p:spPr>
            <a:xfrm>
              <a:off x="5464175" y="4303712"/>
              <a:ext cx="1651000" cy="59055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 name="Shape 142"/>
            <p:cNvSpPr/>
            <p:nvPr/>
          </p:nvSpPr>
          <p:spPr>
            <a:xfrm>
              <a:off x="5340350" y="4303712"/>
              <a:ext cx="1898650" cy="590550"/>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 name="Shape 143"/>
            <p:cNvSpPr txBox="1"/>
            <p:nvPr/>
          </p:nvSpPr>
          <p:spPr>
            <a:xfrm>
              <a:off x="5464175" y="4894262"/>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78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Shape 144"/>
            <p:cNvSpPr/>
            <p:nvPr/>
          </p:nvSpPr>
          <p:spPr>
            <a:xfrm>
              <a:off x="5340350" y="4894262"/>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Shape 145"/>
            <p:cNvSpPr txBox="1"/>
            <p:nvPr/>
          </p:nvSpPr>
          <p:spPr>
            <a:xfrm>
              <a:off x="5464175" y="5486400"/>
              <a:ext cx="1651000"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Shape 146"/>
            <p:cNvSpPr/>
            <p:nvPr/>
          </p:nvSpPr>
          <p:spPr>
            <a:xfrm>
              <a:off x="5340350" y="5486400"/>
              <a:ext cx="1898650"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Shape 147"/>
            <p:cNvSpPr txBox="1"/>
            <p:nvPr/>
          </p:nvSpPr>
          <p:spPr>
            <a:xfrm>
              <a:off x="7362825" y="5486400"/>
              <a:ext cx="1443037" cy="592137"/>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8" name="Shape 148"/>
            <p:cNvSpPr/>
            <p:nvPr/>
          </p:nvSpPr>
          <p:spPr>
            <a:xfrm>
              <a:off x="7239000" y="5486400"/>
              <a:ext cx="1690687" cy="592137"/>
            </a:xfrm>
            <a:prstGeom prst="rect">
              <a:avLst/>
            </a:prstGeom>
            <a:noFill/>
            <a:ln w="28575" cap="flat" cmpd="sng">
              <a:solidFill>
                <a:schemeClr val="accent1"/>
              </a:solidFill>
              <a:prstDash val="solid"/>
              <a:miter lim="800000"/>
              <a:headEnd type="none" w="sm" len="sm"/>
              <a:tailEnd type="none" w="sm" len="sm"/>
            </a:ln>
          </p:spPr>
          <p:txBody>
            <a:bodyPr spcFirstLastPara="1" wrap="square" lIns="0" tIns="457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49" name="Shape 149"/>
          <p:cNvSpPr txBox="1"/>
          <p:nvPr/>
        </p:nvSpPr>
        <p:spPr>
          <a:xfrm>
            <a:off x="341312" y="5599112"/>
            <a:ext cx="859631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按学号排序——单键排序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按成绩（高数＋英语＋思想品德）排序——多键排序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0" name="Shape 150"/>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54" name="Shape 154"/>
        <p:cNvGrpSpPr/>
        <p:nvPr/>
      </p:nvGrpSpPr>
      <p:grpSpPr>
        <a:xfrm>
          <a:off x="0" y="0"/>
          <a:ext cx="0" cy="0"/>
          <a:chOff x="0" y="0"/>
          <a:chExt cx="0" cy="0"/>
        </a:xfrm>
      </p:grpSpPr>
      <p:sp>
        <p:nvSpPr>
          <p:cNvPr id="155" name="Shape 155"/>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6" name="Shape 156"/>
          <p:cNvSpPr txBox="1"/>
          <p:nvPr>
            <p:ph type="body" idx="1"/>
          </p:nvPr>
        </p:nvSpPr>
        <p:spPr>
          <a:xfrm>
            <a:off x="385762" y="1854200"/>
            <a:ext cx="8461375" cy="4589462"/>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设关键码分别为</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，多键排序有两种方法：</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⑴ 依次对记录进行</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次排序，第一次按</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排序，第二次按</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排序，依此类推。这种方法要求各趟排序所用的算法是稳定的；</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⑵ 将关键码</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800" b="1" i="1"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分别视为字符串依次首尾连接在一起，形成一个新的字符串，然后，对记录序列按新形成的字符串排序。</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57" name="Shape 157"/>
          <p:cNvGrpSpPr/>
          <p:nvPr/>
        </p:nvGrpSpPr>
        <p:grpSpPr>
          <a:xfrm>
            <a:off x="2220912" y="5454650"/>
            <a:ext cx="4872038" cy="547687"/>
            <a:chOff x="2205037" y="5543550"/>
            <a:chExt cx="4233863" cy="547687"/>
          </a:xfrm>
        </p:grpSpPr>
        <p:sp>
          <p:nvSpPr>
            <p:cNvPr id="158" name="Shape 158"/>
            <p:cNvSpPr txBox="1"/>
            <p:nvPr/>
          </p:nvSpPr>
          <p:spPr>
            <a:xfrm>
              <a:off x="2205037" y="5543550"/>
              <a:ext cx="1425575" cy="547687"/>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多键排序</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59" name="Shape 159"/>
            <p:cNvSpPr/>
            <p:nvPr/>
          </p:nvSpPr>
          <p:spPr>
            <a:xfrm>
              <a:off x="3943350" y="5634037"/>
              <a:ext cx="676275" cy="360362"/>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Shape 160"/>
            <p:cNvSpPr txBox="1"/>
            <p:nvPr/>
          </p:nvSpPr>
          <p:spPr>
            <a:xfrm>
              <a:off x="4797425" y="5543550"/>
              <a:ext cx="1641475" cy="547687"/>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单键排序</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sp>
        <p:nvSpPr>
          <p:cNvPr id="161" name="Shape 161"/>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5" name="Shape 165"/>
        <p:cNvGrpSpPr/>
        <p:nvPr/>
      </p:nvGrpSpPr>
      <p:grpSpPr>
        <a:xfrm>
          <a:off x="0" y="0"/>
          <a:ext cx="0" cy="0"/>
          <a:chOff x="0" y="0"/>
          <a:chExt cx="0" cy="0"/>
        </a:xfrm>
      </p:grpSpPr>
      <p:sp>
        <p:nvSpPr>
          <p:cNvPr id="166" name="Shape 166"/>
          <p:cNvSpPr txBox="1"/>
          <p:nvPr/>
        </p:nvSpPr>
        <p:spPr>
          <a:xfrm>
            <a:off x="385762" y="1898650"/>
            <a:ext cx="8507412" cy="35099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排序的分类</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rgbClr val="F55439"/>
                </a:solidFill>
                <a:latin typeface="Times New Roman" panose="02020603050405020304"/>
                <a:ea typeface="Times New Roman" panose="02020603050405020304"/>
                <a:cs typeface="Times New Roman" panose="02020603050405020304"/>
                <a:sym typeface="Times New Roman" panose="02020603050405020304"/>
              </a:rPr>
              <a:t>内排序：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在排序的整个过程中，待排序的所有记录全部被放置在内存中</a:t>
            </a:r>
            <a:endParaRPr sz="2800" b="1" i="0" u="none">
              <a:solidFill>
                <a:srgbClr val="F55439"/>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a:t>
            </a:r>
            <a:r>
              <a:rPr lang="en-US" sz="2800" b="1" i="0" u="none">
                <a:solidFill>
                  <a:srgbClr val="F55439"/>
                </a:solidFill>
                <a:latin typeface="Times New Roman" panose="02020603050405020304"/>
                <a:ea typeface="Times New Roman" panose="02020603050405020304"/>
                <a:cs typeface="Times New Roman" panose="02020603050405020304"/>
                <a:sym typeface="Times New Roman" panose="02020603050405020304"/>
              </a:rPr>
              <a:t>外排序</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由于待排序的记录个数太多，不能同时放置在内存，而需要将一部分记录放置在内存，另一部分记录放置在外存上，整个排序过程需要在内外存之间多次交换数据才能得到排序的结果。</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 name="Shape 167"/>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8" name="Shape 168"/>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72" name="Shape 172"/>
        <p:cNvGrpSpPr/>
        <p:nvPr/>
      </p:nvGrpSpPr>
      <p:grpSpPr>
        <a:xfrm>
          <a:off x="0" y="0"/>
          <a:ext cx="0" cy="0"/>
          <a:chOff x="0" y="0"/>
          <a:chExt cx="0" cy="0"/>
        </a:xfrm>
      </p:grpSpPr>
      <p:sp>
        <p:nvSpPr>
          <p:cNvPr id="173" name="Shape 173"/>
          <p:cNvSpPr txBox="1"/>
          <p:nvPr>
            <p:ph type="body" idx="1"/>
          </p:nvPr>
        </p:nvSpPr>
        <p:spPr>
          <a:xfrm>
            <a:off x="250825" y="1854200"/>
            <a:ext cx="8893175" cy="44545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3300"/>
              </a:buClr>
              <a:buSzPts val="2800"/>
              <a:buFont typeface="Times New Roman" panose="02020603050405020304"/>
              <a:buNone/>
            </a:pPr>
            <a:r>
              <a:rPr lang="en-US" sz="2800" b="1" i="0" u="none" strike="noStrike" cap="none">
                <a:solidFill>
                  <a:srgbClr val="FF3300"/>
                </a:solidFill>
                <a:latin typeface="Times New Roman" panose="02020603050405020304"/>
                <a:ea typeface="Times New Roman" panose="02020603050405020304"/>
                <a:cs typeface="Times New Roman" panose="02020603050405020304"/>
                <a:sym typeface="Times New Roman" panose="02020603050405020304"/>
              </a:rPr>
              <a:t>排序的分类</a:t>
            </a:r>
            <a:endParaRPr lang="en-US" sz="2800" b="1" i="0" u="none" strike="noStrike" cap="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140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 </a:t>
            </a:r>
            <a:r>
              <a:rPr lang="en-US" sz="2800" b="1" i="0" u="none" strike="noStrike" cap="none">
                <a:solidFill>
                  <a:srgbClr val="F55439"/>
                </a:solidFill>
                <a:latin typeface="Times New Roman" panose="02020603050405020304"/>
                <a:ea typeface="Times New Roman" panose="02020603050405020304"/>
                <a:cs typeface="Times New Roman" panose="02020603050405020304"/>
                <a:sym typeface="Times New Roman" panose="02020603050405020304"/>
              </a:rPr>
              <a:t>基于比较：</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基本操作——关键码的比较和记录的移动，其最差时间下限已经被证明为</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Ω</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（1）插入排序</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（2）交换排序</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（3）选择排序</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（4）归并排序</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00000"/>
              </a:lnSpc>
              <a:spcBef>
                <a:spcPts val="560"/>
              </a:spcBef>
              <a:spcAft>
                <a:spcPts val="0"/>
              </a:spcAft>
              <a:buClr>
                <a:schemeClr val="dk1"/>
              </a:buClr>
              <a:buSzPts val="2800"/>
              <a:buFont typeface="Times New Roman" panose="02020603050405020304"/>
              <a:buNone/>
            </a:pP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 </a:t>
            </a:r>
            <a:r>
              <a:rPr lang="en-US" sz="2800" b="1" i="0" u="none" strike="noStrike" cap="none">
                <a:solidFill>
                  <a:srgbClr val="F55439"/>
                </a:solidFill>
                <a:latin typeface="Times New Roman" panose="02020603050405020304"/>
                <a:ea typeface="Times New Roman" panose="02020603050405020304"/>
                <a:cs typeface="Times New Roman" panose="02020603050405020304"/>
                <a:sym typeface="Times New Roman" panose="02020603050405020304"/>
              </a:rPr>
              <a:t>不基于比较</a:t>
            </a:r>
            <a:r>
              <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：根据关键码的分布特征。</a:t>
            </a:r>
            <a:endParaRPr lang="en-US" sz="28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4" name="Shape 174"/>
          <p:cNvSpPr txBox="1"/>
          <p:nvPr/>
        </p:nvSpPr>
        <p:spPr>
          <a:xfrm>
            <a:off x="250825" y="1179512"/>
            <a:ext cx="3735387"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排序的基本概念</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5" name="Shape 175"/>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79" name="Shape 179"/>
        <p:cNvGrpSpPr/>
        <p:nvPr/>
      </p:nvGrpSpPr>
      <p:grpSpPr>
        <a:xfrm>
          <a:off x="0" y="0"/>
          <a:ext cx="0" cy="0"/>
          <a:chOff x="0" y="0"/>
          <a:chExt cx="0" cy="0"/>
        </a:xfrm>
      </p:grpSpPr>
      <p:sp>
        <p:nvSpPr>
          <p:cNvPr id="180" name="Shape 180"/>
          <p:cNvSpPr txBox="1"/>
          <p:nvPr/>
        </p:nvSpPr>
        <p:spPr>
          <a:xfrm>
            <a:off x="457200" y="2133600"/>
            <a:ext cx="8686800" cy="3937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基本操作</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。内排序在排序过程中的基本操作：</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比较</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：关键码之间的比较；</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移动</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：记录从一个位置移动到另一个位置。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辅助存储空间</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辅助存储空间是指在数据规模一定的条件下，除了存放待排序记录占用的存储空间之外，执行算法所需要的其他存储空间。</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 </a:t>
            </a:r>
            <a:r>
              <a:rPr lang="en-US" sz="2800" b="1" i="0" u="none">
                <a:solidFill>
                  <a:srgbClr val="FF3300"/>
                </a:solidFill>
                <a:latin typeface="Arial" panose="020B0604020202020204"/>
                <a:ea typeface="Arial" panose="020B0604020202020204"/>
                <a:cs typeface="Arial" panose="020B0604020202020204"/>
                <a:sym typeface="Arial" panose="020B0604020202020204"/>
              </a:rPr>
              <a:t>算法本身的复杂程度</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0" i="0" u="none">
                <a:solidFill>
                  <a:srgbClr val="FF3300"/>
                </a:solidFill>
                <a:latin typeface="Arial" panose="020B0604020202020204"/>
                <a:ea typeface="Arial" panose="020B0604020202020204"/>
                <a:cs typeface="Arial" panose="020B0604020202020204"/>
                <a:sym typeface="Arial" panose="020B0604020202020204"/>
              </a:rPr>
              <a:t> </a:t>
            </a:r>
            <a:r>
              <a:rPr lang="en-US" sz="2800" b="1" i="0" u="none">
                <a:solidFill>
                  <a:srgbClr val="FF3300"/>
                </a:solidFill>
                <a:latin typeface="Arial" panose="020B0604020202020204"/>
                <a:ea typeface="Arial" panose="020B0604020202020204"/>
                <a:cs typeface="Arial" panose="020B0604020202020204"/>
                <a:sym typeface="Arial" panose="020B0604020202020204"/>
              </a:rPr>
              <a:t> </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81" name="Shape 181"/>
          <p:cNvSpPr txBox="1"/>
          <p:nvPr/>
        </p:nvSpPr>
        <p:spPr>
          <a:xfrm>
            <a:off x="341312" y="1268412"/>
            <a:ext cx="7467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排序算法的性能</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 name="Shape 182"/>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86" name="Shape 186"/>
        <p:cNvGrpSpPr/>
        <p:nvPr/>
      </p:nvGrpSpPr>
      <p:grpSpPr>
        <a:xfrm>
          <a:off x="0" y="0"/>
          <a:ext cx="0" cy="0"/>
          <a:chOff x="0" y="0"/>
          <a:chExt cx="0" cy="0"/>
        </a:xfrm>
      </p:grpSpPr>
      <p:sp>
        <p:nvSpPr>
          <p:cNvPr id="187" name="Shape 187"/>
          <p:cNvSpPr txBox="1"/>
          <p:nvPr/>
        </p:nvSpPr>
        <p:spPr>
          <a:xfrm>
            <a:off x="341312" y="1268412"/>
            <a:ext cx="7467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排序算法的存储结构</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8" name="Shape 188"/>
          <p:cNvSpPr txBox="1"/>
          <p:nvPr/>
        </p:nvSpPr>
        <p:spPr>
          <a:xfrm>
            <a:off x="296862" y="2033587"/>
            <a:ext cx="8551862" cy="94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从操作角度看，排序是线性结构的一种操作，待排序记录可以用</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顺序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存储结构或</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链接</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存储结构存储。</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Shape 189"/>
          <p:cNvSpPr txBox="1"/>
          <p:nvPr/>
        </p:nvSpPr>
        <p:spPr>
          <a:xfrm>
            <a:off x="415925" y="5454650"/>
            <a:ext cx="7683500" cy="5191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假定2：</a:t>
            </a:r>
            <a:r>
              <a:rPr lang="en-US" sz="2800" b="1" i="0" u="none">
                <a:solidFill>
                  <a:schemeClr val="dk1"/>
                </a:solidFill>
                <a:latin typeface="Arial" panose="020B0604020202020204"/>
                <a:ea typeface="Arial" panose="020B0604020202020204"/>
                <a:cs typeface="Arial" panose="020B0604020202020204"/>
                <a:sym typeface="Arial" panose="020B0604020202020204"/>
              </a:rPr>
              <a:t>将待排序的记录序列排序为</a:t>
            </a:r>
            <a:r>
              <a:rPr lang="en-US" sz="2800" b="1" i="0" u="none">
                <a:solidFill>
                  <a:schemeClr val="accent2"/>
                </a:solidFill>
                <a:latin typeface="Arial" panose="020B0604020202020204"/>
                <a:ea typeface="Arial" panose="020B0604020202020204"/>
                <a:cs typeface="Arial" panose="020B0604020202020204"/>
                <a:sym typeface="Arial" panose="020B0604020202020204"/>
              </a:rPr>
              <a:t>升序</a:t>
            </a:r>
            <a:r>
              <a:rPr lang="en-US" sz="2800" b="1" i="0" u="none">
                <a:solidFill>
                  <a:schemeClr val="dk1"/>
                </a:solidFill>
                <a:latin typeface="Arial" panose="020B0604020202020204"/>
                <a:ea typeface="Arial" panose="020B0604020202020204"/>
                <a:cs typeface="Arial" panose="020B0604020202020204"/>
                <a:sym typeface="Arial" panose="020B0604020202020204"/>
              </a:rPr>
              <a:t>序列。</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90" name="Shape 190"/>
          <p:cNvSpPr txBox="1"/>
          <p:nvPr/>
        </p:nvSpPr>
        <p:spPr>
          <a:xfrm>
            <a:off x="492125" y="4284662"/>
            <a:ext cx="7112000"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int  r[n+1];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//待排序记录存储在r[1]~r[n]，r[0]留做他用</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 name="Shape 191"/>
          <p:cNvSpPr txBox="1"/>
          <p:nvPr/>
        </p:nvSpPr>
        <p:spPr>
          <a:xfrm>
            <a:off x="369887" y="3159125"/>
            <a:ext cx="840422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假定1：</a:t>
            </a:r>
            <a:r>
              <a:rPr lang="en-US" sz="2800" b="1" i="0" u="none">
                <a:solidFill>
                  <a:schemeClr val="dk1"/>
                </a:solidFill>
                <a:latin typeface="Arial" panose="020B0604020202020204"/>
                <a:ea typeface="Arial" panose="020B0604020202020204"/>
                <a:cs typeface="Arial" panose="020B0604020202020204"/>
                <a:sym typeface="Arial" panose="020B0604020202020204"/>
              </a:rPr>
              <a:t>采用</a:t>
            </a:r>
            <a:r>
              <a:rPr lang="en-US" sz="2800" b="1" i="0" u="none">
                <a:solidFill>
                  <a:schemeClr val="accent2"/>
                </a:solidFill>
                <a:latin typeface="Arial" panose="020B0604020202020204"/>
                <a:ea typeface="Arial" panose="020B0604020202020204"/>
                <a:cs typeface="Arial" panose="020B0604020202020204"/>
                <a:sym typeface="Arial" panose="020B0604020202020204"/>
              </a:rPr>
              <a:t>顺序</a:t>
            </a:r>
            <a:r>
              <a:rPr lang="en-US" sz="2800" b="1" i="0" u="none">
                <a:solidFill>
                  <a:schemeClr val="dk1"/>
                </a:solidFill>
                <a:latin typeface="Arial" panose="020B0604020202020204"/>
                <a:ea typeface="Arial" panose="020B0604020202020204"/>
                <a:cs typeface="Arial" panose="020B0604020202020204"/>
                <a:sym typeface="Arial" panose="020B0604020202020204"/>
              </a:rPr>
              <a:t>存储结构，关键码为</a:t>
            </a:r>
            <a:r>
              <a:rPr lang="en-US" sz="2800" b="1" i="0" u="none">
                <a:solidFill>
                  <a:schemeClr val="accent2"/>
                </a:solidFill>
                <a:latin typeface="Arial" panose="020B0604020202020204"/>
                <a:ea typeface="Arial" panose="020B0604020202020204"/>
                <a:cs typeface="Arial" panose="020B0604020202020204"/>
                <a:sym typeface="Arial" panose="020B0604020202020204"/>
              </a:rPr>
              <a:t>整型</a:t>
            </a:r>
            <a:r>
              <a:rPr lang="en-US" sz="2800" b="1" i="0" u="none">
                <a:solidFill>
                  <a:schemeClr val="dk1"/>
                </a:solidFill>
                <a:latin typeface="Arial" panose="020B0604020202020204"/>
                <a:ea typeface="Arial" panose="020B0604020202020204"/>
                <a:cs typeface="Arial" panose="020B0604020202020204"/>
                <a:sym typeface="Arial" panose="020B0604020202020204"/>
              </a:rPr>
              <a:t>，且记录只有关键码</a:t>
            </a:r>
            <a:r>
              <a:rPr lang="en-US" sz="2800" b="1" i="0" u="none">
                <a:solidFill>
                  <a:schemeClr val="accent2"/>
                </a:solidFill>
                <a:latin typeface="Arial" panose="020B0604020202020204"/>
                <a:ea typeface="Arial" panose="020B0604020202020204"/>
                <a:cs typeface="Arial" panose="020B0604020202020204"/>
                <a:sym typeface="Arial" panose="020B0604020202020204"/>
              </a:rPr>
              <a:t>一个</a:t>
            </a:r>
            <a:r>
              <a:rPr lang="en-US" sz="2800" b="1" i="0" u="none">
                <a:solidFill>
                  <a:schemeClr val="dk1"/>
                </a:solidFill>
                <a:latin typeface="Arial" panose="020B0604020202020204"/>
                <a:ea typeface="Arial" panose="020B0604020202020204"/>
                <a:cs typeface="Arial" panose="020B0604020202020204"/>
                <a:sym typeface="Arial" panose="020B0604020202020204"/>
              </a:rPr>
              <a:t>数据项。</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92" name="Shape 192"/>
          <p:cNvSpPr txBox="1"/>
          <p:nvPr/>
        </p:nvSpPr>
        <p:spPr>
          <a:xfrm>
            <a:off x="2832100" y="414337"/>
            <a:ext cx="2746375" cy="523875"/>
          </a:xfrm>
          <a:prstGeom prst="rect">
            <a:avLst/>
          </a:prstGeom>
          <a:noFill/>
          <a:ln>
            <a:noFill/>
          </a:ln>
          <a:effectLst>
            <a:outerShdw blurRad="63500" dist="28398" dir="1593903">
              <a:schemeClr val="lt2"/>
            </a:outerShdw>
          </a:effectLst>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6600FF"/>
              </a:buClr>
              <a:buSzPts val="3600"/>
              <a:buFont typeface="Times New Roman" panose="02020603050405020304"/>
              <a:buNone/>
            </a:pPr>
            <a:r>
              <a:rPr lang="en-US" sz="3600" b="1" i="0" u="none">
                <a:solidFill>
                  <a:srgbClr val="6600FF"/>
                </a:solidFill>
                <a:latin typeface="Times New Roman" panose="02020603050405020304"/>
                <a:ea typeface="Times New Roman" panose="02020603050405020304"/>
                <a:cs typeface="Times New Roman" panose="02020603050405020304"/>
                <a:sym typeface="Times New Roman" panose="02020603050405020304"/>
              </a:rPr>
              <a:t>8.1  概  述</a:t>
            </a:r>
            <a:r>
              <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lang="en-US" sz="36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Effect transition="in" filter="fade">
                                      <p:cBhvr>
                                        <p:cTn id="7" dur="500"/>
                                        <p:tgtEl>
                                          <p:spTgt spid="19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9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89"/>
                                        </p:tgtEl>
                                        <p:attrNameLst>
                                          <p:attrName>style.visibility</p:attrName>
                                        </p:attrNameLst>
                                      </p:cBhvr>
                                      <p:to>
                                        <p:strVal val="visible"/>
                                      </p:to>
                                    </p:set>
                                    <p:animEffect transition="in" filter="fade">
                                      <p:cBhvr>
                                        <p:cTn id="16"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96" name="Shape 196"/>
        <p:cNvGrpSpPr/>
        <p:nvPr/>
      </p:nvGrpSpPr>
      <p:grpSpPr>
        <a:xfrm>
          <a:off x="0" y="0"/>
          <a:ext cx="0" cy="0"/>
          <a:chOff x="0" y="0"/>
          <a:chExt cx="0" cy="0"/>
        </a:xfrm>
      </p:grpSpPr>
      <p:sp>
        <p:nvSpPr>
          <p:cNvPr id="197" name="Shape 197"/>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 name="Shape 198"/>
          <p:cNvSpPr txBox="1"/>
          <p:nvPr/>
        </p:nvSpPr>
        <p:spPr>
          <a:xfrm>
            <a:off x="349250" y="2438400"/>
            <a:ext cx="8667750" cy="20415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插入排序的主要操作是</a:t>
            </a:r>
            <a:r>
              <a:rPr lang="en-US" sz="32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插入</a:t>
            </a: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，其基本思想是：每次将一个待排序的记录按其关键码的大小插入到一个已经排好序的有序序列中，直到全部记录排好序为止。</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02" name="Shape 202"/>
        <p:cNvGrpSpPr/>
        <p:nvPr/>
      </p:nvGrpSpPr>
      <p:grpSpPr>
        <a:xfrm>
          <a:off x="0" y="0"/>
          <a:ext cx="0" cy="0"/>
          <a:chOff x="0" y="0"/>
          <a:chExt cx="0" cy="0"/>
        </a:xfrm>
      </p:grpSpPr>
      <p:sp>
        <p:nvSpPr>
          <p:cNvPr id="203" name="Shape 203"/>
          <p:cNvSpPr txBox="1"/>
          <p:nvPr/>
        </p:nvSpPr>
        <p:spPr>
          <a:xfrm>
            <a:off x="296862" y="1854200"/>
            <a:ext cx="8416925" cy="11176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基本思想</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：在插入第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＞1）个记录时，前面的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-1个记录已经排好序。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4" name="Shape 204"/>
          <p:cNvSpPr txBox="1"/>
          <p:nvPr/>
        </p:nvSpPr>
        <p:spPr>
          <a:xfrm>
            <a:off x="533400" y="4038600"/>
            <a:ext cx="8077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 name="Shape 205"/>
          <p:cNvSpPr txBox="1"/>
          <p:nvPr/>
        </p:nvSpPr>
        <p:spPr>
          <a:xfrm>
            <a:off x="206375" y="1133475"/>
            <a:ext cx="6324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6" name="Shape 206"/>
          <p:cNvGrpSpPr/>
          <p:nvPr/>
        </p:nvGrpSpPr>
        <p:grpSpPr>
          <a:xfrm>
            <a:off x="1300163" y="4251326"/>
            <a:ext cx="3151187" cy="923924"/>
            <a:chOff x="1300163" y="4541838"/>
            <a:chExt cx="3151187" cy="923924"/>
          </a:xfrm>
        </p:grpSpPr>
        <p:sp>
          <p:nvSpPr>
            <p:cNvPr id="207" name="Shape 207"/>
            <p:cNvSpPr/>
            <p:nvPr/>
          </p:nvSpPr>
          <p:spPr>
            <a:xfrm rot="-5400000">
              <a:off x="2695575" y="3146425"/>
              <a:ext cx="360362" cy="3151187"/>
            </a:xfrm>
            <a:prstGeom prst="leftBrace">
              <a:avLst>
                <a:gd name="adj1" fmla="val 8333"/>
                <a:gd name="adj2" fmla="val 50000"/>
              </a:avLst>
            </a:prstGeom>
            <a:noFill/>
            <a:ln w="28575" cap="flat" cmpd="sng">
              <a:solidFill>
                <a:srgbClr val="0066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8" name="Shape 208"/>
            <p:cNvSpPr txBox="1"/>
            <p:nvPr/>
          </p:nvSpPr>
          <p:spPr>
            <a:xfrm>
              <a:off x="2017712" y="4946650"/>
              <a:ext cx="19812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有序序列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09" name="Shape 209"/>
          <p:cNvGrpSpPr/>
          <p:nvPr/>
        </p:nvGrpSpPr>
        <p:grpSpPr>
          <a:xfrm>
            <a:off x="5133975" y="4251326"/>
            <a:ext cx="3151187" cy="923924"/>
            <a:chOff x="5133975" y="4541838"/>
            <a:chExt cx="3151187" cy="923924"/>
          </a:xfrm>
        </p:grpSpPr>
        <p:sp>
          <p:nvSpPr>
            <p:cNvPr id="210" name="Shape 210"/>
            <p:cNvSpPr/>
            <p:nvPr/>
          </p:nvSpPr>
          <p:spPr>
            <a:xfrm rot="-5400000">
              <a:off x="6529387" y="3146425"/>
              <a:ext cx="360362" cy="3151187"/>
            </a:xfrm>
            <a:prstGeom prst="leftBrace">
              <a:avLst>
                <a:gd name="adj1" fmla="val 8333"/>
                <a:gd name="adj2" fmla="val 50000"/>
              </a:avLst>
            </a:prstGeom>
            <a:noFill/>
            <a:ln w="28575" cap="flat" cmpd="sng">
              <a:solidFill>
                <a:srgbClr val="0066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 name="Shape 211"/>
            <p:cNvSpPr txBox="1"/>
            <p:nvPr/>
          </p:nvSpPr>
          <p:spPr>
            <a:xfrm>
              <a:off x="5883275" y="4946650"/>
              <a:ext cx="19812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无序序列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12" name="Shape 212"/>
          <p:cNvGrpSpPr/>
          <p:nvPr/>
        </p:nvGrpSpPr>
        <p:grpSpPr>
          <a:xfrm>
            <a:off x="2906712" y="3249612"/>
            <a:ext cx="2295525" cy="452437"/>
            <a:chOff x="2906712" y="3778250"/>
            <a:chExt cx="2295525" cy="452437"/>
          </a:xfrm>
        </p:grpSpPr>
        <p:cxnSp>
          <p:nvCxnSpPr>
            <p:cNvPr id="213" name="Shape 213"/>
            <p:cNvCxnSpPr/>
            <p:nvPr/>
          </p:nvCxnSpPr>
          <p:spPr>
            <a:xfrm rot="10800000">
              <a:off x="5202237" y="3778250"/>
              <a:ext cx="0" cy="317500"/>
            </a:xfrm>
            <a:prstGeom prst="straightConnector1">
              <a:avLst/>
            </a:prstGeom>
            <a:noFill/>
            <a:ln w="38100" cap="flat" cmpd="sng">
              <a:solidFill>
                <a:srgbClr val="FF3300"/>
              </a:solidFill>
              <a:prstDash val="solid"/>
              <a:miter lim="800000"/>
              <a:headEnd type="none" w="med" len="med"/>
              <a:tailEnd type="none" w="med" len="med"/>
            </a:ln>
          </p:spPr>
        </p:cxnSp>
        <p:cxnSp>
          <p:nvCxnSpPr>
            <p:cNvPr id="214" name="Shape 214"/>
            <p:cNvCxnSpPr/>
            <p:nvPr/>
          </p:nvCxnSpPr>
          <p:spPr>
            <a:xfrm rot="10800000">
              <a:off x="2906712" y="3781425"/>
              <a:ext cx="2295525" cy="0"/>
            </a:xfrm>
            <a:prstGeom prst="straightConnector1">
              <a:avLst/>
            </a:prstGeom>
            <a:noFill/>
            <a:ln w="38100" cap="flat" cmpd="sng">
              <a:solidFill>
                <a:srgbClr val="FF3300"/>
              </a:solidFill>
              <a:prstDash val="solid"/>
              <a:miter lim="800000"/>
              <a:headEnd type="none" w="med" len="med"/>
              <a:tailEnd type="none" w="med" len="med"/>
            </a:ln>
          </p:spPr>
        </p:cxnSp>
        <p:cxnSp>
          <p:nvCxnSpPr>
            <p:cNvPr id="215" name="Shape 215"/>
            <p:cNvCxnSpPr/>
            <p:nvPr/>
          </p:nvCxnSpPr>
          <p:spPr>
            <a:xfrm>
              <a:off x="2906712" y="3781425"/>
              <a:ext cx="0" cy="449262"/>
            </a:xfrm>
            <a:prstGeom prst="straightConnector1">
              <a:avLst/>
            </a:prstGeom>
            <a:noFill/>
            <a:ln w="38100" cap="flat" cmpd="sng">
              <a:solidFill>
                <a:srgbClr val="FF3300"/>
              </a:solidFill>
              <a:prstDash val="solid"/>
              <a:miter lim="800000"/>
              <a:headEnd type="none" w="med" len="med"/>
              <a:tailEnd type="triangle" w="med" len="med"/>
            </a:ln>
          </p:spPr>
        </p:cxnSp>
      </p:grpSp>
      <p:grpSp>
        <p:nvGrpSpPr>
          <p:cNvPr id="216" name="Shape 216"/>
          <p:cNvGrpSpPr/>
          <p:nvPr/>
        </p:nvGrpSpPr>
        <p:grpSpPr>
          <a:xfrm>
            <a:off x="932023" y="3649650"/>
            <a:ext cx="7781798" cy="549275"/>
            <a:chOff x="932023" y="3940163"/>
            <a:chExt cx="7781798" cy="549275"/>
          </a:xfrm>
        </p:grpSpPr>
        <p:sp>
          <p:nvSpPr>
            <p:cNvPr id="217" name="Shape 217"/>
            <p:cNvSpPr/>
            <p:nvPr/>
          </p:nvSpPr>
          <p:spPr>
            <a:xfrm>
              <a:off x="932023" y="3940163"/>
              <a:ext cx="6315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 name="Shape 218"/>
            <p:cNvSpPr/>
            <p:nvPr/>
          </p:nvSpPr>
          <p:spPr>
            <a:xfrm>
              <a:off x="1728772" y="3956038"/>
              <a:ext cx="6315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9" name="Shape 219"/>
            <p:cNvSpPr/>
            <p:nvPr/>
          </p:nvSpPr>
          <p:spPr>
            <a:xfrm>
              <a:off x="4167348" y="3956038"/>
              <a:ext cx="600075"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0" name="Shape 220"/>
            <p:cNvSpPr/>
            <p:nvPr/>
          </p:nvSpPr>
          <p:spPr>
            <a:xfrm>
              <a:off x="4951397" y="3956038"/>
              <a:ext cx="6315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 name="Shape 221"/>
            <p:cNvSpPr/>
            <p:nvPr/>
          </p:nvSpPr>
          <p:spPr>
            <a:xfrm>
              <a:off x="8034321" y="3956038"/>
              <a:ext cx="6795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Shape 222"/>
            <p:cNvSpPr/>
            <p:nvPr/>
          </p:nvSpPr>
          <p:spPr>
            <a:xfrm>
              <a:off x="5837075" y="3956038"/>
              <a:ext cx="9270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Shape 223"/>
            <p:cNvSpPr txBox="1"/>
            <p:nvPr/>
          </p:nvSpPr>
          <p:spPr>
            <a:xfrm>
              <a:off x="2771775" y="4014787"/>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2400"/>
                <a:buFont typeface="Arial" panose="020B0604020202020204"/>
                <a:buNone/>
              </a:pPr>
              <a:r>
                <a:rPr lang="en-US" sz="2400" b="1" i="0" u="none">
                  <a:solidFill>
                    <a:schemeClr val="accent1"/>
                  </a:solidFill>
                  <a:latin typeface="Arial" panose="020B0604020202020204"/>
                  <a:ea typeface="Arial" panose="020B0604020202020204"/>
                  <a:cs typeface="Arial" panose="020B0604020202020204"/>
                  <a:sym typeface="Arial" panose="020B0604020202020204"/>
                </a:rPr>
                <a:t>……</a:t>
              </a:r>
              <a:endParaRPr lang="en-US" sz="2400" b="1" i="0" u="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224" name="Shape 224"/>
            <p:cNvSpPr txBox="1"/>
            <p:nvPr/>
          </p:nvSpPr>
          <p:spPr>
            <a:xfrm>
              <a:off x="6732587" y="3968750"/>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grpSp>
      <p:grpSp>
        <p:nvGrpSpPr>
          <p:cNvPr id="225" name="Shape 225"/>
          <p:cNvGrpSpPr/>
          <p:nvPr/>
        </p:nvGrpSpPr>
        <p:grpSpPr>
          <a:xfrm>
            <a:off x="797025" y="5537200"/>
            <a:ext cx="4622700" cy="558800"/>
            <a:chOff x="797025" y="5827712"/>
            <a:chExt cx="4622700" cy="558800"/>
          </a:xfrm>
        </p:grpSpPr>
        <p:sp>
          <p:nvSpPr>
            <p:cNvPr id="226" name="Shape 226"/>
            <p:cNvSpPr/>
            <p:nvPr/>
          </p:nvSpPr>
          <p:spPr>
            <a:xfrm>
              <a:off x="797025" y="5853112"/>
              <a:ext cx="7887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 name="Shape 227"/>
            <p:cNvSpPr/>
            <p:nvPr/>
          </p:nvSpPr>
          <p:spPr>
            <a:xfrm>
              <a:off x="1697026" y="5827712"/>
              <a:ext cx="9270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8" name="Shape 228"/>
            <p:cNvSpPr/>
            <p:nvPr/>
          </p:nvSpPr>
          <p:spPr>
            <a:xfrm>
              <a:off x="3880101" y="5827712"/>
              <a:ext cx="7887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Shape 229"/>
            <p:cNvSpPr/>
            <p:nvPr/>
          </p:nvSpPr>
          <p:spPr>
            <a:xfrm>
              <a:off x="4886325" y="5829300"/>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0" name="Shape 230"/>
            <p:cNvSpPr txBox="1"/>
            <p:nvPr/>
          </p:nvSpPr>
          <p:spPr>
            <a:xfrm>
              <a:off x="2727325" y="5859462"/>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2400"/>
                <a:buFont typeface="Arial" panose="020B0604020202020204"/>
                <a:buNone/>
              </a:pPr>
              <a:r>
                <a:rPr lang="en-US" sz="2400" b="1" i="0" u="none">
                  <a:solidFill>
                    <a:schemeClr val="accent1"/>
                  </a:solidFill>
                  <a:latin typeface="Arial" panose="020B0604020202020204"/>
                  <a:ea typeface="Arial" panose="020B0604020202020204"/>
                  <a:cs typeface="Arial" panose="020B0604020202020204"/>
                  <a:sym typeface="Arial" panose="020B0604020202020204"/>
                </a:rPr>
                <a:t>……</a:t>
              </a:r>
              <a:endParaRPr lang="en-US" sz="2400" b="1" i="0" u="none">
                <a:solidFill>
                  <a:schemeClr val="accent1"/>
                </a:solidFill>
                <a:latin typeface="Arial" panose="020B0604020202020204"/>
                <a:ea typeface="Arial" panose="020B0604020202020204"/>
                <a:cs typeface="Arial" panose="020B0604020202020204"/>
                <a:sym typeface="Arial" panose="020B0604020202020204"/>
              </a:endParaRPr>
            </a:p>
          </p:txBody>
        </p:sp>
      </p:grpSp>
      <p:grpSp>
        <p:nvGrpSpPr>
          <p:cNvPr id="231" name="Shape 231"/>
          <p:cNvGrpSpPr/>
          <p:nvPr/>
        </p:nvGrpSpPr>
        <p:grpSpPr>
          <a:xfrm>
            <a:off x="5622925" y="5537200"/>
            <a:ext cx="3090946" cy="533400"/>
            <a:chOff x="5622925" y="5827712"/>
            <a:chExt cx="3090946" cy="533400"/>
          </a:xfrm>
        </p:grpSpPr>
        <p:sp>
          <p:nvSpPr>
            <p:cNvPr id="232" name="Shape 232"/>
            <p:cNvSpPr/>
            <p:nvPr/>
          </p:nvSpPr>
          <p:spPr>
            <a:xfrm>
              <a:off x="8002571" y="5827712"/>
              <a:ext cx="7113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 name="Shape 233"/>
            <p:cNvSpPr/>
            <p:nvPr/>
          </p:nvSpPr>
          <p:spPr>
            <a:xfrm>
              <a:off x="5622925" y="5827712"/>
              <a:ext cx="9987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4" name="Shape 234"/>
            <p:cNvSpPr txBox="1"/>
            <p:nvPr/>
          </p:nvSpPr>
          <p:spPr>
            <a:xfrm>
              <a:off x="6692900" y="5859462"/>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grpSp>
      <p:sp>
        <p:nvSpPr>
          <p:cNvPr id="235" name="Shape 235"/>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39" name="Shape 239"/>
        <p:cNvGrpSpPr/>
        <p:nvPr/>
      </p:nvGrpSpPr>
      <p:grpSpPr>
        <a:xfrm>
          <a:off x="0" y="0"/>
          <a:ext cx="0" cy="0"/>
          <a:chOff x="0" y="0"/>
          <a:chExt cx="0" cy="0"/>
        </a:xfrm>
      </p:grpSpPr>
      <p:sp>
        <p:nvSpPr>
          <p:cNvPr id="240" name="Shape 240"/>
          <p:cNvSpPr txBox="1"/>
          <p:nvPr/>
        </p:nvSpPr>
        <p:spPr>
          <a:xfrm>
            <a:off x="296862" y="1854200"/>
            <a:ext cx="8416925" cy="11176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基本思想</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：在插入第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＞1）个记录时，前面的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-1个记录已经排好序。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1" name="Shape 241"/>
          <p:cNvSpPr txBox="1"/>
          <p:nvPr/>
        </p:nvSpPr>
        <p:spPr>
          <a:xfrm>
            <a:off x="533400" y="4038600"/>
            <a:ext cx="8077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2" name="Shape 242"/>
          <p:cNvSpPr txBox="1"/>
          <p:nvPr/>
        </p:nvSpPr>
        <p:spPr>
          <a:xfrm>
            <a:off x="431800" y="4014787"/>
            <a:ext cx="7696200" cy="1203325"/>
          </a:xfrm>
          <a:prstGeom prst="rect">
            <a:avLst/>
          </a:prstGeom>
          <a:noFill/>
          <a:ln>
            <a:noFill/>
          </a:ln>
        </p:spPr>
        <p:txBody>
          <a:bodyPr spcFirstLastPara="1" wrap="square" lIns="91425" tIns="45700" rIns="91425" bIns="45700" anchor="t" anchorCtr="0">
            <a:noAutofit/>
          </a:bodyPr>
          <a:lstStyle/>
          <a:p>
            <a:pPr marL="0" marR="0" lvl="0" indent="0" algn="l" rtl="0">
              <a:lnSpc>
                <a:spcPct val="130000"/>
              </a:lnSpc>
              <a:spcBef>
                <a:spcPts val="0"/>
              </a:spcBef>
              <a:spcAft>
                <a:spcPts val="0"/>
              </a:spcAft>
              <a:buClr>
                <a:schemeClr val="dk1"/>
              </a:buClr>
              <a:buSzPts val="2800"/>
              <a:buFont typeface="Arial" panose="020B0604020202020204"/>
              <a:buNone/>
            </a:pPr>
            <a:r>
              <a:rPr lang="en-US" sz="2800" b="0"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Arial" panose="020B0604020202020204"/>
                <a:ea typeface="Arial" panose="020B0604020202020204"/>
                <a:cs typeface="Arial" panose="020B0604020202020204"/>
                <a:sym typeface="Arial" panose="020B0604020202020204"/>
              </a:rPr>
              <a:t>）如何构造初始的有序序列？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3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Arial" panose="020B0604020202020204"/>
                <a:ea typeface="Arial" panose="020B0604020202020204"/>
                <a:cs typeface="Arial" panose="020B0604020202020204"/>
                <a:sym typeface="Arial" panose="020B0604020202020204"/>
              </a:rPr>
              <a:t>）如何查找待插入记录的插入位置</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3" name="Shape 243"/>
          <p:cNvSpPr txBox="1"/>
          <p:nvPr/>
        </p:nvSpPr>
        <p:spPr>
          <a:xfrm>
            <a:off x="206375" y="1133475"/>
            <a:ext cx="6324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4" name="Shape 244"/>
          <p:cNvGrpSpPr/>
          <p:nvPr/>
        </p:nvGrpSpPr>
        <p:grpSpPr>
          <a:xfrm>
            <a:off x="522287" y="3249612"/>
            <a:ext cx="6604000" cy="542925"/>
            <a:chOff x="522287" y="3249612"/>
            <a:chExt cx="6604000" cy="542925"/>
          </a:xfrm>
        </p:grpSpPr>
        <p:sp>
          <p:nvSpPr>
            <p:cNvPr id="245" name="Shape 245"/>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6" name="Shape 246"/>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247" name="Shape 247"/>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1" name="Shape 251"/>
        <p:cNvGrpSpPr/>
        <p:nvPr/>
      </p:nvGrpSpPr>
      <p:grpSpPr>
        <a:xfrm>
          <a:off x="0" y="0"/>
          <a:ext cx="0" cy="0"/>
          <a:chOff x="0" y="0"/>
          <a:chExt cx="0" cy="0"/>
        </a:xfrm>
      </p:grpSpPr>
      <p:sp>
        <p:nvSpPr>
          <p:cNvPr id="252" name="Shape 252"/>
          <p:cNvSpPr txBox="1"/>
          <p:nvPr>
            <p:ph type="title"/>
          </p:nvPr>
        </p:nvSpPr>
        <p:spPr>
          <a:xfrm>
            <a:off x="250825" y="1223962"/>
            <a:ext cx="5029200" cy="50323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直接插入排序过程示例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 name="Shape 253"/>
          <p:cNvSpPr txBox="1"/>
          <p:nvPr/>
        </p:nvSpPr>
        <p:spPr>
          <a:xfrm>
            <a:off x="950912" y="1768475"/>
            <a:ext cx="5465762"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   0        1        2        3        4        5        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4" name="Shape 254"/>
          <p:cNvSpPr/>
          <p:nvPr/>
        </p:nvSpPr>
        <p:spPr>
          <a:xfrm>
            <a:off x="2014537"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2</a:t>
            </a:r>
            <a:endParaRPr lang="en-US" sz="2400" b="1">
              <a:solidFill>
                <a:schemeClr val="lt1"/>
              </a:solidFill>
            </a:endParaRPr>
          </a:p>
        </p:txBody>
      </p:sp>
      <p:sp>
        <p:nvSpPr>
          <p:cNvPr id="255" name="Shape 255"/>
          <p:cNvSpPr/>
          <p:nvPr/>
        </p:nvSpPr>
        <p:spPr>
          <a:xfrm>
            <a:off x="5824537"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3</a:t>
            </a:r>
            <a:endParaRPr lang="en-US" sz="2400" b="1">
              <a:solidFill>
                <a:schemeClr val="lt1"/>
              </a:solidFill>
            </a:endParaRPr>
          </a:p>
        </p:txBody>
      </p:sp>
      <p:sp>
        <p:nvSpPr>
          <p:cNvPr id="256" name="Shape 256"/>
          <p:cNvSpPr/>
          <p:nvPr/>
        </p:nvSpPr>
        <p:spPr>
          <a:xfrm>
            <a:off x="2763837"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6</a:t>
            </a:r>
            <a:endParaRPr lang="en-US" sz="2400" b="1">
              <a:solidFill>
                <a:schemeClr val="lt1"/>
              </a:solidFill>
            </a:endParaRPr>
          </a:p>
        </p:txBody>
      </p:sp>
      <p:sp>
        <p:nvSpPr>
          <p:cNvPr id="257" name="Shape 257"/>
          <p:cNvSpPr/>
          <p:nvPr/>
        </p:nvSpPr>
        <p:spPr>
          <a:xfrm>
            <a:off x="3538537"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4</a:t>
            </a:r>
            <a:endParaRPr lang="en-US" sz="2400" b="1">
              <a:solidFill>
                <a:schemeClr val="lt1"/>
              </a:solidFill>
            </a:endParaRPr>
          </a:p>
        </p:txBody>
      </p:sp>
      <p:sp>
        <p:nvSpPr>
          <p:cNvPr id="258" name="Shape 258"/>
          <p:cNvSpPr/>
          <p:nvPr/>
        </p:nvSpPr>
        <p:spPr>
          <a:xfrm>
            <a:off x="4297362"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1</a:t>
            </a:r>
            <a:endParaRPr lang="en-US" sz="2400" b="1">
              <a:solidFill>
                <a:schemeClr val="lt1"/>
              </a:solidFill>
            </a:endParaRPr>
          </a:p>
        </p:txBody>
      </p:sp>
      <p:sp>
        <p:nvSpPr>
          <p:cNvPr id="259" name="Shape 259"/>
          <p:cNvSpPr/>
          <p:nvPr/>
        </p:nvSpPr>
        <p:spPr>
          <a:xfrm>
            <a:off x="5062537" y="222726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u="sng">
                <a:solidFill>
                  <a:schemeClr val="lt1"/>
                </a:solidFill>
              </a:rPr>
              <a:t>6</a:t>
            </a:r>
            <a:endParaRPr u="sng"/>
          </a:p>
        </p:txBody>
      </p:sp>
      <p:sp>
        <p:nvSpPr>
          <p:cNvPr id="260" name="Shape 260"/>
          <p:cNvSpPr/>
          <p:nvPr/>
        </p:nvSpPr>
        <p:spPr>
          <a:xfrm>
            <a:off x="1993900" y="28940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261" name="Shape 261"/>
          <p:cNvGrpSpPr/>
          <p:nvPr/>
        </p:nvGrpSpPr>
        <p:grpSpPr>
          <a:xfrm>
            <a:off x="1978025" y="3579812"/>
            <a:ext cx="1282700" cy="533400"/>
            <a:chOff x="1978025" y="3579812"/>
            <a:chExt cx="1282700" cy="533400"/>
          </a:xfrm>
        </p:grpSpPr>
        <p:sp>
          <p:nvSpPr>
            <p:cNvPr id="262" name="Shape 262"/>
            <p:cNvSpPr/>
            <p:nvPr/>
          </p:nvSpPr>
          <p:spPr>
            <a:xfrm>
              <a:off x="1978025" y="35798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263" name="Shape 263"/>
            <p:cNvSpPr/>
            <p:nvPr/>
          </p:nvSpPr>
          <p:spPr>
            <a:xfrm>
              <a:off x="2727325" y="35798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grpSp>
      <p:grpSp>
        <p:nvGrpSpPr>
          <p:cNvPr id="264" name="Shape 264"/>
          <p:cNvGrpSpPr/>
          <p:nvPr/>
        </p:nvGrpSpPr>
        <p:grpSpPr>
          <a:xfrm>
            <a:off x="206375" y="2868612"/>
            <a:ext cx="6130925" cy="558800"/>
            <a:chOff x="206375" y="2868612"/>
            <a:chExt cx="6130925" cy="558800"/>
          </a:xfrm>
        </p:grpSpPr>
        <p:sp>
          <p:nvSpPr>
            <p:cNvPr id="265" name="Shape 265"/>
            <p:cNvSpPr txBox="1"/>
            <p:nvPr/>
          </p:nvSpPr>
          <p:spPr>
            <a:xfrm>
              <a:off x="206375" y="2868612"/>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800"/>
                <a:buFont typeface="Times New Roman" panose="02020603050405020304"/>
                <a:buNone/>
              </a:pPr>
              <a:r>
                <a:rPr lang="en-US" sz="2800" b="1" i="1" u="none">
                  <a:solidFill>
                    <a:srgbClr val="003366"/>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 2</a:t>
              </a:r>
              <a:endPar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 name="Shape 266"/>
            <p:cNvSpPr/>
            <p:nvPr/>
          </p:nvSpPr>
          <p:spPr>
            <a:xfrm>
              <a:off x="5803900" y="289401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3</a:t>
              </a:r>
              <a:endParaRPr lang="en-US" sz="2400" b="1">
                <a:solidFill>
                  <a:schemeClr val="lt1"/>
                </a:solidFill>
              </a:endParaRPr>
            </a:p>
          </p:txBody>
        </p:sp>
        <p:sp>
          <p:nvSpPr>
            <p:cNvPr id="267" name="Shape 267"/>
            <p:cNvSpPr/>
            <p:nvPr/>
          </p:nvSpPr>
          <p:spPr>
            <a:xfrm>
              <a:off x="3502025" y="289401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4</a:t>
              </a:r>
              <a:endParaRPr lang="en-US" sz="2400" b="1">
                <a:solidFill>
                  <a:schemeClr val="lt1"/>
                </a:solidFill>
              </a:endParaRPr>
            </a:p>
          </p:txBody>
        </p:sp>
        <p:sp>
          <p:nvSpPr>
            <p:cNvPr id="268" name="Shape 268"/>
            <p:cNvSpPr/>
            <p:nvPr/>
          </p:nvSpPr>
          <p:spPr>
            <a:xfrm>
              <a:off x="4276725" y="289401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1</a:t>
              </a:r>
              <a:endParaRPr lang="en-US" sz="2400" b="1">
                <a:solidFill>
                  <a:schemeClr val="lt1"/>
                </a:solidFill>
              </a:endParaRPr>
            </a:p>
          </p:txBody>
        </p:sp>
        <p:sp>
          <p:nvSpPr>
            <p:cNvPr id="269" name="Shape 269"/>
            <p:cNvSpPr/>
            <p:nvPr/>
          </p:nvSpPr>
          <p:spPr>
            <a:xfrm>
              <a:off x="5041900" y="289401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u="sng">
                  <a:solidFill>
                    <a:schemeClr val="lt1"/>
                  </a:solidFill>
                </a:rPr>
                <a:t>6</a:t>
              </a:r>
              <a:endParaRPr u="sng"/>
            </a:p>
          </p:txBody>
        </p:sp>
        <p:sp>
          <p:nvSpPr>
            <p:cNvPr id="270" name="Shape 270"/>
            <p:cNvSpPr/>
            <p:nvPr/>
          </p:nvSpPr>
          <p:spPr>
            <a:xfrm>
              <a:off x="2743200" y="288925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6</a:t>
              </a:r>
              <a:endParaRPr lang="en-US" sz="2400" b="1">
                <a:solidFill>
                  <a:srgbClr val="FF3300"/>
                </a:solidFill>
              </a:endParaRPr>
            </a:p>
          </p:txBody>
        </p:sp>
      </p:grpSp>
      <p:grpSp>
        <p:nvGrpSpPr>
          <p:cNvPr id="271" name="Shape 271"/>
          <p:cNvGrpSpPr/>
          <p:nvPr/>
        </p:nvGrpSpPr>
        <p:grpSpPr>
          <a:xfrm>
            <a:off x="206375" y="3563937"/>
            <a:ext cx="6126162" cy="557213"/>
            <a:chOff x="206375" y="3563937"/>
            <a:chExt cx="6126162" cy="557213"/>
          </a:xfrm>
        </p:grpSpPr>
        <p:sp>
          <p:nvSpPr>
            <p:cNvPr id="272" name="Shape 272"/>
            <p:cNvSpPr txBox="1"/>
            <p:nvPr/>
          </p:nvSpPr>
          <p:spPr>
            <a:xfrm>
              <a:off x="206375" y="3563937"/>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800"/>
                <a:buFont typeface="Times New Roman" panose="02020603050405020304"/>
                <a:buNone/>
              </a:pPr>
              <a:r>
                <a:rPr lang="en-US" sz="2800" b="1" i="1" u="none">
                  <a:solidFill>
                    <a:srgbClr val="003366"/>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 = 3</a:t>
              </a:r>
              <a:endPar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3" name="Shape 273"/>
            <p:cNvSpPr/>
            <p:nvPr/>
          </p:nvSpPr>
          <p:spPr>
            <a:xfrm>
              <a:off x="5799137" y="35877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3</a:t>
              </a:r>
              <a:endParaRPr lang="en-US" sz="2400" b="1">
                <a:solidFill>
                  <a:schemeClr val="lt1"/>
                </a:solidFill>
              </a:endParaRPr>
            </a:p>
          </p:txBody>
        </p:sp>
        <p:sp>
          <p:nvSpPr>
            <p:cNvPr id="274" name="Shape 274"/>
            <p:cNvSpPr/>
            <p:nvPr/>
          </p:nvSpPr>
          <p:spPr>
            <a:xfrm>
              <a:off x="3497262" y="358775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4</a:t>
              </a:r>
              <a:endParaRPr lang="en-US" sz="2400" b="1">
                <a:solidFill>
                  <a:srgbClr val="FF3300"/>
                </a:solidFill>
              </a:endParaRPr>
            </a:p>
          </p:txBody>
        </p:sp>
        <p:sp>
          <p:nvSpPr>
            <p:cNvPr id="275" name="Shape 275"/>
            <p:cNvSpPr/>
            <p:nvPr/>
          </p:nvSpPr>
          <p:spPr>
            <a:xfrm>
              <a:off x="4271962" y="35877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1</a:t>
              </a:r>
              <a:endParaRPr lang="en-US" sz="2400" b="1">
                <a:solidFill>
                  <a:schemeClr val="lt1"/>
                </a:solidFill>
              </a:endParaRPr>
            </a:p>
          </p:txBody>
        </p:sp>
        <p:sp>
          <p:nvSpPr>
            <p:cNvPr id="276" name="Shape 276"/>
            <p:cNvSpPr/>
            <p:nvPr/>
          </p:nvSpPr>
          <p:spPr>
            <a:xfrm>
              <a:off x="5037137" y="35877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u="sng">
                  <a:solidFill>
                    <a:schemeClr val="lt1"/>
                  </a:solidFill>
                </a:rPr>
                <a:t>6</a:t>
              </a:r>
              <a:endParaRPr u="sng"/>
            </a:p>
          </p:txBody>
        </p:sp>
      </p:grpSp>
      <p:sp>
        <p:nvSpPr>
          <p:cNvPr id="277" name="Shape 277"/>
          <p:cNvSpPr/>
          <p:nvPr/>
        </p:nvSpPr>
        <p:spPr>
          <a:xfrm>
            <a:off x="1231900" y="358775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4</a:t>
            </a:r>
            <a:endParaRPr lang="en-US" sz="2400" b="1">
              <a:solidFill>
                <a:srgbClr val="FF3300"/>
              </a:solidFill>
            </a:endParaRPr>
          </a:p>
        </p:txBody>
      </p:sp>
      <p:grpSp>
        <p:nvGrpSpPr>
          <p:cNvPr id="278" name="Shape 278"/>
          <p:cNvGrpSpPr/>
          <p:nvPr/>
        </p:nvGrpSpPr>
        <p:grpSpPr>
          <a:xfrm>
            <a:off x="1952625" y="4262437"/>
            <a:ext cx="2076450" cy="533400"/>
            <a:chOff x="1952625" y="4262437"/>
            <a:chExt cx="2076450" cy="533400"/>
          </a:xfrm>
        </p:grpSpPr>
        <p:sp>
          <p:nvSpPr>
            <p:cNvPr id="279" name="Shape 279"/>
            <p:cNvSpPr/>
            <p:nvPr/>
          </p:nvSpPr>
          <p:spPr>
            <a:xfrm>
              <a:off x="3495675" y="4262437"/>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280" name="Shape 280"/>
            <p:cNvSpPr/>
            <p:nvPr/>
          </p:nvSpPr>
          <p:spPr>
            <a:xfrm>
              <a:off x="2703512" y="4262437"/>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281" name="Shape 281"/>
            <p:cNvSpPr/>
            <p:nvPr/>
          </p:nvSpPr>
          <p:spPr>
            <a:xfrm>
              <a:off x="1952625" y="4262437"/>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sp>
        <p:nvSpPr>
          <p:cNvPr id="282" name="Shape 282"/>
          <p:cNvSpPr/>
          <p:nvPr/>
        </p:nvSpPr>
        <p:spPr>
          <a:xfrm>
            <a:off x="1231900" y="427355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1</a:t>
            </a:r>
            <a:endParaRPr lang="en-US" sz="2400" b="1">
              <a:solidFill>
                <a:srgbClr val="FF3300"/>
              </a:solidFill>
            </a:endParaRPr>
          </a:p>
        </p:txBody>
      </p:sp>
      <p:grpSp>
        <p:nvGrpSpPr>
          <p:cNvPr id="283" name="Shape 283"/>
          <p:cNvGrpSpPr/>
          <p:nvPr/>
        </p:nvGrpSpPr>
        <p:grpSpPr>
          <a:xfrm>
            <a:off x="1965325" y="4962525"/>
            <a:ext cx="2814637" cy="534987"/>
            <a:chOff x="1965325" y="4962525"/>
            <a:chExt cx="2814637" cy="534987"/>
          </a:xfrm>
        </p:grpSpPr>
        <p:sp>
          <p:nvSpPr>
            <p:cNvPr id="284" name="Shape 284"/>
            <p:cNvSpPr/>
            <p:nvPr/>
          </p:nvSpPr>
          <p:spPr>
            <a:xfrm>
              <a:off x="4246562" y="4962525"/>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285" name="Shape 285"/>
            <p:cNvSpPr/>
            <p:nvPr/>
          </p:nvSpPr>
          <p:spPr>
            <a:xfrm>
              <a:off x="3481387" y="49641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286" name="Shape 286"/>
            <p:cNvSpPr/>
            <p:nvPr/>
          </p:nvSpPr>
          <p:spPr>
            <a:xfrm>
              <a:off x="2700337" y="49641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287" name="Shape 287"/>
            <p:cNvSpPr/>
            <p:nvPr/>
          </p:nvSpPr>
          <p:spPr>
            <a:xfrm>
              <a:off x="1965325" y="49641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grpSp>
      <p:sp>
        <p:nvSpPr>
          <p:cNvPr id="288" name="Shape 288"/>
          <p:cNvSpPr/>
          <p:nvPr/>
        </p:nvSpPr>
        <p:spPr>
          <a:xfrm>
            <a:off x="1231900" y="49434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u="sng">
                <a:solidFill>
                  <a:srgbClr val="FF3300"/>
                </a:solidFill>
              </a:rPr>
              <a:t>6</a:t>
            </a:r>
            <a:endParaRPr u="sng"/>
          </a:p>
        </p:txBody>
      </p:sp>
      <p:grpSp>
        <p:nvGrpSpPr>
          <p:cNvPr id="289" name="Shape 289"/>
          <p:cNvGrpSpPr/>
          <p:nvPr/>
        </p:nvGrpSpPr>
        <p:grpSpPr>
          <a:xfrm>
            <a:off x="1981200" y="5640387"/>
            <a:ext cx="3563937" cy="549275"/>
            <a:chOff x="1981200" y="5640387"/>
            <a:chExt cx="3563937" cy="549275"/>
          </a:xfrm>
        </p:grpSpPr>
        <p:sp>
          <p:nvSpPr>
            <p:cNvPr id="290" name="Shape 290"/>
            <p:cNvSpPr/>
            <p:nvPr/>
          </p:nvSpPr>
          <p:spPr>
            <a:xfrm>
              <a:off x="5011737" y="5640387"/>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6</a:t>
              </a:r>
              <a:endParaRPr u="sng"/>
            </a:p>
          </p:txBody>
        </p:sp>
        <p:sp>
          <p:nvSpPr>
            <p:cNvPr id="291" name="Shape 291"/>
            <p:cNvSpPr/>
            <p:nvPr/>
          </p:nvSpPr>
          <p:spPr>
            <a:xfrm>
              <a:off x="4262437" y="5654675"/>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292" name="Shape 292"/>
            <p:cNvSpPr/>
            <p:nvPr/>
          </p:nvSpPr>
          <p:spPr>
            <a:xfrm>
              <a:off x="3497262" y="565626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293" name="Shape 293"/>
            <p:cNvSpPr/>
            <p:nvPr/>
          </p:nvSpPr>
          <p:spPr>
            <a:xfrm>
              <a:off x="2716212" y="565626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294" name="Shape 294"/>
            <p:cNvSpPr/>
            <p:nvPr/>
          </p:nvSpPr>
          <p:spPr>
            <a:xfrm>
              <a:off x="1981200" y="565626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grpSp>
      <p:grpSp>
        <p:nvGrpSpPr>
          <p:cNvPr id="295" name="Shape 295"/>
          <p:cNvGrpSpPr/>
          <p:nvPr/>
        </p:nvGrpSpPr>
        <p:grpSpPr>
          <a:xfrm>
            <a:off x="4246562" y="6308725"/>
            <a:ext cx="2047875" cy="549275"/>
            <a:chOff x="4246562" y="6308725"/>
            <a:chExt cx="2047875" cy="549275"/>
          </a:xfrm>
        </p:grpSpPr>
        <p:sp>
          <p:nvSpPr>
            <p:cNvPr id="296" name="Shape 296"/>
            <p:cNvSpPr/>
            <p:nvPr/>
          </p:nvSpPr>
          <p:spPr>
            <a:xfrm>
              <a:off x="5761037" y="6308725"/>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6</a:t>
              </a:r>
              <a:endParaRPr u="sng"/>
            </a:p>
          </p:txBody>
        </p:sp>
        <p:sp>
          <p:nvSpPr>
            <p:cNvPr id="297" name="Shape 297"/>
            <p:cNvSpPr/>
            <p:nvPr/>
          </p:nvSpPr>
          <p:spPr>
            <a:xfrm>
              <a:off x="5011737" y="6323012"/>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298" name="Shape 298"/>
            <p:cNvSpPr/>
            <p:nvPr/>
          </p:nvSpPr>
          <p:spPr>
            <a:xfrm>
              <a:off x="4246562" y="6324600"/>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grpSp>
      <p:sp>
        <p:nvSpPr>
          <p:cNvPr id="299" name="Shape 299"/>
          <p:cNvSpPr/>
          <p:nvPr/>
        </p:nvSpPr>
        <p:spPr>
          <a:xfrm>
            <a:off x="3481387" y="6324600"/>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grpSp>
        <p:nvGrpSpPr>
          <p:cNvPr id="300" name="Shape 300"/>
          <p:cNvGrpSpPr/>
          <p:nvPr/>
        </p:nvGrpSpPr>
        <p:grpSpPr>
          <a:xfrm>
            <a:off x="1952625" y="6324600"/>
            <a:ext cx="1268412" cy="533400"/>
            <a:chOff x="1952625" y="6324600"/>
            <a:chExt cx="1268412" cy="533400"/>
          </a:xfrm>
        </p:grpSpPr>
        <p:sp>
          <p:nvSpPr>
            <p:cNvPr id="301" name="Shape 301"/>
            <p:cNvSpPr/>
            <p:nvPr/>
          </p:nvSpPr>
          <p:spPr>
            <a:xfrm>
              <a:off x="2687637" y="6324600"/>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302" name="Shape 302"/>
            <p:cNvSpPr/>
            <p:nvPr/>
          </p:nvSpPr>
          <p:spPr>
            <a:xfrm>
              <a:off x="1952625" y="6324600"/>
              <a:ext cx="533400" cy="5334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grpSp>
      <p:sp>
        <p:nvSpPr>
          <p:cNvPr id="303" name="Shape 303"/>
          <p:cNvSpPr/>
          <p:nvPr/>
        </p:nvSpPr>
        <p:spPr>
          <a:xfrm>
            <a:off x="1231900" y="5634037"/>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3</a:t>
            </a:r>
            <a:endParaRPr lang="en-US" sz="2400" b="1">
              <a:solidFill>
                <a:srgbClr val="FF3300"/>
              </a:solidFill>
            </a:endParaRPr>
          </a:p>
        </p:txBody>
      </p:sp>
      <p:grpSp>
        <p:nvGrpSpPr>
          <p:cNvPr id="304" name="Shape 304"/>
          <p:cNvGrpSpPr/>
          <p:nvPr/>
        </p:nvGrpSpPr>
        <p:grpSpPr>
          <a:xfrm>
            <a:off x="219075" y="4238625"/>
            <a:ext cx="6103937" cy="557212"/>
            <a:chOff x="219075" y="4238625"/>
            <a:chExt cx="6103937" cy="557212"/>
          </a:xfrm>
        </p:grpSpPr>
        <p:sp>
          <p:nvSpPr>
            <p:cNvPr id="305" name="Shape 305"/>
            <p:cNvSpPr/>
            <p:nvPr/>
          </p:nvSpPr>
          <p:spPr>
            <a:xfrm>
              <a:off x="5789612" y="4262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3</a:t>
              </a:r>
              <a:endParaRPr lang="en-US" sz="2400" b="1">
                <a:solidFill>
                  <a:schemeClr val="lt1"/>
                </a:solidFill>
              </a:endParaRPr>
            </a:p>
          </p:txBody>
        </p:sp>
        <p:sp>
          <p:nvSpPr>
            <p:cNvPr id="306" name="Shape 306"/>
            <p:cNvSpPr/>
            <p:nvPr/>
          </p:nvSpPr>
          <p:spPr>
            <a:xfrm>
              <a:off x="4262437" y="4262437"/>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1</a:t>
              </a:r>
              <a:endParaRPr lang="en-US" sz="2400" b="1">
                <a:solidFill>
                  <a:srgbClr val="FF3300"/>
                </a:solidFill>
              </a:endParaRPr>
            </a:p>
          </p:txBody>
        </p:sp>
        <p:sp>
          <p:nvSpPr>
            <p:cNvPr id="307" name="Shape 307"/>
            <p:cNvSpPr/>
            <p:nvPr/>
          </p:nvSpPr>
          <p:spPr>
            <a:xfrm>
              <a:off x="5027612" y="4262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u="sng">
                  <a:solidFill>
                    <a:schemeClr val="lt1"/>
                  </a:solidFill>
                </a:rPr>
                <a:t>6</a:t>
              </a:r>
              <a:endParaRPr u="sng"/>
            </a:p>
          </p:txBody>
        </p:sp>
        <p:sp>
          <p:nvSpPr>
            <p:cNvPr id="308" name="Shape 308"/>
            <p:cNvSpPr txBox="1"/>
            <p:nvPr/>
          </p:nvSpPr>
          <p:spPr>
            <a:xfrm>
              <a:off x="219075" y="4238625"/>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800"/>
                <a:buFont typeface="Times New Roman" panose="02020603050405020304"/>
                <a:buNone/>
              </a:pPr>
              <a:r>
                <a:rPr lang="en-US" sz="2800" b="1" i="1" u="none">
                  <a:solidFill>
                    <a:srgbClr val="003366"/>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 = 4</a:t>
              </a:r>
              <a:endPar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09" name="Shape 309"/>
          <p:cNvGrpSpPr/>
          <p:nvPr/>
        </p:nvGrpSpPr>
        <p:grpSpPr>
          <a:xfrm>
            <a:off x="206375" y="5589587"/>
            <a:ext cx="6103937" cy="584200"/>
            <a:chOff x="206375" y="5589587"/>
            <a:chExt cx="6103937" cy="584200"/>
          </a:xfrm>
        </p:grpSpPr>
        <p:sp>
          <p:nvSpPr>
            <p:cNvPr id="310" name="Shape 310"/>
            <p:cNvSpPr/>
            <p:nvPr/>
          </p:nvSpPr>
          <p:spPr>
            <a:xfrm>
              <a:off x="5776912" y="5640387"/>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3300"/>
                </a:buClr>
                <a:buSzPts val="2400"/>
                <a:buFont typeface="Arial" panose="020B0604020202020204"/>
                <a:buNone/>
              </a:pPr>
              <a:r>
                <a:rPr lang="en-US" sz="2400" b="1">
                  <a:solidFill>
                    <a:srgbClr val="FF3300"/>
                  </a:solidFill>
                </a:rPr>
                <a:t>3</a:t>
              </a:r>
              <a:endParaRPr lang="en-US" sz="2400" b="1">
                <a:solidFill>
                  <a:srgbClr val="FF3300"/>
                </a:solidFill>
              </a:endParaRPr>
            </a:p>
          </p:txBody>
        </p:sp>
        <p:sp>
          <p:nvSpPr>
            <p:cNvPr id="311" name="Shape 311"/>
            <p:cNvSpPr txBox="1"/>
            <p:nvPr/>
          </p:nvSpPr>
          <p:spPr>
            <a:xfrm>
              <a:off x="206375" y="5589587"/>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800"/>
                <a:buFont typeface="Times New Roman" panose="02020603050405020304"/>
                <a:buNone/>
              </a:pPr>
              <a:r>
                <a:rPr lang="en-US" sz="2800" b="1" i="1" u="none">
                  <a:solidFill>
                    <a:srgbClr val="003366"/>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 = 6</a:t>
              </a:r>
              <a:endPar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2" name="Shape 312"/>
          <p:cNvGrpSpPr/>
          <p:nvPr/>
        </p:nvGrpSpPr>
        <p:grpSpPr>
          <a:xfrm>
            <a:off x="219075" y="4914900"/>
            <a:ext cx="6075362" cy="582612"/>
            <a:chOff x="219075" y="4914900"/>
            <a:chExt cx="6075362" cy="582612"/>
          </a:xfrm>
        </p:grpSpPr>
        <p:sp>
          <p:nvSpPr>
            <p:cNvPr id="313" name="Shape 313"/>
            <p:cNvSpPr/>
            <p:nvPr/>
          </p:nvSpPr>
          <p:spPr>
            <a:xfrm>
              <a:off x="5761037" y="4964112"/>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a:solidFill>
                    <a:schemeClr val="lt1"/>
                  </a:solidFill>
                </a:rPr>
                <a:t>3</a:t>
              </a:r>
              <a:endParaRPr lang="en-US" sz="2400" b="1">
                <a:solidFill>
                  <a:schemeClr val="lt1"/>
                </a:solidFill>
              </a:endParaRPr>
            </a:p>
          </p:txBody>
        </p:sp>
        <p:sp>
          <p:nvSpPr>
            <p:cNvPr id="314" name="Shape 314"/>
            <p:cNvSpPr/>
            <p:nvPr/>
          </p:nvSpPr>
          <p:spPr>
            <a:xfrm>
              <a:off x="4999037" y="496411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u="sng">
                  <a:solidFill>
                    <a:srgbClr val="FF3300"/>
                  </a:solidFill>
                </a:rPr>
                <a:t>6</a:t>
              </a:r>
              <a:endParaRPr u="sng"/>
            </a:p>
          </p:txBody>
        </p:sp>
        <p:sp>
          <p:nvSpPr>
            <p:cNvPr id="315" name="Shape 315"/>
            <p:cNvSpPr txBox="1"/>
            <p:nvPr/>
          </p:nvSpPr>
          <p:spPr>
            <a:xfrm>
              <a:off x="219075" y="4914900"/>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800"/>
                <a:buFont typeface="Times New Roman" panose="02020603050405020304"/>
                <a:buNone/>
              </a:pPr>
              <a:r>
                <a:rPr lang="en-US" sz="2800" b="1" i="1" u="none">
                  <a:solidFill>
                    <a:srgbClr val="003366"/>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 = 5</a:t>
              </a:r>
              <a:endParaRPr lang="en-US" sz="28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16" name="Shape 316"/>
          <p:cNvGrpSpPr/>
          <p:nvPr/>
        </p:nvGrpSpPr>
        <p:grpSpPr>
          <a:xfrm>
            <a:off x="6443662" y="3294062"/>
            <a:ext cx="2700337" cy="542925"/>
            <a:chOff x="7046912" y="3563937"/>
            <a:chExt cx="2700337" cy="542925"/>
          </a:xfrm>
        </p:grpSpPr>
        <p:sp>
          <p:nvSpPr>
            <p:cNvPr id="317" name="Shape 317"/>
            <p:cNvSpPr txBox="1"/>
            <p:nvPr/>
          </p:nvSpPr>
          <p:spPr>
            <a:xfrm>
              <a:off x="7631112" y="3563937"/>
              <a:ext cx="21161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r[0]的作用?</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18" name="Shape 318"/>
            <p:cNvPicPr preferRelativeResize="0"/>
            <p:nvPr/>
          </p:nvPicPr>
          <p:blipFill rotWithShape="1">
            <a:blip r:embed="rId1"/>
            <a:srcRect/>
            <a:stretch>
              <a:fillRect/>
            </a:stretch>
          </p:blipFill>
          <p:spPr>
            <a:xfrm>
              <a:off x="7046912" y="3563937"/>
              <a:ext cx="584200" cy="542925"/>
            </a:xfrm>
            <a:prstGeom prst="rect">
              <a:avLst/>
            </a:prstGeom>
            <a:noFill/>
            <a:ln>
              <a:noFill/>
            </a:ln>
          </p:spPr>
        </p:pic>
      </p:grpSp>
      <p:sp>
        <p:nvSpPr>
          <p:cNvPr id="319" name="Shape 319"/>
          <p:cNvSpPr txBox="1"/>
          <p:nvPr/>
        </p:nvSpPr>
        <p:spPr>
          <a:xfrm>
            <a:off x="6821487" y="3968750"/>
            <a:ext cx="21161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暂存单元</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0" name="Shape 320"/>
          <p:cNvSpPr txBox="1"/>
          <p:nvPr/>
        </p:nvSpPr>
        <p:spPr>
          <a:xfrm>
            <a:off x="6821487" y="4689475"/>
            <a:ext cx="21161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监视哨</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1" name="Shape 321"/>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25" name="Shape 325"/>
        <p:cNvGrpSpPr/>
        <p:nvPr/>
      </p:nvGrpSpPr>
      <p:grpSpPr>
        <a:xfrm>
          <a:off x="0" y="0"/>
          <a:ext cx="0" cy="0"/>
          <a:chOff x="0" y="0"/>
          <a:chExt cx="0" cy="0"/>
        </a:xfrm>
      </p:grpSpPr>
      <p:sp>
        <p:nvSpPr>
          <p:cNvPr id="326" name="Shape 326"/>
          <p:cNvSpPr txBox="1"/>
          <p:nvPr/>
        </p:nvSpPr>
        <p:spPr>
          <a:xfrm>
            <a:off x="407975" y="2033575"/>
            <a:ext cx="8564400" cy="1587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将第1个记录看成是初始有序表，然后从第2个记录起依次插入到这个有序表中，直到将第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个记录插入。</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7" name="Shape 327"/>
          <p:cNvSpPr txBox="1"/>
          <p:nvPr/>
        </p:nvSpPr>
        <p:spPr>
          <a:xfrm>
            <a:off x="296849" y="1223950"/>
            <a:ext cx="6603000" cy="519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关键问题(1)</a:t>
            </a:r>
            <a:r>
              <a:rPr lang="en-US" sz="2800" b="1" i="0" u="none">
                <a:solidFill>
                  <a:schemeClr val="accent2"/>
                </a:solidFill>
                <a:latin typeface="Arial" panose="020B0604020202020204"/>
                <a:ea typeface="Arial" panose="020B0604020202020204"/>
                <a:cs typeface="Arial" panose="020B0604020202020204"/>
                <a:sym typeface="Arial" panose="020B0604020202020204"/>
              </a:rPr>
              <a:t>如何构造初始的有序序列？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328" name="Shape 328"/>
          <p:cNvSpPr txBox="1"/>
          <p:nvPr/>
        </p:nvSpPr>
        <p:spPr>
          <a:xfrm>
            <a:off x="403225" y="3654425"/>
            <a:ext cx="7178100" cy="244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(i=2; i&lt;=n; i++)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插入第i个记录，即第i趟直接插入排序；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9" name="Shape 329"/>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33" name="Shape 333"/>
        <p:cNvGrpSpPr/>
        <p:nvPr/>
      </p:nvGrpSpPr>
      <p:grpSpPr>
        <a:xfrm>
          <a:off x="0" y="0"/>
          <a:ext cx="0" cy="0"/>
          <a:chOff x="0" y="0"/>
          <a:chExt cx="0" cy="0"/>
        </a:xfrm>
      </p:grpSpPr>
      <p:sp>
        <p:nvSpPr>
          <p:cNvPr id="334" name="Shape 334"/>
          <p:cNvSpPr txBox="1"/>
          <p:nvPr/>
        </p:nvSpPr>
        <p:spPr>
          <a:xfrm>
            <a:off x="206375" y="1179512"/>
            <a:ext cx="80549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关键问题(2)如何查找待插入记录的插入位置?</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5" name="Shape 335"/>
          <p:cNvSpPr txBox="1"/>
          <p:nvPr/>
        </p:nvSpPr>
        <p:spPr>
          <a:xfrm>
            <a:off x="431800" y="1644650"/>
            <a:ext cx="8370887"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1个记录的有序区r[1] ~ r[i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1]中插入记录r[i]，首先顺序查找r[i]的正确插入位置，然后将r[i]插入到相应位置。</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6" name="Shape 336"/>
          <p:cNvSpPr txBox="1"/>
          <p:nvPr/>
        </p:nvSpPr>
        <p:spPr>
          <a:xfrm>
            <a:off x="5021249" y="3789350"/>
            <a:ext cx="3895500" cy="24573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r[0]有两个作用：</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进入循环之前暂存了r[i]的值，使得不致于因记录的后移而丢失r[i]的内容；</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在查找插入位置的循环中充当</a:t>
            </a:r>
            <a:r>
              <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哨兵</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7" name="Shape 337"/>
          <p:cNvSpPr txBox="1"/>
          <p:nvPr/>
        </p:nvSpPr>
        <p:spPr>
          <a:xfrm>
            <a:off x="385762" y="3721100"/>
            <a:ext cx="4230687" cy="30384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r[0]=r[i];    j=i-1;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while (r[0]&lt;r[j])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r[j+1]=r[j];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j--;</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8" name="Shape 338"/>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42" name="Shape 342"/>
        <p:cNvGrpSpPr/>
        <p:nvPr/>
      </p:nvGrpSpPr>
      <p:grpSpPr>
        <a:xfrm>
          <a:off x="0" y="0"/>
          <a:ext cx="0" cy="0"/>
          <a:chOff x="0" y="0"/>
          <a:chExt cx="0" cy="0"/>
        </a:xfrm>
      </p:grpSpPr>
      <p:sp>
        <p:nvSpPr>
          <p:cNvPr id="343" name="Shape 343"/>
          <p:cNvSpPr txBox="1"/>
          <p:nvPr/>
        </p:nvSpPr>
        <p:spPr>
          <a:xfrm>
            <a:off x="566737" y="1771650"/>
            <a:ext cx="6477000" cy="5003800"/>
          </a:xfrm>
          <a:prstGeom prst="rect">
            <a:avLst/>
          </a:prstGeom>
          <a:noFill/>
          <a:ln>
            <a:noFill/>
          </a:ln>
        </p:spPr>
        <p:txBody>
          <a:bodyPr spcFirstLastPara="1" wrap="square" lIns="91425" tIns="45700" rIns="91425" bIns="45700" anchor="t" anchorCtr="0">
            <a:noAutofit/>
          </a:bodyPr>
          <a:lstStyle/>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insertSort (int  r[ ], int n)</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(i=2; i&lt;=n; i++)</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r[0]=r[i]; j=i-1;</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(r[0]&lt;r[j])</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r[j+1]=r[j];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j=j-1;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r[j+1]=r[0];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4" name="Shape 344"/>
          <p:cNvSpPr txBox="1"/>
          <p:nvPr/>
        </p:nvSpPr>
        <p:spPr>
          <a:xfrm>
            <a:off x="296862" y="1133475"/>
            <a:ext cx="61722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直接插入排序算法</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45" name="Shape 345"/>
          <p:cNvGrpSpPr/>
          <p:nvPr/>
        </p:nvGrpSpPr>
        <p:grpSpPr>
          <a:xfrm>
            <a:off x="2187575" y="2798762"/>
            <a:ext cx="6640513" cy="1350963"/>
            <a:chOff x="2187575" y="2798762"/>
            <a:chExt cx="6640513" cy="1350963"/>
          </a:xfrm>
        </p:grpSpPr>
        <p:grpSp>
          <p:nvGrpSpPr>
            <p:cNvPr id="346" name="Shape 346"/>
            <p:cNvGrpSpPr/>
            <p:nvPr/>
          </p:nvGrpSpPr>
          <p:grpSpPr>
            <a:xfrm>
              <a:off x="4616450" y="2798762"/>
              <a:ext cx="4211638" cy="822325"/>
              <a:chOff x="4932362" y="3519487"/>
              <a:chExt cx="4211638" cy="822325"/>
            </a:xfrm>
          </p:grpSpPr>
          <p:sp>
            <p:nvSpPr>
              <p:cNvPr id="347" name="Shape 347"/>
              <p:cNvSpPr txBox="1"/>
              <p:nvPr/>
            </p:nvSpPr>
            <p:spPr>
              <a:xfrm>
                <a:off x="5562600" y="3519487"/>
                <a:ext cx="3581400" cy="8223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3366"/>
                  </a:buClr>
                  <a:buSzPts val="2400"/>
                  <a:buFont typeface="Times New Roman" panose="02020603050405020304"/>
                  <a:buNone/>
                </a:pPr>
                <a:r>
                  <a:rPr lang="en-US" sz="2400" b="1" i="0" u="none">
                    <a:solidFill>
                      <a:srgbClr val="003366"/>
                    </a:solidFill>
                    <a:latin typeface="Times New Roman" panose="02020603050405020304"/>
                    <a:ea typeface="Times New Roman" panose="02020603050405020304"/>
                    <a:cs typeface="Times New Roman" panose="02020603050405020304"/>
                    <a:sym typeface="Times New Roman" panose="02020603050405020304"/>
                  </a:rPr>
                  <a:t>如果r[i]&gt;=r[i-1]，内层循环会出现什么情况</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48" name="Shape 348"/>
              <p:cNvPicPr preferRelativeResize="0"/>
              <p:nvPr/>
            </p:nvPicPr>
            <p:blipFill rotWithShape="1">
              <a:blip r:embed="rId1"/>
              <a:srcRect/>
              <a:stretch>
                <a:fillRect/>
              </a:stretch>
            </p:blipFill>
            <p:spPr>
              <a:xfrm>
                <a:off x="4932362" y="3654425"/>
                <a:ext cx="584200" cy="542925"/>
              </a:xfrm>
              <a:prstGeom prst="rect">
                <a:avLst/>
              </a:prstGeom>
              <a:noFill/>
              <a:ln>
                <a:noFill/>
              </a:ln>
            </p:spPr>
          </p:pic>
        </p:grpSp>
        <p:cxnSp>
          <p:nvCxnSpPr>
            <p:cNvPr id="349" name="Shape 349"/>
            <p:cNvCxnSpPr/>
            <p:nvPr/>
          </p:nvCxnSpPr>
          <p:spPr>
            <a:xfrm>
              <a:off x="2187575" y="4149725"/>
              <a:ext cx="1169987" cy="0"/>
            </a:xfrm>
            <a:prstGeom prst="straightConnector1">
              <a:avLst/>
            </a:prstGeom>
            <a:noFill/>
            <a:ln w="28575" cap="flat" cmpd="sng">
              <a:solidFill>
                <a:srgbClr val="FF3300"/>
              </a:solidFill>
              <a:prstDash val="solid"/>
              <a:miter lim="800000"/>
              <a:headEnd type="none" w="med" len="med"/>
              <a:tailEnd type="none" w="med" len="med"/>
            </a:ln>
          </p:spPr>
        </p:cxnSp>
      </p:grpSp>
      <p:sp>
        <p:nvSpPr>
          <p:cNvPr id="350" name="Shape 350"/>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54" name="Shape 354"/>
        <p:cNvGrpSpPr/>
        <p:nvPr/>
      </p:nvGrpSpPr>
      <p:grpSpPr>
        <a:xfrm>
          <a:off x="0" y="0"/>
          <a:ext cx="0" cy="0"/>
          <a:chOff x="0" y="0"/>
          <a:chExt cx="0" cy="0"/>
        </a:xfrm>
      </p:grpSpPr>
      <p:sp>
        <p:nvSpPr>
          <p:cNvPr id="355" name="Shape 355"/>
          <p:cNvSpPr txBox="1"/>
          <p:nvPr/>
        </p:nvSpPr>
        <p:spPr>
          <a:xfrm>
            <a:off x="250825" y="1089025"/>
            <a:ext cx="57150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直接插入排序算法性能分析</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6" name="Shape 356"/>
          <p:cNvSpPr txBox="1"/>
          <p:nvPr/>
        </p:nvSpPr>
        <p:spPr>
          <a:xfrm>
            <a:off x="522287" y="1898650"/>
            <a:ext cx="5175250" cy="56197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最好情况下（正序）：</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chemeClr val="dk1"/>
                </a:solidFill>
                <a:latin typeface="Arial" panose="020B0604020202020204"/>
                <a:ea typeface="Arial" panose="020B0604020202020204"/>
                <a:cs typeface="Arial" panose="020B0604020202020204"/>
                <a:sym typeface="Arial" panose="020B0604020202020204"/>
              </a:rPr>
              <a:t>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357" name="Shape 357"/>
          <p:cNvGrpSpPr/>
          <p:nvPr/>
        </p:nvGrpSpPr>
        <p:grpSpPr>
          <a:xfrm>
            <a:off x="5975350" y="2009775"/>
            <a:ext cx="2844800" cy="431800"/>
            <a:chOff x="6007100" y="2168525"/>
            <a:chExt cx="2844800" cy="431800"/>
          </a:xfrm>
        </p:grpSpPr>
        <p:sp>
          <p:nvSpPr>
            <p:cNvPr id="358" name="Shape 358"/>
            <p:cNvSpPr/>
            <p:nvPr/>
          </p:nvSpPr>
          <p:spPr>
            <a:xfrm>
              <a:off x="60071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59" name="Shape 359"/>
            <p:cNvSpPr/>
            <p:nvPr/>
          </p:nvSpPr>
          <p:spPr>
            <a:xfrm>
              <a:off x="659765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60" name="Shape 360"/>
            <p:cNvSpPr/>
            <p:nvPr/>
          </p:nvSpPr>
          <p:spPr>
            <a:xfrm>
              <a:off x="72136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61" name="Shape 361"/>
            <p:cNvSpPr/>
            <p:nvPr/>
          </p:nvSpPr>
          <p:spPr>
            <a:xfrm>
              <a:off x="7813675"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62" name="Shape 362"/>
            <p:cNvSpPr/>
            <p:nvPr/>
          </p:nvSpPr>
          <p:spPr>
            <a:xfrm>
              <a:off x="84201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363" name="Shape 363"/>
          <p:cNvSpPr txBox="1"/>
          <p:nvPr/>
        </p:nvSpPr>
        <p:spPr>
          <a:xfrm>
            <a:off x="546100" y="3473450"/>
            <a:ext cx="3516000" cy="519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364" name="Shape 364"/>
          <p:cNvGrpSpPr/>
          <p:nvPr/>
        </p:nvGrpSpPr>
        <p:grpSpPr>
          <a:xfrm>
            <a:off x="476250" y="2484437"/>
            <a:ext cx="3302000" cy="946150"/>
            <a:chOff x="579437" y="2528887"/>
            <a:chExt cx="3302000" cy="946150"/>
          </a:xfrm>
        </p:grpSpPr>
        <p:sp>
          <p:nvSpPr>
            <p:cNvPr id="365" name="Shape 365"/>
            <p:cNvSpPr/>
            <p:nvPr/>
          </p:nvSpPr>
          <p:spPr>
            <a:xfrm>
              <a:off x="579437" y="2738437"/>
              <a:ext cx="180975" cy="569912"/>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6" name="Shape 366"/>
            <p:cNvSpPr txBox="1"/>
            <p:nvPr/>
          </p:nvSpPr>
          <p:spPr>
            <a:xfrm>
              <a:off x="733425" y="2528887"/>
              <a:ext cx="314801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比较次数：</a:t>
              </a:r>
              <a:r>
                <a:rPr lang="en-US" sz="2800" b="1" i="1"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移动次数：2(</a:t>
              </a:r>
              <a:r>
                <a:rPr lang="en-US" sz="2800" b="1" i="1"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-1)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367" name="Shape 367"/>
          <p:cNvGrpSpPr/>
          <p:nvPr/>
        </p:nvGrpSpPr>
        <p:grpSpPr>
          <a:xfrm>
            <a:off x="5381625" y="2551112"/>
            <a:ext cx="3443287" cy="2057400"/>
            <a:chOff x="5381625" y="2551112"/>
            <a:chExt cx="3443287" cy="2057400"/>
          </a:xfrm>
        </p:grpSpPr>
        <p:sp>
          <p:nvSpPr>
            <p:cNvPr id="368" name="Shape 368"/>
            <p:cNvSpPr/>
            <p:nvPr/>
          </p:nvSpPr>
          <p:spPr>
            <a:xfrm>
              <a:off x="5975350" y="255111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69" name="Shape 369"/>
            <p:cNvSpPr/>
            <p:nvPr/>
          </p:nvSpPr>
          <p:spPr>
            <a:xfrm>
              <a:off x="6565900" y="25511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0" name="Shape 370"/>
            <p:cNvSpPr/>
            <p:nvPr/>
          </p:nvSpPr>
          <p:spPr>
            <a:xfrm>
              <a:off x="7181850"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1" name="Shape 371"/>
            <p:cNvSpPr/>
            <p:nvPr/>
          </p:nvSpPr>
          <p:spPr>
            <a:xfrm>
              <a:off x="7781925"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2" name="Shape 372"/>
            <p:cNvSpPr/>
            <p:nvPr/>
          </p:nvSpPr>
          <p:spPr>
            <a:xfrm>
              <a:off x="8388350"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3" name="Shape 373"/>
            <p:cNvSpPr/>
            <p:nvPr/>
          </p:nvSpPr>
          <p:spPr>
            <a:xfrm>
              <a:off x="5975350" y="309086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4" name="Shape 374"/>
            <p:cNvSpPr/>
            <p:nvPr/>
          </p:nvSpPr>
          <p:spPr>
            <a:xfrm>
              <a:off x="6565900" y="30908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5" name="Shape 375"/>
            <p:cNvSpPr/>
            <p:nvPr/>
          </p:nvSpPr>
          <p:spPr>
            <a:xfrm>
              <a:off x="7181850" y="30908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6" name="Shape 376"/>
            <p:cNvSpPr/>
            <p:nvPr/>
          </p:nvSpPr>
          <p:spPr>
            <a:xfrm>
              <a:off x="7781925" y="309086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7" name="Shape 377"/>
            <p:cNvSpPr/>
            <p:nvPr/>
          </p:nvSpPr>
          <p:spPr>
            <a:xfrm>
              <a:off x="8388350" y="309086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8" name="Shape 378"/>
            <p:cNvSpPr/>
            <p:nvPr/>
          </p:nvSpPr>
          <p:spPr>
            <a:xfrm>
              <a:off x="5975350" y="363061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79" name="Shape 379"/>
            <p:cNvSpPr/>
            <p:nvPr/>
          </p:nvSpPr>
          <p:spPr>
            <a:xfrm>
              <a:off x="6565900"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0" name="Shape 380"/>
            <p:cNvSpPr/>
            <p:nvPr/>
          </p:nvSpPr>
          <p:spPr>
            <a:xfrm>
              <a:off x="7181850"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1" name="Shape 381"/>
            <p:cNvSpPr/>
            <p:nvPr/>
          </p:nvSpPr>
          <p:spPr>
            <a:xfrm>
              <a:off x="7781925"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2" name="Shape 382"/>
            <p:cNvSpPr/>
            <p:nvPr/>
          </p:nvSpPr>
          <p:spPr>
            <a:xfrm>
              <a:off x="8388350" y="36306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3" name="Shape 383"/>
            <p:cNvSpPr/>
            <p:nvPr/>
          </p:nvSpPr>
          <p:spPr>
            <a:xfrm>
              <a:off x="5980112" y="417036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4" name="Shape 384"/>
            <p:cNvSpPr/>
            <p:nvPr/>
          </p:nvSpPr>
          <p:spPr>
            <a:xfrm>
              <a:off x="657066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5" name="Shape 385"/>
            <p:cNvSpPr/>
            <p:nvPr/>
          </p:nvSpPr>
          <p:spPr>
            <a:xfrm>
              <a:off x="718661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6" name="Shape 386"/>
            <p:cNvSpPr/>
            <p:nvPr/>
          </p:nvSpPr>
          <p:spPr>
            <a:xfrm>
              <a:off x="7786687"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7" name="Shape 387"/>
            <p:cNvSpPr/>
            <p:nvPr/>
          </p:nvSpPr>
          <p:spPr>
            <a:xfrm>
              <a:off x="839311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8" name="Shape 388"/>
            <p:cNvSpPr/>
            <p:nvPr/>
          </p:nvSpPr>
          <p:spPr>
            <a:xfrm>
              <a:off x="5381625" y="2557462"/>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89" name="Shape 389"/>
            <p:cNvSpPr/>
            <p:nvPr/>
          </p:nvSpPr>
          <p:spPr>
            <a:xfrm>
              <a:off x="5381625" y="3097212"/>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90" name="Shape 390"/>
            <p:cNvSpPr/>
            <p:nvPr/>
          </p:nvSpPr>
          <p:spPr>
            <a:xfrm>
              <a:off x="5381625" y="3636962"/>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391" name="Shape 391"/>
            <p:cNvSpPr/>
            <p:nvPr/>
          </p:nvSpPr>
          <p:spPr>
            <a:xfrm>
              <a:off x="5386387" y="4176712"/>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392" name="Shape 392"/>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396" name="Shape 396"/>
        <p:cNvGrpSpPr/>
        <p:nvPr/>
      </p:nvGrpSpPr>
      <p:grpSpPr>
        <a:xfrm>
          <a:off x="0" y="0"/>
          <a:ext cx="0" cy="0"/>
          <a:chOff x="0" y="0"/>
          <a:chExt cx="0" cy="0"/>
        </a:xfrm>
      </p:grpSpPr>
      <p:sp>
        <p:nvSpPr>
          <p:cNvPr id="397" name="Shape 397"/>
          <p:cNvSpPr txBox="1"/>
          <p:nvPr/>
        </p:nvSpPr>
        <p:spPr>
          <a:xfrm>
            <a:off x="250825" y="1089025"/>
            <a:ext cx="57150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直接插入排序算法性能分析</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98" name="Shape 398"/>
          <p:cNvSpPr txBox="1"/>
          <p:nvPr/>
        </p:nvSpPr>
        <p:spPr>
          <a:xfrm>
            <a:off x="522287" y="1898650"/>
            <a:ext cx="5175250" cy="56197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最好</a:t>
            </a:r>
            <a:r>
              <a:rPr lang="en-US" sz="2800" b="1" i="0" u="none">
                <a:solidFill>
                  <a:schemeClr val="dk1"/>
                </a:solidFill>
                <a:latin typeface="Arial" panose="020B0604020202020204"/>
                <a:ea typeface="Arial" panose="020B0604020202020204"/>
                <a:cs typeface="Arial" panose="020B0604020202020204"/>
                <a:sym typeface="Arial" panose="020B0604020202020204"/>
              </a:rPr>
              <a:t>情况下（正序）：</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chemeClr val="dk1"/>
                </a:solidFill>
                <a:latin typeface="Arial" panose="020B0604020202020204"/>
                <a:ea typeface="Arial" panose="020B0604020202020204"/>
                <a:cs typeface="Arial" panose="020B0604020202020204"/>
                <a:sym typeface="Arial" panose="020B0604020202020204"/>
              </a:rPr>
              <a:t>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399" name="Shape 399"/>
          <p:cNvGrpSpPr/>
          <p:nvPr/>
        </p:nvGrpSpPr>
        <p:grpSpPr>
          <a:xfrm>
            <a:off x="476250" y="2484437"/>
            <a:ext cx="3302000" cy="946150"/>
            <a:chOff x="579437" y="2528887"/>
            <a:chExt cx="3302000" cy="946150"/>
          </a:xfrm>
        </p:grpSpPr>
        <p:sp>
          <p:nvSpPr>
            <p:cNvPr id="400" name="Shape 400"/>
            <p:cNvSpPr/>
            <p:nvPr/>
          </p:nvSpPr>
          <p:spPr>
            <a:xfrm>
              <a:off x="579437" y="2738437"/>
              <a:ext cx="180975" cy="569912"/>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1" name="Shape 401"/>
            <p:cNvSpPr txBox="1"/>
            <p:nvPr/>
          </p:nvSpPr>
          <p:spPr>
            <a:xfrm>
              <a:off x="733425" y="2528887"/>
              <a:ext cx="314801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402" name="Shape 402"/>
          <p:cNvSpPr txBox="1"/>
          <p:nvPr/>
        </p:nvSpPr>
        <p:spPr>
          <a:xfrm>
            <a:off x="566737" y="4059237"/>
            <a:ext cx="4827587" cy="5191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最坏</a:t>
            </a:r>
            <a:r>
              <a:rPr lang="en-US" sz="2800" b="1" i="0" u="none">
                <a:solidFill>
                  <a:schemeClr val="dk1"/>
                </a:solidFill>
                <a:latin typeface="Arial" panose="020B0604020202020204"/>
                <a:ea typeface="Arial" panose="020B0604020202020204"/>
                <a:cs typeface="Arial" panose="020B0604020202020204"/>
                <a:sym typeface="Arial" panose="020B0604020202020204"/>
              </a:rPr>
              <a:t>情况下（逆序或反序）：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03" name="Shape 403"/>
          <p:cNvSpPr txBox="1"/>
          <p:nvPr/>
        </p:nvSpPr>
        <p:spPr>
          <a:xfrm>
            <a:off x="627062" y="6161087"/>
            <a:ext cx="3498850" cy="5191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04" name="Shape 404"/>
          <p:cNvGrpSpPr/>
          <p:nvPr/>
        </p:nvGrpSpPr>
        <p:grpSpPr>
          <a:xfrm>
            <a:off x="5975350" y="2009775"/>
            <a:ext cx="2844800" cy="431800"/>
            <a:chOff x="6007100" y="2168525"/>
            <a:chExt cx="2844800" cy="431800"/>
          </a:xfrm>
        </p:grpSpPr>
        <p:sp>
          <p:nvSpPr>
            <p:cNvPr id="405" name="Shape 405"/>
            <p:cNvSpPr/>
            <p:nvPr/>
          </p:nvSpPr>
          <p:spPr>
            <a:xfrm>
              <a:off x="60071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06" name="Shape 406"/>
            <p:cNvSpPr/>
            <p:nvPr/>
          </p:nvSpPr>
          <p:spPr>
            <a:xfrm>
              <a:off x="659765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07" name="Shape 407"/>
            <p:cNvSpPr/>
            <p:nvPr/>
          </p:nvSpPr>
          <p:spPr>
            <a:xfrm>
              <a:off x="72136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08" name="Shape 408"/>
            <p:cNvSpPr/>
            <p:nvPr/>
          </p:nvSpPr>
          <p:spPr>
            <a:xfrm>
              <a:off x="7813675"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09" name="Shape 409"/>
            <p:cNvSpPr/>
            <p:nvPr/>
          </p:nvSpPr>
          <p:spPr>
            <a:xfrm>
              <a:off x="8420100" y="21685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10" name="Shape 410"/>
          <p:cNvGrpSpPr/>
          <p:nvPr/>
        </p:nvGrpSpPr>
        <p:grpSpPr>
          <a:xfrm>
            <a:off x="5427662" y="2541587"/>
            <a:ext cx="3397250" cy="2060575"/>
            <a:chOff x="5427662" y="2541587"/>
            <a:chExt cx="3397250" cy="2060575"/>
          </a:xfrm>
        </p:grpSpPr>
        <p:sp>
          <p:nvSpPr>
            <p:cNvPr id="411" name="Shape 411"/>
            <p:cNvSpPr/>
            <p:nvPr/>
          </p:nvSpPr>
          <p:spPr>
            <a:xfrm>
              <a:off x="5975350" y="255111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2" name="Shape 412"/>
            <p:cNvSpPr/>
            <p:nvPr/>
          </p:nvSpPr>
          <p:spPr>
            <a:xfrm>
              <a:off x="6565900" y="25511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3" name="Shape 413"/>
            <p:cNvSpPr/>
            <p:nvPr/>
          </p:nvSpPr>
          <p:spPr>
            <a:xfrm>
              <a:off x="7181850"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4" name="Shape 414"/>
            <p:cNvSpPr/>
            <p:nvPr/>
          </p:nvSpPr>
          <p:spPr>
            <a:xfrm>
              <a:off x="7781925"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5" name="Shape 415"/>
            <p:cNvSpPr/>
            <p:nvPr/>
          </p:nvSpPr>
          <p:spPr>
            <a:xfrm>
              <a:off x="8388350" y="2551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6" name="Shape 416"/>
            <p:cNvSpPr/>
            <p:nvPr/>
          </p:nvSpPr>
          <p:spPr>
            <a:xfrm>
              <a:off x="5975350" y="309086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7" name="Shape 417"/>
            <p:cNvSpPr/>
            <p:nvPr/>
          </p:nvSpPr>
          <p:spPr>
            <a:xfrm>
              <a:off x="6565900" y="30908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8" name="Shape 418"/>
            <p:cNvSpPr/>
            <p:nvPr/>
          </p:nvSpPr>
          <p:spPr>
            <a:xfrm>
              <a:off x="7181850" y="30908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19" name="Shape 419"/>
            <p:cNvSpPr/>
            <p:nvPr/>
          </p:nvSpPr>
          <p:spPr>
            <a:xfrm>
              <a:off x="7781925" y="309086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0" name="Shape 420"/>
            <p:cNvSpPr/>
            <p:nvPr/>
          </p:nvSpPr>
          <p:spPr>
            <a:xfrm>
              <a:off x="8388350" y="309086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1" name="Shape 421"/>
            <p:cNvSpPr/>
            <p:nvPr/>
          </p:nvSpPr>
          <p:spPr>
            <a:xfrm>
              <a:off x="5975350" y="363061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2" name="Shape 422"/>
            <p:cNvSpPr/>
            <p:nvPr/>
          </p:nvSpPr>
          <p:spPr>
            <a:xfrm>
              <a:off x="6565900"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3" name="Shape 423"/>
            <p:cNvSpPr/>
            <p:nvPr/>
          </p:nvSpPr>
          <p:spPr>
            <a:xfrm>
              <a:off x="7181850"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4" name="Shape 424"/>
            <p:cNvSpPr/>
            <p:nvPr/>
          </p:nvSpPr>
          <p:spPr>
            <a:xfrm>
              <a:off x="7781925" y="36306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5" name="Shape 425"/>
            <p:cNvSpPr/>
            <p:nvPr/>
          </p:nvSpPr>
          <p:spPr>
            <a:xfrm>
              <a:off x="8388350" y="36306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6" name="Shape 426"/>
            <p:cNvSpPr/>
            <p:nvPr/>
          </p:nvSpPr>
          <p:spPr>
            <a:xfrm>
              <a:off x="5980112" y="4170362"/>
              <a:ext cx="431800" cy="431800"/>
            </a:xfrm>
            <a:prstGeom prst="ellipse">
              <a:avLst/>
            </a:prstGeom>
            <a:gradFill>
              <a:gsLst>
                <a:gs pos="0">
                  <a:srgbClr val="008F6B"/>
                </a:gs>
                <a:gs pos="100000">
                  <a:schemeClr val="accent1"/>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7" name="Shape 427"/>
            <p:cNvSpPr/>
            <p:nvPr/>
          </p:nvSpPr>
          <p:spPr>
            <a:xfrm>
              <a:off x="657066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8" name="Shape 428"/>
            <p:cNvSpPr/>
            <p:nvPr/>
          </p:nvSpPr>
          <p:spPr>
            <a:xfrm>
              <a:off x="718661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29" name="Shape 429"/>
            <p:cNvSpPr/>
            <p:nvPr/>
          </p:nvSpPr>
          <p:spPr>
            <a:xfrm>
              <a:off x="7786687"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30" name="Shape 430"/>
            <p:cNvSpPr/>
            <p:nvPr/>
          </p:nvSpPr>
          <p:spPr>
            <a:xfrm>
              <a:off x="8393112" y="41703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31" name="Shape 431"/>
            <p:cNvSpPr/>
            <p:nvPr/>
          </p:nvSpPr>
          <p:spPr>
            <a:xfrm>
              <a:off x="5427662" y="2541587"/>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32" name="Shape 432"/>
            <p:cNvSpPr/>
            <p:nvPr/>
          </p:nvSpPr>
          <p:spPr>
            <a:xfrm>
              <a:off x="5427662" y="3081337"/>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33" name="Shape 433"/>
            <p:cNvSpPr/>
            <p:nvPr/>
          </p:nvSpPr>
          <p:spPr>
            <a:xfrm>
              <a:off x="5427662" y="3621087"/>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434" name="Shape 434"/>
            <p:cNvSpPr/>
            <p:nvPr/>
          </p:nvSpPr>
          <p:spPr>
            <a:xfrm>
              <a:off x="5432425" y="4160837"/>
              <a:ext cx="431800" cy="4318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435" name="Shape 435"/>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6" name="Shape 436"/>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37" name="Shape 437"/>
          <p:cNvGrpSpPr/>
          <p:nvPr/>
        </p:nvGrpSpPr>
        <p:grpSpPr>
          <a:xfrm>
            <a:off x="595312" y="4464050"/>
            <a:ext cx="4740275" cy="1698625"/>
            <a:chOff x="595312" y="4464050"/>
            <a:chExt cx="4740275" cy="1698625"/>
          </a:xfrm>
        </p:grpSpPr>
        <p:sp>
          <p:nvSpPr>
            <p:cNvPr id="438" name="Shape 438"/>
            <p:cNvSpPr/>
            <p:nvPr/>
          </p:nvSpPr>
          <p:spPr>
            <a:xfrm>
              <a:off x="595312" y="4826000"/>
              <a:ext cx="212725" cy="1019175"/>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39" name="Shape 439"/>
            <p:cNvSpPr txBox="1"/>
            <p:nvPr/>
          </p:nvSpPr>
          <p:spPr>
            <a:xfrm>
              <a:off x="836612" y="4598987"/>
              <a:ext cx="2051050"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endParaRPr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40" name="Shape 440"/>
            <p:cNvGrpSpPr/>
            <p:nvPr/>
          </p:nvGrpSpPr>
          <p:grpSpPr>
            <a:xfrm>
              <a:off x="2592387" y="4464050"/>
              <a:ext cx="2184400" cy="914400"/>
              <a:chOff x="3443287" y="4464050"/>
              <a:chExt cx="2184400" cy="914400"/>
            </a:xfrm>
          </p:grpSpPr>
          <p:cxnSp>
            <p:nvCxnSpPr>
              <p:cNvPr id="441" name="Shape 441"/>
              <p:cNvCxnSpPr/>
              <p:nvPr/>
            </p:nvCxnSpPr>
            <p:spPr>
              <a:xfrm>
                <a:off x="4187825" y="4967287"/>
                <a:ext cx="1439862" cy="1587"/>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442" name="Shape 442"/>
              <p:cNvSpPr txBox="1"/>
              <p:nvPr/>
            </p:nvSpPr>
            <p:spPr>
              <a:xfrm>
                <a:off x="4854575" y="501015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3" name="Shape 443"/>
              <p:cNvSpPr txBox="1"/>
              <p:nvPr/>
            </p:nvSpPr>
            <p:spPr>
              <a:xfrm>
                <a:off x="5503862" y="4594225"/>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4" name="Shape 444"/>
              <p:cNvSpPr txBox="1"/>
              <p:nvPr/>
            </p:nvSpPr>
            <p:spPr>
              <a:xfrm>
                <a:off x="5387975" y="4594225"/>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5" name="Shape 445"/>
              <p:cNvSpPr txBox="1"/>
              <p:nvPr/>
            </p:nvSpPr>
            <p:spPr>
              <a:xfrm>
                <a:off x="4854575" y="4594225"/>
                <a:ext cx="2032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6" name="Shape 446"/>
              <p:cNvSpPr txBox="1"/>
              <p:nvPr/>
            </p:nvSpPr>
            <p:spPr>
              <a:xfrm>
                <a:off x="4727575" y="4594225"/>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7" name="Shape 447"/>
              <p:cNvSpPr txBox="1"/>
              <p:nvPr/>
            </p:nvSpPr>
            <p:spPr>
              <a:xfrm>
                <a:off x="4254500" y="4594225"/>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8" name="Shape 448"/>
              <p:cNvSpPr txBox="1"/>
              <p:nvPr/>
            </p:nvSpPr>
            <p:spPr>
              <a:xfrm>
                <a:off x="3752850" y="507365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49" name="Shape 449"/>
              <p:cNvSpPr txBox="1"/>
              <p:nvPr/>
            </p:nvSpPr>
            <p:spPr>
              <a:xfrm>
                <a:off x="5246687" y="4560887"/>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50" name="Shape 450"/>
              <p:cNvSpPr txBox="1"/>
              <p:nvPr/>
            </p:nvSpPr>
            <p:spPr>
              <a:xfrm>
                <a:off x="4552950" y="4560887"/>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51" name="Shape 451"/>
              <p:cNvSpPr txBox="1"/>
              <p:nvPr/>
            </p:nvSpPr>
            <p:spPr>
              <a:xfrm>
                <a:off x="3963987" y="474662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52" name="Shape 452"/>
              <p:cNvSpPr txBox="1"/>
              <p:nvPr/>
            </p:nvSpPr>
            <p:spPr>
              <a:xfrm>
                <a:off x="3498850" y="4746625"/>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453" name="Shape 453"/>
              <p:cNvSpPr txBox="1"/>
              <p:nvPr/>
            </p:nvSpPr>
            <p:spPr>
              <a:xfrm>
                <a:off x="3563937" y="5053012"/>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454" name="Shape 454"/>
              <p:cNvSpPr txBox="1"/>
              <p:nvPr/>
            </p:nvSpPr>
            <p:spPr>
              <a:xfrm>
                <a:off x="5027612" y="4594225"/>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5" name="Shape 455"/>
              <p:cNvSpPr txBox="1"/>
              <p:nvPr/>
            </p:nvSpPr>
            <p:spPr>
              <a:xfrm>
                <a:off x="4333875" y="4594225"/>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6" name="Shape 456"/>
              <p:cNvSpPr txBox="1"/>
              <p:nvPr/>
            </p:nvSpPr>
            <p:spPr>
              <a:xfrm>
                <a:off x="3802062" y="4779962"/>
                <a:ext cx="8413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7" name="Shape 457"/>
              <p:cNvSpPr txBox="1"/>
              <p:nvPr/>
            </p:nvSpPr>
            <p:spPr>
              <a:xfrm>
                <a:off x="3576637" y="4464050"/>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8" name="Shape 458"/>
              <p:cNvSpPr txBox="1"/>
              <p:nvPr/>
            </p:nvSpPr>
            <p:spPr>
              <a:xfrm>
                <a:off x="3443287" y="5073650"/>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459" name="Shape 459"/>
            <p:cNvGrpSpPr/>
            <p:nvPr/>
          </p:nvGrpSpPr>
          <p:grpSpPr>
            <a:xfrm>
              <a:off x="2546350" y="5273675"/>
              <a:ext cx="2789237" cy="889000"/>
              <a:chOff x="3787775" y="5321300"/>
              <a:chExt cx="2789237" cy="889000"/>
            </a:xfrm>
          </p:grpSpPr>
          <p:cxnSp>
            <p:nvCxnSpPr>
              <p:cNvPr id="460" name="Shape 460"/>
              <p:cNvCxnSpPr/>
              <p:nvPr/>
            </p:nvCxnSpPr>
            <p:spPr>
              <a:xfrm>
                <a:off x="5137150" y="5799137"/>
                <a:ext cx="1439862" cy="1587"/>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461" name="Shape 461"/>
              <p:cNvSpPr txBox="1"/>
              <p:nvPr/>
            </p:nvSpPr>
            <p:spPr>
              <a:xfrm>
                <a:off x="5805487" y="5845175"/>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2" name="Shape 462"/>
              <p:cNvSpPr txBox="1"/>
              <p:nvPr/>
            </p:nvSpPr>
            <p:spPr>
              <a:xfrm>
                <a:off x="6450012" y="5405437"/>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3" name="Shape 463"/>
              <p:cNvSpPr txBox="1"/>
              <p:nvPr/>
            </p:nvSpPr>
            <p:spPr>
              <a:xfrm>
                <a:off x="6335712" y="5405437"/>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4" name="Shape 464"/>
              <p:cNvSpPr txBox="1"/>
              <p:nvPr/>
            </p:nvSpPr>
            <p:spPr>
              <a:xfrm>
                <a:off x="5805487" y="5405437"/>
                <a:ext cx="2032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5" name="Shape 465"/>
              <p:cNvSpPr txBox="1"/>
              <p:nvPr/>
            </p:nvSpPr>
            <p:spPr>
              <a:xfrm>
                <a:off x="5678487" y="5405437"/>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6" name="Shape 466"/>
              <p:cNvSpPr txBox="1"/>
              <p:nvPr/>
            </p:nvSpPr>
            <p:spPr>
              <a:xfrm>
                <a:off x="5205412" y="5405437"/>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7" name="Shape 467"/>
              <p:cNvSpPr txBox="1"/>
              <p:nvPr/>
            </p:nvSpPr>
            <p:spPr>
              <a:xfrm>
                <a:off x="4581525" y="5602287"/>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8" name="Shape 468"/>
              <p:cNvSpPr txBox="1"/>
              <p:nvPr/>
            </p:nvSpPr>
            <p:spPr>
              <a:xfrm>
                <a:off x="6196012" y="537051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69" name="Shape 469"/>
              <p:cNvSpPr txBox="1"/>
              <p:nvPr/>
            </p:nvSpPr>
            <p:spPr>
              <a:xfrm>
                <a:off x="5505450" y="537051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70" name="Shape 470"/>
              <p:cNvSpPr txBox="1"/>
              <p:nvPr/>
            </p:nvSpPr>
            <p:spPr>
              <a:xfrm>
                <a:off x="4933950" y="556736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71" name="Shape 471"/>
              <p:cNvSpPr txBox="1"/>
              <p:nvPr/>
            </p:nvSpPr>
            <p:spPr>
              <a:xfrm>
                <a:off x="4437062" y="556736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472" name="Shape 472"/>
              <p:cNvSpPr txBox="1"/>
              <p:nvPr/>
            </p:nvSpPr>
            <p:spPr>
              <a:xfrm>
                <a:off x="3884612" y="5565775"/>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473" name="Shape 473"/>
              <p:cNvSpPr txBox="1"/>
              <p:nvPr/>
            </p:nvSpPr>
            <p:spPr>
              <a:xfrm>
                <a:off x="5980112" y="5405437"/>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4" name="Shape 474"/>
              <p:cNvSpPr txBox="1"/>
              <p:nvPr/>
            </p:nvSpPr>
            <p:spPr>
              <a:xfrm>
                <a:off x="5287962" y="5405437"/>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5" name="Shape 475"/>
              <p:cNvSpPr txBox="1"/>
              <p:nvPr/>
            </p:nvSpPr>
            <p:spPr>
              <a:xfrm>
                <a:off x="4286250" y="5602287"/>
                <a:ext cx="8413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6" name="Shape 476"/>
              <p:cNvSpPr txBox="1"/>
              <p:nvPr/>
            </p:nvSpPr>
            <p:spPr>
              <a:xfrm>
                <a:off x="3933825" y="5321300"/>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77" name="Shape 477"/>
              <p:cNvGrpSpPr/>
              <p:nvPr/>
            </p:nvGrpSpPr>
            <p:grpSpPr>
              <a:xfrm>
                <a:off x="3787775" y="5876925"/>
                <a:ext cx="369887" cy="327025"/>
                <a:chOff x="3883025" y="5940425"/>
                <a:chExt cx="369887" cy="327025"/>
              </a:xfrm>
            </p:grpSpPr>
            <p:sp>
              <p:nvSpPr>
                <p:cNvPr id="478" name="Shape 478"/>
                <p:cNvSpPr txBox="1"/>
                <p:nvPr/>
              </p:nvSpPr>
              <p:spPr>
                <a:xfrm>
                  <a:off x="4125912" y="596265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9" name="Shape 479"/>
                <p:cNvSpPr txBox="1"/>
                <p:nvPr/>
              </p:nvSpPr>
              <p:spPr>
                <a:xfrm>
                  <a:off x="3971925" y="5940425"/>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480" name="Shape 480"/>
                <p:cNvSpPr txBox="1"/>
                <p:nvPr/>
              </p:nvSpPr>
              <p:spPr>
                <a:xfrm>
                  <a:off x="3883025" y="5962650"/>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481" name="Shape 481"/>
              <p:cNvSpPr txBox="1"/>
              <p:nvPr/>
            </p:nvSpPr>
            <p:spPr>
              <a:xfrm>
                <a:off x="4694237" y="5611812"/>
                <a:ext cx="3048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a:solidFill>
                      <a:srgbClr val="000000"/>
                    </a:solidFill>
                    <a:latin typeface="Arial" panose="020B0604020202020204"/>
                    <a:ea typeface="Arial" panose="020B0604020202020204"/>
                    <a:cs typeface="Arial" panose="020B0604020202020204"/>
                    <a:sym typeface="Arial" panose="020B0604020202020204"/>
                  </a:rPr>
                  <a:t>）</a:t>
                </a:r>
                <a:endParaRPr lang="en-US" sz="24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2" name="Shape 482"/>
              <p:cNvSpPr txBox="1"/>
              <p:nvPr/>
            </p:nvSpPr>
            <p:spPr>
              <a:xfrm>
                <a:off x="3995737" y="5618162"/>
                <a:ext cx="3048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a:solidFill>
                      <a:srgbClr val="000000"/>
                    </a:solidFill>
                    <a:latin typeface="Arial" panose="020B0604020202020204"/>
                    <a:ea typeface="Arial" panose="020B0604020202020204"/>
                    <a:cs typeface="Arial" panose="020B0604020202020204"/>
                    <a:sym typeface="Arial" panose="020B0604020202020204"/>
                  </a:rPr>
                  <a:t>（</a:t>
                </a:r>
                <a:endParaRPr lang="en-US" sz="2400" b="1" i="0" u="none">
                  <a:solidFill>
                    <a:srgbClr val="000000"/>
                  </a:solidFill>
                  <a:latin typeface="Arial" panose="020B0604020202020204"/>
                  <a:ea typeface="Arial" panose="020B0604020202020204"/>
                  <a:cs typeface="Arial" panose="020B0604020202020204"/>
                  <a:sym typeface="Arial" panose="020B0604020202020204"/>
                </a:endParaRPr>
              </a:p>
            </p:txBody>
          </p:sp>
        </p:grpSp>
      </p:grpSp>
      <p:sp>
        <p:nvSpPr>
          <p:cNvPr id="483" name="Shape 483"/>
          <p:cNvSpPr txBox="1"/>
          <p:nvPr/>
        </p:nvSpPr>
        <p:spPr>
          <a:xfrm>
            <a:off x="546100" y="3473450"/>
            <a:ext cx="3378200" cy="51911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84" name="Shape 484"/>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488" name="Shape 488"/>
        <p:cNvGrpSpPr/>
        <p:nvPr/>
      </p:nvGrpSpPr>
      <p:grpSpPr>
        <a:xfrm>
          <a:off x="0" y="0"/>
          <a:ext cx="0" cy="0"/>
          <a:chOff x="0" y="0"/>
          <a:chExt cx="0" cy="0"/>
        </a:xfrm>
      </p:grpSpPr>
      <p:sp>
        <p:nvSpPr>
          <p:cNvPr id="489" name="Shape 489"/>
          <p:cNvSpPr txBox="1"/>
          <p:nvPr/>
        </p:nvSpPr>
        <p:spPr>
          <a:xfrm>
            <a:off x="522287" y="2033587"/>
            <a:ext cx="6705600"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平均</a:t>
            </a:r>
            <a:r>
              <a:rPr lang="en-US" sz="2800" b="1" i="0" u="none">
                <a:solidFill>
                  <a:schemeClr val="dk1"/>
                </a:solidFill>
                <a:latin typeface="Arial" panose="020B0604020202020204"/>
                <a:ea typeface="Arial" panose="020B0604020202020204"/>
                <a:cs typeface="Arial" panose="020B0604020202020204"/>
                <a:sym typeface="Arial" panose="020B0604020202020204"/>
              </a:rPr>
              <a:t>情况下（随机排列）：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490" name="Shape 490"/>
          <p:cNvSpPr txBox="1"/>
          <p:nvPr/>
        </p:nvSpPr>
        <p:spPr>
          <a:xfrm>
            <a:off x="250825" y="1089025"/>
            <a:ext cx="57150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直接插入排序算法性能分析</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1" name="Shape 491"/>
          <p:cNvSpPr txBox="1"/>
          <p:nvPr/>
        </p:nvSpPr>
        <p:spPr>
          <a:xfrm>
            <a:off x="595299" y="4373550"/>
            <a:ext cx="36894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492" name="Shape 492"/>
          <p:cNvGrpSpPr/>
          <p:nvPr/>
        </p:nvGrpSpPr>
        <p:grpSpPr>
          <a:xfrm>
            <a:off x="566737" y="2573337"/>
            <a:ext cx="4867275" cy="1698625"/>
            <a:chOff x="566737" y="2573337"/>
            <a:chExt cx="4867275" cy="1698625"/>
          </a:xfrm>
        </p:grpSpPr>
        <p:sp>
          <p:nvSpPr>
            <p:cNvPr id="493" name="Shape 493"/>
            <p:cNvSpPr/>
            <p:nvPr/>
          </p:nvSpPr>
          <p:spPr>
            <a:xfrm>
              <a:off x="566737" y="2935287"/>
              <a:ext cx="212725" cy="1019175"/>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94" name="Shape 494"/>
            <p:cNvSpPr txBox="1"/>
            <p:nvPr/>
          </p:nvSpPr>
          <p:spPr>
            <a:xfrm>
              <a:off x="808037" y="2708275"/>
              <a:ext cx="2051050"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endParaRPr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495" name="Shape 495"/>
            <p:cNvCxnSpPr/>
            <p:nvPr/>
          </p:nvCxnSpPr>
          <p:spPr>
            <a:xfrm>
              <a:off x="3994150" y="3860800"/>
              <a:ext cx="1439862" cy="1587"/>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496" name="Shape 496"/>
            <p:cNvSpPr txBox="1"/>
            <p:nvPr/>
          </p:nvSpPr>
          <p:spPr>
            <a:xfrm>
              <a:off x="4662487" y="3906837"/>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7" name="Shape 497"/>
            <p:cNvSpPr txBox="1"/>
            <p:nvPr/>
          </p:nvSpPr>
          <p:spPr>
            <a:xfrm>
              <a:off x="5307012" y="3467100"/>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8" name="Shape 498"/>
            <p:cNvSpPr txBox="1"/>
            <p:nvPr/>
          </p:nvSpPr>
          <p:spPr>
            <a:xfrm>
              <a:off x="5192712" y="34671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99" name="Shape 499"/>
            <p:cNvSpPr txBox="1"/>
            <p:nvPr/>
          </p:nvSpPr>
          <p:spPr>
            <a:xfrm>
              <a:off x="4662487" y="3467100"/>
              <a:ext cx="2032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0" name="Shape 500"/>
            <p:cNvSpPr txBox="1"/>
            <p:nvPr/>
          </p:nvSpPr>
          <p:spPr>
            <a:xfrm>
              <a:off x="4535487" y="34671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1" name="Shape 501"/>
            <p:cNvSpPr txBox="1"/>
            <p:nvPr/>
          </p:nvSpPr>
          <p:spPr>
            <a:xfrm>
              <a:off x="4062412" y="3467100"/>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2" name="Shape 502"/>
            <p:cNvSpPr txBox="1"/>
            <p:nvPr/>
          </p:nvSpPr>
          <p:spPr>
            <a:xfrm>
              <a:off x="5053012" y="343217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03" name="Shape 503"/>
            <p:cNvSpPr txBox="1"/>
            <p:nvPr/>
          </p:nvSpPr>
          <p:spPr>
            <a:xfrm>
              <a:off x="4362450" y="343217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04" name="Shape 504"/>
            <p:cNvSpPr txBox="1"/>
            <p:nvPr/>
          </p:nvSpPr>
          <p:spPr>
            <a:xfrm>
              <a:off x="3790950" y="362902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05" name="Shape 505"/>
            <p:cNvSpPr txBox="1"/>
            <p:nvPr/>
          </p:nvSpPr>
          <p:spPr>
            <a:xfrm>
              <a:off x="2614612" y="3627437"/>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506" name="Shape 506"/>
            <p:cNvSpPr txBox="1"/>
            <p:nvPr/>
          </p:nvSpPr>
          <p:spPr>
            <a:xfrm>
              <a:off x="4837112" y="3467100"/>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7" name="Shape 507"/>
            <p:cNvSpPr txBox="1"/>
            <p:nvPr/>
          </p:nvSpPr>
          <p:spPr>
            <a:xfrm>
              <a:off x="4144962" y="3467100"/>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08" name="Shape 508"/>
            <p:cNvSpPr txBox="1"/>
            <p:nvPr/>
          </p:nvSpPr>
          <p:spPr>
            <a:xfrm>
              <a:off x="2663825" y="3382962"/>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09" name="Shape 509"/>
            <p:cNvGrpSpPr/>
            <p:nvPr/>
          </p:nvGrpSpPr>
          <p:grpSpPr>
            <a:xfrm>
              <a:off x="2517775" y="3938587"/>
              <a:ext cx="369887" cy="327025"/>
              <a:chOff x="3883025" y="5940425"/>
              <a:chExt cx="369887" cy="327025"/>
            </a:xfrm>
          </p:grpSpPr>
          <p:sp>
            <p:nvSpPr>
              <p:cNvPr id="510" name="Shape 510"/>
              <p:cNvSpPr txBox="1"/>
              <p:nvPr/>
            </p:nvSpPr>
            <p:spPr>
              <a:xfrm>
                <a:off x="4125912" y="596265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1" name="Shape 511"/>
              <p:cNvSpPr txBox="1"/>
              <p:nvPr/>
            </p:nvSpPr>
            <p:spPr>
              <a:xfrm>
                <a:off x="3971925" y="5940425"/>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512" name="Shape 512"/>
              <p:cNvSpPr txBox="1"/>
              <p:nvPr/>
            </p:nvSpPr>
            <p:spPr>
              <a:xfrm>
                <a:off x="3883025" y="5962650"/>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513" name="Shape 513"/>
            <p:cNvGrpSpPr/>
            <p:nvPr/>
          </p:nvGrpSpPr>
          <p:grpSpPr>
            <a:xfrm>
              <a:off x="2563812" y="2573337"/>
              <a:ext cx="2660650" cy="914400"/>
              <a:chOff x="2563812" y="2573337"/>
              <a:chExt cx="2660650" cy="914400"/>
            </a:xfrm>
          </p:grpSpPr>
          <p:cxnSp>
            <p:nvCxnSpPr>
              <p:cNvPr id="514" name="Shape 514"/>
              <p:cNvCxnSpPr/>
              <p:nvPr/>
            </p:nvCxnSpPr>
            <p:spPr>
              <a:xfrm>
                <a:off x="3784600" y="3076575"/>
                <a:ext cx="1439862" cy="1587"/>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515" name="Shape 515"/>
              <p:cNvSpPr txBox="1"/>
              <p:nvPr/>
            </p:nvSpPr>
            <p:spPr>
              <a:xfrm>
                <a:off x="4451350" y="3119437"/>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6" name="Shape 516"/>
              <p:cNvSpPr txBox="1"/>
              <p:nvPr/>
            </p:nvSpPr>
            <p:spPr>
              <a:xfrm>
                <a:off x="5100637" y="2703512"/>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7" name="Shape 517"/>
              <p:cNvSpPr txBox="1"/>
              <p:nvPr/>
            </p:nvSpPr>
            <p:spPr>
              <a:xfrm>
                <a:off x="4984750" y="2703512"/>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8" name="Shape 518"/>
              <p:cNvSpPr txBox="1"/>
              <p:nvPr/>
            </p:nvSpPr>
            <p:spPr>
              <a:xfrm>
                <a:off x="4451350" y="2703512"/>
                <a:ext cx="2032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19" name="Shape 519"/>
              <p:cNvSpPr txBox="1"/>
              <p:nvPr/>
            </p:nvSpPr>
            <p:spPr>
              <a:xfrm>
                <a:off x="4324350" y="2703512"/>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0" name="Shape 520"/>
              <p:cNvSpPr txBox="1"/>
              <p:nvPr/>
            </p:nvSpPr>
            <p:spPr>
              <a:xfrm>
                <a:off x="3851275" y="2703512"/>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1" name="Shape 521"/>
              <p:cNvSpPr txBox="1"/>
              <p:nvPr/>
            </p:nvSpPr>
            <p:spPr>
              <a:xfrm>
                <a:off x="2873375" y="3182937"/>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2" name="Shape 522"/>
              <p:cNvSpPr txBox="1"/>
              <p:nvPr/>
            </p:nvSpPr>
            <p:spPr>
              <a:xfrm>
                <a:off x="4843462" y="267017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23" name="Shape 523"/>
              <p:cNvSpPr txBox="1"/>
              <p:nvPr/>
            </p:nvSpPr>
            <p:spPr>
              <a:xfrm>
                <a:off x="4149725" y="267017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24" name="Shape 524"/>
              <p:cNvSpPr txBox="1"/>
              <p:nvPr/>
            </p:nvSpPr>
            <p:spPr>
              <a:xfrm>
                <a:off x="3560762" y="285591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25" name="Shape 525"/>
              <p:cNvSpPr txBox="1"/>
              <p:nvPr/>
            </p:nvSpPr>
            <p:spPr>
              <a:xfrm>
                <a:off x="2619375" y="2855912"/>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526" name="Shape 526"/>
              <p:cNvSpPr txBox="1"/>
              <p:nvPr/>
            </p:nvSpPr>
            <p:spPr>
              <a:xfrm>
                <a:off x="2684462" y="3162300"/>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527" name="Shape 527"/>
              <p:cNvSpPr txBox="1"/>
              <p:nvPr/>
            </p:nvSpPr>
            <p:spPr>
              <a:xfrm>
                <a:off x="4624387" y="2703512"/>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8" name="Shape 528"/>
              <p:cNvSpPr txBox="1"/>
              <p:nvPr/>
            </p:nvSpPr>
            <p:spPr>
              <a:xfrm>
                <a:off x="3930650" y="2703512"/>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29" name="Shape 529"/>
              <p:cNvSpPr txBox="1"/>
              <p:nvPr/>
            </p:nvSpPr>
            <p:spPr>
              <a:xfrm>
                <a:off x="2697162" y="2573337"/>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0" name="Shape 530"/>
              <p:cNvSpPr txBox="1"/>
              <p:nvPr/>
            </p:nvSpPr>
            <p:spPr>
              <a:xfrm>
                <a:off x="2563812" y="3182937"/>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31" name="Shape 531"/>
              <p:cNvGrpSpPr/>
              <p:nvPr/>
            </p:nvGrpSpPr>
            <p:grpSpPr>
              <a:xfrm>
                <a:off x="3086100" y="2708275"/>
                <a:ext cx="315912" cy="725488"/>
                <a:chOff x="6345237" y="3563937"/>
                <a:chExt cx="315912" cy="725488"/>
              </a:xfrm>
            </p:grpSpPr>
            <p:sp>
              <p:nvSpPr>
                <p:cNvPr id="532" name="Shape 532"/>
                <p:cNvSpPr txBox="1"/>
                <p:nvPr/>
              </p:nvSpPr>
              <p:spPr>
                <a:xfrm>
                  <a:off x="6462712" y="3563937"/>
                  <a:ext cx="8413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533" name="Shape 533"/>
                <p:cNvCxnSpPr/>
                <p:nvPr/>
              </p:nvCxnSpPr>
              <p:spPr>
                <a:xfrm>
                  <a:off x="6345237" y="3924300"/>
                  <a:ext cx="315912" cy="0"/>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534" name="Shape 534"/>
                <p:cNvSpPr txBox="1"/>
                <p:nvPr/>
              </p:nvSpPr>
              <p:spPr>
                <a:xfrm>
                  <a:off x="6416675" y="39243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grpSp>
          <p:nvGrpSpPr>
            <p:cNvPr id="535" name="Shape 535"/>
            <p:cNvGrpSpPr/>
            <p:nvPr/>
          </p:nvGrpSpPr>
          <p:grpSpPr>
            <a:xfrm>
              <a:off x="2816225" y="3468687"/>
              <a:ext cx="993775" cy="752475"/>
              <a:chOff x="6030912" y="3473450"/>
              <a:chExt cx="993775" cy="752475"/>
            </a:xfrm>
          </p:grpSpPr>
          <p:sp>
            <p:nvSpPr>
              <p:cNvPr id="536" name="Shape 536"/>
              <p:cNvSpPr txBox="1"/>
              <p:nvPr/>
            </p:nvSpPr>
            <p:spPr>
              <a:xfrm>
                <a:off x="6030912" y="3517900"/>
                <a:ext cx="3048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a:solidFill>
                      <a:srgbClr val="000000"/>
                    </a:solidFill>
                    <a:latin typeface="Arial" panose="020B0604020202020204"/>
                    <a:ea typeface="Arial" panose="020B0604020202020204"/>
                    <a:cs typeface="Arial" panose="020B0604020202020204"/>
                    <a:sym typeface="Arial" panose="020B0604020202020204"/>
                  </a:rPr>
                  <a:t>（</a:t>
                </a:r>
                <a:endParaRPr lang="en-US" sz="2400" b="1" i="0" u="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537" name="Shape 537"/>
              <p:cNvCxnSpPr/>
              <p:nvPr/>
            </p:nvCxnSpPr>
            <p:spPr>
              <a:xfrm>
                <a:off x="6170612" y="3860800"/>
                <a:ext cx="719137" cy="0"/>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538" name="Shape 538"/>
              <p:cNvSpPr txBox="1"/>
              <p:nvPr/>
            </p:nvSpPr>
            <p:spPr>
              <a:xfrm>
                <a:off x="6416675" y="38608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39" name="Shape 539"/>
              <p:cNvSpPr txBox="1"/>
              <p:nvPr/>
            </p:nvSpPr>
            <p:spPr>
              <a:xfrm>
                <a:off x="6654800" y="34925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0" name="Shape 540"/>
              <p:cNvSpPr txBox="1"/>
              <p:nvPr/>
            </p:nvSpPr>
            <p:spPr>
              <a:xfrm>
                <a:off x="6462712" y="3473450"/>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541" name="Shape 541"/>
              <p:cNvSpPr txBox="1"/>
              <p:nvPr/>
            </p:nvSpPr>
            <p:spPr>
              <a:xfrm>
                <a:off x="6311900" y="3508375"/>
                <a:ext cx="8413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42" name="Shape 542"/>
              <p:cNvSpPr txBox="1"/>
              <p:nvPr/>
            </p:nvSpPr>
            <p:spPr>
              <a:xfrm>
                <a:off x="6719887" y="3517900"/>
                <a:ext cx="3048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a:solidFill>
                      <a:srgbClr val="000000"/>
                    </a:solidFill>
                    <a:latin typeface="Arial" panose="020B0604020202020204"/>
                    <a:ea typeface="Arial" panose="020B0604020202020204"/>
                    <a:cs typeface="Arial" panose="020B0604020202020204"/>
                    <a:sym typeface="Arial" panose="020B0604020202020204"/>
                  </a:rPr>
                  <a:t>）</a:t>
                </a:r>
                <a:endParaRPr lang="en-US" sz="2400" b="1" i="0" u="none">
                  <a:solidFill>
                    <a:srgbClr val="000000"/>
                  </a:solidFill>
                  <a:latin typeface="Arial" panose="020B0604020202020204"/>
                  <a:ea typeface="Arial" panose="020B0604020202020204"/>
                  <a:cs typeface="Arial" panose="020B0604020202020204"/>
                  <a:sym typeface="Arial" panose="020B0604020202020204"/>
                </a:endParaRPr>
              </a:p>
            </p:txBody>
          </p:sp>
        </p:grpSp>
      </p:grpSp>
      <p:sp>
        <p:nvSpPr>
          <p:cNvPr id="543" name="Shape 543"/>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47" name="Shape 547"/>
        <p:cNvGrpSpPr/>
        <p:nvPr/>
      </p:nvGrpSpPr>
      <p:grpSpPr>
        <a:xfrm>
          <a:off x="0" y="0"/>
          <a:ext cx="0" cy="0"/>
          <a:chOff x="0" y="0"/>
          <a:chExt cx="0" cy="0"/>
        </a:xfrm>
      </p:grpSpPr>
      <p:sp>
        <p:nvSpPr>
          <p:cNvPr id="548" name="Shape 548"/>
          <p:cNvSpPr txBox="1"/>
          <p:nvPr/>
        </p:nvSpPr>
        <p:spPr>
          <a:xfrm>
            <a:off x="431800" y="1808162"/>
            <a:ext cx="8280400" cy="1630362"/>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空间性能：</a:t>
            </a:r>
            <a:r>
              <a:rPr lang="en-US" sz="2800" b="1" i="0" u="none">
                <a:solidFill>
                  <a:schemeClr val="dk1"/>
                </a:solidFill>
                <a:latin typeface="Arial" panose="020B0604020202020204"/>
                <a:ea typeface="Arial" panose="020B0604020202020204"/>
                <a:cs typeface="Arial" panose="020B0604020202020204"/>
                <a:sym typeface="Arial" panose="020B0604020202020204"/>
              </a:rPr>
              <a:t>需要一个记录的辅助空间。</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20000"/>
              </a:lnSpc>
              <a:spcBef>
                <a:spcPts val="0"/>
              </a:spcBef>
              <a:spcAft>
                <a:spcPts val="0"/>
              </a:spcAft>
              <a:buClr>
                <a:schemeClr val="dk1"/>
              </a:buClr>
              <a:buSzPts val="2800"/>
              <a:buFont typeface="Times New Roman" panose="02020603050405020304"/>
              <a:buNone/>
            </a:pPr>
            <a:endParaRPr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2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直接插入排序算法是一种</a:t>
            </a:r>
            <a:r>
              <a:rPr lang="en-US" sz="2800" b="1" i="0" u="none">
                <a:solidFill>
                  <a:srgbClr val="FF3300"/>
                </a:solidFill>
                <a:latin typeface="Arial" panose="020B0604020202020204"/>
                <a:ea typeface="Arial" panose="020B0604020202020204"/>
                <a:cs typeface="Arial" panose="020B0604020202020204"/>
                <a:sym typeface="Arial" panose="020B0604020202020204"/>
              </a:rPr>
              <a:t>稳定</a:t>
            </a:r>
            <a:r>
              <a:rPr lang="en-US" sz="2800" b="1" i="0" u="none">
                <a:solidFill>
                  <a:schemeClr val="dk1"/>
                </a:solidFill>
                <a:latin typeface="Arial" panose="020B0604020202020204"/>
                <a:ea typeface="Arial" panose="020B0604020202020204"/>
                <a:cs typeface="Arial" panose="020B0604020202020204"/>
                <a:sym typeface="Arial" panose="020B0604020202020204"/>
              </a:rPr>
              <a:t>的排序算法。</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549" name="Shape 549"/>
          <p:cNvSpPr txBox="1"/>
          <p:nvPr/>
        </p:nvSpPr>
        <p:spPr>
          <a:xfrm>
            <a:off x="250825" y="1089025"/>
            <a:ext cx="57150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直接插入排序算法性能分析</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0" name="Shape 550"/>
          <p:cNvSpPr txBox="1"/>
          <p:nvPr/>
        </p:nvSpPr>
        <p:spPr>
          <a:xfrm>
            <a:off x="431800" y="3878262"/>
            <a:ext cx="8280400" cy="1800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Noto Sans Symbols"/>
              <a:buChar char="➢"/>
            </a:pPr>
            <a:r>
              <a:rPr lang="en-US" sz="2800" b="1" i="0" u="none">
                <a:solidFill>
                  <a:schemeClr val="dk1"/>
                </a:solidFill>
                <a:latin typeface="Arial" panose="020B0604020202020204"/>
                <a:ea typeface="Arial" panose="020B0604020202020204"/>
                <a:cs typeface="Arial" panose="020B0604020202020204"/>
                <a:sym typeface="Arial" panose="020B0604020202020204"/>
              </a:rPr>
              <a:t>直接插入排序算法简单、容易实现，适用于待排序记录基本有序或待排序记录较小时。</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2800"/>
              <a:buFont typeface="Noto Sans Symbols"/>
              <a:buChar char="➢"/>
            </a:pPr>
            <a:r>
              <a:rPr lang="en-US" sz="2800" b="1" i="0" u="none">
                <a:solidFill>
                  <a:schemeClr val="dk1"/>
                </a:solidFill>
                <a:latin typeface="Arial" panose="020B0604020202020204"/>
                <a:ea typeface="Arial" panose="020B0604020202020204"/>
                <a:cs typeface="Arial" panose="020B0604020202020204"/>
                <a:sym typeface="Arial" panose="020B0604020202020204"/>
              </a:rPr>
              <a:t>当待排序的记录个数较多时，大量的比较和移动操作使直接插入排序算法的效率降低。</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551" name="Shape 551"/>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55" name="Shape 555"/>
        <p:cNvGrpSpPr/>
        <p:nvPr/>
      </p:nvGrpSpPr>
      <p:grpSpPr>
        <a:xfrm>
          <a:off x="0" y="0"/>
          <a:ext cx="0" cy="0"/>
          <a:chOff x="0" y="0"/>
          <a:chExt cx="0" cy="0"/>
        </a:xfrm>
      </p:grpSpPr>
      <p:grpSp>
        <p:nvGrpSpPr>
          <p:cNvPr id="556" name="Shape 556"/>
          <p:cNvGrpSpPr/>
          <p:nvPr/>
        </p:nvGrpSpPr>
        <p:grpSpPr>
          <a:xfrm>
            <a:off x="657225" y="1449387"/>
            <a:ext cx="6604000" cy="542925"/>
            <a:chOff x="522287" y="3249612"/>
            <a:chExt cx="6604000" cy="542925"/>
          </a:xfrm>
        </p:grpSpPr>
        <p:sp>
          <p:nvSpPr>
            <p:cNvPr id="557" name="Shape 557"/>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如何改进直接插入排序?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58" name="Shape 558"/>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559" name="Shape 559"/>
          <p:cNvSpPr txBox="1"/>
          <p:nvPr/>
        </p:nvSpPr>
        <p:spPr>
          <a:xfrm>
            <a:off x="385762" y="2484437"/>
            <a:ext cx="8370887"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注意到，在插入第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＞1）个记录时，前面的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个记录已经排好序，则在寻找插入位置时，可以用折半查找来代替顺序查找，从而减少比较次数。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0" name="Shape 560"/>
          <p:cNvSpPr txBox="1"/>
          <p:nvPr/>
        </p:nvSpPr>
        <p:spPr>
          <a:xfrm>
            <a:off x="592137" y="4824412"/>
            <a:ext cx="855186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请同学们写出这个改进的直接插入排序算法，并分析时间性能。</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1" name="Shape 561"/>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65" name="Shape 565"/>
        <p:cNvGrpSpPr/>
        <p:nvPr/>
      </p:nvGrpSpPr>
      <p:grpSpPr>
        <a:xfrm>
          <a:off x="0" y="0"/>
          <a:ext cx="0" cy="0"/>
          <a:chOff x="0" y="0"/>
          <a:chExt cx="0" cy="0"/>
        </a:xfrm>
      </p:grpSpPr>
      <p:sp>
        <p:nvSpPr>
          <p:cNvPr id="566" name="Shape 566"/>
          <p:cNvSpPr txBox="1"/>
          <p:nvPr/>
        </p:nvSpPr>
        <p:spPr>
          <a:xfrm>
            <a:off x="250825" y="1133475"/>
            <a:ext cx="6324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7" name="Shape 567"/>
          <p:cNvSpPr txBox="1"/>
          <p:nvPr/>
        </p:nvSpPr>
        <p:spPr>
          <a:xfrm>
            <a:off x="385762" y="2079625"/>
            <a:ext cx="8229600" cy="261302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改进的着眼点：</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1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Arial" panose="020B0604020202020204"/>
                <a:ea typeface="Arial" panose="020B0604020202020204"/>
                <a:cs typeface="Arial" panose="020B0604020202020204"/>
                <a:sym typeface="Arial" panose="020B0604020202020204"/>
              </a:rPr>
              <a:t>）若待排序记录按关键码</a:t>
            </a:r>
            <a:r>
              <a:rPr lang="en-US" sz="2800" b="1" i="0" u="none">
                <a:solidFill>
                  <a:srgbClr val="FF3300"/>
                </a:solidFill>
                <a:latin typeface="Arial" panose="020B0604020202020204"/>
                <a:ea typeface="Arial" panose="020B0604020202020204"/>
                <a:cs typeface="Arial" panose="020B0604020202020204"/>
                <a:sym typeface="Arial" panose="020B0604020202020204"/>
              </a:rPr>
              <a:t>基本有序</a:t>
            </a:r>
            <a:r>
              <a:rPr lang="en-US" sz="2800" b="1" i="0" u="none">
                <a:solidFill>
                  <a:schemeClr val="dk1"/>
                </a:solidFill>
                <a:latin typeface="Arial" panose="020B0604020202020204"/>
                <a:ea typeface="Arial" panose="020B0604020202020204"/>
                <a:cs typeface="Arial" panose="020B0604020202020204"/>
                <a:sym typeface="Arial" panose="020B0604020202020204"/>
              </a:rPr>
              <a:t>时，直接插入排序的效率可以大大提高；</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Arial" panose="020B0604020202020204"/>
                <a:ea typeface="Arial" panose="020B0604020202020204"/>
                <a:cs typeface="Arial" panose="020B0604020202020204"/>
                <a:sym typeface="Arial" panose="020B0604020202020204"/>
              </a:rPr>
              <a:t>）由于直接插入排序算法简单，则在待排序记录数量</a:t>
            </a:r>
            <a:r>
              <a:rPr lang="en-US" sz="2800" b="1" i="1" u="none">
                <a:solidFill>
                  <a:srgbClr val="FF3300"/>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rgbClr val="FF3300"/>
                </a:solidFill>
                <a:latin typeface="Arial" panose="020B0604020202020204"/>
                <a:ea typeface="Arial" panose="020B0604020202020204"/>
                <a:cs typeface="Arial" panose="020B0604020202020204"/>
                <a:sym typeface="Arial" panose="020B0604020202020204"/>
              </a:rPr>
              <a:t>较小</a:t>
            </a:r>
            <a:r>
              <a:rPr lang="en-US" sz="2800" b="1" i="0" u="none">
                <a:solidFill>
                  <a:schemeClr val="dk1"/>
                </a:solidFill>
                <a:latin typeface="Arial" panose="020B0604020202020204"/>
                <a:ea typeface="Arial" panose="020B0604020202020204"/>
                <a:cs typeface="Arial" panose="020B0604020202020204"/>
                <a:sym typeface="Arial" panose="020B0604020202020204"/>
              </a:rPr>
              <a:t>时效率也很高。</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68" name="Shape 568"/>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72" name="Shape 572"/>
        <p:cNvGrpSpPr/>
        <p:nvPr/>
      </p:nvGrpSpPr>
      <p:grpSpPr>
        <a:xfrm>
          <a:off x="0" y="0"/>
          <a:ext cx="0" cy="0"/>
          <a:chOff x="0" y="0"/>
          <a:chExt cx="0" cy="0"/>
        </a:xfrm>
      </p:grpSpPr>
      <p:sp>
        <p:nvSpPr>
          <p:cNvPr id="573" name="Shape 573"/>
          <p:cNvSpPr txBox="1"/>
          <p:nvPr/>
        </p:nvSpPr>
        <p:spPr>
          <a:xfrm>
            <a:off x="230187" y="4419600"/>
            <a:ext cx="8802687" cy="14589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Arial" panose="020B0604020202020204"/>
                <a:ea typeface="Arial" panose="020B0604020202020204"/>
                <a:cs typeface="Arial" panose="020B0604020202020204"/>
                <a:sym typeface="Arial" panose="020B0604020202020204"/>
              </a:rPr>
              <a:t>）应如何分割待排序记录，才能保证整个序列逐步向基本有序发展？</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Arial" panose="020B0604020202020204"/>
                <a:ea typeface="Arial" panose="020B0604020202020204"/>
                <a:cs typeface="Arial" panose="020B0604020202020204"/>
                <a:sym typeface="Arial" panose="020B0604020202020204"/>
              </a:rPr>
              <a:t>）子序列内如何进行直接插入排序？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574" name="Shape 574"/>
          <p:cNvGrpSpPr/>
          <p:nvPr/>
        </p:nvGrpSpPr>
        <p:grpSpPr>
          <a:xfrm>
            <a:off x="411162" y="3698875"/>
            <a:ext cx="6604000" cy="542925"/>
            <a:chOff x="522287" y="3249612"/>
            <a:chExt cx="6604000" cy="542925"/>
          </a:xfrm>
        </p:grpSpPr>
        <p:sp>
          <p:nvSpPr>
            <p:cNvPr id="575" name="Shape 575"/>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76" name="Shape 576"/>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577" name="Shape 577"/>
          <p:cNvSpPr txBox="1"/>
          <p:nvPr/>
        </p:nvSpPr>
        <p:spPr>
          <a:xfrm>
            <a:off x="407987" y="1854200"/>
            <a:ext cx="8229600" cy="1373187"/>
          </a:xfrm>
          <a:prstGeom prst="rect">
            <a:avLst/>
          </a:prstGeom>
          <a:noFill/>
          <a:ln>
            <a:noFill/>
          </a:ln>
        </p:spPr>
        <p:txBody>
          <a:bodyPr spcFirstLastPara="1" wrap="square" lIns="0" tIns="45700" rIns="0"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基本思想：</a:t>
            </a:r>
            <a:r>
              <a:rPr lang="en-US" sz="2800" b="1" i="0" u="none">
                <a:solidFill>
                  <a:schemeClr val="dk1"/>
                </a:solidFill>
                <a:latin typeface="Arial" panose="020B0604020202020204"/>
                <a:ea typeface="Arial" panose="020B0604020202020204"/>
                <a:cs typeface="Arial" panose="020B0604020202020204"/>
                <a:sym typeface="Arial" panose="020B0604020202020204"/>
              </a:rPr>
              <a:t>将整个待排序记录</a:t>
            </a:r>
            <a:r>
              <a:rPr lang="en-US" sz="2800" b="1" i="0" u="none">
                <a:solidFill>
                  <a:srgbClr val="FF3300"/>
                </a:solidFill>
                <a:latin typeface="Arial" panose="020B0604020202020204"/>
                <a:ea typeface="Arial" panose="020B0604020202020204"/>
                <a:cs typeface="Arial" panose="020B0604020202020204"/>
                <a:sym typeface="Arial" panose="020B0604020202020204"/>
              </a:rPr>
              <a:t>分割</a:t>
            </a:r>
            <a:r>
              <a:rPr lang="en-US" sz="2800" b="1" i="0" u="none">
                <a:solidFill>
                  <a:schemeClr val="dk1"/>
                </a:solidFill>
                <a:latin typeface="Arial" panose="020B0604020202020204"/>
                <a:ea typeface="Arial" panose="020B0604020202020204"/>
                <a:cs typeface="Arial" panose="020B0604020202020204"/>
                <a:sym typeface="Arial" panose="020B0604020202020204"/>
              </a:rPr>
              <a:t>成若干个子序列，在子序列内分别进行直接插入排序，待整个序列中的记录</a:t>
            </a:r>
            <a:r>
              <a:rPr lang="en-US" sz="2800" b="1" i="0" u="none">
                <a:solidFill>
                  <a:srgbClr val="FF3300"/>
                </a:solidFill>
                <a:latin typeface="Arial" panose="020B0604020202020204"/>
                <a:ea typeface="Arial" panose="020B0604020202020204"/>
                <a:cs typeface="Arial" panose="020B0604020202020204"/>
                <a:sym typeface="Arial" panose="020B0604020202020204"/>
              </a:rPr>
              <a:t>基本有序</a:t>
            </a:r>
            <a:r>
              <a:rPr lang="en-US" sz="2800" b="1" i="0" u="none">
                <a:solidFill>
                  <a:schemeClr val="dk1"/>
                </a:solidFill>
                <a:latin typeface="Arial" panose="020B0604020202020204"/>
                <a:ea typeface="Arial" panose="020B0604020202020204"/>
                <a:cs typeface="Arial" panose="020B0604020202020204"/>
                <a:sym typeface="Arial" panose="020B0604020202020204"/>
              </a:rPr>
              <a:t>时，对全体记录进行直接插入排序。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578" name="Shape 578"/>
          <p:cNvSpPr txBox="1"/>
          <p:nvPr/>
        </p:nvSpPr>
        <p:spPr>
          <a:xfrm>
            <a:off x="250825" y="1133475"/>
            <a:ext cx="6324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79" name="Shape 579"/>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83" name="Shape 583"/>
        <p:cNvGrpSpPr/>
        <p:nvPr/>
      </p:nvGrpSpPr>
      <p:grpSpPr>
        <a:xfrm>
          <a:off x="0" y="0"/>
          <a:ext cx="0" cy="0"/>
          <a:chOff x="0" y="0"/>
          <a:chExt cx="0" cy="0"/>
        </a:xfrm>
      </p:grpSpPr>
      <p:sp>
        <p:nvSpPr>
          <p:cNvPr id="584" name="Shape 584"/>
          <p:cNvSpPr txBox="1"/>
          <p:nvPr/>
        </p:nvSpPr>
        <p:spPr>
          <a:xfrm>
            <a:off x="296862" y="3563937"/>
            <a:ext cx="8507412" cy="13731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基本有序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：接近正序，例如{1, 2, 8, 4, 5, 6, 7, 3, 9}；</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局部有序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：部分有序，例如{6, 7, 8, 9, 1, 2, 3, 4, 5}。</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局部有序不能提高直接插入排序算法的时间性能。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5" name="Shape 585"/>
          <p:cNvSpPr txBox="1"/>
          <p:nvPr/>
        </p:nvSpPr>
        <p:spPr>
          <a:xfrm>
            <a:off x="250825" y="1133475"/>
            <a:ext cx="6324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Times New Roman" panose="02020603050405020304"/>
              <a:buNone/>
            </a:pPr>
            <a:r>
              <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32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586" name="Shape 586"/>
          <p:cNvGrpSpPr/>
          <p:nvPr/>
        </p:nvGrpSpPr>
        <p:grpSpPr>
          <a:xfrm>
            <a:off x="341312" y="1943100"/>
            <a:ext cx="6604000" cy="542925"/>
            <a:chOff x="522287" y="3249612"/>
            <a:chExt cx="6604000" cy="542925"/>
          </a:xfrm>
        </p:grpSpPr>
        <p:sp>
          <p:nvSpPr>
            <p:cNvPr id="587" name="Shape 587"/>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分割待排序记录的目的?</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88" name="Shape 588"/>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589" name="Shape 589"/>
          <p:cNvSpPr txBox="1"/>
          <p:nvPr/>
        </p:nvSpPr>
        <p:spPr>
          <a:xfrm>
            <a:off x="476250" y="2573337"/>
            <a:ext cx="5805487" cy="94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减少待排序记录个数；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使整个序列向基本有序发展。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90" name="Shape 590"/>
          <p:cNvSpPr txBox="1"/>
          <p:nvPr/>
        </p:nvSpPr>
        <p:spPr>
          <a:xfrm>
            <a:off x="311150" y="5634037"/>
            <a:ext cx="8415337" cy="94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子序列的构成不能是简单地“逐段分割”，而是将相距某个“增量”的记录组成一个子序列。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591" name="Shape 591"/>
          <p:cNvGrpSpPr/>
          <p:nvPr/>
        </p:nvGrpSpPr>
        <p:grpSpPr>
          <a:xfrm>
            <a:off x="385762" y="5049837"/>
            <a:ext cx="6604000" cy="542925"/>
            <a:chOff x="522287" y="3249612"/>
            <a:chExt cx="6604000" cy="542925"/>
          </a:xfrm>
        </p:grpSpPr>
        <p:sp>
          <p:nvSpPr>
            <p:cNvPr id="592" name="Shape 592"/>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启示?</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593" name="Shape 593"/>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594" name="Shape 594"/>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598" name="Shape 598"/>
        <p:cNvGrpSpPr/>
        <p:nvPr/>
      </p:nvGrpSpPr>
      <p:grpSpPr>
        <a:xfrm>
          <a:off x="0" y="0"/>
          <a:ext cx="0" cy="0"/>
          <a:chOff x="0" y="0"/>
          <a:chExt cx="0" cy="0"/>
        </a:xfrm>
      </p:grpSpPr>
      <p:sp>
        <p:nvSpPr>
          <p:cNvPr id="599" name="Shape 599"/>
          <p:cNvSpPr txBox="1"/>
          <p:nvPr>
            <p:ph type="title"/>
          </p:nvPr>
        </p:nvSpPr>
        <p:spPr>
          <a:xfrm>
            <a:off x="341312" y="1133475"/>
            <a:ext cx="5029200" cy="59213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希尔插入排序过程示例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0" name="Shape 600"/>
          <p:cNvSpPr txBox="1"/>
          <p:nvPr/>
        </p:nvSpPr>
        <p:spPr>
          <a:xfrm>
            <a:off x="1751012" y="1803400"/>
            <a:ext cx="7383462"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1        2        3        4        5        6        7        8        9</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1" name="Shape 601"/>
          <p:cNvSpPr/>
          <p:nvPr/>
        </p:nvSpPr>
        <p:spPr>
          <a:xfrm>
            <a:off x="166052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602" name="Shape 602"/>
          <p:cNvSpPr/>
          <p:nvPr/>
        </p:nvSpPr>
        <p:spPr>
          <a:xfrm>
            <a:off x="547052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03" name="Shape 603"/>
          <p:cNvSpPr/>
          <p:nvPr/>
        </p:nvSpPr>
        <p:spPr>
          <a:xfrm>
            <a:off x="2446337"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04" name="Shape 604"/>
          <p:cNvSpPr/>
          <p:nvPr/>
        </p:nvSpPr>
        <p:spPr>
          <a:xfrm>
            <a:off x="32131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605" name="Shape 605"/>
          <p:cNvSpPr/>
          <p:nvPr/>
        </p:nvSpPr>
        <p:spPr>
          <a:xfrm>
            <a:off x="399415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06" name="Shape 606"/>
          <p:cNvSpPr/>
          <p:nvPr/>
        </p:nvSpPr>
        <p:spPr>
          <a:xfrm>
            <a:off x="47371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07" name="Shape 607"/>
          <p:cNvSpPr txBox="1"/>
          <p:nvPr/>
        </p:nvSpPr>
        <p:spPr>
          <a:xfrm>
            <a:off x="141287" y="2287587"/>
            <a:ext cx="1524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初始序列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8" name="Shape 608"/>
          <p:cNvSpPr/>
          <p:nvPr/>
        </p:nvSpPr>
        <p:spPr>
          <a:xfrm>
            <a:off x="6985000"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609" name="Shape 609"/>
          <p:cNvSpPr/>
          <p:nvPr/>
        </p:nvSpPr>
        <p:spPr>
          <a:xfrm>
            <a:off x="6251575"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10" name="Shape 610"/>
          <p:cNvSpPr/>
          <p:nvPr/>
        </p:nvSpPr>
        <p:spPr>
          <a:xfrm>
            <a:off x="7762875" y="2230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611" name="Shape 611"/>
          <p:cNvGrpSpPr/>
          <p:nvPr/>
        </p:nvGrpSpPr>
        <p:grpSpPr>
          <a:xfrm>
            <a:off x="296862" y="2832100"/>
            <a:ext cx="7985125" cy="544512"/>
            <a:chOff x="296862" y="2832100"/>
            <a:chExt cx="7985125" cy="544512"/>
          </a:xfrm>
        </p:grpSpPr>
        <p:sp>
          <p:nvSpPr>
            <p:cNvPr id="612" name="Shape 612"/>
            <p:cNvSpPr txBox="1"/>
            <p:nvPr/>
          </p:nvSpPr>
          <p:spPr>
            <a:xfrm>
              <a:off x="296862" y="2847975"/>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4</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3" name="Shape 613"/>
            <p:cNvSpPr/>
            <p:nvPr/>
          </p:nvSpPr>
          <p:spPr>
            <a:xfrm>
              <a:off x="1643062" y="284321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614" name="Shape 614"/>
            <p:cNvSpPr/>
            <p:nvPr/>
          </p:nvSpPr>
          <p:spPr>
            <a:xfrm>
              <a:off x="5453062" y="284321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15" name="Shape 615"/>
            <p:cNvSpPr/>
            <p:nvPr/>
          </p:nvSpPr>
          <p:spPr>
            <a:xfrm>
              <a:off x="2428875" y="284321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16" name="Shape 616"/>
            <p:cNvSpPr/>
            <p:nvPr/>
          </p:nvSpPr>
          <p:spPr>
            <a:xfrm>
              <a:off x="3195637" y="2843212"/>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617" name="Shape 617"/>
            <p:cNvSpPr/>
            <p:nvPr/>
          </p:nvSpPr>
          <p:spPr>
            <a:xfrm>
              <a:off x="3976687" y="284321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18" name="Shape 618"/>
            <p:cNvSpPr/>
            <p:nvPr/>
          </p:nvSpPr>
          <p:spPr>
            <a:xfrm>
              <a:off x="4719637" y="284321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19" name="Shape 619"/>
            <p:cNvSpPr/>
            <p:nvPr/>
          </p:nvSpPr>
          <p:spPr>
            <a:xfrm>
              <a:off x="6967537" y="2838450"/>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620" name="Shape 620"/>
            <p:cNvSpPr/>
            <p:nvPr/>
          </p:nvSpPr>
          <p:spPr>
            <a:xfrm>
              <a:off x="6234112" y="2838450"/>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21" name="Shape 621"/>
            <p:cNvSpPr/>
            <p:nvPr/>
          </p:nvSpPr>
          <p:spPr>
            <a:xfrm>
              <a:off x="7748587" y="283210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grpSp>
        <p:nvGrpSpPr>
          <p:cNvPr id="622" name="Shape 622"/>
          <p:cNvGrpSpPr/>
          <p:nvPr/>
        </p:nvGrpSpPr>
        <p:grpSpPr>
          <a:xfrm>
            <a:off x="2425700" y="3522662"/>
            <a:ext cx="3557587" cy="533400"/>
            <a:chOff x="2425700" y="3522662"/>
            <a:chExt cx="3557587" cy="533400"/>
          </a:xfrm>
        </p:grpSpPr>
        <p:sp>
          <p:nvSpPr>
            <p:cNvPr id="623" name="Shape 623"/>
            <p:cNvSpPr/>
            <p:nvPr/>
          </p:nvSpPr>
          <p:spPr>
            <a:xfrm>
              <a:off x="5449887" y="352266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24" name="Shape 624"/>
            <p:cNvSpPr/>
            <p:nvPr/>
          </p:nvSpPr>
          <p:spPr>
            <a:xfrm>
              <a:off x="2425700" y="352266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grpSp>
      <p:grpSp>
        <p:nvGrpSpPr>
          <p:cNvPr id="625" name="Shape 625"/>
          <p:cNvGrpSpPr/>
          <p:nvPr/>
        </p:nvGrpSpPr>
        <p:grpSpPr>
          <a:xfrm>
            <a:off x="3973512" y="3517900"/>
            <a:ext cx="3524250" cy="538162"/>
            <a:chOff x="3973512" y="3517900"/>
            <a:chExt cx="3524250" cy="538162"/>
          </a:xfrm>
        </p:grpSpPr>
        <p:sp>
          <p:nvSpPr>
            <p:cNvPr id="626" name="Shape 626"/>
            <p:cNvSpPr/>
            <p:nvPr/>
          </p:nvSpPr>
          <p:spPr>
            <a:xfrm>
              <a:off x="3973512" y="352266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27" name="Shape 627"/>
            <p:cNvSpPr/>
            <p:nvPr/>
          </p:nvSpPr>
          <p:spPr>
            <a:xfrm>
              <a:off x="6964362" y="3517900"/>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grpSp>
      <p:grpSp>
        <p:nvGrpSpPr>
          <p:cNvPr id="628" name="Shape 628"/>
          <p:cNvGrpSpPr/>
          <p:nvPr/>
        </p:nvGrpSpPr>
        <p:grpSpPr>
          <a:xfrm>
            <a:off x="3192462" y="3517900"/>
            <a:ext cx="3571875" cy="538162"/>
            <a:chOff x="3192462" y="3517900"/>
            <a:chExt cx="3571875" cy="538162"/>
          </a:xfrm>
        </p:grpSpPr>
        <p:sp>
          <p:nvSpPr>
            <p:cNvPr id="629" name="Shape 629"/>
            <p:cNvSpPr/>
            <p:nvPr/>
          </p:nvSpPr>
          <p:spPr>
            <a:xfrm>
              <a:off x="3192462" y="3522662"/>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30" name="Shape 630"/>
            <p:cNvSpPr/>
            <p:nvPr/>
          </p:nvSpPr>
          <p:spPr>
            <a:xfrm>
              <a:off x="6230937" y="3517900"/>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grpSp>
      <p:grpSp>
        <p:nvGrpSpPr>
          <p:cNvPr id="631" name="Shape 631"/>
          <p:cNvGrpSpPr/>
          <p:nvPr/>
        </p:nvGrpSpPr>
        <p:grpSpPr>
          <a:xfrm>
            <a:off x="1639887" y="3511550"/>
            <a:ext cx="6638925" cy="544512"/>
            <a:chOff x="1639887" y="3511550"/>
            <a:chExt cx="6638925" cy="544512"/>
          </a:xfrm>
        </p:grpSpPr>
        <p:sp>
          <p:nvSpPr>
            <p:cNvPr id="632" name="Shape 632"/>
            <p:cNvSpPr/>
            <p:nvPr/>
          </p:nvSpPr>
          <p:spPr>
            <a:xfrm>
              <a:off x="1639887" y="35226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633" name="Shape 633"/>
            <p:cNvSpPr/>
            <p:nvPr/>
          </p:nvSpPr>
          <p:spPr>
            <a:xfrm>
              <a:off x="4716462" y="35226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34" name="Shape 634"/>
            <p:cNvSpPr/>
            <p:nvPr/>
          </p:nvSpPr>
          <p:spPr>
            <a:xfrm>
              <a:off x="7745412" y="3511550"/>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grpSp>
      <p:grpSp>
        <p:nvGrpSpPr>
          <p:cNvPr id="635" name="Shape 635"/>
          <p:cNvGrpSpPr/>
          <p:nvPr/>
        </p:nvGrpSpPr>
        <p:grpSpPr>
          <a:xfrm>
            <a:off x="296862" y="4194175"/>
            <a:ext cx="7988300" cy="582612"/>
            <a:chOff x="296862" y="4194175"/>
            <a:chExt cx="7988300" cy="582612"/>
          </a:xfrm>
        </p:grpSpPr>
        <p:sp>
          <p:nvSpPr>
            <p:cNvPr id="636" name="Shape 636"/>
            <p:cNvSpPr txBox="1"/>
            <p:nvPr/>
          </p:nvSpPr>
          <p:spPr>
            <a:xfrm>
              <a:off x="296862" y="4194175"/>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2</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7" name="Shape 637"/>
            <p:cNvSpPr/>
            <p:nvPr/>
          </p:nvSpPr>
          <p:spPr>
            <a:xfrm>
              <a:off x="1646237" y="4243387"/>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638" name="Shape 638"/>
            <p:cNvSpPr/>
            <p:nvPr/>
          </p:nvSpPr>
          <p:spPr>
            <a:xfrm>
              <a:off x="5456237" y="4243387"/>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39" name="Shape 639"/>
            <p:cNvSpPr/>
            <p:nvPr/>
          </p:nvSpPr>
          <p:spPr>
            <a:xfrm>
              <a:off x="2432050" y="4243387"/>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40" name="Shape 640"/>
            <p:cNvSpPr/>
            <p:nvPr/>
          </p:nvSpPr>
          <p:spPr>
            <a:xfrm>
              <a:off x="3198812" y="4243387"/>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41" name="Shape 641"/>
            <p:cNvSpPr/>
            <p:nvPr/>
          </p:nvSpPr>
          <p:spPr>
            <a:xfrm>
              <a:off x="3979862" y="4243387"/>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42" name="Shape 642"/>
            <p:cNvSpPr/>
            <p:nvPr/>
          </p:nvSpPr>
          <p:spPr>
            <a:xfrm>
              <a:off x="4722812" y="4243387"/>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43" name="Shape 643"/>
            <p:cNvSpPr/>
            <p:nvPr/>
          </p:nvSpPr>
          <p:spPr>
            <a:xfrm>
              <a:off x="6970712" y="4238625"/>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644" name="Shape 644"/>
            <p:cNvSpPr/>
            <p:nvPr/>
          </p:nvSpPr>
          <p:spPr>
            <a:xfrm>
              <a:off x="6237287" y="4238625"/>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645" name="Shape 645"/>
            <p:cNvSpPr/>
            <p:nvPr/>
          </p:nvSpPr>
          <p:spPr>
            <a:xfrm>
              <a:off x="7751762" y="4232275"/>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grpSp>
      <p:grpSp>
        <p:nvGrpSpPr>
          <p:cNvPr id="646" name="Shape 646"/>
          <p:cNvGrpSpPr/>
          <p:nvPr/>
        </p:nvGrpSpPr>
        <p:grpSpPr>
          <a:xfrm>
            <a:off x="2425700" y="4868862"/>
            <a:ext cx="5072062" cy="538163"/>
            <a:chOff x="2425700" y="4868862"/>
            <a:chExt cx="5072062" cy="538163"/>
          </a:xfrm>
        </p:grpSpPr>
        <p:sp>
          <p:nvSpPr>
            <p:cNvPr id="647" name="Shape 647"/>
            <p:cNvSpPr/>
            <p:nvPr/>
          </p:nvSpPr>
          <p:spPr>
            <a:xfrm>
              <a:off x="5449887" y="4873625"/>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48" name="Shape 648"/>
            <p:cNvSpPr/>
            <p:nvPr/>
          </p:nvSpPr>
          <p:spPr>
            <a:xfrm>
              <a:off x="2425700" y="4873625"/>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49" name="Shape 649"/>
            <p:cNvSpPr/>
            <p:nvPr/>
          </p:nvSpPr>
          <p:spPr>
            <a:xfrm>
              <a:off x="3973512" y="4873625"/>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50" name="Shape 650"/>
            <p:cNvSpPr/>
            <p:nvPr/>
          </p:nvSpPr>
          <p:spPr>
            <a:xfrm>
              <a:off x="6964362" y="4868862"/>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grpSp>
      <p:grpSp>
        <p:nvGrpSpPr>
          <p:cNvPr id="651" name="Shape 651"/>
          <p:cNvGrpSpPr/>
          <p:nvPr/>
        </p:nvGrpSpPr>
        <p:grpSpPr>
          <a:xfrm>
            <a:off x="1639887" y="4862512"/>
            <a:ext cx="6638925" cy="544513"/>
            <a:chOff x="1639887" y="4862512"/>
            <a:chExt cx="6638925" cy="544513"/>
          </a:xfrm>
        </p:grpSpPr>
        <p:sp>
          <p:nvSpPr>
            <p:cNvPr id="652" name="Shape 652"/>
            <p:cNvSpPr/>
            <p:nvPr/>
          </p:nvSpPr>
          <p:spPr>
            <a:xfrm>
              <a:off x="1639887" y="4873625"/>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53" name="Shape 653"/>
            <p:cNvSpPr/>
            <p:nvPr/>
          </p:nvSpPr>
          <p:spPr>
            <a:xfrm>
              <a:off x="3192462" y="4873625"/>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654" name="Shape 654"/>
            <p:cNvSpPr/>
            <p:nvPr/>
          </p:nvSpPr>
          <p:spPr>
            <a:xfrm>
              <a:off x="4716462" y="4873625"/>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55" name="Shape 655"/>
            <p:cNvSpPr/>
            <p:nvPr/>
          </p:nvSpPr>
          <p:spPr>
            <a:xfrm>
              <a:off x="6230937" y="4868862"/>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656" name="Shape 656"/>
            <p:cNvSpPr/>
            <p:nvPr/>
          </p:nvSpPr>
          <p:spPr>
            <a:xfrm>
              <a:off x="7745412" y="4862512"/>
              <a:ext cx="533400" cy="533400"/>
            </a:xfrm>
            <a:prstGeom prst="ellipse">
              <a:avLst/>
            </a:prstGeom>
            <a:gradFill>
              <a:gsLst>
                <a:gs pos="0">
                  <a:srgbClr val="6699FF"/>
                </a:gs>
                <a:gs pos="100000">
                  <a:srgbClr val="476B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grpSp>
      <p:grpSp>
        <p:nvGrpSpPr>
          <p:cNvPr id="657" name="Shape 657"/>
          <p:cNvGrpSpPr/>
          <p:nvPr/>
        </p:nvGrpSpPr>
        <p:grpSpPr>
          <a:xfrm>
            <a:off x="296862" y="5492750"/>
            <a:ext cx="7981950" cy="544512"/>
            <a:chOff x="296862" y="5492750"/>
            <a:chExt cx="7981950" cy="544512"/>
          </a:xfrm>
        </p:grpSpPr>
        <p:sp>
          <p:nvSpPr>
            <p:cNvPr id="658" name="Shape 658"/>
            <p:cNvSpPr txBox="1"/>
            <p:nvPr/>
          </p:nvSpPr>
          <p:spPr>
            <a:xfrm>
              <a:off x="296862" y="5499100"/>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1</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9" name="Shape 659"/>
            <p:cNvSpPr/>
            <p:nvPr/>
          </p:nvSpPr>
          <p:spPr>
            <a:xfrm>
              <a:off x="1639887"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60" name="Shape 660"/>
            <p:cNvSpPr/>
            <p:nvPr/>
          </p:nvSpPr>
          <p:spPr>
            <a:xfrm>
              <a:off x="5449887"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61" name="Shape 661"/>
            <p:cNvSpPr/>
            <p:nvPr/>
          </p:nvSpPr>
          <p:spPr>
            <a:xfrm>
              <a:off x="2425700"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62" name="Shape 662"/>
            <p:cNvSpPr/>
            <p:nvPr/>
          </p:nvSpPr>
          <p:spPr>
            <a:xfrm>
              <a:off x="3192462"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663" name="Shape 663"/>
            <p:cNvSpPr/>
            <p:nvPr/>
          </p:nvSpPr>
          <p:spPr>
            <a:xfrm>
              <a:off x="3973512"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64" name="Shape 664"/>
            <p:cNvSpPr/>
            <p:nvPr/>
          </p:nvSpPr>
          <p:spPr>
            <a:xfrm>
              <a:off x="4716462" y="5503862"/>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65" name="Shape 665"/>
            <p:cNvSpPr/>
            <p:nvPr/>
          </p:nvSpPr>
          <p:spPr>
            <a:xfrm>
              <a:off x="6964362" y="5499100"/>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666" name="Shape 666"/>
            <p:cNvSpPr/>
            <p:nvPr/>
          </p:nvSpPr>
          <p:spPr>
            <a:xfrm>
              <a:off x="6230937" y="5499100"/>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667" name="Shape 667"/>
            <p:cNvSpPr/>
            <p:nvPr/>
          </p:nvSpPr>
          <p:spPr>
            <a:xfrm>
              <a:off x="7745412" y="5492750"/>
              <a:ext cx="533400" cy="533400"/>
            </a:xfrm>
            <a:prstGeom prst="ellipse">
              <a:avLst/>
            </a:prstGeom>
            <a:gradFill>
              <a:gsLst>
                <a:gs pos="0">
                  <a:srgbClr val="DBB7FF"/>
                </a:gs>
                <a:gs pos="100000">
                  <a:srgbClr val="9A80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grpSp>
      <p:grpSp>
        <p:nvGrpSpPr>
          <p:cNvPr id="668" name="Shape 668"/>
          <p:cNvGrpSpPr/>
          <p:nvPr/>
        </p:nvGrpSpPr>
        <p:grpSpPr>
          <a:xfrm>
            <a:off x="1646237" y="6146800"/>
            <a:ext cx="6638925" cy="544512"/>
            <a:chOff x="1646237" y="6146800"/>
            <a:chExt cx="6638925" cy="544512"/>
          </a:xfrm>
        </p:grpSpPr>
        <p:sp>
          <p:nvSpPr>
            <p:cNvPr id="669" name="Shape 669"/>
            <p:cNvSpPr/>
            <p:nvPr/>
          </p:nvSpPr>
          <p:spPr>
            <a:xfrm>
              <a:off x="1646237"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670" name="Shape 670"/>
            <p:cNvSpPr/>
            <p:nvPr/>
          </p:nvSpPr>
          <p:spPr>
            <a:xfrm>
              <a:off x="5456237"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671" name="Shape 671"/>
            <p:cNvSpPr/>
            <p:nvPr/>
          </p:nvSpPr>
          <p:spPr>
            <a:xfrm>
              <a:off x="2432050"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672" name="Shape 672"/>
            <p:cNvSpPr/>
            <p:nvPr/>
          </p:nvSpPr>
          <p:spPr>
            <a:xfrm>
              <a:off x="3198812"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673" name="Shape 673"/>
            <p:cNvSpPr/>
            <p:nvPr/>
          </p:nvSpPr>
          <p:spPr>
            <a:xfrm>
              <a:off x="3979862"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674" name="Shape 674"/>
            <p:cNvSpPr/>
            <p:nvPr/>
          </p:nvSpPr>
          <p:spPr>
            <a:xfrm>
              <a:off x="4722812" y="6157912"/>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675" name="Shape 675"/>
            <p:cNvSpPr/>
            <p:nvPr/>
          </p:nvSpPr>
          <p:spPr>
            <a:xfrm>
              <a:off x="6970712" y="6153150"/>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676" name="Shape 676"/>
            <p:cNvSpPr/>
            <p:nvPr/>
          </p:nvSpPr>
          <p:spPr>
            <a:xfrm>
              <a:off x="6237287" y="6153150"/>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677" name="Shape 677"/>
            <p:cNvSpPr/>
            <p:nvPr/>
          </p:nvSpPr>
          <p:spPr>
            <a:xfrm>
              <a:off x="7751762" y="6146800"/>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grpSp>
      <p:sp>
        <p:nvSpPr>
          <p:cNvPr id="678" name="Shape 678"/>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682" name="Shape 682"/>
        <p:cNvGrpSpPr/>
        <p:nvPr/>
      </p:nvGrpSpPr>
      <p:grpSpPr>
        <a:xfrm>
          <a:off x="0" y="0"/>
          <a:ext cx="0" cy="0"/>
          <a:chOff x="0" y="0"/>
          <a:chExt cx="0" cy="0"/>
        </a:xfrm>
      </p:grpSpPr>
      <p:sp>
        <p:nvSpPr>
          <p:cNvPr id="683" name="Shape 683"/>
          <p:cNvSpPr txBox="1"/>
          <p:nvPr/>
        </p:nvSpPr>
        <p:spPr>
          <a:xfrm>
            <a:off x="296862" y="1763712"/>
            <a:ext cx="8153400" cy="2228850"/>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将相隔某个“增量”的记录组成一个子序列。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增量应如何取？</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希尔最早提出的方法是d</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=n/2，d</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i+1</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4" name="Shape 684"/>
          <p:cNvSpPr txBox="1"/>
          <p:nvPr/>
        </p:nvSpPr>
        <p:spPr>
          <a:xfrm>
            <a:off x="206375" y="1089025"/>
            <a:ext cx="63912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关键问题(1)应如何分割待排序记录？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685" name="Shape 685"/>
          <p:cNvSpPr txBox="1"/>
          <p:nvPr/>
        </p:nvSpPr>
        <p:spPr>
          <a:xfrm>
            <a:off x="317500" y="4014787"/>
            <a:ext cx="7875587" cy="24415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(d=n/2; d&gt;=1; d=d/2)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以d为增量，进行组内直接插入排序；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86" name="Shape 686"/>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690" name="Shape 690"/>
        <p:cNvGrpSpPr/>
        <p:nvPr/>
      </p:nvGrpSpPr>
      <p:grpSpPr>
        <a:xfrm>
          <a:off x="0" y="0"/>
          <a:ext cx="0" cy="0"/>
          <a:chOff x="0" y="0"/>
          <a:chExt cx="0" cy="0"/>
        </a:xfrm>
      </p:grpSpPr>
      <p:sp>
        <p:nvSpPr>
          <p:cNvPr id="691" name="Shape 691"/>
          <p:cNvSpPr txBox="1"/>
          <p:nvPr/>
        </p:nvSpPr>
        <p:spPr>
          <a:xfrm>
            <a:off x="296862" y="1854200"/>
            <a:ext cx="8153400" cy="3724275"/>
          </a:xfrm>
          <a:prstGeom prst="rect">
            <a:avLst/>
          </a:prstGeom>
          <a:noFill/>
          <a:ln>
            <a:noFill/>
          </a:ln>
        </p:spPr>
        <p:txBody>
          <a:bodyPr spcFirstLastPara="1" wrap="square" lIns="0" tIns="45700" rIns="0"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Noto Sans Symbols"/>
              <a:buChar char="➢"/>
            </a:pPr>
            <a:r>
              <a:rPr lang="en-US" sz="2800" b="1" i="0" u="none">
                <a:solidFill>
                  <a:schemeClr val="dk1"/>
                </a:solidFill>
                <a:latin typeface="Arial" panose="020B0604020202020204"/>
                <a:ea typeface="Arial" panose="020B0604020202020204"/>
                <a:cs typeface="Arial" panose="020B0604020202020204"/>
                <a:sym typeface="Arial" panose="020B0604020202020204"/>
              </a:rPr>
              <a:t>在插入记录</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r[i]</a:t>
            </a:r>
            <a:r>
              <a:rPr lang="en-US" sz="2800" b="1" i="0" u="none">
                <a:solidFill>
                  <a:schemeClr val="dk1"/>
                </a:solidFill>
                <a:latin typeface="Arial" panose="020B0604020202020204"/>
                <a:ea typeface="Arial" panose="020B0604020202020204"/>
                <a:cs typeface="Arial" panose="020B0604020202020204"/>
                <a:sym typeface="Arial" panose="020B0604020202020204"/>
              </a:rPr>
              <a:t>时，自</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r[i-d]</a:t>
            </a:r>
            <a:r>
              <a:rPr lang="en-US" sz="2800" b="1" i="0" u="none">
                <a:solidFill>
                  <a:schemeClr val="dk1"/>
                </a:solidFill>
                <a:latin typeface="Arial" panose="020B0604020202020204"/>
                <a:ea typeface="Arial" panose="020B0604020202020204"/>
                <a:cs typeface="Arial" panose="020B0604020202020204"/>
                <a:sym typeface="Arial" panose="020B0604020202020204"/>
              </a:rPr>
              <a:t>起往前跳跃式（跳跃幅度为</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800" b="1" i="0" u="none">
                <a:solidFill>
                  <a:schemeClr val="dk1"/>
                </a:solidFill>
                <a:latin typeface="Arial" panose="020B0604020202020204"/>
                <a:ea typeface="Arial" panose="020B0604020202020204"/>
                <a:cs typeface="Arial" panose="020B0604020202020204"/>
                <a:sym typeface="Arial" panose="020B0604020202020204"/>
              </a:rPr>
              <a:t>）搜索待插入位置，并且</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r[0]</a:t>
            </a:r>
            <a:r>
              <a:rPr lang="en-US" sz="2800" b="1" i="0" u="none">
                <a:solidFill>
                  <a:schemeClr val="dk1"/>
                </a:solidFill>
                <a:latin typeface="Arial" panose="020B0604020202020204"/>
                <a:ea typeface="Arial" panose="020B0604020202020204"/>
                <a:cs typeface="Arial" panose="020B0604020202020204"/>
                <a:sym typeface="Arial" panose="020B0604020202020204"/>
              </a:rPr>
              <a:t>只是暂存单元，不是哨兵。当搜索位置＜</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，表示插入位置已找到。</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Noto Sans Symbols"/>
              <a:buChar char="➢"/>
            </a:pPr>
            <a:r>
              <a:rPr lang="en-US" sz="2800" b="1" i="0" u="none">
                <a:solidFill>
                  <a:schemeClr val="dk1"/>
                </a:solidFill>
                <a:latin typeface="Arial" panose="020B0604020202020204"/>
                <a:ea typeface="Arial" panose="020B0604020202020204"/>
                <a:cs typeface="Arial" panose="020B0604020202020204"/>
                <a:sym typeface="Arial" panose="020B0604020202020204"/>
              </a:rPr>
              <a:t>在搜索过程中，记录后移也是跳跃</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800" b="1" i="0" u="none">
                <a:solidFill>
                  <a:schemeClr val="dk1"/>
                </a:solidFill>
                <a:latin typeface="Arial" panose="020B0604020202020204"/>
                <a:ea typeface="Arial" panose="020B0604020202020204"/>
                <a:cs typeface="Arial" panose="020B0604020202020204"/>
                <a:sym typeface="Arial" panose="020B0604020202020204"/>
              </a:rPr>
              <a:t>个位置。</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Noto Sans Symbols"/>
              <a:buChar char="➢"/>
            </a:pPr>
            <a:r>
              <a:rPr lang="en-US" sz="2800" b="1" i="0" u="none">
                <a:solidFill>
                  <a:schemeClr val="dk1"/>
                </a:solidFill>
                <a:latin typeface="Arial" panose="020B0604020202020204"/>
                <a:ea typeface="Arial" panose="020B0604020202020204"/>
                <a:cs typeface="Arial" panose="020B0604020202020204"/>
                <a:sym typeface="Arial" panose="020B0604020202020204"/>
              </a:rPr>
              <a:t>在整个序列中，前</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800" b="1" i="0" u="none">
                <a:solidFill>
                  <a:schemeClr val="dk1"/>
                </a:solidFill>
                <a:latin typeface="Arial" panose="020B0604020202020204"/>
                <a:ea typeface="Arial" panose="020B0604020202020204"/>
                <a:cs typeface="Arial" panose="020B0604020202020204"/>
                <a:sym typeface="Arial" panose="020B0604020202020204"/>
              </a:rPr>
              <a:t>个记录分别是</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800" b="1" i="0" u="none">
                <a:solidFill>
                  <a:schemeClr val="dk1"/>
                </a:solidFill>
                <a:latin typeface="Arial" panose="020B0604020202020204"/>
                <a:ea typeface="Arial" panose="020B0604020202020204"/>
                <a:cs typeface="Arial" panose="020B0604020202020204"/>
                <a:sym typeface="Arial" panose="020B0604020202020204"/>
              </a:rPr>
              <a:t>个子序列中的第一个记录，所以从第</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d+1</a:t>
            </a:r>
            <a:r>
              <a:rPr lang="en-US" sz="2800" b="1" i="0" u="none">
                <a:solidFill>
                  <a:schemeClr val="dk1"/>
                </a:solidFill>
                <a:latin typeface="Arial" panose="020B0604020202020204"/>
                <a:ea typeface="Arial" panose="020B0604020202020204"/>
                <a:cs typeface="Arial" panose="020B0604020202020204"/>
                <a:sym typeface="Arial" panose="020B0604020202020204"/>
              </a:rPr>
              <a:t>个记录开始进行插入。</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692" name="Shape 692"/>
          <p:cNvSpPr txBox="1"/>
          <p:nvPr/>
        </p:nvSpPr>
        <p:spPr>
          <a:xfrm>
            <a:off x="206375" y="1089025"/>
            <a:ext cx="846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accent2"/>
                </a:solidFill>
                <a:latin typeface="Arial" panose="020B0604020202020204"/>
                <a:ea typeface="Arial" panose="020B0604020202020204"/>
                <a:cs typeface="Arial" panose="020B0604020202020204"/>
                <a:sym typeface="Arial" panose="020B0604020202020204"/>
              </a:rPr>
              <a:t>)子序列内如何进行直接插入排序？</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693" name="Shape 693"/>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697" name="Shape 697"/>
        <p:cNvGrpSpPr/>
        <p:nvPr/>
      </p:nvGrpSpPr>
      <p:grpSpPr>
        <a:xfrm>
          <a:off x="0" y="0"/>
          <a:ext cx="0" cy="0"/>
          <a:chOff x="0" y="0"/>
          <a:chExt cx="0" cy="0"/>
        </a:xfrm>
      </p:grpSpPr>
      <p:sp>
        <p:nvSpPr>
          <p:cNvPr id="698" name="Shape 698"/>
          <p:cNvSpPr txBox="1"/>
          <p:nvPr>
            <p:ph type="title"/>
          </p:nvPr>
        </p:nvSpPr>
        <p:spPr>
          <a:xfrm>
            <a:off x="341312" y="1133475"/>
            <a:ext cx="5029200" cy="59213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希尔插入排序过程示例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99" name="Shape 699"/>
          <p:cNvSpPr txBox="1"/>
          <p:nvPr/>
        </p:nvSpPr>
        <p:spPr>
          <a:xfrm>
            <a:off x="2322512" y="1719262"/>
            <a:ext cx="65119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1        2        3        4        5        6        7        8        9</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0" name="Shape 700"/>
          <p:cNvSpPr/>
          <p:nvPr/>
        </p:nvSpPr>
        <p:spPr>
          <a:xfrm>
            <a:off x="224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01" name="Shape 701"/>
          <p:cNvSpPr/>
          <p:nvPr/>
        </p:nvSpPr>
        <p:spPr>
          <a:xfrm>
            <a:off x="605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02" name="Shape 702"/>
          <p:cNvSpPr/>
          <p:nvPr/>
        </p:nvSpPr>
        <p:spPr>
          <a:xfrm>
            <a:off x="3033712"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03" name="Shape 703"/>
          <p:cNvSpPr/>
          <p:nvPr/>
        </p:nvSpPr>
        <p:spPr>
          <a:xfrm>
            <a:off x="3800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04" name="Shape 704"/>
          <p:cNvSpPr/>
          <p:nvPr/>
        </p:nvSpPr>
        <p:spPr>
          <a:xfrm>
            <a:off x="458152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705" name="Shape 705"/>
          <p:cNvSpPr/>
          <p:nvPr/>
        </p:nvSpPr>
        <p:spPr>
          <a:xfrm>
            <a:off x="5324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06" name="Shape 706"/>
          <p:cNvSpPr txBox="1"/>
          <p:nvPr/>
        </p:nvSpPr>
        <p:spPr>
          <a:xfrm>
            <a:off x="141287" y="2287587"/>
            <a:ext cx="1524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初始序列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07" name="Shape 707"/>
          <p:cNvSpPr/>
          <p:nvPr/>
        </p:nvSpPr>
        <p:spPr>
          <a:xfrm>
            <a:off x="7572375"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708" name="Shape 708"/>
          <p:cNvSpPr/>
          <p:nvPr/>
        </p:nvSpPr>
        <p:spPr>
          <a:xfrm>
            <a:off x="6838950"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709" name="Shape 709"/>
          <p:cNvSpPr/>
          <p:nvPr/>
        </p:nvSpPr>
        <p:spPr>
          <a:xfrm>
            <a:off x="8350250" y="2230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710" name="Shape 710"/>
          <p:cNvGrpSpPr/>
          <p:nvPr/>
        </p:nvGrpSpPr>
        <p:grpSpPr>
          <a:xfrm>
            <a:off x="296862" y="2963862"/>
            <a:ext cx="8572500" cy="544513"/>
            <a:chOff x="296862" y="2963862"/>
            <a:chExt cx="8572500" cy="544513"/>
          </a:xfrm>
        </p:grpSpPr>
        <p:sp>
          <p:nvSpPr>
            <p:cNvPr id="711" name="Shape 711"/>
            <p:cNvSpPr txBox="1"/>
            <p:nvPr/>
          </p:nvSpPr>
          <p:spPr>
            <a:xfrm>
              <a:off x="296862" y="2979737"/>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4</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12" name="Shape 712"/>
            <p:cNvSpPr/>
            <p:nvPr/>
          </p:nvSpPr>
          <p:spPr>
            <a:xfrm>
              <a:off x="2230437"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13" name="Shape 713"/>
            <p:cNvSpPr/>
            <p:nvPr/>
          </p:nvSpPr>
          <p:spPr>
            <a:xfrm>
              <a:off x="6040437"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14" name="Shape 714"/>
            <p:cNvSpPr/>
            <p:nvPr/>
          </p:nvSpPr>
          <p:spPr>
            <a:xfrm>
              <a:off x="3016250"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15" name="Shape 715"/>
            <p:cNvSpPr/>
            <p:nvPr/>
          </p:nvSpPr>
          <p:spPr>
            <a:xfrm>
              <a:off x="3783012" y="2974975"/>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16" name="Shape 716"/>
            <p:cNvSpPr/>
            <p:nvPr/>
          </p:nvSpPr>
          <p:spPr>
            <a:xfrm>
              <a:off x="4564062" y="2974975"/>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717" name="Shape 717"/>
            <p:cNvSpPr/>
            <p:nvPr/>
          </p:nvSpPr>
          <p:spPr>
            <a:xfrm>
              <a:off x="5307012"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18" name="Shape 718"/>
            <p:cNvSpPr/>
            <p:nvPr/>
          </p:nvSpPr>
          <p:spPr>
            <a:xfrm>
              <a:off x="7554912" y="297021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719" name="Shape 719"/>
            <p:cNvSpPr/>
            <p:nvPr/>
          </p:nvSpPr>
          <p:spPr>
            <a:xfrm>
              <a:off x="6821487" y="2970212"/>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720" name="Shape 720"/>
            <p:cNvSpPr/>
            <p:nvPr/>
          </p:nvSpPr>
          <p:spPr>
            <a:xfrm>
              <a:off x="8335962" y="29638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sp>
        <p:nvSpPr>
          <p:cNvPr id="721" name="Shape 721"/>
          <p:cNvSpPr/>
          <p:nvPr/>
        </p:nvSpPr>
        <p:spPr>
          <a:xfrm>
            <a:off x="224472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22" name="Shape 722"/>
          <p:cNvSpPr/>
          <p:nvPr/>
        </p:nvSpPr>
        <p:spPr>
          <a:xfrm>
            <a:off x="534987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grpSp>
        <p:nvGrpSpPr>
          <p:cNvPr id="723" name="Shape 723"/>
          <p:cNvGrpSpPr/>
          <p:nvPr/>
        </p:nvGrpSpPr>
        <p:grpSpPr>
          <a:xfrm>
            <a:off x="5368925" y="3519487"/>
            <a:ext cx="238125" cy="471487"/>
            <a:chOff x="5368925" y="3519487"/>
            <a:chExt cx="238125" cy="471487"/>
          </a:xfrm>
        </p:grpSpPr>
        <p:cxnSp>
          <p:nvCxnSpPr>
            <p:cNvPr id="724" name="Shape 724"/>
            <p:cNvCxnSpPr/>
            <p:nvPr/>
          </p:nvCxnSpPr>
          <p:spPr>
            <a:xfrm rot="10800000">
              <a:off x="560705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25" name="Shape 725"/>
            <p:cNvSpPr txBox="1"/>
            <p:nvPr/>
          </p:nvSpPr>
          <p:spPr>
            <a:xfrm>
              <a:off x="5368925" y="3563937"/>
              <a:ext cx="179387"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726" name="Shape 726"/>
          <p:cNvGrpSpPr/>
          <p:nvPr/>
        </p:nvGrpSpPr>
        <p:grpSpPr>
          <a:xfrm>
            <a:off x="2228850" y="3519487"/>
            <a:ext cx="285750" cy="449262"/>
            <a:chOff x="2228850" y="3519487"/>
            <a:chExt cx="285750" cy="449262"/>
          </a:xfrm>
        </p:grpSpPr>
        <p:cxnSp>
          <p:nvCxnSpPr>
            <p:cNvPr id="727" name="Shape 727"/>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28" name="Shape 728"/>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29" name="Shape 729"/>
          <p:cNvSpPr/>
          <p:nvPr/>
        </p:nvSpPr>
        <p:spPr>
          <a:xfrm>
            <a:off x="1422400" y="2992437"/>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grpSp>
        <p:nvGrpSpPr>
          <p:cNvPr id="730" name="Shape 730"/>
          <p:cNvGrpSpPr/>
          <p:nvPr/>
        </p:nvGrpSpPr>
        <p:grpSpPr>
          <a:xfrm>
            <a:off x="0" y="3473450"/>
            <a:ext cx="285750" cy="449262"/>
            <a:chOff x="2228850" y="3519487"/>
            <a:chExt cx="285750" cy="449262"/>
          </a:xfrm>
        </p:grpSpPr>
        <p:cxnSp>
          <p:nvCxnSpPr>
            <p:cNvPr id="731" name="Shape 731"/>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32" name="Shape 732"/>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33" name="Shape 733"/>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9"/>
                                        </p:tgtEl>
                                        <p:attrNameLst>
                                          <p:attrName>style.visibility</p:attrName>
                                        </p:attrNameLst>
                                      </p:cBhvr>
                                      <p:to>
                                        <p:strVal val="visible"/>
                                      </p:to>
                                    </p:set>
                                    <p:animEffect transition="in" filter="fade">
                                      <p:cBhvr>
                                        <p:cTn id="7" dur="500"/>
                                        <p:tgtEl>
                                          <p:spTgt spid="7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2"/>
                                        </p:tgtEl>
                                        <p:attrNameLst>
                                          <p:attrName>style.visibility</p:attrName>
                                        </p:attrNameLst>
                                      </p:cBhvr>
                                      <p:to>
                                        <p:strVal val="visible"/>
                                      </p:to>
                                    </p:set>
                                    <p:animEffect transition="in" filter="fade">
                                      <p:cBhvr>
                                        <p:cTn id="12" dur="500"/>
                                        <p:tgtEl>
                                          <p:spTgt spid="7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1"/>
                                        </p:tgtEl>
                                        <p:attrNameLst>
                                          <p:attrName>style.visibility</p:attrName>
                                        </p:attrNameLst>
                                      </p:cBhvr>
                                      <p:to>
                                        <p:strVal val="visible"/>
                                      </p:to>
                                    </p:set>
                                    <p:animEffect transition="in" filter="fade">
                                      <p:cBhvr>
                                        <p:cTn id="17" dur="500"/>
                                        <p:tgtEl>
                                          <p:spTgt spid="7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737" name="Shape 737"/>
        <p:cNvGrpSpPr/>
        <p:nvPr/>
      </p:nvGrpSpPr>
      <p:grpSpPr>
        <a:xfrm>
          <a:off x="0" y="0"/>
          <a:ext cx="0" cy="0"/>
          <a:chOff x="0" y="0"/>
          <a:chExt cx="0" cy="0"/>
        </a:xfrm>
      </p:grpSpPr>
      <p:sp>
        <p:nvSpPr>
          <p:cNvPr id="738" name="Shape 738"/>
          <p:cNvSpPr txBox="1"/>
          <p:nvPr>
            <p:ph type="title"/>
          </p:nvPr>
        </p:nvSpPr>
        <p:spPr>
          <a:xfrm>
            <a:off x="341312" y="1133475"/>
            <a:ext cx="5029200" cy="59213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希尔插入排序过程示例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39" name="Shape 739"/>
          <p:cNvSpPr txBox="1"/>
          <p:nvPr/>
        </p:nvSpPr>
        <p:spPr>
          <a:xfrm>
            <a:off x="2322512" y="1719262"/>
            <a:ext cx="65119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1        2        3        4        5        6        7        8        9</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0" name="Shape 740"/>
          <p:cNvSpPr/>
          <p:nvPr/>
        </p:nvSpPr>
        <p:spPr>
          <a:xfrm>
            <a:off x="224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41" name="Shape 741"/>
          <p:cNvSpPr/>
          <p:nvPr/>
        </p:nvSpPr>
        <p:spPr>
          <a:xfrm>
            <a:off x="605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42" name="Shape 742"/>
          <p:cNvSpPr/>
          <p:nvPr/>
        </p:nvSpPr>
        <p:spPr>
          <a:xfrm>
            <a:off x="3033712"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43" name="Shape 743"/>
          <p:cNvSpPr/>
          <p:nvPr/>
        </p:nvSpPr>
        <p:spPr>
          <a:xfrm>
            <a:off x="3800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44" name="Shape 744"/>
          <p:cNvSpPr/>
          <p:nvPr/>
        </p:nvSpPr>
        <p:spPr>
          <a:xfrm>
            <a:off x="458152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745" name="Shape 745"/>
          <p:cNvSpPr/>
          <p:nvPr/>
        </p:nvSpPr>
        <p:spPr>
          <a:xfrm>
            <a:off x="5324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46" name="Shape 746"/>
          <p:cNvSpPr txBox="1"/>
          <p:nvPr/>
        </p:nvSpPr>
        <p:spPr>
          <a:xfrm>
            <a:off x="141287" y="2287587"/>
            <a:ext cx="1524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初始序列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7" name="Shape 747"/>
          <p:cNvSpPr/>
          <p:nvPr/>
        </p:nvSpPr>
        <p:spPr>
          <a:xfrm>
            <a:off x="7572375"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748" name="Shape 748"/>
          <p:cNvSpPr/>
          <p:nvPr/>
        </p:nvSpPr>
        <p:spPr>
          <a:xfrm>
            <a:off x="6838950"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749" name="Shape 749"/>
          <p:cNvSpPr/>
          <p:nvPr/>
        </p:nvSpPr>
        <p:spPr>
          <a:xfrm>
            <a:off x="8350250" y="2230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750" name="Shape 750"/>
          <p:cNvGrpSpPr/>
          <p:nvPr/>
        </p:nvGrpSpPr>
        <p:grpSpPr>
          <a:xfrm>
            <a:off x="296862" y="2963862"/>
            <a:ext cx="8572500" cy="544513"/>
            <a:chOff x="296862" y="2963862"/>
            <a:chExt cx="8572500" cy="544513"/>
          </a:xfrm>
        </p:grpSpPr>
        <p:sp>
          <p:nvSpPr>
            <p:cNvPr id="751" name="Shape 751"/>
            <p:cNvSpPr txBox="1"/>
            <p:nvPr/>
          </p:nvSpPr>
          <p:spPr>
            <a:xfrm>
              <a:off x="296862" y="2979737"/>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4</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2" name="Shape 752"/>
            <p:cNvSpPr/>
            <p:nvPr/>
          </p:nvSpPr>
          <p:spPr>
            <a:xfrm>
              <a:off x="2230437"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53" name="Shape 753"/>
            <p:cNvSpPr/>
            <p:nvPr/>
          </p:nvSpPr>
          <p:spPr>
            <a:xfrm>
              <a:off x="6040437"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54" name="Shape 754"/>
            <p:cNvSpPr/>
            <p:nvPr/>
          </p:nvSpPr>
          <p:spPr>
            <a:xfrm>
              <a:off x="3016250"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55" name="Shape 755"/>
            <p:cNvSpPr/>
            <p:nvPr/>
          </p:nvSpPr>
          <p:spPr>
            <a:xfrm>
              <a:off x="3783012" y="2974975"/>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56" name="Shape 756"/>
            <p:cNvSpPr/>
            <p:nvPr/>
          </p:nvSpPr>
          <p:spPr>
            <a:xfrm>
              <a:off x="4564062" y="2974975"/>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757" name="Shape 757"/>
            <p:cNvSpPr/>
            <p:nvPr/>
          </p:nvSpPr>
          <p:spPr>
            <a:xfrm>
              <a:off x="5307012"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58" name="Shape 758"/>
            <p:cNvSpPr/>
            <p:nvPr/>
          </p:nvSpPr>
          <p:spPr>
            <a:xfrm>
              <a:off x="7554912" y="297021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759" name="Shape 759"/>
            <p:cNvSpPr/>
            <p:nvPr/>
          </p:nvSpPr>
          <p:spPr>
            <a:xfrm>
              <a:off x="6821487" y="2970212"/>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760" name="Shape 760"/>
            <p:cNvSpPr/>
            <p:nvPr/>
          </p:nvSpPr>
          <p:spPr>
            <a:xfrm>
              <a:off x="8335962" y="29638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sp>
        <p:nvSpPr>
          <p:cNvPr id="761" name="Shape 761"/>
          <p:cNvSpPr/>
          <p:nvPr/>
        </p:nvSpPr>
        <p:spPr>
          <a:xfrm>
            <a:off x="6070600" y="437356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62" name="Shape 762"/>
          <p:cNvSpPr/>
          <p:nvPr/>
        </p:nvSpPr>
        <p:spPr>
          <a:xfrm>
            <a:off x="3033712" y="4381500"/>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63" name="Shape 763"/>
          <p:cNvSpPr/>
          <p:nvPr/>
        </p:nvSpPr>
        <p:spPr>
          <a:xfrm>
            <a:off x="224472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64" name="Shape 764"/>
          <p:cNvSpPr/>
          <p:nvPr/>
        </p:nvSpPr>
        <p:spPr>
          <a:xfrm>
            <a:off x="528637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grpSp>
        <p:nvGrpSpPr>
          <p:cNvPr id="765" name="Shape 765"/>
          <p:cNvGrpSpPr/>
          <p:nvPr/>
        </p:nvGrpSpPr>
        <p:grpSpPr>
          <a:xfrm>
            <a:off x="6070600" y="3489325"/>
            <a:ext cx="238125" cy="471487"/>
            <a:chOff x="5368925" y="3519487"/>
            <a:chExt cx="238125" cy="471487"/>
          </a:xfrm>
        </p:grpSpPr>
        <p:cxnSp>
          <p:nvCxnSpPr>
            <p:cNvPr id="766" name="Shape 766"/>
            <p:cNvCxnSpPr/>
            <p:nvPr/>
          </p:nvCxnSpPr>
          <p:spPr>
            <a:xfrm rot="10800000">
              <a:off x="560705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67" name="Shape 767"/>
            <p:cNvSpPr txBox="1"/>
            <p:nvPr/>
          </p:nvSpPr>
          <p:spPr>
            <a:xfrm>
              <a:off x="5368925" y="3563937"/>
              <a:ext cx="179387"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768" name="Shape 768"/>
          <p:cNvGrpSpPr/>
          <p:nvPr/>
        </p:nvGrpSpPr>
        <p:grpSpPr>
          <a:xfrm>
            <a:off x="3009900" y="3489325"/>
            <a:ext cx="285750" cy="449262"/>
            <a:chOff x="2228850" y="3519487"/>
            <a:chExt cx="285750" cy="449262"/>
          </a:xfrm>
        </p:grpSpPr>
        <p:cxnSp>
          <p:nvCxnSpPr>
            <p:cNvPr id="769" name="Shape 769"/>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70" name="Shape 770"/>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71" name="Shape 771"/>
          <p:cNvSpPr/>
          <p:nvPr/>
        </p:nvSpPr>
        <p:spPr>
          <a:xfrm>
            <a:off x="1466850" y="2979737"/>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grpSp>
        <p:nvGrpSpPr>
          <p:cNvPr id="772" name="Shape 772"/>
          <p:cNvGrpSpPr/>
          <p:nvPr/>
        </p:nvGrpSpPr>
        <p:grpSpPr>
          <a:xfrm>
            <a:off x="250825" y="3473450"/>
            <a:ext cx="285750" cy="449262"/>
            <a:chOff x="2228850" y="3519487"/>
            <a:chExt cx="285750" cy="449262"/>
          </a:xfrm>
        </p:grpSpPr>
        <p:cxnSp>
          <p:nvCxnSpPr>
            <p:cNvPr id="773" name="Shape 773"/>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774" name="Shape 774"/>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775" name="Shape 775"/>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1"/>
                                        </p:tgtEl>
                                        <p:attrNameLst>
                                          <p:attrName>style.visibility</p:attrName>
                                        </p:attrNameLst>
                                      </p:cBhvr>
                                      <p:to>
                                        <p:strVal val="visible"/>
                                      </p:to>
                                    </p:set>
                                    <p:animEffect transition="in" filter="fade">
                                      <p:cBhvr>
                                        <p:cTn id="7" dur="500"/>
                                        <p:tgtEl>
                                          <p:spTgt spid="7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1"/>
                                        </p:tgtEl>
                                        <p:attrNameLst>
                                          <p:attrName>style.visibility</p:attrName>
                                        </p:attrNameLst>
                                      </p:cBhvr>
                                      <p:to>
                                        <p:strVal val="visible"/>
                                      </p:to>
                                    </p:set>
                                    <p:animEffect transition="in" filter="fade">
                                      <p:cBhvr>
                                        <p:cTn id="12" dur="500"/>
                                        <p:tgtEl>
                                          <p:spTgt spid="7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2"/>
                                        </p:tgtEl>
                                        <p:attrNameLst>
                                          <p:attrName>style.visibility</p:attrName>
                                        </p:attrNameLst>
                                      </p:cBhvr>
                                      <p:to>
                                        <p:strVal val="visible"/>
                                      </p:to>
                                    </p:set>
                                    <p:animEffect transition="in" filter="fade">
                                      <p:cBhvr>
                                        <p:cTn id="17" dur="500"/>
                                        <p:tgtEl>
                                          <p:spTgt spid="7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779" name="Shape 779"/>
        <p:cNvGrpSpPr/>
        <p:nvPr/>
      </p:nvGrpSpPr>
      <p:grpSpPr>
        <a:xfrm>
          <a:off x="0" y="0"/>
          <a:ext cx="0" cy="0"/>
          <a:chOff x="0" y="0"/>
          <a:chExt cx="0" cy="0"/>
        </a:xfrm>
      </p:grpSpPr>
      <p:sp>
        <p:nvSpPr>
          <p:cNvPr id="780" name="Shape 780"/>
          <p:cNvSpPr txBox="1"/>
          <p:nvPr>
            <p:ph type="title"/>
          </p:nvPr>
        </p:nvSpPr>
        <p:spPr>
          <a:xfrm>
            <a:off x="341312" y="1133475"/>
            <a:ext cx="5029200" cy="59213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希尔插入排序过程示例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81" name="Shape 781"/>
          <p:cNvSpPr txBox="1"/>
          <p:nvPr/>
        </p:nvSpPr>
        <p:spPr>
          <a:xfrm>
            <a:off x="2322512" y="1719262"/>
            <a:ext cx="6511925"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1        2        3        4        5        6        7        8        9</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82" name="Shape 782"/>
          <p:cNvSpPr/>
          <p:nvPr/>
        </p:nvSpPr>
        <p:spPr>
          <a:xfrm>
            <a:off x="224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83" name="Shape 783"/>
          <p:cNvSpPr/>
          <p:nvPr/>
        </p:nvSpPr>
        <p:spPr>
          <a:xfrm>
            <a:off x="6057900"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84" name="Shape 784"/>
          <p:cNvSpPr/>
          <p:nvPr/>
        </p:nvSpPr>
        <p:spPr>
          <a:xfrm>
            <a:off x="3033712"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85" name="Shape 785"/>
          <p:cNvSpPr/>
          <p:nvPr/>
        </p:nvSpPr>
        <p:spPr>
          <a:xfrm>
            <a:off x="3800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86" name="Shape 786"/>
          <p:cNvSpPr/>
          <p:nvPr/>
        </p:nvSpPr>
        <p:spPr>
          <a:xfrm>
            <a:off x="458152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787" name="Shape 787"/>
          <p:cNvSpPr/>
          <p:nvPr/>
        </p:nvSpPr>
        <p:spPr>
          <a:xfrm>
            <a:off x="5324475" y="2228850"/>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788" name="Shape 788"/>
          <p:cNvSpPr txBox="1"/>
          <p:nvPr/>
        </p:nvSpPr>
        <p:spPr>
          <a:xfrm>
            <a:off x="141287" y="2287587"/>
            <a:ext cx="1524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初始序列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89" name="Shape 789"/>
          <p:cNvSpPr/>
          <p:nvPr/>
        </p:nvSpPr>
        <p:spPr>
          <a:xfrm>
            <a:off x="7572375"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790" name="Shape 790"/>
          <p:cNvSpPr/>
          <p:nvPr/>
        </p:nvSpPr>
        <p:spPr>
          <a:xfrm>
            <a:off x="6838950" y="222408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791" name="Shape 791"/>
          <p:cNvSpPr/>
          <p:nvPr/>
        </p:nvSpPr>
        <p:spPr>
          <a:xfrm>
            <a:off x="8350250" y="2230437"/>
            <a:ext cx="533400" cy="5334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792" name="Shape 792"/>
          <p:cNvGrpSpPr/>
          <p:nvPr/>
        </p:nvGrpSpPr>
        <p:grpSpPr>
          <a:xfrm>
            <a:off x="296862" y="2963862"/>
            <a:ext cx="8572500" cy="544513"/>
            <a:chOff x="296862" y="2963862"/>
            <a:chExt cx="8572500" cy="544513"/>
          </a:xfrm>
        </p:grpSpPr>
        <p:sp>
          <p:nvSpPr>
            <p:cNvPr id="793" name="Shape 793"/>
            <p:cNvSpPr txBox="1"/>
            <p:nvPr/>
          </p:nvSpPr>
          <p:spPr>
            <a:xfrm>
              <a:off x="296862" y="2979737"/>
              <a:ext cx="941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SzPts val="2800"/>
                <a:buFont typeface="Times New Roman" panose="02020603050405020304"/>
                <a:buNone/>
              </a:pPr>
              <a:r>
                <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rPr>
                <a:t>d = 4</a:t>
              </a:r>
              <a:endParaRPr lang="en-US" sz="2800" b="1" i="0" u="none">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94" name="Shape 794"/>
            <p:cNvSpPr/>
            <p:nvPr/>
          </p:nvSpPr>
          <p:spPr>
            <a:xfrm>
              <a:off x="2230437"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795" name="Shape 795"/>
            <p:cNvSpPr/>
            <p:nvPr/>
          </p:nvSpPr>
          <p:spPr>
            <a:xfrm>
              <a:off x="6040437"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796" name="Shape 796"/>
            <p:cNvSpPr/>
            <p:nvPr/>
          </p:nvSpPr>
          <p:spPr>
            <a:xfrm>
              <a:off x="3016250" y="2974975"/>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797" name="Shape 797"/>
            <p:cNvSpPr/>
            <p:nvPr/>
          </p:nvSpPr>
          <p:spPr>
            <a:xfrm>
              <a:off x="3783012" y="2974975"/>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798" name="Shape 798"/>
            <p:cNvSpPr/>
            <p:nvPr/>
          </p:nvSpPr>
          <p:spPr>
            <a:xfrm>
              <a:off x="4564062" y="2974975"/>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lang="en-US" sz="2400" b="1" u="sng">
                <a:solidFill>
                  <a:srgbClr val="FFFFCC"/>
                </a:solidFill>
              </a:endParaRPr>
            </a:p>
          </p:txBody>
        </p:sp>
        <p:sp>
          <p:nvSpPr>
            <p:cNvPr id="799" name="Shape 799"/>
            <p:cNvSpPr/>
            <p:nvPr/>
          </p:nvSpPr>
          <p:spPr>
            <a:xfrm>
              <a:off x="5307012" y="2974975"/>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800" name="Shape 800"/>
            <p:cNvSpPr/>
            <p:nvPr/>
          </p:nvSpPr>
          <p:spPr>
            <a:xfrm>
              <a:off x="7554912" y="297021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801" name="Shape 801"/>
            <p:cNvSpPr/>
            <p:nvPr/>
          </p:nvSpPr>
          <p:spPr>
            <a:xfrm>
              <a:off x="6821487" y="2970212"/>
              <a:ext cx="533400" cy="533400"/>
            </a:xfrm>
            <a:prstGeom prst="ellipse">
              <a:avLst/>
            </a:prstGeom>
            <a:gradFill>
              <a:gsLst>
                <a:gs pos="0">
                  <a:srgbClr val="B347B3"/>
                </a:gs>
                <a:gs pos="100000">
                  <a:srgbClr val="FF66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802" name="Shape 802"/>
            <p:cNvSpPr/>
            <p:nvPr/>
          </p:nvSpPr>
          <p:spPr>
            <a:xfrm>
              <a:off x="8335962" y="29638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sp>
        <p:nvSpPr>
          <p:cNvPr id="803" name="Shape 803"/>
          <p:cNvSpPr/>
          <p:nvPr/>
        </p:nvSpPr>
        <p:spPr>
          <a:xfrm>
            <a:off x="6070600" y="4373562"/>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5</a:t>
            </a:r>
            <a:endParaRPr lang="en-US" sz="2400" b="1">
              <a:solidFill>
                <a:srgbClr val="FFFFCC"/>
              </a:solidFill>
            </a:endParaRPr>
          </a:p>
        </p:txBody>
      </p:sp>
      <p:sp>
        <p:nvSpPr>
          <p:cNvPr id="804" name="Shape 804"/>
          <p:cNvSpPr/>
          <p:nvPr/>
        </p:nvSpPr>
        <p:spPr>
          <a:xfrm>
            <a:off x="3049587" y="4381500"/>
            <a:ext cx="533400" cy="533400"/>
          </a:xfrm>
          <a:prstGeom prst="ellipse">
            <a:avLst/>
          </a:prstGeom>
          <a:gradFill>
            <a:gsLst>
              <a:gs pos="0">
                <a:srgbClr val="476BB3"/>
              </a:gs>
              <a:gs pos="100000">
                <a:srgbClr val="6699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4</a:t>
            </a:r>
            <a:endParaRPr lang="en-US" sz="2400" b="1">
              <a:solidFill>
                <a:srgbClr val="FFFFCC"/>
              </a:solidFill>
            </a:endParaRPr>
          </a:p>
        </p:txBody>
      </p:sp>
      <p:sp>
        <p:nvSpPr>
          <p:cNvPr id="805" name="Shape 805"/>
          <p:cNvSpPr/>
          <p:nvPr/>
        </p:nvSpPr>
        <p:spPr>
          <a:xfrm>
            <a:off x="227647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16</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sp>
        <p:nvSpPr>
          <p:cNvPr id="806" name="Shape 806"/>
          <p:cNvSpPr/>
          <p:nvPr/>
        </p:nvSpPr>
        <p:spPr>
          <a:xfrm>
            <a:off x="5302250"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40</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grpSp>
        <p:nvGrpSpPr>
          <p:cNvPr id="807" name="Shape 807"/>
          <p:cNvGrpSpPr/>
          <p:nvPr/>
        </p:nvGrpSpPr>
        <p:grpSpPr>
          <a:xfrm>
            <a:off x="8367712" y="3489325"/>
            <a:ext cx="238125" cy="471487"/>
            <a:chOff x="5368925" y="3519487"/>
            <a:chExt cx="238125" cy="471487"/>
          </a:xfrm>
        </p:grpSpPr>
        <p:cxnSp>
          <p:nvCxnSpPr>
            <p:cNvPr id="808" name="Shape 808"/>
            <p:cNvCxnSpPr/>
            <p:nvPr/>
          </p:nvCxnSpPr>
          <p:spPr>
            <a:xfrm rot="10800000">
              <a:off x="560705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809" name="Shape 809"/>
            <p:cNvSpPr txBox="1"/>
            <p:nvPr/>
          </p:nvSpPr>
          <p:spPr>
            <a:xfrm>
              <a:off x="5368925" y="3563937"/>
              <a:ext cx="179387"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10" name="Shape 810"/>
          <p:cNvGrpSpPr/>
          <p:nvPr/>
        </p:nvGrpSpPr>
        <p:grpSpPr>
          <a:xfrm>
            <a:off x="5292725" y="4914900"/>
            <a:ext cx="285750" cy="449262"/>
            <a:chOff x="2228850" y="3519487"/>
            <a:chExt cx="285750" cy="449262"/>
          </a:xfrm>
        </p:grpSpPr>
        <p:cxnSp>
          <p:nvCxnSpPr>
            <p:cNvPr id="811" name="Shape 811"/>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812" name="Shape 812"/>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13" name="Shape 813"/>
          <p:cNvSpPr/>
          <p:nvPr/>
        </p:nvSpPr>
        <p:spPr>
          <a:xfrm>
            <a:off x="6867525" y="4373562"/>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8</a:t>
            </a:r>
            <a:endParaRPr lang="en-US" sz="2400" b="1">
              <a:solidFill>
                <a:srgbClr val="FFFFCC"/>
              </a:solidFill>
            </a:endParaRPr>
          </a:p>
        </p:txBody>
      </p:sp>
      <p:sp>
        <p:nvSpPr>
          <p:cNvPr id="814" name="Shape 814"/>
          <p:cNvSpPr/>
          <p:nvPr/>
        </p:nvSpPr>
        <p:spPr>
          <a:xfrm>
            <a:off x="3806825" y="4373562"/>
            <a:ext cx="533400" cy="533400"/>
          </a:xfrm>
          <a:prstGeom prst="ellipse">
            <a:avLst/>
          </a:prstGeom>
          <a:gradFill>
            <a:gsLst>
              <a:gs pos="0">
                <a:srgbClr val="FF66FF"/>
              </a:gs>
              <a:gs pos="100000">
                <a:srgbClr val="B347B3"/>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1</a:t>
            </a:r>
            <a:endParaRPr lang="en-US" sz="2400" b="1">
              <a:solidFill>
                <a:srgbClr val="FFFFCC"/>
              </a:solidFill>
            </a:endParaRPr>
          </a:p>
        </p:txBody>
      </p:sp>
      <p:sp>
        <p:nvSpPr>
          <p:cNvPr id="815" name="Shape 815"/>
          <p:cNvSpPr/>
          <p:nvPr/>
        </p:nvSpPr>
        <p:spPr>
          <a:xfrm>
            <a:off x="4572000" y="4384675"/>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u="sng">
                <a:solidFill>
                  <a:srgbClr val="FFFFCC"/>
                </a:solidFill>
              </a:rPr>
              <a:t>5</a:t>
            </a:r>
            <a:endParaRPr u="sng"/>
          </a:p>
        </p:txBody>
      </p:sp>
      <p:sp>
        <p:nvSpPr>
          <p:cNvPr id="816" name="Shape 816"/>
          <p:cNvSpPr/>
          <p:nvPr/>
        </p:nvSpPr>
        <p:spPr>
          <a:xfrm>
            <a:off x="7562850" y="4379912"/>
            <a:ext cx="533400" cy="533400"/>
          </a:xfrm>
          <a:prstGeom prst="ellipse">
            <a:avLst/>
          </a:prstGeom>
          <a:gradFill>
            <a:gsLst>
              <a:gs pos="0">
                <a:srgbClr val="6B23B3"/>
              </a:gs>
              <a:gs pos="100000">
                <a:srgbClr val="9933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6</a:t>
            </a:r>
            <a:endParaRPr lang="en-US" sz="2400" b="1">
              <a:solidFill>
                <a:srgbClr val="FFFFCC"/>
              </a:solidFill>
            </a:endParaRPr>
          </a:p>
        </p:txBody>
      </p:sp>
      <p:sp>
        <p:nvSpPr>
          <p:cNvPr id="817" name="Shape 817"/>
          <p:cNvSpPr/>
          <p:nvPr/>
        </p:nvSpPr>
        <p:spPr>
          <a:xfrm>
            <a:off x="8307387"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7</a:t>
            </a:r>
            <a:endParaRPr lang="en-US" sz="2400" b="1">
              <a:solidFill>
                <a:srgbClr val="FFFFCC"/>
              </a:solidFill>
            </a:endParaRPr>
          </a:p>
        </p:txBody>
      </p:sp>
      <p:sp>
        <p:nvSpPr>
          <p:cNvPr id="818" name="Shape 818"/>
          <p:cNvSpPr/>
          <p:nvPr/>
        </p:nvSpPr>
        <p:spPr>
          <a:xfrm>
            <a:off x="1466850" y="2992437"/>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sp>
        <p:nvSpPr>
          <p:cNvPr id="819" name="Shape 819"/>
          <p:cNvSpPr/>
          <p:nvPr/>
        </p:nvSpPr>
        <p:spPr>
          <a:xfrm>
            <a:off x="529272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3</a:t>
            </a:r>
            <a:endParaRPr lang="en-US" sz="2400" b="1">
              <a:solidFill>
                <a:srgbClr val="FFFFCC"/>
              </a:solidFill>
            </a:endParaRPr>
          </a:p>
        </p:txBody>
      </p:sp>
      <p:sp>
        <p:nvSpPr>
          <p:cNvPr id="820" name="Shape 820"/>
          <p:cNvSpPr/>
          <p:nvPr/>
        </p:nvSpPr>
        <p:spPr>
          <a:xfrm>
            <a:off x="2276475" y="4373562"/>
            <a:ext cx="533400" cy="533400"/>
          </a:xfrm>
          <a:prstGeom prst="ellipse">
            <a:avLst/>
          </a:prstGeom>
          <a:gradFill>
            <a:gsLst>
              <a:gs pos="0">
                <a:srgbClr val="8F8FB3"/>
              </a:gs>
              <a:gs pos="100000">
                <a:schemeClr val="hlink"/>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a:solidFill>
                  <a:srgbClr val="FFFFCC"/>
                </a:solidFill>
              </a:rPr>
              <a:t>2</a:t>
            </a:r>
            <a:endParaRPr lang="en-US" sz="2400" b="1">
              <a:solidFill>
                <a:srgbClr val="FFFFCC"/>
              </a:solidFill>
            </a:endParaRPr>
          </a:p>
        </p:txBody>
      </p:sp>
      <p:grpSp>
        <p:nvGrpSpPr>
          <p:cNvPr id="821" name="Shape 821"/>
          <p:cNvGrpSpPr/>
          <p:nvPr/>
        </p:nvGrpSpPr>
        <p:grpSpPr>
          <a:xfrm>
            <a:off x="2260600" y="4914900"/>
            <a:ext cx="285750" cy="449262"/>
            <a:chOff x="2228850" y="3519487"/>
            <a:chExt cx="285750" cy="449262"/>
          </a:xfrm>
        </p:grpSpPr>
        <p:cxnSp>
          <p:nvCxnSpPr>
            <p:cNvPr id="822" name="Shape 822"/>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823" name="Shape 823"/>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824" name="Shape 824"/>
          <p:cNvGrpSpPr/>
          <p:nvPr/>
        </p:nvGrpSpPr>
        <p:grpSpPr>
          <a:xfrm>
            <a:off x="206375" y="4868862"/>
            <a:ext cx="285750" cy="449262"/>
            <a:chOff x="2228850" y="3519487"/>
            <a:chExt cx="285750" cy="449262"/>
          </a:xfrm>
        </p:grpSpPr>
        <p:cxnSp>
          <p:nvCxnSpPr>
            <p:cNvPr id="825" name="Shape 825"/>
            <p:cNvCxnSpPr/>
            <p:nvPr/>
          </p:nvCxnSpPr>
          <p:spPr>
            <a:xfrm rot="10800000">
              <a:off x="2514600" y="3519487"/>
              <a:ext cx="0" cy="358775"/>
            </a:xfrm>
            <a:prstGeom prst="straightConnector1">
              <a:avLst/>
            </a:prstGeom>
            <a:noFill/>
            <a:ln w="38100" cap="flat" cmpd="sng">
              <a:solidFill>
                <a:srgbClr val="008080"/>
              </a:solidFill>
              <a:prstDash val="solid"/>
              <a:miter lim="800000"/>
              <a:headEnd type="none" w="med" len="med"/>
              <a:tailEnd type="stealth" w="med" len="med"/>
            </a:ln>
          </p:spPr>
        </p:cxnSp>
        <p:sp>
          <p:nvSpPr>
            <p:cNvPr id="826" name="Shape 826"/>
            <p:cNvSpPr txBox="1"/>
            <p:nvPr/>
          </p:nvSpPr>
          <p:spPr>
            <a:xfrm>
              <a:off x="2228850" y="3627437"/>
              <a:ext cx="225425" cy="341312"/>
            </a:xfrm>
            <a:prstGeom prst="rect">
              <a:avLst/>
            </a:prstGeom>
            <a:noFill/>
            <a:ln>
              <a:noFill/>
            </a:ln>
          </p:spPr>
          <p:txBody>
            <a:bodyPr spcFirstLastPara="1" wrap="square" lIns="72000" tIns="0" rIns="0" bIns="0" anchor="t" anchorCtr="0">
              <a:noAutofit/>
            </a:bodyPr>
            <a:lstStyle/>
            <a:p>
              <a:pPr marL="0" marR="0" lvl="0" indent="0" algn="l" rtl="0">
                <a:lnSpc>
                  <a:spcPct val="8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827" name="Shape 827"/>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8"/>
                                        </p:tgtEl>
                                        <p:attrNameLst>
                                          <p:attrName>style.visibility</p:attrName>
                                        </p:attrNameLst>
                                      </p:cBhvr>
                                      <p:to>
                                        <p:strVal val="visible"/>
                                      </p:to>
                                    </p:set>
                                    <p:animEffect transition="in" filter="fade">
                                      <p:cBhvr>
                                        <p:cTn id="7" dur="500"/>
                                        <p:tgtEl>
                                          <p:spTgt spid="8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7"/>
                                        </p:tgtEl>
                                        <p:attrNameLst>
                                          <p:attrName>style.visibility</p:attrName>
                                        </p:attrNameLst>
                                      </p:cBhvr>
                                      <p:to>
                                        <p:strVal val="visible"/>
                                      </p:to>
                                    </p:set>
                                    <p:animEffect transition="in" filter="fade">
                                      <p:cBhvr>
                                        <p:cTn id="12" dur="500"/>
                                        <p:tgtEl>
                                          <p:spTgt spid="81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1"/>
                                          </p:stCondLst>
                                        </p:cTn>
                                        <p:tgtEl>
                                          <p:spTgt spid="80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19"/>
                                        </p:tgtEl>
                                        <p:attrNameLst>
                                          <p:attrName>style.visibility</p:attrName>
                                        </p:attrNameLst>
                                      </p:cBhvr>
                                      <p:to>
                                        <p:strVal val="visible"/>
                                      </p:to>
                                    </p:set>
                                    <p:animEffect transition="in" filter="fade">
                                      <p:cBhvr>
                                        <p:cTn id="21" dur="500"/>
                                        <p:tgtEl>
                                          <p:spTgt spid="81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1"/>
                                          </p:stCondLst>
                                        </p:cTn>
                                        <p:tgtEl>
                                          <p:spTgt spid="805"/>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20"/>
                                        </p:tgtEl>
                                        <p:attrNameLst>
                                          <p:attrName>style.visibility</p:attrName>
                                        </p:attrNameLst>
                                      </p:cBhvr>
                                      <p:to>
                                        <p:strVal val="visible"/>
                                      </p:to>
                                    </p:set>
                                    <p:animEffect transition="in" filter="fade">
                                      <p:cBhvr>
                                        <p:cTn id="30" dur="500"/>
                                        <p:tgtEl>
                                          <p:spTgt spid="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831" name="Shape 831"/>
        <p:cNvGrpSpPr/>
        <p:nvPr/>
      </p:nvGrpSpPr>
      <p:grpSpPr>
        <a:xfrm>
          <a:off x="0" y="0"/>
          <a:ext cx="0" cy="0"/>
          <a:chOff x="0" y="0"/>
          <a:chExt cx="0" cy="0"/>
        </a:xfrm>
      </p:grpSpPr>
      <p:sp>
        <p:nvSpPr>
          <p:cNvPr id="832" name="Shape 832"/>
          <p:cNvSpPr txBox="1"/>
          <p:nvPr/>
        </p:nvSpPr>
        <p:spPr>
          <a:xfrm>
            <a:off x="250825" y="1628775"/>
            <a:ext cx="6400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33" name="Shape 833"/>
          <p:cNvSpPr txBox="1"/>
          <p:nvPr/>
        </p:nvSpPr>
        <p:spPr>
          <a:xfrm>
            <a:off x="385762" y="2162175"/>
            <a:ext cx="8229600" cy="4457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(i=d+1; i&lt;=n; i++)  //将r[i]插入到所属的子序列中</a:t>
            </a:r>
            <a:endParaRPr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r[0]=r[i];                  //暂存待插入记录 </a:t>
            </a:r>
            <a:endParaRPr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j=i-d;                   //j指向所属子序列的最后一个记录</a:t>
            </a:r>
            <a:endParaRPr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(j&gt;0 &amp;&amp; r[0]&lt;r[j])</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r[j+d]=r[j];       //记录后移d个位置</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j=j-d;                 //比较同一子序列的前一个记录</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r[j+d]=r[0];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34" name="Shape 834"/>
          <p:cNvSpPr txBox="1"/>
          <p:nvPr/>
        </p:nvSpPr>
        <p:spPr>
          <a:xfrm>
            <a:off x="206375" y="1089025"/>
            <a:ext cx="846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accent2"/>
                </a:solidFill>
                <a:latin typeface="Arial" panose="020B0604020202020204"/>
                <a:ea typeface="Arial" panose="020B0604020202020204"/>
                <a:cs typeface="Arial" panose="020B0604020202020204"/>
                <a:sym typeface="Arial" panose="020B0604020202020204"/>
              </a:rPr>
              <a:t>)子序列内如何进行直接插入排序？</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835" name="Shape 835"/>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839" name="Shape 839"/>
        <p:cNvGrpSpPr/>
        <p:nvPr/>
      </p:nvGrpSpPr>
      <p:grpSpPr>
        <a:xfrm>
          <a:off x="0" y="0"/>
          <a:ext cx="0" cy="0"/>
          <a:chOff x="0" y="0"/>
          <a:chExt cx="0" cy="0"/>
        </a:xfrm>
      </p:grpSpPr>
      <p:sp>
        <p:nvSpPr>
          <p:cNvPr id="840" name="Shape 840"/>
          <p:cNvSpPr txBox="1"/>
          <p:nvPr/>
        </p:nvSpPr>
        <p:spPr>
          <a:xfrm>
            <a:off x="206375" y="1133475"/>
            <a:ext cx="5354637"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希尔排序算法的时间性能</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41" name="Shape 841"/>
          <p:cNvSpPr txBox="1"/>
          <p:nvPr/>
        </p:nvSpPr>
        <p:spPr>
          <a:xfrm>
            <a:off x="431800" y="3878262"/>
            <a:ext cx="8461375" cy="23129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希尔排序算法的时间性能是所取</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增量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的函数，而到目前为止尚未有人求得一种最好的增量序列。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研究表明，希尔排序的时间性能在</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)和</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)之间。当</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在某个特定范围内，希尔排序所需的比较次数和记录的移动次数约为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0"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3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42" name="Shape 842"/>
          <p:cNvSpPr txBox="1"/>
          <p:nvPr/>
        </p:nvSpPr>
        <p:spPr>
          <a:xfrm>
            <a:off x="385762" y="1763712"/>
            <a:ext cx="8461375" cy="197167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希尔排序开始时增量较大，每个子序列中的记录个数较少，从而排序速度较快；当增量较小时，虽然每个子序列中记录个数较多，但整个序列已基本有序，排序速度也较快——缩小增量。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43" name="Shape 843"/>
          <p:cNvSpPr txBox="1"/>
          <p:nvPr/>
        </p:nvSpPr>
        <p:spPr>
          <a:xfrm>
            <a:off x="2482850" y="279400"/>
            <a:ext cx="36893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8.2  插入排序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847" name="Shape 847"/>
        <p:cNvGrpSpPr/>
        <p:nvPr/>
      </p:nvGrpSpPr>
      <p:grpSpPr>
        <a:xfrm>
          <a:off x="0" y="0"/>
          <a:ext cx="0" cy="0"/>
          <a:chOff x="0" y="0"/>
          <a:chExt cx="0" cy="0"/>
        </a:xfrm>
      </p:grpSpPr>
      <p:sp>
        <p:nvSpPr>
          <p:cNvPr id="848" name="Shape 848"/>
          <p:cNvSpPr txBox="1"/>
          <p:nvPr/>
        </p:nvSpPr>
        <p:spPr>
          <a:xfrm>
            <a:off x="476250" y="1493837"/>
            <a:ext cx="8345487" cy="2238375"/>
          </a:xfrm>
          <a:prstGeom prst="rect">
            <a:avLst/>
          </a:prstGeom>
          <a:noFill/>
          <a:ln>
            <a:noFill/>
          </a:ln>
        </p:spPr>
        <p:txBody>
          <a:bodyPr spcFirstLastPara="1" wrap="square" lIns="0" tIns="45700" rIns="0" bIns="45700" anchor="t" anchorCtr="0">
            <a:noAutofit/>
          </a:bodyPr>
          <a:lstStyle/>
          <a:p>
            <a:pPr marL="0" marR="0" lvl="0" indent="0" algn="l" rtl="0">
              <a:lnSpc>
                <a:spcPct val="110000"/>
              </a:lnSpc>
              <a:spcBef>
                <a:spcPts val="0"/>
              </a:spcBef>
              <a:spcAft>
                <a:spcPts val="0"/>
              </a:spcAft>
              <a:buClr>
                <a:schemeClr val="dk1"/>
              </a:buClr>
              <a:buSzPts val="3200"/>
              <a:buFont typeface="Arial" panose="020B0604020202020204"/>
              <a:buNone/>
            </a:pPr>
            <a:r>
              <a:rPr lang="en-US" sz="3200" b="1" i="0" u="none">
                <a:solidFill>
                  <a:schemeClr val="dk1"/>
                </a:solidFill>
                <a:latin typeface="Arial" panose="020B0604020202020204"/>
                <a:ea typeface="Arial" panose="020B0604020202020204"/>
                <a:cs typeface="Arial" panose="020B0604020202020204"/>
                <a:sym typeface="Arial" panose="020B0604020202020204"/>
              </a:rPr>
              <a:t>交换排序的主要操作是</a:t>
            </a:r>
            <a:r>
              <a:rPr lang="en-US" sz="3200" b="1" i="0" u="none">
                <a:solidFill>
                  <a:srgbClr val="FF3300"/>
                </a:solidFill>
                <a:latin typeface="Arial" panose="020B0604020202020204"/>
                <a:ea typeface="Arial" panose="020B0604020202020204"/>
                <a:cs typeface="Arial" panose="020B0604020202020204"/>
                <a:sym typeface="Arial" panose="020B0604020202020204"/>
              </a:rPr>
              <a:t>交换</a:t>
            </a:r>
            <a:r>
              <a:rPr lang="en-US" sz="3200" b="1" i="0" u="none">
                <a:solidFill>
                  <a:schemeClr val="dk1"/>
                </a:solidFill>
                <a:latin typeface="Arial" panose="020B0604020202020204"/>
                <a:ea typeface="Arial" panose="020B0604020202020204"/>
                <a:cs typeface="Arial" panose="020B0604020202020204"/>
                <a:sym typeface="Arial" panose="020B0604020202020204"/>
              </a:rPr>
              <a:t>，其主要思想是：在待排序列中选</a:t>
            </a:r>
            <a:r>
              <a:rPr lang="en-US" sz="3200" b="1" i="0" u="none">
                <a:solidFill>
                  <a:srgbClr val="FF3300"/>
                </a:solidFill>
                <a:latin typeface="Arial" panose="020B0604020202020204"/>
                <a:ea typeface="Arial" panose="020B0604020202020204"/>
                <a:cs typeface="Arial" panose="020B0604020202020204"/>
                <a:sym typeface="Arial" panose="020B0604020202020204"/>
              </a:rPr>
              <a:t>两个</a:t>
            </a:r>
            <a:r>
              <a:rPr lang="en-US" sz="3200" b="1" i="0" u="none">
                <a:solidFill>
                  <a:schemeClr val="dk1"/>
                </a:solidFill>
                <a:latin typeface="Arial" panose="020B0604020202020204"/>
                <a:ea typeface="Arial" panose="020B0604020202020204"/>
                <a:cs typeface="Arial" panose="020B0604020202020204"/>
                <a:sym typeface="Arial" panose="020B0604020202020204"/>
              </a:rPr>
              <a:t>记录，将它们的关键码相比较，如果</a:t>
            </a:r>
            <a:r>
              <a:rPr lang="en-US" sz="3200" b="1" i="0" u="none">
                <a:solidFill>
                  <a:srgbClr val="FF3300"/>
                </a:solidFill>
                <a:latin typeface="Arial" panose="020B0604020202020204"/>
                <a:ea typeface="Arial" panose="020B0604020202020204"/>
                <a:cs typeface="Arial" panose="020B0604020202020204"/>
                <a:sym typeface="Arial" panose="020B0604020202020204"/>
              </a:rPr>
              <a:t>反序</a:t>
            </a:r>
            <a:r>
              <a:rPr lang="en-US" sz="3200" b="1" i="0" u="none">
                <a:solidFill>
                  <a:schemeClr val="dk1"/>
                </a:solidFill>
                <a:latin typeface="Arial" panose="020B0604020202020204"/>
                <a:ea typeface="Arial" panose="020B0604020202020204"/>
                <a:cs typeface="Arial" panose="020B0604020202020204"/>
                <a:sym typeface="Arial" panose="020B0604020202020204"/>
              </a:rPr>
              <a:t>（即排列顺序与排序后的次序正好相反），则</a:t>
            </a:r>
            <a:r>
              <a:rPr lang="en-US" sz="3200" b="1" i="0" u="none">
                <a:solidFill>
                  <a:srgbClr val="FF3300"/>
                </a:solidFill>
                <a:latin typeface="Arial" panose="020B0604020202020204"/>
                <a:ea typeface="Arial" panose="020B0604020202020204"/>
                <a:cs typeface="Arial" panose="020B0604020202020204"/>
                <a:sym typeface="Arial" panose="020B0604020202020204"/>
              </a:rPr>
              <a:t>交换</a:t>
            </a:r>
            <a:r>
              <a:rPr lang="en-US" sz="3200" b="1" i="0" u="none">
                <a:solidFill>
                  <a:schemeClr val="dk1"/>
                </a:solidFill>
                <a:latin typeface="Arial" panose="020B0604020202020204"/>
                <a:ea typeface="Arial" panose="020B0604020202020204"/>
                <a:cs typeface="Arial" panose="020B0604020202020204"/>
                <a:sym typeface="Arial" panose="020B0604020202020204"/>
              </a:rPr>
              <a:t>它们的存储位置。</a:t>
            </a: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49" name="Shape 849"/>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50" name="Shape 850"/>
          <p:cNvSpPr txBox="1"/>
          <p:nvPr/>
        </p:nvSpPr>
        <p:spPr>
          <a:xfrm>
            <a:off x="3132137" y="4103687"/>
            <a:ext cx="1844675" cy="449262"/>
          </a:xfrm>
          <a:prstGeom prst="rect">
            <a:avLst/>
          </a:prstGeom>
          <a:noFill/>
          <a:ln>
            <a:noFill/>
          </a:ln>
        </p:spPr>
        <p:txBody>
          <a:bodyPr spcFirstLastPara="1" wrap="square" lIns="91425" tIns="45700" rIns="91425" bIns="0" anchor="t" anchorCtr="0">
            <a:no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反序则 交换</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51" name="Shape 851"/>
          <p:cNvGrpSpPr/>
          <p:nvPr/>
        </p:nvGrpSpPr>
        <p:grpSpPr>
          <a:xfrm>
            <a:off x="2058800" y="4508500"/>
            <a:ext cx="3934125" cy="706475"/>
            <a:chOff x="1473012" y="4868862"/>
            <a:chExt cx="3934125" cy="706475"/>
          </a:xfrm>
        </p:grpSpPr>
        <p:sp>
          <p:nvSpPr>
            <p:cNvPr id="852" name="Shape 852"/>
            <p:cNvSpPr/>
            <p:nvPr/>
          </p:nvSpPr>
          <p:spPr>
            <a:xfrm>
              <a:off x="1473012" y="4873637"/>
              <a:ext cx="700200" cy="7017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50000"/>
                </a:lnSpc>
                <a:spcBef>
                  <a:spcPts val="0"/>
                </a:spcBef>
                <a:spcAft>
                  <a:spcPts val="0"/>
                </a:spcAft>
                <a:buClr>
                  <a:srgbClr val="FFFFCC"/>
                </a:buClr>
                <a:buSzPts val="3200"/>
                <a:buFont typeface="Times New Roman" panose="02020603050405020304"/>
                <a:buNone/>
              </a:pPr>
              <a:r>
                <a:rPr lang="en-US" sz="3200" b="1" i="1" u="none">
                  <a:solidFill>
                    <a:srgbClr val="FFFFCC"/>
                  </a:solidFill>
                  <a:latin typeface="Times New Roman" panose="02020603050405020304"/>
                  <a:ea typeface="Times New Roman" panose="02020603050405020304"/>
                  <a:cs typeface="Times New Roman" panose="02020603050405020304"/>
                  <a:sym typeface="Times New Roman" panose="02020603050405020304"/>
                </a:rPr>
                <a:t>r</a:t>
              </a:r>
              <a:r>
                <a:rPr lang="en-US" sz="3200" b="1" i="1" u="none" baseline="-25000">
                  <a:solidFill>
                    <a:srgbClr val="FFFFCC"/>
                  </a:solidFill>
                  <a:latin typeface="Times New Roman" panose="02020603050405020304"/>
                  <a:ea typeface="Times New Roman" panose="02020603050405020304"/>
                  <a:cs typeface="Times New Roman" panose="02020603050405020304"/>
                  <a:sym typeface="Times New Roman" panose="02020603050405020304"/>
                </a:rPr>
                <a:t>i</a:t>
              </a:r>
              <a:endParaRPr lang="en-US" sz="3200" b="1" i="1" u="none" baseline="-25000">
                <a:solidFill>
                  <a:srgbClr val="FFFFCC"/>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853" name="Shape 853"/>
            <p:cNvCxnSpPr/>
            <p:nvPr/>
          </p:nvCxnSpPr>
          <p:spPr>
            <a:xfrm>
              <a:off x="2276475" y="5138737"/>
              <a:ext cx="2386012" cy="0"/>
            </a:xfrm>
            <a:prstGeom prst="straightConnector1">
              <a:avLst/>
            </a:prstGeom>
            <a:noFill/>
            <a:ln w="38100" cap="flat" cmpd="sng">
              <a:solidFill>
                <a:srgbClr val="008080"/>
              </a:solidFill>
              <a:prstDash val="solid"/>
              <a:miter lim="800000"/>
              <a:headEnd type="stealth" w="lg" len="lg"/>
              <a:tailEnd type="stealth" w="lg" len="lg"/>
            </a:ln>
          </p:spPr>
        </p:cxnSp>
        <p:sp>
          <p:nvSpPr>
            <p:cNvPr id="854" name="Shape 854"/>
            <p:cNvSpPr/>
            <p:nvPr/>
          </p:nvSpPr>
          <p:spPr>
            <a:xfrm>
              <a:off x="4706937" y="4868862"/>
              <a:ext cx="700200" cy="7017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50000"/>
                </a:lnSpc>
                <a:spcBef>
                  <a:spcPts val="0"/>
                </a:spcBef>
                <a:spcAft>
                  <a:spcPts val="0"/>
                </a:spcAft>
                <a:buClr>
                  <a:srgbClr val="FFFFCC"/>
                </a:buClr>
                <a:buSzPts val="3200"/>
                <a:buFont typeface="Times New Roman" panose="02020603050405020304"/>
                <a:buNone/>
              </a:pPr>
              <a:r>
                <a:rPr lang="en-US" sz="3200" b="1" i="1" u="none">
                  <a:solidFill>
                    <a:srgbClr val="FFFFCC"/>
                  </a:solidFill>
                  <a:latin typeface="Times New Roman" panose="02020603050405020304"/>
                  <a:ea typeface="Times New Roman" panose="02020603050405020304"/>
                  <a:cs typeface="Times New Roman" panose="02020603050405020304"/>
                  <a:sym typeface="Times New Roman" panose="02020603050405020304"/>
                </a:rPr>
                <a:t>r</a:t>
              </a:r>
              <a:r>
                <a:rPr lang="en-US" sz="3200" b="1" i="1" u="none" baseline="-25000">
                  <a:solidFill>
                    <a:srgbClr val="FFFFCC"/>
                  </a:solidFill>
                  <a:latin typeface="Times New Roman" panose="02020603050405020304"/>
                  <a:ea typeface="Times New Roman" panose="02020603050405020304"/>
                  <a:cs typeface="Times New Roman" panose="02020603050405020304"/>
                  <a:sym typeface="Times New Roman" panose="02020603050405020304"/>
                </a:rPr>
                <a:t>j</a:t>
              </a:r>
              <a:endParaRPr lang="en-US" sz="3200" b="1" i="1" u="none" baseline="-25000">
                <a:solidFill>
                  <a:srgbClr val="FFFFCC"/>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858" name="Shape 858"/>
        <p:cNvGrpSpPr/>
        <p:nvPr/>
      </p:nvGrpSpPr>
      <p:grpSpPr>
        <a:xfrm>
          <a:off x="0" y="0"/>
          <a:ext cx="0" cy="0"/>
          <a:chOff x="0" y="0"/>
          <a:chExt cx="0" cy="0"/>
        </a:xfrm>
      </p:grpSpPr>
      <p:sp>
        <p:nvSpPr>
          <p:cNvPr id="859" name="Shape 859"/>
          <p:cNvSpPr txBox="1"/>
          <p:nvPr/>
        </p:nvSpPr>
        <p:spPr>
          <a:xfrm>
            <a:off x="317500" y="1089025"/>
            <a:ext cx="5943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起泡排序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860" name="Shape 860"/>
          <p:cNvSpPr txBox="1"/>
          <p:nvPr/>
        </p:nvSpPr>
        <p:spPr>
          <a:xfrm>
            <a:off x="341312" y="1854200"/>
            <a:ext cx="7848600" cy="1031875"/>
          </a:xfrm>
          <a:prstGeom prst="rect">
            <a:avLst/>
          </a:prstGeom>
          <a:noFill/>
          <a:ln>
            <a:noFill/>
          </a:ln>
        </p:spPr>
        <p:txBody>
          <a:bodyPr spcFirstLastPara="1" wrap="square" lIns="0" tIns="45700" rIns="0" bIns="45700" anchor="t" anchorCtr="0">
            <a:noAutofit/>
          </a:bodyPr>
          <a:lstStyle/>
          <a:p>
            <a:pPr marL="0" marR="0" lvl="0" indent="0" algn="l" rtl="0">
              <a:lnSpc>
                <a:spcPct val="11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基本思想：</a:t>
            </a:r>
            <a:r>
              <a:rPr lang="en-US" sz="2800" b="1" i="0" u="none">
                <a:solidFill>
                  <a:schemeClr val="dk1"/>
                </a:solidFill>
                <a:latin typeface="Arial" panose="020B0604020202020204"/>
                <a:ea typeface="Arial" panose="020B0604020202020204"/>
                <a:cs typeface="Arial" panose="020B0604020202020204"/>
                <a:sym typeface="Arial" panose="020B0604020202020204"/>
              </a:rPr>
              <a:t>两两比较</a:t>
            </a:r>
            <a:r>
              <a:rPr lang="en-US" sz="2800" b="1" i="0" u="none">
                <a:solidFill>
                  <a:srgbClr val="FF3300"/>
                </a:solidFill>
                <a:latin typeface="Arial" panose="020B0604020202020204"/>
                <a:ea typeface="Arial" panose="020B0604020202020204"/>
                <a:cs typeface="Arial" panose="020B0604020202020204"/>
                <a:sym typeface="Arial" panose="020B0604020202020204"/>
              </a:rPr>
              <a:t>相邻</a:t>
            </a:r>
            <a:r>
              <a:rPr lang="en-US" sz="2800" b="1" i="0" u="none">
                <a:solidFill>
                  <a:schemeClr val="dk1"/>
                </a:solidFill>
                <a:latin typeface="Arial" panose="020B0604020202020204"/>
                <a:ea typeface="Arial" panose="020B0604020202020204"/>
                <a:cs typeface="Arial" panose="020B0604020202020204"/>
                <a:sym typeface="Arial" panose="020B0604020202020204"/>
              </a:rPr>
              <a:t>记录的关键码，如果反序则交换，直到没有反序的记录为止。</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61" name="Shape 861"/>
          <p:cNvGrpSpPr/>
          <p:nvPr/>
        </p:nvGrpSpPr>
        <p:grpSpPr>
          <a:xfrm>
            <a:off x="533400" y="3517900"/>
            <a:ext cx="8305800" cy="2438400"/>
            <a:chOff x="533400" y="3581400"/>
            <a:chExt cx="8305800" cy="2438400"/>
          </a:xfrm>
        </p:grpSpPr>
        <p:sp>
          <p:nvSpPr>
            <p:cNvPr id="862" name="Shape 862"/>
            <p:cNvSpPr txBox="1"/>
            <p:nvPr/>
          </p:nvSpPr>
          <p:spPr>
            <a:xfrm>
              <a:off x="533400" y="3629025"/>
              <a:ext cx="8305800" cy="2390775"/>
            </a:xfrm>
            <a:prstGeom prst="rect">
              <a:avLst/>
            </a:prstGeom>
            <a:noFill/>
            <a:ln>
              <a:noFill/>
            </a:ln>
          </p:spPr>
          <p:txBody>
            <a:bodyPr spcFirstLastPara="1" wrap="square" lIns="91425" tIns="45700" rIns="91425" bIns="0" anchor="t" anchorCtr="0">
              <a:noAutofit/>
            </a:bodyPr>
            <a:lstStyle/>
            <a:p>
              <a:pPr marL="0" marR="0" lvl="0" indent="0" algn="just" rtl="0">
                <a:lnSpc>
                  <a:spcPct val="100000"/>
                </a:lnSpc>
                <a:spcBef>
                  <a:spcPts val="0"/>
                </a:spcBef>
                <a:spcAft>
                  <a:spcPts val="0"/>
                </a:spcAft>
                <a:buClr>
                  <a:schemeClr val="dk1"/>
                </a:buClr>
                <a:buSzPts val="4000"/>
                <a:buFont typeface="Times New Roman" panose="02020603050405020304"/>
                <a:buNone/>
              </a:pP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40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40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a:t>
              </a:r>
              <a:r>
                <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40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 </a:t>
              </a:r>
              <a:r>
                <a:rPr lang="en-US" sz="4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4000" b="1" i="0" u="none" baseline="-25000">
                  <a:solidFill>
                    <a:schemeClr val="dk1"/>
                  </a:solidFill>
                  <a:latin typeface="Arial" panose="020B0604020202020204"/>
                  <a:ea typeface="Arial" panose="020B0604020202020204"/>
                  <a:cs typeface="Arial" panose="020B0604020202020204"/>
                  <a:sym typeface="Arial" panose="020B0604020202020204"/>
                </a:rPr>
                <a:t>-</a:t>
              </a:r>
              <a:r>
                <a:rPr lang="en-US" sz="40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 </a:t>
              </a:r>
              <a:r>
                <a:rPr lang="en-US" sz="4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40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r</a:t>
              </a:r>
              <a:r>
                <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40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3600"/>
                <a:buFont typeface="Times New Roman" panose="02020603050405020304"/>
                <a:buNone/>
              </a:pPr>
              <a:endParaRPr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6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无序区                       有序区</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6000"/>
                </a:lnSpc>
                <a:spcBef>
                  <a:spcPts val="0"/>
                </a:spcBef>
                <a:spcAft>
                  <a:spcPts val="0"/>
                </a:spcAft>
                <a:buClr>
                  <a:schemeClr val="dk1"/>
                </a:buClr>
                <a:buSzPts val="3600"/>
                <a:buFont typeface="Times New Roman" panose="02020603050405020304"/>
                <a:buNone/>
              </a:pP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1≤</a:t>
              </a:r>
              <a:r>
                <a:rPr lang="en-US" sz="36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36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3600" b="1" i="0" u="none">
                  <a:solidFill>
                    <a:schemeClr val="dk1"/>
                  </a:solidFill>
                  <a:latin typeface="Arial" panose="020B0604020202020204"/>
                  <a:ea typeface="Arial" panose="020B0604020202020204"/>
                  <a:cs typeface="Arial" panose="020B0604020202020204"/>
                  <a:sym typeface="Arial" panose="020B0604020202020204"/>
                </a:rPr>
                <a:t>-</a:t>
              </a:r>
              <a:r>
                <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已经位于最终位置</a:t>
              </a:r>
              <a:endParaRPr lang="en-US" sz="3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63" name="Shape 863"/>
            <p:cNvGrpSpPr/>
            <p:nvPr/>
          </p:nvGrpSpPr>
          <p:grpSpPr>
            <a:xfrm>
              <a:off x="914400" y="3581400"/>
              <a:ext cx="7090042" cy="1270276"/>
              <a:chOff x="914400" y="3581400"/>
              <a:chExt cx="7090042" cy="1270276"/>
            </a:xfrm>
          </p:grpSpPr>
          <p:sp>
            <p:nvSpPr>
              <p:cNvPr id="864" name="Shape 864"/>
              <p:cNvSpPr/>
              <p:nvPr/>
            </p:nvSpPr>
            <p:spPr>
              <a:xfrm rot="-5460000">
                <a:off x="5514975" y="2319337"/>
                <a:ext cx="614362" cy="4354512"/>
              </a:xfrm>
              <a:prstGeom prst="leftBrace">
                <a:avLst>
                  <a:gd name="adj1" fmla="val 8333"/>
                  <a:gd name="adj2" fmla="val 10787"/>
                </a:avLst>
              </a:prstGeom>
              <a:solidFill>
                <a:srgbClr val="FFFFFF"/>
              </a:solidFill>
              <a:ln w="381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865" name="Shape 865"/>
              <p:cNvCxnSpPr/>
              <p:nvPr/>
            </p:nvCxnSpPr>
            <p:spPr>
              <a:xfrm>
                <a:off x="3378200" y="3802062"/>
                <a:ext cx="0" cy="744537"/>
              </a:xfrm>
              <a:prstGeom prst="straightConnector1">
                <a:avLst/>
              </a:prstGeom>
              <a:noFill/>
              <a:ln w="38100" cap="flat" cmpd="sng">
                <a:solidFill>
                  <a:srgbClr val="6600FF"/>
                </a:solidFill>
                <a:prstDash val="solid"/>
                <a:miter lim="800000"/>
                <a:headEnd type="none" w="med" len="med"/>
                <a:tailEnd type="none" w="med" len="med"/>
              </a:ln>
            </p:spPr>
          </p:cxnSp>
          <p:sp>
            <p:nvSpPr>
              <p:cNvPr id="866" name="Shape 866"/>
              <p:cNvSpPr txBox="1"/>
              <p:nvPr/>
            </p:nvSpPr>
            <p:spPr>
              <a:xfrm>
                <a:off x="914400" y="3581400"/>
                <a:ext cx="1790700" cy="381000"/>
              </a:xfrm>
              <a:prstGeom prst="rect">
                <a:avLst/>
              </a:prstGeom>
              <a:noFill/>
              <a:ln>
                <a:noFill/>
              </a:ln>
            </p:spPr>
            <p:txBody>
              <a:bodyPr spcFirstLastPara="1" wrap="square" lIns="0" tIns="0" rIns="0" bIns="0" anchor="t" anchorCtr="0">
                <a:no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反序则交换</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7" name="Shape 867"/>
              <p:cNvSpPr/>
              <p:nvPr/>
            </p:nvSpPr>
            <p:spPr>
              <a:xfrm rot="-5460000">
                <a:off x="1791493" y="3593306"/>
                <a:ext cx="444500" cy="2036762"/>
              </a:xfrm>
              <a:prstGeom prst="leftBrace">
                <a:avLst>
                  <a:gd name="adj1" fmla="val 8333"/>
                  <a:gd name="adj2" fmla="val 10792"/>
                </a:avLst>
              </a:prstGeom>
              <a:solidFill>
                <a:srgbClr val="FFFFFF"/>
              </a:solidFill>
              <a:ln w="38100"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868" name="Shape 868"/>
              <p:cNvCxnSpPr/>
              <p:nvPr/>
            </p:nvCxnSpPr>
            <p:spPr>
              <a:xfrm>
                <a:off x="1030287" y="4133850"/>
                <a:ext cx="1325562" cy="0"/>
              </a:xfrm>
              <a:prstGeom prst="straightConnector1">
                <a:avLst/>
              </a:prstGeom>
              <a:noFill/>
              <a:ln w="38100" cap="flat" cmpd="sng">
                <a:solidFill>
                  <a:srgbClr val="000000"/>
                </a:solidFill>
                <a:prstDash val="solid"/>
                <a:miter lim="800000"/>
                <a:headEnd type="stealth" w="med" len="med"/>
                <a:tailEnd type="stealth" w="med" len="med"/>
              </a:ln>
            </p:spPr>
          </p:cxnSp>
        </p:grpSp>
      </p:grpSp>
      <p:sp>
        <p:nvSpPr>
          <p:cNvPr id="869" name="Shape 869"/>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873" name="Shape 873"/>
        <p:cNvGrpSpPr/>
        <p:nvPr/>
      </p:nvGrpSpPr>
      <p:grpSpPr>
        <a:xfrm>
          <a:off x="0" y="0"/>
          <a:ext cx="0" cy="0"/>
          <a:chOff x="0" y="0"/>
          <a:chExt cx="0" cy="0"/>
        </a:xfrm>
      </p:grpSpPr>
      <p:sp>
        <p:nvSpPr>
          <p:cNvPr id="874" name="Shape 874"/>
          <p:cNvSpPr/>
          <p:nvPr/>
        </p:nvSpPr>
        <p:spPr>
          <a:xfrm>
            <a:off x="1376362" y="238601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75" name="Shape 875"/>
          <p:cNvSpPr/>
          <p:nvPr/>
        </p:nvSpPr>
        <p:spPr>
          <a:xfrm>
            <a:off x="6911975" y="1755775"/>
            <a:ext cx="533400" cy="10652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876" name="Shape 876"/>
          <p:cNvSpPr/>
          <p:nvPr/>
        </p:nvSpPr>
        <p:spPr>
          <a:xfrm>
            <a:off x="4175125" y="234473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77" name="Shape 877"/>
          <p:cNvSpPr/>
          <p:nvPr/>
        </p:nvSpPr>
        <p:spPr>
          <a:xfrm>
            <a:off x="2322512" y="1933575"/>
            <a:ext cx="533400" cy="8572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78" name="Shape 878"/>
          <p:cNvSpPr/>
          <p:nvPr/>
        </p:nvSpPr>
        <p:spPr>
          <a:xfrm>
            <a:off x="5062537" y="215582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79" name="Shape 879"/>
          <p:cNvSpPr/>
          <p:nvPr/>
        </p:nvSpPr>
        <p:spPr>
          <a:xfrm>
            <a:off x="6011862" y="206851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880" name="Shape 880"/>
          <p:cNvSpPr/>
          <p:nvPr/>
        </p:nvSpPr>
        <p:spPr>
          <a:xfrm>
            <a:off x="3267075" y="1855787"/>
            <a:ext cx="533400" cy="942975"/>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81" name="Shape 881"/>
          <p:cNvSpPr txBox="1"/>
          <p:nvPr>
            <p:ph type="title"/>
          </p:nvPr>
        </p:nvSpPr>
        <p:spPr>
          <a:xfrm>
            <a:off x="206375" y="1133475"/>
            <a:ext cx="5029200" cy="547687"/>
          </a:xfrm>
          <a:prstGeom prst="rect">
            <a:avLst/>
          </a:prstGeom>
          <a:noFill/>
          <a:ln>
            <a:noFill/>
          </a:ln>
          <a:effectLst>
            <a:outerShdw blurRad="63500" dist="28398" dir="1593903">
              <a:schemeClr val="lt2"/>
            </a:outerShdw>
          </a:effectLst>
        </p:spPr>
        <p:txBody>
          <a:bodyPr spcFirstLastPara="1" wrap="square" lIns="91425" tIns="0" rIns="91425" bIns="0" anchor="b"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strike="noStrike" cap="none">
                <a:solidFill>
                  <a:schemeClr val="accent2"/>
                </a:solidFill>
                <a:latin typeface="Arial" panose="020B0604020202020204"/>
                <a:ea typeface="Arial" panose="020B0604020202020204"/>
                <a:cs typeface="Arial" panose="020B0604020202020204"/>
                <a:sym typeface="Arial" panose="020B0604020202020204"/>
              </a:rPr>
              <a:t>起泡排序过程示例</a:t>
            </a:r>
            <a:r>
              <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strike="noStrike" cap="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882" name="Shape 882"/>
          <p:cNvGrpSpPr/>
          <p:nvPr/>
        </p:nvGrpSpPr>
        <p:grpSpPr>
          <a:xfrm>
            <a:off x="1968500" y="2622550"/>
            <a:ext cx="4892675" cy="19050"/>
            <a:chOff x="1968500" y="2622550"/>
            <a:chExt cx="4892675" cy="19050"/>
          </a:xfrm>
        </p:grpSpPr>
        <p:cxnSp>
          <p:nvCxnSpPr>
            <p:cNvPr id="883" name="Shape 883"/>
            <p:cNvCxnSpPr/>
            <p:nvPr/>
          </p:nvCxnSpPr>
          <p:spPr>
            <a:xfrm>
              <a:off x="2882900" y="26225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84" name="Shape 884"/>
            <p:cNvCxnSpPr/>
            <p:nvPr/>
          </p:nvCxnSpPr>
          <p:spPr>
            <a:xfrm>
              <a:off x="3813175" y="26225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85" name="Shape 885"/>
            <p:cNvCxnSpPr/>
            <p:nvPr/>
          </p:nvCxnSpPr>
          <p:spPr>
            <a:xfrm>
              <a:off x="4703762" y="2625725"/>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86" name="Shape 886"/>
            <p:cNvCxnSpPr/>
            <p:nvPr/>
          </p:nvCxnSpPr>
          <p:spPr>
            <a:xfrm>
              <a:off x="5627687" y="2641600"/>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87" name="Shape 887"/>
            <p:cNvCxnSpPr/>
            <p:nvPr/>
          </p:nvCxnSpPr>
          <p:spPr>
            <a:xfrm>
              <a:off x="6556375" y="26352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88" name="Shape 888"/>
            <p:cNvCxnSpPr/>
            <p:nvPr/>
          </p:nvCxnSpPr>
          <p:spPr>
            <a:xfrm>
              <a:off x="1968500" y="26225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grpSp>
        <p:nvGrpSpPr>
          <p:cNvPr id="889" name="Shape 889"/>
          <p:cNvGrpSpPr/>
          <p:nvPr/>
        </p:nvGrpSpPr>
        <p:grpSpPr>
          <a:xfrm>
            <a:off x="1376362" y="2928937"/>
            <a:ext cx="6069013" cy="1065212"/>
            <a:chOff x="1376362" y="2928937"/>
            <a:chExt cx="6069013" cy="1065212"/>
          </a:xfrm>
        </p:grpSpPr>
        <p:sp>
          <p:nvSpPr>
            <p:cNvPr id="890" name="Shape 890"/>
            <p:cNvSpPr/>
            <p:nvPr/>
          </p:nvSpPr>
          <p:spPr>
            <a:xfrm>
              <a:off x="1376362" y="3559175"/>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91" name="Shape 891"/>
            <p:cNvSpPr/>
            <p:nvPr/>
          </p:nvSpPr>
          <p:spPr>
            <a:xfrm>
              <a:off x="6911975" y="2928937"/>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892" name="Shape 892"/>
            <p:cNvSpPr/>
            <p:nvPr/>
          </p:nvSpPr>
          <p:spPr>
            <a:xfrm>
              <a:off x="3238500" y="3517900"/>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93" name="Shape 893"/>
            <p:cNvSpPr/>
            <p:nvPr/>
          </p:nvSpPr>
          <p:spPr>
            <a:xfrm>
              <a:off x="2322512" y="3106737"/>
              <a:ext cx="533400" cy="8572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94" name="Shape 894"/>
            <p:cNvSpPr/>
            <p:nvPr/>
          </p:nvSpPr>
          <p:spPr>
            <a:xfrm>
              <a:off x="4125912" y="3328987"/>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895" name="Shape 895"/>
            <p:cNvSpPr/>
            <p:nvPr/>
          </p:nvSpPr>
          <p:spPr>
            <a:xfrm>
              <a:off x="5075237" y="3241675"/>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896" name="Shape 896"/>
            <p:cNvSpPr/>
            <p:nvPr/>
          </p:nvSpPr>
          <p:spPr>
            <a:xfrm>
              <a:off x="6011862" y="3043237"/>
              <a:ext cx="533400" cy="942975"/>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897" name="Shape 897"/>
          <p:cNvGrpSpPr/>
          <p:nvPr/>
        </p:nvGrpSpPr>
        <p:grpSpPr>
          <a:xfrm>
            <a:off x="1968500" y="3795712"/>
            <a:ext cx="3987800" cy="19050"/>
            <a:chOff x="1968500" y="3795712"/>
            <a:chExt cx="3987800" cy="19050"/>
          </a:xfrm>
        </p:grpSpPr>
        <p:cxnSp>
          <p:nvCxnSpPr>
            <p:cNvPr id="898" name="Shape 898"/>
            <p:cNvCxnSpPr/>
            <p:nvPr/>
          </p:nvCxnSpPr>
          <p:spPr>
            <a:xfrm>
              <a:off x="5651500" y="381000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899" name="Shape 899"/>
            <p:cNvCxnSpPr/>
            <p:nvPr/>
          </p:nvCxnSpPr>
          <p:spPr>
            <a:xfrm>
              <a:off x="2876550" y="379571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00" name="Shape 900"/>
            <p:cNvCxnSpPr/>
            <p:nvPr/>
          </p:nvCxnSpPr>
          <p:spPr>
            <a:xfrm>
              <a:off x="3767137" y="3798887"/>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01" name="Shape 901"/>
            <p:cNvCxnSpPr/>
            <p:nvPr/>
          </p:nvCxnSpPr>
          <p:spPr>
            <a:xfrm>
              <a:off x="4691062" y="3814762"/>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02" name="Shape 902"/>
            <p:cNvCxnSpPr/>
            <p:nvPr/>
          </p:nvCxnSpPr>
          <p:spPr>
            <a:xfrm>
              <a:off x="1968500" y="379571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grpSp>
        <p:nvGrpSpPr>
          <p:cNvPr id="903" name="Shape 903"/>
          <p:cNvGrpSpPr/>
          <p:nvPr/>
        </p:nvGrpSpPr>
        <p:grpSpPr>
          <a:xfrm>
            <a:off x="1389062" y="4092575"/>
            <a:ext cx="6069013" cy="1069975"/>
            <a:chOff x="1389062" y="4092575"/>
            <a:chExt cx="6069013" cy="1069975"/>
          </a:xfrm>
        </p:grpSpPr>
        <p:sp>
          <p:nvSpPr>
            <p:cNvPr id="904" name="Shape 904"/>
            <p:cNvSpPr/>
            <p:nvPr/>
          </p:nvSpPr>
          <p:spPr>
            <a:xfrm>
              <a:off x="1389062" y="472281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05" name="Shape 905"/>
            <p:cNvSpPr/>
            <p:nvPr/>
          </p:nvSpPr>
          <p:spPr>
            <a:xfrm>
              <a:off x="6924675" y="4092575"/>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06" name="Shape 906"/>
            <p:cNvSpPr/>
            <p:nvPr/>
          </p:nvSpPr>
          <p:spPr>
            <a:xfrm>
              <a:off x="2298700" y="468153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07" name="Shape 907"/>
            <p:cNvSpPr/>
            <p:nvPr/>
          </p:nvSpPr>
          <p:spPr>
            <a:xfrm>
              <a:off x="5083175" y="4305300"/>
              <a:ext cx="533400" cy="8572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08" name="Shape 908"/>
            <p:cNvSpPr/>
            <p:nvPr/>
          </p:nvSpPr>
          <p:spPr>
            <a:xfrm>
              <a:off x="3186112" y="449262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09" name="Shape 909"/>
            <p:cNvSpPr/>
            <p:nvPr/>
          </p:nvSpPr>
          <p:spPr>
            <a:xfrm>
              <a:off x="4135437" y="440531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10" name="Shape 910"/>
            <p:cNvSpPr/>
            <p:nvPr/>
          </p:nvSpPr>
          <p:spPr>
            <a:xfrm>
              <a:off x="6024562" y="4206875"/>
              <a:ext cx="533400" cy="942975"/>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911" name="Shape 911"/>
          <p:cNvGrpSpPr/>
          <p:nvPr/>
        </p:nvGrpSpPr>
        <p:grpSpPr>
          <a:xfrm>
            <a:off x="1936750" y="4959350"/>
            <a:ext cx="3097212" cy="34925"/>
            <a:chOff x="1936750" y="4959350"/>
            <a:chExt cx="3097212" cy="34925"/>
          </a:xfrm>
        </p:grpSpPr>
        <p:cxnSp>
          <p:nvCxnSpPr>
            <p:cNvPr id="912" name="Shape 912"/>
            <p:cNvCxnSpPr/>
            <p:nvPr/>
          </p:nvCxnSpPr>
          <p:spPr>
            <a:xfrm>
              <a:off x="1936750" y="49593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13" name="Shape 913"/>
            <p:cNvCxnSpPr/>
            <p:nvPr/>
          </p:nvCxnSpPr>
          <p:spPr>
            <a:xfrm>
              <a:off x="2827337" y="4962525"/>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14" name="Shape 914"/>
            <p:cNvCxnSpPr/>
            <p:nvPr/>
          </p:nvCxnSpPr>
          <p:spPr>
            <a:xfrm>
              <a:off x="3751262" y="4978400"/>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15" name="Shape 915"/>
            <p:cNvCxnSpPr/>
            <p:nvPr/>
          </p:nvCxnSpPr>
          <p:spPr>
            <a:xfrm>
              <a:off x="4729162" y="4994275"/>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grpSp>
        <p:nvGrpSpPr>
          <p:cNvPr id="916" name="Shape 916"/>
          <p:cNvGrpSpPr/>
          <p:nvPr/>
        </p:nvGrpSpPr>
        <p:grpSpPr>
          <a:xfrm>
            <a:off x="1398587" y="5375275"/>
            <a:ext cx="6069013" cy="1069975"/>
            <a:chOff x="1398587" y="5375275"/>
            <a:chExt cx="6069013" cy="1069975"/>
          </a:xfrm>
        </p:grpSpPr>
        <p:sp>
          <p:nvSpPr>
            <p:cNvPr id="917" name="Shape 917"/>
            <p:cNvSpPr/>
            <p:nvPr/>
          </p:nvSpPr>
          <p:spPr>
            <a:xfrm>
              <a:off x="1398587" y="600551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18" name="Shape 918"/>
            <p:cNvSpPr/>
            <p:nvPr/>
          </p:nvSpPr>
          <p:spPr>
            <a:xfrm>
              <a:off x="6934200" y="5375275"/>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19" name="Shape 919"/>
            <p:cNvSpPr/>
            <p:nvPr/>
          </p:nvSpPr>
          <p:spPr>
            <a:xfrm>
              <a:off x="2308225" y="596423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20" name="Shape 920"/>
            <p:cNvSpPr/>
            <p:nvPr/>
          </p:nvSpPr>
          <p:spPr>
            <a:xfrm>
              <a:off x="5092700" y="5588000"/>
              <a:ext cx="533400" cy="85725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21" name="Shape 921"/>
            <p:cNvSpPr/>
            <p:nvPr/>
          </p:nvSpPr>
          <p:spPr>
            <a:xfrm>
              <a:off x="3195637" y="577532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22" name="Shape 922"/>
            <p:cNvSpPr/>
            <p:nvPr/>
          </p:nvSpPr>
          <p:spPr>
            <a:xfrm>
              <a:off x="4144962" y="568801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23" name="Shape 923"/>
            <p:cNvSpPr/>
            <p:nvPr/>
          </p:nvSpPr>
          <p:spPr>
            <a:xfrm>
              <a:off x="6034087" y="5489575"/>
              <a:ext cx="533400" cy="942975"/>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924" name="Shape 924"/>
          <p:cNvGrpSpPr/>
          <p:nvPr/>
        </p:nvGrpSpPr>
        <p:grpSpPr>
          <a:xfrm>
            <a:off x="1946275" y="6242050"/>
            <a:ext cx="2146299" cy="19050"/>
            <a:chOff x="1946275" y="6242050"/>
            <a:chExt cx="2146299" cy="19050"/>
          </a:xfrm>
        </p:grpSpPr>
        <p:cxnSp>
          <p:nvCxnSpPr>
            <p:cNvPr id="925" name="Shape 925"/>
            <p:cNvCxnSpPr/>
            <p:nvPr/>
          </p:nvCxnSpPr>
          <p:spPr>
            <a:xfrm>
              <a:off x="1946275" y="62420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26" name="Shape 926"/>
            <p:cNvCxnSpPr/>
            <p:nvPr/>
          </p:nvCxnSpPr>
          <p:spPr>
            <a:xfrm>
              <a:off x="2836862" y="6245225"/>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927" name="Shape 927"/>
            <p:cNvCxnSpPr/>
            <p:nvPr/>
          </p:nvCxnSpPr>
          <p:spPr>
            <a:xfrm>
              <a:off x="3760787" y="6261100"/>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sp>
        <p:nvSpPr>
          <p:cNvPr id="928" name="Shape 928"/>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932" name="Shape 932"/>
        <p:cNvGrpSpPr/>
        <p:nvPr/>
      </p:nvGrpSpPr>
      <p:grpSpPr>
        <a:xfrm>
          <a:off x="0" y="0"/>
          <a:ext cx="0" cy="0"/>
          <a:chOff x="0" y="0"/>
          <a:chExt cx="0" cy="0"/>
        </a:xfrm>
      </p:grpSpPr>
      <p:sp>
        <p:nvSpPr>
          <p:cNvPr id="933" name="Shape 933"/>
          <p:cNvSpPr txBox="1"/>
          <p:nvPr/>
        </p:nvSpPr>
        <p:spPr>
          <a:xfrm>
            <a:off x="385762" y="2754312"/>
            <a:ext cx="8326437" cy="2655887"/>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 在一趟起泡排序中，若有多个记录位于最终位置，应如何记载？</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 如何确定起泡排序的范围，使得已经位于最终位置的记录不参与下一趟排序？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⑶ 如何判别起泡排序的结束？</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934" name="Shape 934"/>
          <p:cNvGrpSpPr/>
          <p:nvPr/>
        </p:nvGrpSpPr>
        <p:grpSpPr>
          <a:xfrm>
            <a:off x="431800" y="2033587"/>
            <a:ext cx="6604000" cy="542925"/>
            <a:chOff x="522287" y="3249612"/>
            <a:chExt cx="6604000" cy="542925"/>
          </a:xfrm>
        </p:grpSpPr>
        <p:sp>
          <p:nvSpPr>
            <p:cNvPr id="935" name="Shape 935"/>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936" name="Shape 936"/>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937" name="Shape 937"/>
          <p:cNvSpPr txBox="1"/>
          <p:nvPr/>
        </p:nvSpPr>
        <p:spPr>
          <a:xfrm>
            <a:off x="317500" y="1089025"/>
            <a:ext cx="5943600" cy="579437"/>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起泡排序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938" name="Shape 938"/>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942" name="Shape 942"/>
        <p:cNvGrpSpPr/>
        <p:nvPr/>
      </p:nvGrpSpPr>
      <p:grpSpPr>
        <a:xfrm>
          <a:off x="0" y="0"/>
          <a:ext cx="0" cy="0"/>
          <a:chOff x="0" y="0"/>
          <a:chExt cx="0" cy="0"/>
        </a:xfrm>
      </p:grpSpPr>
      <p:sp>
        <p:nvSpPr>
          <p:cNvPr id="943" name="Shape 943"/>
          <p:cNvSpPr txBox="1"/>
          <p:nvPr/>
        </p:nvSpPr>
        <p:spPr>
          <a:xfrm>
            <a:off x="187325" y="1673225"/>
            <a:ext cx="8956675"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设变量exchange记载记录交换的位置，则一趟排序后，exchange记载的一定是这一趟排序中记录的最后一次交换的位置，且从此位置以后的所有记录均已经有序。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44" name="Shape 944"/>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关键问题⑴：如何记载一趟排序过程中交换的多个记录？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945" name="Shape 945"/>
          <p:cNvGrpSpPr/>
          <p:nvPr/>
        </p:nvGrpSpPr>
        <p:grpSpPr>
          <a:xfrm>
            <a:off x="1322387" y="4497387"/>
            <a:ext cx="6069013" cy="1065212"/>
            <a:chOff x="1376362" y="2928937"/>
            <a:chExt cx="6069013" cy="1065212"/>
          </a:xfrm>
        </p:grpSpPr>
        <p:sp>
          <p:nvSpPr>
            <p:cNvPr id="946" name="Shape 946"/>
            <p:cNvSpPr/>
            <p:nvPr/>
          </p:nvSpPr>
          <p:spPr>
            <a:xfrm>
              <a:off x="1376362" y="3559175"/>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47" name="Shape 947"/>
            <p:cNvSpPr/>
            <p:nvPr/>
          </p:nvSpPr>
          <p:spPr>
            <a:xfrm>
              <a:off x="6911975" y="2928937"/>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48" name="Shape 948"/>
            <p:cNvSpPr/>
            <p:nvPr/>
          </p:nvSpPr>
          <p:spPr>
            <a:xfrm>
              <a:off x="3238500" y="3517900"/>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49" name="Shape 949"/>
            <p:cNvSpPr/>
            <p:nvPr/>
          </p:nvSpPr>
          <p:spPr>
            <a:xfrm>
              <a:off x="2322512" y="3106737"/>
              <a:ext cx="533400" cy="8572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50" name="Shape 950"/>
            <p:cNvSpPr/>
            <p:nvPr/>
          </p:nvSpPr>
          <p:spPr>
            <a:xfrm>
              <a:off x="4125912" y="3328987"/>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51" name="Shape 951"/>
            <p:cNvSpPr/>
            <p:nvPr/>
          </p:nvSpPr>
          <p:spPr>
            <a:xfrm>
              <a:off x="5075237" y="3241675"/>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52" name="Shape 952"/>
            <p:cNvSpPr/>
            <p:nvPr/>
          </p:nvSpPr>
          <p:spPr>
            <a:xfrm>
              <a:off x="6011862" y="3043237"/>
              <a:ext cx="533400" cy="942975"/>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953" name="Shape 953"/>
          <p:cNvGrpSpPr/>
          <p:nvPr/>
        </p:nvGrpSpPr>
        <p:grpSpPr>
          <a:xfrm>
            <a:off x="1335087" y="5364162"/>
            <a:ext cx="884238" cy="1322387"/>
            <a:chOff x="1389062" y="3382962"/>
            <a:chExt cx="884238" cy="1322387"/>
          </a:xfrm>
        </p:grpSpPr>
        <p:cxnSp>
          <p:nvCxnSpPr>
            <p:cNvPr id="954" name="Shape 954"/>
            <p:cNvCxnSpPr/>
            <p:nvPr/>
          </p:nvCxnSpPr>
          <p:spPr>
            <a:xfrm>
              <a:off x="1968500" y="338296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955" name="Shape 955"/>
            <p:cNvSpPr/>
            <p:nvPr/>
          </p:nvSpPr>
          <p:spPr>
            <a:xfrm>
              <a:off x="1389062" y="431006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956" name="Shape 956"/>
          <p:cNvGrpSpPr/>
          <p:nvPr/>
        </p:nvGrpSpPr>
        <p:grpSpPr>
          <a:xfrm>
            <a:off x="5029200" y="5661025"/>
            <a:ext cx="2374900" cy="1069975"/>
            <a:chOff x="5083175" y="3679825"/>
            <a:chExt cx="2374900" cy="1069975"/>
          </a:xfrm>
        </p:grpSpPr>
        <p:sp>
          <p:nvSpPr>
            <p:cNvPr id="957" name="Shape 957"/>
            <p:cNvSpPr/>
            <p:nvPr/>
          </p:nvSpPr>
          <p:spPr>
            <a:xfrm>
              <a:off x="6924675" y="3679825"/>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58" name="Shape 958"/>
            <p:cNvSpPr/>
            <p:nvPr/>
          </p:nvSpPr>
          <p:spPr>
            <a:xfrm>
              <a:off x="5083175" y="3892550"/>
              <a:ext cx="533400" cy="85725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59" name="Shape 959"/>
            <p:cNvSpPr/>
            <p:nvPr/>
          </p:nvSpPr>
          <p:spPr>
            <a:xfrm>
              <a:off x="6024562" y="3794125"/>
              <a:ext cx="533400" cy="942975"/>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cxnSp>
        <p:nvCxnSpPr>
          <p:cNvPr id="960" name="Shape 960"/>
          <p:cNvCxnSpPr/>
          <p:nvPr/>
        </p:nvCxnSpPr>
        <p:spPr>
          <a:xfrm>
            <a:off x="5581650" y="5383212"/>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nvGrpSpPr>
          <p:cNvPr id="961" name="Shape 961"/>
          <p:cNvGrpSpPr/>
          <p:nvPr/>
        </p:nvGrpSpPr>
        <p:grpSpPr>
          <a:xfrm>
            <a:off x="2244725" y="3700462"/>
            <a:ext cx="1417637" cy="2995612"/>
            <a:chOff x="2298700" y="1719262"/>
            <a:chExt cx="1417637" cy="2995612"/>
          </a:xfrm>
        </p:grpSpPr>
        <p:cxnSp>
          <p:nvCxnSpPr>
            <p:cNvPr id="962" name="Shape 962"/>
            <p:cNvCxnSpPr/>
            <p:nvPr/>
          </p:nvCxnSpPr>
          <p:spPr>
            <a:xfrm>
              <a:off x="2876550" y="338296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963" name="Shape 963"/>
            <p:cNvSpPr/>
            <p:nvPr/>
          </p:nvSpPr>
          <p:spPr>
            <a:xfrm>
              <a:off x="2298700" y="426878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cxnSp>
          <p:nvCxnSpPr>
            <p:cNvPr id="964" name="Shape 964"/>
            <p:cNvCxnSpPr/>
            <p:nvPr/>
          </p:nvCxnSpPr>
          <p:spPr>
            <a:xfrm>
              <a:off x="3041650" y="2184400"/>
              <a:ext cx="0" cy="790575"/>
            </a:xfrm>
            <a:prstGeom prst="straightConnector1">
              <a:avLst/>
            </a:prstGeom>
            <a:noFill/>
            <a:ln w="38100" cap="flat" cmpd="sng">
              <a:solidFill>
                <a:schemeClr val="accent2"/>
              </a:solidFill>
              <a:prstDash val="solid"/>
              <a:miter lim="800000"/>
              <a:headEnd type="none" w="med" len="med"/>
              <a:tailEnd type="stealth" w="lg" len="lg"/>
            </a:ln>
          </p:spPr>
        </p:cxnSp>
        <p:sp>
          <p:nvSpPr>
            <p:cNvPr id="965" name="Shape 965"/>
            <p:cNvSpPr txBox="1"/>
            <p:nvPr/>
          </p:nvSpPr>
          <p:spPr>
            <a:xfrm>
              <a:off x="2636837" y="1719262"/>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966" name="Shape 966"/>
          <p:cNvGrpSpPr/>
          <p:nvPr/>
        </p:nvGrpSpPr>
        <p:grpSpPr>
          <a:xfrm>
            <a:off x="3132137" y="3697287"/>
            <a:ext cx="1417638" cy="2997200"/>
            <a:chOff x="3186112" y="1716087"/>
            <a:chExt cx="1417638" cy="2997200"/>
          </a:xfrm>
        </p:grpSpPr>
        <p:cxnSp>
          <p:nvCxnSpPr>
            <p:cNvPr id="967" name="Shape 967"/>
            <p:cNvCxnSpPr/>
            <p:nvPr/>
          </p:nvCxnSpPr>
          <p:spPr>
            <a:xfrm>
              <a:off x="3767137" y="3386137"/>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968" name="Shape 968"/>
            <p:cNvSpPr/>
            <p:nvPr/>
          </p:nvSpPr>
          <p:spPr>
            <a:xfrm>
              <a:off x="3186112" y="407987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cxnSp>
          <p:nvCxnSpPr>
            <p:cNvPr id="969" name="Shape 969"/>
            <p:cNvCxnSpPr/>
            <p:nvPr/>
          </p:nvCxnSpPr>
          <p:spPr>
            <a:xfrm>
              <a:off x="3929062" y="2165350"/>
              <a:ext cx="12700" cy="814387"/>
            </a:xfrm>
            <a:prstGeom prst="straightConnector1">
              <a:avLst/>
            </a:prstGeom>
            <a:noFill/>
            <a:ln w="38100" cap="flat" cmpd="sng">
              <a:solidFill>
                <a:schemeClr val="accent2"/>
              </a:solidFill>
              <a:prstDash val="solid"/>
              <a:miter lim="800000"/>
              <a:headEnd type="none" w="med" len="med"/>
              <a:tailEnd type="stealth" w="lg" len="lg"/>
            </a:ln>
          </p:spPr>
        </p:cxnSp>
        <p:sp>
          <p:nvSpPr>
            <p:cNvPr id="970" name="Shape 970"/>
            <p:cNvSpPr txBox="1"/>
            <p:nvPr/>
          </p:nvSpPr>
          <p:spPr>
            <a:xfrm>
              <a:off x="3524250" y="1716087"/>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971" name="Shape 971"/>
          <p:cNvGrpSpPr/>
          <p:nvPr/>
        </p:nvGrpSpPr>
        <p:grpSpPr>
          <a:xfrm>
            <a:off x="4081462" y="3700462"/>
            <a:ext cx="1393825" cy="3014662"/>
            <a:chOff x="4135437" y="1719262"/>
            <a:chExt cx="1393825" cy="3014662"/>
          </a:xfrm>
        </p:grpSpPr>
        <p:cxnSp>
          <p:nvCxnSpPr>
            <p:cNvPr id="972" name="Shape 972"/>
            <p:cNvCxnSpPr/>
            <p:nvPr/>
          </p:nvCxnSpPr>
          <p:spPr>
            <a:xfrm>
              <a:off x="4691062" y="3402012"/>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973" name="Shape 973"/>
            <p:cNvSpPr/>
            <p:nvPr/>
          </p:nvSpPr>
          <p:spPr>
            <a:xfrm>
              <a:off x="4135437" y="399256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74" name="Shape 974"/>
            <p:cNvSpPr txBox="1"/>
            <p:nvPr/>
          </p:nvSpPr>
          <p:spPr>
            <a:xfrm>
              <a:off x="4449762" y="1719262"/>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975" name="Shape 975"/>
            <p:cNvCxnSpPr/>
            <p:nvPr/>
          </p:nvCxnSpPr>
          <p:spPr>
            <a:xfrm>
              <a:off x="4841875" y="2151062"/>
              <a:ext cx="12700" cy="814387"/>
            </a:xfrm>
            <a:prstGeom prst="straightConnector1">
              <a:avLst/>
            </a:prstGeom>
            <a:noFill/>
            <a:ln w="38100" cap="flat" cmpd="sng">
              <a:solidFill>
                <a:schemeClr val="accent2"/>
              </a:solidFill>
              <a:prstDash val="solid"/>
              <a:miter lim="800000"/>
              <a:headEnd type="none" w="med" len="med"/>
              <a:tailEnd type="stealth" w="lg" len="lg"/>
            </a:ln>
          </p:spPr>
        </p:cxnSp>
      </p:grpSp>
      <p:sp>
        <p:nvSpPr>
          <p:cNvPr id="976" name="Shape 976"/>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0"/>
                                        </p:tgtEl>
                                        <p:attrNameLst>
                                          <p:attrName>style.visibility</p:attrName>
                                        </p:attrNameLst>
                                      </p:cBhvr>
                                      <p:to>
                                        <p:strVal val="visible"/>
                                      </p:to>
                                    </p:set>
                                    <p:animEffect transition="in" filter="fade">
                                      <p:cBhvr>
                                        <p:cTn id="7" dur="500"/>
                                        <p:tgtEl>
                                          <p:spTgt spid="96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980" name="Shape 980"/>
        <p:cNvGrpSpPr/>
        <p:nvPr/>
      </p:nvGrpSpPr>
      <p:grpSpPr>
        <a:xfrm>
          <a:off x="0" y="0"/>
          <a:ext cx="0" cy="0"/>
          <a:chOff x="0" y="0"/>
          <a:chExt cx="0" cy="0"/>
        </a:xfrm>
      </p:grpSpPr>
      <p:sp>
        <p:nvSpPr>
          <p:cNvPr id="981" name="Shape 981"/>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关键问题⑴：如何记载一趟排序过程中交换的多个记录？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982" name="Shape 982"/>
          <p:cNvSpPr txBox="1"/>
          <p:nvPr/>
        </p:nvSpPr>
        <p:spPr>
          <a:xfrm>
            <a:off x="158750" y="3924300"/>
            <a:ext cx="8077200" cy="24415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（r[j]&gt;r[j+1]）{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r[j]←→r[j+1]；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exchange=j；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3" name="Shape 983"/>
          <p:cNvSpPr txBox="1"/>
          <p:nvPr/>
        </p:nvSpPr>
        <p:spPr>
          <a:xfrm>
            <a:off x="187325" y="1673225"/>
            <a:ext cx="8956675"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设变量exchange记载记录交换的位置，则一趟排序后，exchange记载的一定是这一趟排序中记录的最后一次交换的位置，且从此位置以后的所有记录均已经有序。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4" name="Shape 984"/>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988" name="Shape 988"/>
        <p:cNvGrpSpPr/>
        <p:nvPr/>
      </p:nvGrpSpPr>
      <p:grpSpPr>
        <a:xfrm>
          <a:off x="0" y="0"/>
          <a:ext cx="0" cy="0"/>
          <a:chOff x="0" y="0"/>
          <a:chExt cx="0" cy="0"/>
        </a:xfrm>
      </p:grpSpPr>
      <p:sp>
        <p:nvSpPr>
          <p:cNvPr id="989" name="Shape 989"/>
          <p:cNvSpPr/>
          <p:nvPr/>
        </p:nvSpPr>
        <p:spPr>
          <a:xfrm>
            <a:off x="911225" y="5348287"/>
            <a:ext cx="4005262" cy="269875"/>
          </a:xfrm>
          <a:prstGeom prst="parallelogram">
            <a:avLst>
              <a:gd name="adj" fmla="val 2551"/>
            </a:avLst>
          </a:prstGeom>
          <a:blipFill rotWithShape="1">
            <a:blip r:embed="rId1"/>
            <a:stretch>
              <a:fillRect/>
            </a:stretch>
          </a:blipFill>
          <a:ln w="38100" cap="flat" cmpd="sng">
            <a:solidFill>
              <a:srgbClr val="99FF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90" name="Shape 990"/>
          <p:cNvSpPr txBox="1"/>
          <p:nvPr/>
        </p:nvSpPr>
        <p:spPr>
          <a:xfrm>
            <a:off x="250825" y="1562100"/>
            <a:ext cx="8461375" cy="2398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设bound位置的记录是无序区的最后一个记录，则每趟起泡排序的范围是r[1] ~ r[bound]。</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在一趟排序后，从exchange位置之后的记录一定是有序的，所以bound=exchange。</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91" name="Shape 991"/>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关键问题⑵：如何确定起泡排序的范围？</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992" name="Shape 992"/>
          <p:cNvGrpSpPr/>
          <p:nvPr/>
        </p:nvGrpSpPr>
        <p:grpSpPr>
          <a:xfrm>
            <a:off x="1322387" y="4497387"/>
            <a:ext cx="6069013" cy="1065212"/>
            <a:chOff x="1376362" y="2928937"/>
            <a:chExt cx="6069013" cy="1065212"/>
          </a:xfrm>
        </p:grpSpPr>
        <p:sp>
          <p:nvSpPr>
            <p:cNvPr id="993" name="Shape 993"/>
            <p:cNvSpPr/>
            <p:nvPr/>
          </p:nvSpPr>
          <p:spPr>
            <a:xfrm>
              <a:off x="1376362" y="3559175"/>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94" name="Shape 994"/>
            <p:cNvSpPr/>
            <p:nvPr/>
          </p:nvSpPr>
          <p:spPr>
            <a:xfrm>
              <a:off x="6911975" y="2928937"/>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95" name="Shape 995"/>
            <p:cNvSpPr/>
            <p:nvPr/>
          </p:nvSpPr>
          <p:spPr>
            <a:xfrm>
              <a:off x="3238500" y="3517900"/>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96" name="Shape 996"/>
            <p:cNvSpPr/>
            <p:nvPr/>
          </p:nvSpPr>
          <p:spPr>
            <a:xfrm>
              <a:off x="2322512" y="3106737"/>
              <a:ext cx="533400" cy="8572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97" name="Shape 997"/>
            <p:cNvSpPr/>
            <p:nvPr/>
          </p:nvSpPr>
          <p:spPr>
            <a:xfrm>
              <a:off x="4125912" y="3328987"/>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998" name="Shape 998"/>
            <p:cNvSpPr/>
            <p:nvPr/>
          </p:nvSpPr>
          <p:spPr>
            <a:xfrm>
              <a:off x="5075237" y="3241675"/>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999" name="Shape 999"/>
            <p:cNvSpPr/>
            <p:nvPr/>
          </p:nvSpPr>
          <p:spPr>
            <a:xfrm>
              <a:off x="6011862" y="3043237"/>
              <a:ext cx="533400" cy="942975"/>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000" name="Shape 1000"/>
          <p:cNvGrpSpPr/>
          <p:nvPr/>
        </p:nvGrpSpPr>
        <p:grpSpPr>
          <a:xfrm>
            <a:off x="1335087" y="5364162"/>
            <a:ext cx="884238" cy="1322387"/>
            <a:chOff x="1389062" y="3382962"/>
            <a:chExt cx="884238" cy="1322387"/>
          </a:xfrm>
        </p:grpSpPr>
        <p:cxnSp>
          <p:nvCxnSpPr>
            <p:cNvPr id="1001" name="Shape 1001"/>
            <p:cNvCxnSpPr/>
            <p:nvPr/>
          </p:nvCxnSpPr>
          <p:spPr>
            <a:xfrm>
              <a:off x="1968500" y="338296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1002" name="Shape 1002"/>
            <p:cNvSpPr/>
            <p:nvPr/>
          </p:nvSpPr>
          <p:spPr>
            <a:xfrm>
              <a:off x="1389062" y="431006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003" name="Shape 1003"/>
          <p:cNvGrpSpPr/>
          <p:nvPr/>
        </p:nvGrpSpPr>
        <p:grpSpPr>
          <a:xfrm>
            <a:off x="5029200" y="5661025"/>
            <a:ext cx="2374900" cy="1069975"/>
            <a:chOff x="5083175" y="3679825"/>
            <a:chExt cx="2374900" cy="1069975"/>
          </a:xfrm>
        </p:grpSpPr>
        <p:sp>
          <p:nvSpPr>
            <p:cNvPr id="1004" name="Shape 1004"/>
            <p:cNvSpPr/>
            <p:nvPr/>
          </p:nvSpPr>
          <p:spPr>
            <a:xfrm>
              <a:off x="6924675" y="3679825"/>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1005" name="Shape 1005"/>
            <p:cNvSpPr/>
            <p:nvPr/>
          </p:nvSpPr>
          <p:spPr>
            <a:xfrm>
              <a:off x="5083175" y="3892550"/>
              <a:ext cx="533400" cy="85725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06" name="Shape 1006"/>
            <p:cNvSpPr/>
            <p:nvPr/>
          </p:nvSpPr>
          <p:spPr>
            <a:xfrm>
              <a:off x="6024562" y="3794125"/>
              <a:ext cx="533400" cy="942975"/>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cxnSp>
        <p:nvCxnSpPr>
          <p:cNvPr id="1007" name="Shape 1007"/>
          <p:cNvCxnSpPr/>
          <p:nvPr/>
        </p:nvCxnSpPr>
        <p:spPr>
          <a:xfrm>
            <a:off x="5581650" y="5383212"/>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nvGrpSpPr>
          <p:cNvPr id="1008" name="Shape 1008"/>
          <p:cNvGrpSpPr/>
          <p:nvPr/>
        </p:nvGrpSpPr>
        <p:grpSpPr>
          <a:xfrm>
            <a:off x="2244725" y="4144962"/>
            <a:ext cx="1417637" cy="2551112"/>
            <a:chOff x="2244725" y="4144962"/>
            <a:chExt cx="1417637" cy="2551112"/>
          </a:xfrm>
        </p:grpSpPr>
        <p:cxnSp>
          <p:nvCxnSpPr>
            <p:cNvPr id="1009" name="Shape 1009"/>
            <p:cNvCxnSpPr/>
            <p:nvPr/>
          </p:nvCxnSpPr>
          <p:spPr>
            <a:xfrm>
              <a:off x="2822575" y="5364162"/>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1010" name="Shape 1010"/>
            <p:cNvSpPr/>
            <p:nvPr/>
          </p:nvSpPr>
          <p:spPr>
            <a:xfrm>
              <a:off x="2244725" y="624998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cxnSp>
          <p:nvCxnSpPr>
            <p:cNvPr id="1011" name="Shape 1011"/>
            <p:cNvCxnSpPr/>
            <p:nvPr/>
          </p:nvCxnSpPr>
          <p:spPr>
            <a:xfrm>
              <a:off x="2997200" y="4594225"/>
              <a:ext cx="0" cy="492125"/>
            </a:xfrm>
            <a:prstGeom prst="straightConnector1">
              <a:avLst/>
            </a:prstGeom>
            <a:noFill/>
            <a:ln w="38100" cap="flat" cmpd="sng">
              <a:solidFill>
                <a:schemeClr val="accent2"/>
              </a:solidFill>
              <a:prstDash val="solid"/>
              <a:miter lim="800000"/>
              <a:headEnd type="none" w="med" len="med"/>
              <a:tailEnd type="stealth" w="lg" len="lg"/>
            </a:ln>
          </p:spPr>
        </p:cxnSp>
        <p:sp>
          <p:nvSpPr>
            <p:cNvPr id="1012" name="Shape 1012"/>
            <p:cNvSpPr txBox="1"/>
            <p:nvPr/>
          </p:nvSpPr>
          <p:spPr>
            <a:xfrm>
              <a:off x="2582862" y="4144962"/>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013" name="Shape 1013"/>
          <p:cNvGrpSpPr/>
          <p:nvPr/>
        </p:nvGrpSpPr>
        <p:grpSpPr>
          <a:xfrm>
            <a:off x="3132137" y="4141787"/>
            <a:ext cx="1417638" cy="2552700"/>
            <a:chOff x="3132137" y="4141787"/>
            <a:chExt cx="1417638" cy="2552700"/>
          </a:xfrm>
        </p:grpSpPr>
        <p:cxnSp>
          <p:nvCxnSpPr>
            <p:cNvPr id="1014" name="Shape 1014"/>
            <p:cNvCxnSpPr/>
            <p:nvPr/>
          </p:nvCxnSpPr>
          <p:spPr>
            <a:xfrm>
              <a:off x="3729037" y="5367337"/>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1015" name="Shape 1015"/>
            <p:cNvSpPr/>
            <p:nvPr/>
          </p:nvSpPr>
          <p:spPr>
            <a:xfrm>
              <a:off x="3132137" y="606107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16" name="Shape 1016"/>
            <p:cNvSpPr txBox="1"/>
            <p:nvPr/>
          </p:nvSpPr>
          <p:spPr>
            <a:xfrm>
              <a:off x="3470275" y="4141787"/>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017" name="Shape 1017"/>
            <p:cNvCxnSpPr/>
            <p:nvPr/>
          </p:nvCxnSpPr>
          <p:spPr>
            <a:xfrm>
              <a:off x="3883025" y="4591050"/>
              <a:ext cx="0" cy="492125"/>
            </a:xfrm>
            <a:prstGeom prst="straightConnector1">
              <a:avLst/>
            </a:prstGeom>
            <a:noFill/>
            <a:ln w="38100" cap="flat" cmpd="sng">
              <a:solidFill>
                <a:schemeClr val="accent2"/>
              </a:solidFill>
              <a:prstDash val="solid"/>
              <a:miter lim="800000"/>
              <a:headEnd type="none" w="med" len="med"/>
              <a:tailEnd type="stealth" w="lg" len="lg"/>
            </a:ln>
          </p:spPr>
        </p:cxnSp>
      </p:grpSp>
      <p:grpSp>
        <p:nvGrpSpPr>
          <p:cNvPr id="1018" name="Shape 1018"/>
          <p:cNvGrpSpPr/>
          <p:nvPr/>
        </p:nvGrpSpPr>
        <p:grpSpPr>
          <a:xfrm>
            <a:off x="4081462" y="4144962"/>
            <a:ext cx="1393825" cy="2570162"/>
            <a:chOff x="4081462" y="4144962"/>
            <a:chExt cx="1393825" cy="2570162"/>
          </a:xfrm>
        </p:grpSpPr>
        <p:cxnSp>
          <p:nvCxnSpPr>
            <p:cNvPr id="1019" name="Shape 1019"/>
            <p:cNvCxnSpPr/>
            <p:nvPr/>
          </p:nvCxnSpPr>
          <p:spPr>
            <a:xfrm>
              <a:off x="4637087" y="5383212"/>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sp>
          <p:nvSpPr>
            <p:cNvPr id="1020" name="Shape 1020"/>
            <p:cNvSpPr/>
            <p:nvPr/>
          </p:nvSpPr>
          <p:spPr>
            <a:xfrm>
              <a:off x="4081462" y="597376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1021" name="Shape 1021"/>
            <p:cNvSpPr txBox="1"/>
            <p:nvPr/>
          </p:nvSpPr>
          <p:spPr>
            <a:xfrm>
              <a:off x="4395787" y="4144962"/>
              <a:ext cx="10795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022" name="Shape 1022"/>
            <p:cNvCxnSpPr/>
            <p:nvPr/>
          </p:nvCxnSpPr>
          <p:spPr>
            <a:xfrm>
              <a:off x="4797425" y="4594225"/>
              <a:ext cx="0" cy="492125"/>
            </a:xfrm>
            <a:prstGeom prst="straightConnector1">
              <a:avLst/>
            </a:prstGeom>
            <a:noFill/>
            <a:ln w="38100" cap="flat" cmpd="sng">
              <a:solidFill>
                <a:schemeClr val="accent2"/>
              </a:solidFill>
              <a:prstDash val="solid"/>
              <a:miter lim="800000"/>
              <a:headEnd type="none" w="med" len="med"/>
              <a:tailEnd type="stealth" w="lg" len="lg"/>
            </a:ln>
          </p:spPr>
        </p:cxnSp>
      </p:grpSp>
      <p:sp>
        <p:nvSpPr>
          <p:cNvPr id="1023" name="Shape 1023"/>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7"/>
                                        </p:tgtEl>
                                        <p:attrNameLst>
                                          <p:attrName>style.visibility</p:attrName>
                                        </p:attrNameLst>
                                      </p:cBhvr>
                                      <p:to>
                                        <p:strVal val="visible"/>
                                      </p:to>
                                    </p:set>
                                    <p:animEffect transition="in" filter="fade">
                                      <p:cBhvr>
                                        <p:cTn id="7" dur="500"/>
                                        <p:tgtEl>
                                          <p:spTgt spid="100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989"/>
                                        </p:tgtEl>
                                        <p:attrNameLst>
                                          <p:attrName>style.visibility</p:attrName>
                                        </p:attrNameLst>
                                      </p:cBhvr>
                                      <p:to>
                                        <p:strVal val="visible"/>
                                      </p:to>
                                    </p:set>
                                    <p:anim calcmode="lin" valueType="num">
                                      <p:cBhvr additive="base">
                                        <p:cTn id="12" dur="500"/>
                                        <p:tgtEl>
                                          <p:spTgt spid="989"/>
                                        </p:tgtEl>
                                        <p:attrNameLst>
                                          <p:attrName>ppt_x</p:attrName>
                                        </p:attrNameLst>
                                      </p:cBhvr>
                                      <p:tavLst>
                                        <p:tav tm="0" fmla="">
                                          <p:val>
                                            <p:strVal val="#ppt_x-1"/>
                                          </p:val>
                                        </p:tav>
                                        <p:tav tm="100000" fmla="">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27" name="Shape 1027"/>
        <p:cNvGrpSpPr/>
        <p:nvPr/>
      </p:nvGrpSpPr>
      <p:grpSpPr>
        <a:xfrm>
          <a:off x="0" y="0"/>
          <a:ext cx="0" cy="0"/>
          <a:chOff x="0" y="0"/>
          <a:chExt cx="0" cy="0"/>
        </a:xfrm>
      </p:grpSpPr>
      <p:sp>
        <p:nvSpPr>
          <p:cNvPr id="1028" name="Shape 1028"/>
          <p:cNvSpPr txBox="1"/>
          <p:nvPr/>
        </p:nvSpPr>
        <p:spPr>
          <a:xfrm>
            <a:off x="250825" y="1562100"/>
            <a:ext cx="8461375" cy="2398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设bound位置的记录是无序区的最后一个记录，则每趟起泡排序的范围是r[1] ~ r[bound]。</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在一趟排序后，从exchange位置之后的记录一定是有序的，所以bound=exchange。</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29" name="Shape 1029"/>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关键问题⑵：如何确定起泡排序的范围？</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030" name="Shape 1030"/>
          <p:cNvSpPr txBox="1"/>
          <p:nvPr/>
        </p:nvSpPr>
        <p:spPr>
          <a:xfrm>
            <a:off x="265112" y="3948112"/>
            <a:ext cx="7200900" cy="2824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bound=exchange;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(j=1; j&lt;bound; j++)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（r[j]&gt;r[j+1]）{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r[j]&lt;==&gt;r[j+1]；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exchange=j；</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31" name="Shape 1031"/>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35" name="Shape 1035"/>
        <p:cNvGrpSpPr/>
        <p:nvPr/>
      </p:nvGrpSpPr>
      <p:grpSpPr>
        <a:xfrm>
          <a:off x="0" y="0"/>
          <a:ext cx="0" cy="0"/>
          <a:chOff x="0" y="0"/>
          <a:chExt cx="0" cy="0"/>
        </a:xfrm>
      </p:grpSpPr>
      <p:grpSp>
        <p:nvGrpSpPr>
          <p:cNvPr id="1036" name="Shape 1036"/>
          <p:cNvGrpSpPr/>
          <p:nvPr/>
        </p:nvGrpSpPr>
        <p:grpSpPr>
          <a:xfrm>
            <a:off x="1376362" y="4778375"/>
            <a:ext cx="6069013" cy="1069975"/>
            <a:chOff x="1398587" y="5375275"/>
            <a:chExt cx="6069013" cy="1069975"/>
          </a:xfrm>
        </p:grpSpPr>
        <p:sp>
          <p:nvSpPr>
            <p:cNvPr id="1037" name="Shape 1037"/>
            <p:cNvSpPr/>
            <p:nvPr/>
          </p:nvSpPr>
          <p:spPr>
            <a:xfrm>
              <a:off x="1398587" y="6005512"/>
              <a:ext cx="533400" cy="3952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05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38" name="Shape 1038"/>
            <p:cNvSpPr/>
            <p:nvPr/>
          </p:nvSpPr>
          <p:spPr>
            <a:xfrm>
              <a:off x="6934200" y="5375275"/>
              <a:ext cx="533400" cy="1065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98</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1039" name="Shape 1039"/>
            <p:cNvSpPr/>
            <p:nvPr/>
          </p:nvSpPr>
          <p:spPr>
            <a:xfrm>
              <a:off x="2308225" y="5964237"/>
              <a:ext cx="533400" cy="4460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12</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40" name="Shape 1040"/>
            <p:cNvSpPr/>
            <p:nvPr/>
          </p:nvSpPr>
          <p:spPr>
            <a:xfrm>
              <a:off x="5092700" y="5588000"/>
              <a:ext cx="533400" cy="85725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41" name="Shape 1041"/>
            <p:cNvSpPr/>
            <p:nvPr/>
          </p:nvSpPr>
          <p:spPr>
            <a:xfrm>
              <a:off x="3195637" y="5775325"/>
              <a:ext cx="533400" cy="6334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38</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42" name="Shape 1042"/>
            <p:cNvSpPr/>
            <p:nvPr/>
          </p:nvSpPr>
          <p:spPr>
            <a:xfrm>
              <a:off x="4144962" y="5688012"/>
              <a:ext cx="533400" cy="741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5050"/>
                </a:buClr>
                <a:buSzPts val="2400"/>
                <a:buFont typeface="Arial" panose="020B0604020202020204"/>
                <a:buNone/>
              </a:pPr>
              <a:r>
                <a:rPr lang="en-US" sz="2400" b="1" i="0" u="none">
                  <a:solidFill>
                    <a:srgbClr val="FF5050"/>
                  </a:solidFill>
                  <a:latin typeface="Arial" panose="020B0604020202020204"/>
                  <a:ea typeface="Arial" panose="020B0604020202020204"/>
                  <a:cs typeface="Arial" panose="020B0604020202020204"/>
                  <a:sym typeface="Arial" panose="020B0604020202020204"/>
                </a:rPr>
                <a:t>53</a:t>
              </a:r>
              <a:endParaRPr lang="en-US" sz="2400" b="1" i="0" u="none">
                <a:solidFill>
                  <a:srgbClr val="FF5050"/>
                </a:solidFill>
                <a:latin typeface="Arial" panose="020B0604020202020204"/>
                <a:ea typeface="Arial" panose="020B0604020202020204"/>
                <a:cs typeface="Arial" panose="020B0604020202020204"/>
                <a:sym typeface="Arial" panose="020B0604020202020204"/>
              </a:endParaRPr>
            </a:p>
          </p:txBody>
        </p:sp>
        <p:sp>
          <p:nvSpPr>
            <p:cNvPr id="1043" name="Shape 1043"/>
            <p:cNvSpPr/>
            <p:nvPr/>
          </p:nvSpPr>
          <p:spPr>
            <a:xfrm>
              <a:off x="6034087" y="5489575"/>
              <a:ext cx="533400" cy="942975"/>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81</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044" name="Shape 1044"/>
          <p:cNvGrpSpPr/>
          <p:nvPr/>
        </p:nvGrpSpPr>
        <p:grpSpPr>
          <a:xfrm>
            <a:off x="1924050" y="5645150"/>
            <a:ext cx="2146299" cy="19050"/>
            <a:chOff x="1946275" y="6242050"/>
            <a:chExt cx="2146299" cy="19050"/>
          </a:xfrm>
        </p:grpSpPr>
        <p:cxnSp>
          <p:nvCxnSpPr>
            <p:cNvPr id="1045" name="Shape 1045"/>
            <p:cNvCxnSpPr/>
            <p:nvPr/>
          </p:nvCxnSpPr>
          <p:spPr>
            <a:xfrm>
              <a:off x="1946275" y="6242050"/>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1046" name="Shape 1046"/>
            <p:cNvCxnSpPr/>
            <p:nvPr/>
          </p:nvCxnSpPr>
          <p:spPr>
            <a:xfrm>
              <a:off x="2836862" y="6245225"/>
              <a:ext cx="304800"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cxnSp>
          <p:nvCxnSpPr>
            <p:cNvPr id="1047" name="Shape 1047"/>
            <p:cNvCxnSpPr/>
            <p:nvPr/>
          </p:nvCxnSpPr>
          <p:spPr>
            <a:xfrm>
              <a:off x="3760787" y="6261100"/>
              <a:ext cx="331787" cy="0"/>
            </a:xfrm>
            <a:prstGeom prst="straightConnector1">
              <a:avLst/>
            </a:prstGeom>
            <a:noFill/>
            <a:ln w="19050" cap="flat" cmpd="sng">
              <a:solidFill>
                <a:srgbClr val="FF6600"/>
              </a:solidFill>
              <a:prstDash val="solid"/>
              <a:miter lim="800000"/>
              <a:headEnd type="triangle" w="med" len="med"/>
              <a:tailEnd type="triangle" w="med" len="med"/>
            </a:ln>
            <a:effectLst>
              <a:outerShdw blurRad="63500" dist="35921" dir="2700000">
                <a:srgbClr val="808080"/>
              </a:outerShdw>
            </a:effectLst>
          </p:spPr>
        </p:cxnSp>
      </p:grpSp>
      <p:sp>
        <p:nvSpPr>
          <p:cNvPr id="1048" name="Shape 1048"/>
          <p:cNvSpPr txBox="1"/>
          <p:nvPr/>
        </p:nvSpPr>
        <p:spPr>
          <a:xfrm>
            <a:off x="341312" y="1652587"/>
            <a:ext cx="8324850" cy="28686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在每一趟起泡排序之前，令</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的初值为</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在以后的排序过程中，只要有记录交换，</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的值就会大于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。这样，在一趟比较完毕，就可以通过</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的值是否为</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来判别是否有记录交换，从而判别整个起泡排序的结束。</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9" name="Shape 1049"/>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关键问题⑶：如何判别起泡排序的结束？</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050" name="Shape 1050"/>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54" name="Shape 1054"/>
        <p:cNvGrpSpPr/>
        <p:nvPr/>
      </p:nvGrpSpPr>
      <p:grpSpPr>
        <a:xfrm>
          <a:off x="0" y="0"/>
          <a:ext cx="0" cy="0"/>
          <a:chOff x="0" y="0"/>
          <a:chExt cx="0" cy="0"/>
        </a:xfrm>
      </p:grpSpPr>
      <p:sp>
        <p:nvSpPr>
          <p:cNvPr id="1055" name="Shape 1055"/>
          <p:cNvSpPr txBox="1"/>
          <p:nvPr/>
        </p:nvSpPr>
        <p:spPr>
          <a:xfrm>
            <a:off x="341312" y="1652587"/>
            <a:ext cx="8324850" cy="28686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在每一趟起泡排序之前，令</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的初值为</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在以后的排序过程中，只要有记录交换，</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的值就会大于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。这样，在一趟比较完毕，就可以通过</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的值是否为</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r>
              <a:rPr lang="en-US" sz="2800" b="1" i="0" u="none">
                <a:solidFill>
                  <a:schemeClr val="dk1"/>
                </a:solidFill>
                <a:latin typeface="Arial" panose="020B0604020202020204"/>
                <a:ea typeface="Arial" panose="020B0604020202020204"/>
                <a:cs typeface="Arial" panose="020B0604020202020204"/>
                <a:sym typeface="Arial" panose="020B0604020202020204"/>
              </a:rPr>
              <a:t>来判别是否有记录交换，从而判别整个起泡排序的结束。</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056" name="Shape 1056"/>
          <p:cNvSpPr txBox="1"/>
          <p:nvPr/>
        </p:nvSpPr>
        <p:spPr>
          <a:xfrm>
            <a:off x="103187" y="1112837"/>
            <a:ext cx="92265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关键问题⑶：如何判别起泡排序的结束？</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057" name="Shape 1057"/>
          <p:cNvSpPr txBox="1"/>
          <p:nvPr/>
        </p:nvSpPr>
        <p:spPr>
          <a:xfrm>
            <a:off x="336550" y="4564062"/>
            <a:ext cx="8001000" cy="205581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while </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800" b="1" i="0" u="none">
                <a:solidFill>
                  <a:schemeClr val="dk1"/>
                </a:solidFill>
                <a:latin typeface="Arial" panose="020B0604020202020204"/>
                <a:ea typeface="Arial" panose="020B0604020202020204"/>
                <a:cs typeface="Arial" panose="020B0604020202020204"/>
                <a:sym typeface="Arial" panose="020B0604020202020204"/>
              </a:rPr>
              <a:t>)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执行一趟起泡排序；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58" name="Shape 1058"/>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62" name="Shape 1062"/>
        <p:cNvGrpSpPr/>
        <p:nvPr/>
      </p:nvGrpSpPr>
      <p:grpSpPr>
        <a:xfrm>
          <a:off x="0" y="0"/>
          <a:ext cx="0" cy="0"/>
          <a:chOff x="0" y="0"/>
          <a:chExt cx="0" cy="0"/>
        </a:xfrm>
      </p:grpSpPr>
      <p:sp>
        <p:nvSpPr>
          <p:cNvPr id="1063" name="Shape 1063"/>
          <p:cNvSpPr txBox="1"/>
          <p:nvPr/>
        </p:nvSpPr>
        <p:spPr>
          <a:xfrm>
            <a:off x="685800" y="1701800"/>
            <a:ext cx="8001000" cy="509270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BubbleSort</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int r[ ], int n</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endParaRPr lang="en-US"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exchange=n;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exchange</a:t>
            </a:r>
            <a:r>
              <a:rPr lang="en-US" sz="2600" b="1" i="0" u="none">
                <a:solidFill>
                  <a:schemeClr val="dk1"/>
                </a:solidFill>
                <a:latin typeface="Arial" panose="020B0604020202020204"/>
                <a:ea typeface="Arial" panose="020B0604020202020204"/>
                <a:cs typeface="Arial" panose="020B0604020202020204"/>
                <a:sym typeface="Arial" panose="020B0604020202020204"/>
              </a:rPr>
              <a:t>) </a:t>
            </a:r>
            <a:endParaRPr lang="en-US"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bound=exchange;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exchange=0；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j=1; j&lt;bound; j++</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endParaRPr lang="en-US" sz="26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r[j]&gt;r[j+1]</a:t>
            </a:r>
            <a:r>
              <a:rPr lang="en-US" sz="2600" b="1" i="0" u="none">
                <a:solidFill>
                  <a:schemeClr val="dk1"/>
                </a:solidFill>
                <a:latin typeface="Arial" panose="020B0604020202020204"/>
                <a:ea typeface="Arial" panose="020B0604020202020204"/>
                <a:cs typeface="Arial" panose="020B0604020202020204"/>
                <a:sym typeface="Arial" panose="020B0604020202020204"/>
              </a:rPr>
              <a:t>)</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r[j]←→r[j+1]；</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exchange=j；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64" name="Shape 1064"/>
          <p:cNvSpPr txBox="1"/>
          <p:nvPr/>
        </p:nvSpPr>
        <p:spPr>
          <a:xfrm>
            <a:off x="385762" y="1179512"/>
            <a:ext cx="5410200"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起泡排序算法</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65" name="Shape 1065"/>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69" name="Shape 1069"/>
        <p:cNvGrpSpPr/>
        <p:nvPr/>
      </p:nvGrpSpPr>
      <p:grpSpPr>
        <a:xfrm>
          <a:off x="0" y="0"/>
          <a:ext cx="0" cy="0"/>
          <a:chOff x="0" y="0"/>
          <a:chExt cx="0" cy="0"/>
        </a:xfrm>
      </p:grpSpPr>
      <p:sp>
        <p:nvSpPr>
          <p:cNvPr id="1070" name="Shape 1070"/>
          <p:cNvSpPr txBox="1"/>
          <p:nvPr/>
        </p:nvSpPr>
        <p:spPr>
          <a:xfrm>
            <a:off x="296862" y="1089025"/>
            <a:ext cx="5805487"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起泡排序的时间性能分析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71" name="Shape 1071"/>
          <p:cNvSpPr txBox="1"/>
          <p:nvPr/>
        </p:nvSpPr>
        <p:spPr>
          <a:xfrm>
            <a:off x="431800" y="1665287"/>
            <a:ext cx="4319587" cy="51911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最好情况（正序）：</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072" name="Shape 1072"/>
          <p:cNvGrpSpPr/>
          <p:nvPr/>
        </p:nvGrpSpPr>
        <p:grpSpPr>
          <a:xfrm>
            <a:off x="476250" y="2200275"/>
            <a:ext cx="3302000" cy="946150"/>
            <a:chOff x="579437" y="2528887"/>
            <a:chExt cx="3302000" cy="946150"/>
          </a:xfrm>
        </p:grpSpPr>
        <p:sp>
          <p:nvSpPr>
            <p:cNvPr id="1073" name="Shape 1073"/>
            <p:cNvSpPr/>
            <p:nvPr/>
          </p:nvSpPr>
          <p:spPr>
            <a:xfrm>
              <a:off x="579437" y="2738437"/>
              <a:ext cx="180975" cy="569912"/>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74" name="Shape 1074"/>
            <p:cNvSpPr txBox="1"/>
            <p:nvPr/>
          </p:nvSpPr>
          <p:spPr>
            <a:xfrm>
              <a:off x="733425" y="2528887"/>
              <a:ext cx="314801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移动次数：0</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075" name="Shape 1075"/>
          <p:cNvGrpSpPr/>
          <p:nvPr/>
        </p:nvGrpSpPr>
        <p:grpSpPr>
          <a:xfrm>
            <a:off x="5594350" y="2009775"/>
            <a:ext cx="3225800" cy="431800"/>
            <a:chOff x="5594350" y="2009775"/>
            <a:chExt cx="3225800" cy="431800"/>
          </a:xfrm>
        </p:grpSpPr>
        <p:sp>
          <p:nvSpPr>
            <p:cNvPr id="1076" name="Shape 1076"/>
            <p:cNvSpPr/>
            <p:nvPr/>
          </p:nvSpPr>
          <p:spPr>
            <a:xfrm>
              <a:off x="5594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7" name="Shape 1077"/>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8" name="Shape 1078"/>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9" name="Shape 1079"/>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80" name="Shape 1080"/>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081" name="Shape 1081"/>
          <p:cNvGrpSpPr/>
          <p:nvPr/>
        </p:nvGrpSpPr>
        <p:grpSpPr>
          <a:xfrm>
            <a:off x="6026150" y="2211387"/>
            <a:ext cx="2371725" cy="3175"/>
            <a:chOff x="6026150" y="2211387"/>
            <a:chExt cx="2371725" cy="3175"/>
          </a:xfrm>
        </p:grpSpPr>
        <p:cxnSp>
          <p:nvCxnSpPr>
            <p:cNvPr id="1082" name="Shape 1082"/>
            <p:cNvCxnSpPr/>
            <p:nvPr/>
          </p:nvCxnSpPr>
          <p:spPr>
            <a:xfrm>
              <a:off x="6026150" y="2211387"/>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083" name="Shape 1083"/>
            <p:cNvCxnSpPr/>
            <p:nvPr/>
          </p:nvCxnSpPr>
          <p:spPr>
            <a:xfrm>
              <a:off x="6732587"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084" name="Shape 1084"/>
            <p:cNvCxnSpPr/>
            <p:nvPr/>
          </p:nvCxnSpPr>
          <p:spPr>
            <a:xfrm>
              <a:off x="7419975"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085" name="Shape 1085"/>
            <p:cNvCxnSpPr/>
            <p:nvPr/>
          </p:nvCxnSpPr>
          <p:spPr>
            <a:xfrm>
              <a:off x="8128000"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grpSp>
      <p:sp>
        <p:nvSpPr>
          <p:cNvPr id="1086" name="Shape 1086"/>
          <p:cNvSpPr txBox="1"/>
          <p:nvPr/>
        </p:nvSpPr>
        <p:spPr>
          <a:xfrm>
            <a:off x="476250" y="3144825"/>
            <a:ext cx="3600600" cy="519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087" name="Shape 1087"/>
          <p:cNvGrpSpPr/>
          <p:nvPr/>
        </p:nvGrpSpPr>
        <p:grpSpPr>
          <a:xfrm>
            <a:off x="5607050" y="2619375"/>
            <a:ext cx="3225800" cy="431800"/>
            <a:chOff x="5594350" y="2009775"/>
            <a:chExt cx="3225800" cy="431800"/>
          </a:xfrm>
        </p:grpSpPr>
        <p:sp>
          <p:nvSpPr>
            <p:cNvPr id="1088" name="Shape 1088"/>
            <p:cNvSpPr/>
            <p:nvPr/>
          </p:nvSpPr>
          <p:spPr>
            <a:xfrm>
              <a:off x="5594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89" name="Shape 1089"/>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90" name="Shape 1090"/>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91" name="Shape 1091"/>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092" name="Shape 1092"/>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93" name="Shape 1093"/>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097" name="Shape 1097"/>
        <p:cNvGrpSpPr/>
        <p:nvPr/>
      </p:nvGrpSpPr>
      <p:grpSpPr>
        <a:xfrm>
          <a:off x="0" y="0"/>
          <a:ext cx="0" cy="0"/>
          <a:chOff x="0" y="0"/>
          <a:chExt cx="0" cy="0"/>
        </a:xfrm>
      </p:grpSpPr>
      <p:sp>
        <p:nvSpPr>
          <p:cNvPr id="1098" name="Shape 1098"/>
          <p:cNvSpPr txBox="1"/>
          <p:nvPr/>
        </p:nvSpPr>
        <p:spPr>
          <a:xfrm>
            <a:off x="431800" y="3582987"/>
            <a:ext cx="45720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最坏情况（反序）：</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099" name="Shape 1099"/>
          <p:cNvSpPr txBox="1"/>
          <p:nvPr/>
        </p:nvSpPr>
        <p:spPr>
          <a:xfrm>
            <a:off x="296862" y="1089025"/>
            <a:ext cx="5805487"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起泡排序的时间性能分析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0" name="Shape 1100"/>
          <p:cNvSpPr txBox="1"/>
          <p:nvPr/>
        </p:nvSpPr>
        <p:spPr>
          <a:xfrm>
            <a:off x="431800" y="1697037"/>
            <a:ext cx="4319587" cy="51911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最好情况（正序）：</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101" name="Shape 1101"/>
          <p:cNvGrpSpPr/>
          <p:nvPr/>
        </p:nvGrpSpPr>
        <p:grpSpPr>
          <a:xfrm>
            <a:off x="476250" y="2152650"/>
            <a:ext cx="3302000" cy="946150"/>
            <a:chOff x="579437" y="2528887"/>
            <a:chExt cx="3302000" cy="946150"/>
          </a:xfrm>
        </p:grpSpPr>
        <p:sp>
          <p:nvSpPr>
            <p:cNvPr id="1102" name="Shape 1102"/>
            <p:cNvSpPr/>
            <p:nvPr/>
          </p:nvSpPr>
          <p:spPr>
            <a:xfrm>
              <a:off x="579437" y="2738437"/>
              <a:ext cx="180975" cy="569912"/>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3" name="Shape 1103"/>
            <p:cNvSpPr txBox="1"/>
            <p:nvPr/>
          </p:nvSpPr>
          <p:spPr>
            <a:xfrm>
              <a:off x="733425" y="2528887"/>
              <a:ext cx="3148012"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移动次数：0</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104" name="Shape 1104"/>
          <p:cNvGrpSpPr/>
          <p:nvPr/>
        </p:nvGrpSpPr>
        <p:grpSpPr>
          <a:xfrm>
            <a:off x="5594350" y="2009775"/>
            <a:ext cx="3225800" cy="431800"/>
            <a:chOff x="5594350" y="2009775"/>
            <a:chExt cx="3225800" cy="431800"/>
          </a:xfrm>
        </p:grpSpPr>
        <p:sp>
          <p:nvSpPr>
            <p:cNvPr id="1105" name="Shape 1105"/>
            <p:cNvSpPr/>
            <p:nvPr/>
          </p:nvSpPr>
          <p:spPr>
            <a:xfrm>
              <a:off x="5594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06" name="Shape 1106"/>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07" name="Shape 1107"/>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08" name="Shape 1108"/>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09" name="Shape 1109"/>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110" name="Shape 1110"/>
          <p:cNvGrpSpPr/>
          <p:nvPr/>
        </p:nvGrpSpPr>
        <p:grpSpPr>
          <a:xfrm>
            <a:off x="6026150" y="2211387"/>
            <a:ext cx="2371725" cy="3175"/>
            <a:chOff x="6026150" y="2211387"/>
            <a:chExt cx="2371725" cy="3175"/>
          </a:xfrm>
        </p:grpSpPr>
        <p:cxnSp>
          <p:nvCxnSpPr>
            <p:cNvPr id="1111" name="Shape 1111"/>
            <p:cNvCxnSpPr/>
            <p:nvPr/>
          </p:nvCxnSpPr>
          <p:spPr>
            <a:xfrm>
              <a:off x="6026150" y="2211387"/>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12" name="Shape 1112"/>
            <p:cNvCxnSpPr/>
            <p:nvPr/>
          </p:nvCxnSpPr>
          <p:spPr>
            <a:xfrm>
              <a:off x="6732587"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13" name="Shape 1113"/>
            <p:cNvCxnSpPr/>
            <p:nvPr/>
          </p:nvCxnSpPr>
          <p:spPr>
            <a:xfrm>
              <a:off x="7419975"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14" name="Shape 1114"/>
            <p:cNvCxnSpPr/>
            <p:nvPr/>
          </p:nvCxnSpPr>
          <p:spPr>
            <a:xfrm>
              <a:off x="8128000" y="2214562"/>
              <a:ext cx="269875" cy="0"/>
            </a:xfrm>
            <a:prstGeom prst="straightConnector1">
              <a:avLst/>
            </a:prstGeom>
            <a:noFill/>
            <a:ln w="28575" cap="flat" cmpd="sng">
              <a:solidFill>
                <a:srgbClr val="008080"/>
              </a:solidFill>
              <a:prstDash val="solid"/>
              <a:miter lim="800000"/>
              <a:headEnd type="stealth" w="med" len="med"/>
              <a:tailEnd type="stealth" w="med" len="med"/>
            </a:ln>
          </p:spPr>
        </p:cxnSp>
      </p:grpSp>
      <p:sp>
        <p:nvSpPr>
          <p:cNvPr id="1115" name="Shape 1115"/>
          <p:cNvSpPr txBox="1"/>
          <p:nvPr/>
        </p:nvSpPr>
        <p:spPr>
          <a:xfrm>
            <a:off x="476250" y="3097200"/>
            <a:ext cx="3600300" cy="519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16" name="Shape 1116"/>
          <p:cNvSpPr txBox="1"/>
          <p:nvPr/>
        </p:nvSpPr>
        <p:spPr>
          <a:xfrm>
            <a:off x="463550" y="5634037"/>
            <a:ext cx="37353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117" name="Shape 1117"/>
          <p:cNvGrpSpPr/>
          <p:nvPr/>
        </p:nvGrpSpPr>
        <p:grpSpPr>
          <a:xfrm>
            <a:off x="5578475" y="2573337"/>
            <a:ext cx="3225800" cy="431800"/>
            <a:chOff x="5578475" y="2573337"/>
            <a:chExt cx="3225800" cy="431800"/>
          </a:xfrm>
        </p:grpSpPr>
        <p:sp>
          <p:nvSpPr>
            <p:cNvPr id="1118" name="Shape 1118"/>
            <p:cNvSpPr/>
            <p:nvPr/>
          </p:nvSpPr>
          <p:spPr>
            <a:xfrm>
              <a:off x="5578475" y="257333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19" name="Shape 1119"/>
            <p:cNvSpPr/>
            <p:nvPr/>
          </p:nvSpPr>
          <p:spPr>
            <a:xfrm>
              <a:off x="6264275" y="257333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20" name="Shape 1120"/>
            <p:cNvSpPr/>
            <p:nvPr/>
          </p:nvSpPr>
          <p:spPr>
            <a:xfrm>
              <a:off x="6975475" y="257333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21" name="Shape 1121"/>
            <p:cNvSpPr/>
            <p:nvPr/>
          </p:nvSpPr>
          <p:spPr>
            <a:xfrm>
              <a:off x="7670800" y="257333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22" name="Shape 1122"/>
            <p:cNvSpPr/>
            <p:nvPr/>
          </p:nvSpPr>
          <p:spPr>
            <a:xfrm>
              <a:off x="8372475" y="2573337"/>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123" name="Shape 1123"/>
          <p:cNvGrpSpPr/>
          <p:nvPr/>
        </p:nvGrpSpPr>
        <p:grpSpPr>
          <a:xfrm>
            <a:off x="6011862" y="2798762"/>
            <a:ext cx="1663700" cy="3175"/>
            <a:chOff x="6011862" y="2798762"/>
            <a:chExt cx="1663700" cy="3175"/>
          </a:xfrm>
        </p:grpSpPr>
        <p:cxnSp>
          <p:nvCxnSpPr>
            <p:cNvPr id="1124" name="Shape 1124"/>
            <p:cNvCxnSpPr/>
            <p:nvPr/>
          </p:nvCxnSpPr>
          <p:spPr>
            <a:xfrm>
              <a:off x="6011862" y="2798762"/>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25" name="Shape 1125"/>
            <p:cNvCxnSpPr/>
            <p:nvPr/>
          </p:nvCxnSpPr>
          <p:spPr>
            <a:xfrm>
              <a:off x="6718300" y="2801937"/>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26" name="Shape 1126"/>
            <p:cNvCxnSpPr/>
            <p:nvPr/>
          </p:nvCxnSpPr>
          <p:spPr>
            <a:xfrm>
              <a:off x="7405687" y="2801937"/>
              <a:ext cx="269875" cy="0"/>
            </a:xfrm>
            <a:prstGeom prst="straightConnector1">
              <a:avLst/>
            </a:prstGeom>
            <a:noFill/>
            <a:ln w="28575" cap="flat" cmpd="sng">
              <a:solidFill>
                <a:srgbClr val="008080"/>
              </a:solidFill>
              <a:prstDash val="solid"/>
              <a:miter lim="800000"/>
              <a:headEnd type="stealth" w="med" len="med"/>
              <a:tailEnd type="stealth" w="med" len="med"/>
            </a:ln>
          </p:spPr>
        </p:cxnSp>
      </p:grpSp>
      <p:grpSp>
        <p:nvGrpSpPr>
          <p:cNvPr id="1127" name="Shape 1127"/>
          <p:cNvGrpSpPr/>
          <p:nvPr/>
        </p:nvGrpSpPr>
        <p:grpSpPr>
          <a:xfrm>
            <a:off x="5595937" y="3159125"/>
            <a:ext cx="3225800" cy="431800"/>
            <a:chOff x="5595937" y="3159125"/>
            <a:chExt cx="3225800" cy="431800"/>
          </a:xfrm>
        </p:grpSpPr>
        <p:sp>
          <p:nvSpPr>
            <p:cNvPr id="1128" name="Shape 1128"/>
            <p:cNvSpPr/>
            <p:nvPr/>
          </p:nvSpPr>
          <p:spPr>
            <a:xfrm>
              <a:off x="5595937" y="31591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29" name="Shape 1129"/>
            <p:cNvSpPr/>
            <p:nvPr/>
          </p:nvSpPr>
          <p:spPr>
            <a:xfrm>
              <a:off x="6281737" y="31591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0" name="Shape 1130"/>
            <p:cNvSpPr/>
            <p:nvPr/>
          </p:nvSpPr>
          <p:spPr>
            <a:xfrm>
              <a:off x="6992937" y="315912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1" name="Shape 1131"/>
            <p:cNvSpPr/>
            <p:nvPr/>
          </p:nvSpPr>
          <p:spPr>
            <a:xfrm>
              <a:off x="7688262" y="31591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2" name="Shape 1132"/>
            <p:cNvSpPr/>
            <p:nvPr/>
          </p:nvSpPr>
          <p:spPr>
            <a:xfrm>
              <a:off x="8389937" y="31591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133" name="Shape 1133"/>
          <p:cNvGrpSpPr/>
          <p:nvPr/>
        </p:nvGrpSpPr>
        <p:grpSpPr>
          <a:xfrm>
            <a:off x="6029325" y="3384550"/>
            <a:ext cx="976312" cy="3175"/>
            <a:chOff x="6029325" y="3384550"/>
            <a:chExt cx="976312" cy="3175"/>
          </a:xfrm>
        </p:grpSpPr>
        <p:cxnSp>
          <p:nvCxnSpPr>
            <p:cNvPr id="1134" name="Shape 1134"/>
            <p:cNvCxnSpPr/>
            <p:nvPr/>
          </p:nvCxnSpPr>
          <p:spPr>
            <a:xfrm>
              <a:off x="6029325" y="3384550"/>
              <a:ext cx="269875" cy="0"/>
            </a:xfrm>
            <a:prstGeom prst="straightConnector1">
              <a:avLst/>
            </a:prstGeom>
            <a:noFill/>
            <a:ln w="28575" cap="flat" cmpd="sng">
              <a:solidFill>
                <a:srgbClr val="008080"/>
              </a:solidFill>
              <a:prstDash val="solid"/>
              <a:miter lim="800000"/>
              <a:headEnd type="stealth" w="med" len="med"/>
              <a:tailEnd type="stealth" w="med" len="med"/>
            </a:ln>
          </p:spPr>
        </p:cxnSp>
        <p:cxnSp>
          <p:nvCxnSpPr>
            <p:cNvPr id="1135" name="Shape 1135"/>
            <p:cNvCxnSpPr/>
            <p:nvPr/>
          </p:nvCxnSpPr>
          <p:spPr>
            <a:xfrm>
              <a:off x="6735762" y="3387725"/>
              <a:ext cx="269875" cy="0"/>
            </a:xfrm>
            <a:prstGeom prst="straightConnector1">
              <a:avLst/>
            </a:prstGeom>
            <a:noFill/>
            <a:ln w="28575" cap="flat" cmpd="sng">
              <a:solidFill>
                <a:srgbClr val="008080"/>
              </a:solidFill>
              <a:prstDash val="solid"/>
              <a:miter lim="800000"/>
              <a:headEnd type="stealth" w="med" len="med"/>
              <a:tailEnd type="stealth" w="med" len="med"/>
            </a:ln>
          </p:spPr>
        </p:cxnSp>
      </p:grpSp>
      <p:grpSp>
        <p:nvGrpSpPr>
          <p:cNvPr id="1136" name="Shape 1136"/>
          <p:cNvGrpSpPr/>
          <p:nvPr/>
        </p:nvGrpSpPr>
        <p:grpSpPr>
          <a:xfrm>
            <a:off x="5605462" y="3714750"/>
            <a:ext cx="3225800" cy="431800"/>
            <a:chOff x="5605462" y="3714750"/>
            <a:chExt cx="3225800" cy="431800"/>
          </a:xfrm>
        </p:grpSpPr>
        <p:sp>
          <p:nvSpPr>
            <p:cNvPr id="1137" name="Shape 1137"/>
            <p:cNvSpPr/>
            <p:nvPr/>
          </p:nvSpPr>
          <p:spPr>
            <a:xfrm>
              <a:off x="5605462" y="3714750"/>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8" name="Shape 1138"/>
            <p:cNvSpPr/>
            <p:nvPr/>
          </p:nvSpPr>
          <p:spPr>
            <a:xfrm>
              <a:off x="6291262" y="3714750"/>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9" name="Shape 1139"/>
            <p:cNvSpPr/>
            <p:nvPr/>
          </p:nvSpPr>
          <p:spPr>
            <a:xfrm>
              <a:off x="7002462" y="371475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0" name="Shape 1140"/>
            <p:cNvSpPr/>
            <p:nvPr/>
          </p:nvSpPr>
          <p:spPr>
            <a:xfrm>
              <a:off x="7697787" y="371475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1" name="Shape 1141"/>
            <p:cNvSpPr/>
            <p:nvPr/>
          </p:nvSpPr>
          <p:spPr>
            <a:xfrm>
              <a:off x="8399462" y="371475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cxnSp>
        <p:nvCxnSpPr>
          <p:cNvPr id="1142" name="Shape 1142"/>
          <p:cNvCxnSpPr/>
          <p:nvPr/>
        </p:nvCxnSpPr>
        <p:spPr>
          <a:xfrm>
            <a:off x="6038850" y="3940175"/>
            <a:ext cx="269875" cy="0"/>
          </a:xfrm>
          <a:prstGeom prst="straightConnector1">
            <a:avLst/>
          </a:prstGeom>
          <a:noFill/>
          <a:ln w="28575" cap="flat" cmpd="sng">
            <a:solidFill>
              <a:srgbClr val="008080"/>
            </a:solidFill>
            <a:prstDash val="solid"/>
            <a:miter lim="800000"/>
            <a:headEnd type="stealth" w="med" len="med"/>
            <a:tailEnd type="stealth" w="med" len="med"/>
          </a:ln>
        </p:spPr>
      </p:cxnSp>
      <p:grpSp>
        <p:nvGrpSpPr>
          <p:cNvPr id="1143" name="Shape 1143"/>
          <p:cNvGrpSpPr/>
          <p:nvPr/>
        </p:nvGrpSpPr>
        <p:grpSpPr>
          <a:xfrm>
            <a:off x="5607050" y="4238625"/>
            <a:ext cx="3225800" cy="431800"/>
            <a:chOff x="5607050" y="4238625"/>
            <a:chExt cx="3225800" cy="431800"/>
          </a:xfrm>
        </p:grpSpPr>
        <p:sp>
          <p:nvSpPr>
            <p:cNvPr id="1144" name="Shape 1144"/>
            <p:cNvSpPr/>
            <p:nvPr/>
          </p:nvSpPr>
          <p:spPr>
            <a:xfrm>
              <a:off x="5607050" y="4238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5" name="Shape 1145"/>
            <p:cNvSpPr/>
            <p:nvPr/>
          </p:nvSpPr>
          <p:spPr>
            <a:xfrm>
              <a:off x="6292850" y="4238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6" name="Shape 1146"/>
            <p:cNvSpPr/>
            <p:nvPr/>
          </p:nvSpPr>
          <p:spPr>
            <a:xfrm>
              <a:off x="7004050" y="4238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7" name="Shape 1147"/>
            <p:cNvSpPr/>
            <p:nvPr/>
          </p:nvSpPr>
          <p:spPr>
            <a:xfrm>
              <a:off x="7699375" y="4238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148" name="Shape 1148"/>
            <p:cNvSpPr/>
            <p:nvPr/>
          </p:nvSpPr>
          <p:spPr>
            <a:xfrm>
              <a:off x="8401050" y="4238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149" name="Shape 1149"/>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50" name="Shape 1150"/>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151" name="Shape 1151"/>
          <p:cNvGrpSpPr/>
          <p:nvPr/>
        </p:nvGrpSpPr>
        <p:grpSpPr>
          <a:xfrm>
            <a:off x="522287" y="3968750"/>
            <a:ext cx="4518025" cy="1743075"/>
            <a:chOff x="595312" y="4464050"/>
            <a:chExt cx="4518025" cy="1743075"/>
          </a:xfrm>
        </p:grpSpPr>
        <p:sp>
          <p:nvSpPr>
            <p:cNvPr id="1152" name="Shape 1152"/>
            <p:cNvSpPr/>
            <p:nvPr/>
          </p:nvSpPr>
          <p:spPr>
            <a:xfrm>
              <a:off x="595312" y="4826000"/>
              <a:ext cx="212725" cy="1019175"/>
            </a:xfrm>
            <a:prstGeom prst="leftBrace">
              <a:avLst>
                <a:gd name="adj1" fmla="val 8333"/>
                <a:gd name="adj2" fmla="val 50000"/>
              </a:avLst>
            </a:prstGeom>
            <a:noFill/>
            <a:ln w="2857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Times New Roman" panose="02020603050405020304"/>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153" name="Shape 1153"/>
            <p:cNvSpPr txBox="1"/>
            <p:nvPr/>
          </p:nvSpPr>
          <p:spPr>
            <a:xfrm>
              <a:off x="836612" y="4598987"/>
              <a:ext cx="2051050"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比较次数：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endParaRPr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移动次数：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154" name="Shape 1154"/>
            <p:cNvGrpSpPr/>
            <p:nvPr/>
          </p:nvGrpSpPr>
          <p:grpSpPr>
            <a:xfrm>
              <a:off x="2566987" y="4464050"/>
              <a:ext cx="2536825" cy="914400"/>
              <a:chOff x="2566987" y="4464050"/>
              <a:chExt cx="2536825" cy="914400"/>
            </a:xfrm>
          </p:grpSpPr>
          <p:cxnSp>
            <p:nvCxnSpPr>
              <p:cNvPr id="1155" name="Shape 1155"/>
              <p:cNvCxnSpPr/>
              <p:nvPr/>
            </p:nvCxnSpPr>
            <p:spPr>
              <a:xfrm>
                <a:off x="4024312" y="4959350"/>
                <a:ext cx="1079500" cy="0"/>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1156" name="Shape 1156"/>
              <p:cNvSpPr txBox="1"/>
              <p:nvPr/>
            </p:nvSpPr>
            <p:spPr>
              <a:xfrm>
                <a:off x="4448175" y="501015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57" name="Shape 1157"/>
              <p:cNvSpPr txBox="1"/>
              <p:nvPr/>
            </p:nvSpPr>
            <p:spPr>
              <a:xfrm>
                <a:off x="4986337" y="4594225"/>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58" name="Shape 1158"/>
              <p:cNvSpPr txBox="1"/>
              <p:nvPr/>
            </p:nvSpPr>
            <p:spPr>
              <a:xfrm>
                <a:off x="4870450" y="4594225"/>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59" name="Shape 1159"/>
              <p:cNvSpPr txBox="1"/>
              <p:nvPr/>
            </p:nvSpPr>
            <p:spPr>
              <a:xfrm>
                <a:off x="4403725" y="4594225"/>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0" name="Shape 1160"/>
              <p:cNvSpPr txBox="1"/>
              <p:nvPr/>
            </p:nvSpPr>
            <p:spPr>
              <a:xfrm>
                <a:off x="2901950" y="507365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1" name="Shape 1161"/>
              <p:cNvSpPr txBox="1"/>
              <p:nvPr/>
            </p:nvSpPr>
            <p:spPr>
              <a:xfrm>
                <a:off x="4729162" y="4560887"/>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1162" name="Shape 1162"/>
              <p:cNvSpPr txBox="1"/>
              <p:nvPr/>
            </p:nvSpPr>
            <p:spPr>
              <a:xfrm>
                <a:off x="3748087" y="4746625"/>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1163" name="Shape 1163"/>
              <p:cNvSpPr txBox="1"/>
              <p:nvPr/>
            </p:nvSpPr>
            <p:spPr>
              <a:xfrm>
                <a:off x="2647950" y="4746625"/>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164" name="Shape 1164"/>
              <p:cNvSpPr txBox="1"/>
              <p:nvPr/>
            </p:nvSpPr>
            <p:spPr>
              <a:xfrm>
                <a:off x="2713037" y="5053012"/>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1165" name="Shape 1165"/>
              <p:cNvSpPr txBox="1"/>
              <p:nvPr/>
            </p:nvSpPr>
            <p:spPr>
              <a:xfrm>
                <a:off x="4510087" y="4594225"/>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6" name="Shape 1166"/>
              <p:cNvSpPr txBox="1"/>
              <p:nvPr/>
            </p:nvSpPr>
            <p:spPr>
              <a:xfrm>
                <a:off x="4159250" y="4598987"/>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7" name="Shape 1167"/>
              <p:cNvSpPr txBox="1"/>
              <p:nvPr/>
            </p:nvSpPr>
            <p:spPr>
              <a:xfrm>
                <a:off x="3009900" y="4776775"/>
                <a:ext cx="652500" cy="365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8" name="Shape 1168"/>
              <p:cNvSpPr txBox="1"/>
              <p:nvPr/>
            </p:nvSpPr>
            <p:spPr>
              <a:xfrm>
                <a:off x="2566987" y="4464050"/>
                <a:ext cx="4508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9" name="Shape 1169"/>
              <p:cNvSpPr txBox="1"/>
              <p:nvPr/>
            </p:nvSpPr>
            <p:spPr>
              <a:xfrm>
                <a:off x="2592387" y="5073650"/>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170" name="Shape 1170"/>
            <p:cNvGrpSpPr/>
            <p:nvPr/>
          </p:nvGrpSpPr>
          <p:grpSpPr>
            <a:xfrm>
              <a:off x="2576512" y="5292725"/>
              <a:ext cx="2536825" cy="914400"/>
              <a:chOff x="2576512" y="5292725"/>
              <a:chExt cx="2536825" cy="914400"/>
            </a:xfrm>
          </p:grpSpPr>
          <p:cxnSp>
            <p:nvCxnSpPr>
              <p:cNvPr id="1171" name="Shape 1171"/>
              <p:cNvCxnSpPr/>
              <p:nvPr/>
            </p:nvCxnSpPr>
            <p:spPr>
              <a:xfrm>
                <a:off x="4033837" y="5788025"/>
                <a:ext cx="1079500" cy="0"/>
              </a:xfrm>
              <a:prstGeom prst="straightConnector1">
                <a:avLst/>
              </a:prstGeom>
              <a:solidFill>
                <a:srgbClr val="FFFFFF"/>
              </a:solidFill>
              <a:ln w="14350" cap="flat" cmpd="sng">
                <a:solidFill>
                  <a:srgbClr val="000000"/>
                </a:solidFill>
                <a:prstDash val="solid"/>
                <a:miter lim="800000"/>
                <a:headEnd type="none" w="med" len="med"/>
                <a:tailEnd type="none" w="med" len="med"/>
              </a:ln>
            </p:spPr>
          </p:cxnSp>
          <p:sp>
            <p:nvSpPr>
              <p:cNvPr id="1172" name="Shape 1172"/>
              <p:cNvSpPr txBox="1"/>
              <p:nvPr/>
            </p:nvSpPr>
            <p:spPr>
              <a:xfrm>
                <a:off x="4457700" y="5838825"/>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3" name="Shape 1173"/>
              <p:cNvSpPr txBox="1"/>
              <p:nvPr/>
            </p:nvSpPr>
            <p:spPr>
              <a:xfrm>
                <a:off x="4995862" y="5422900"/>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4" name="Shape 1174"/>
              <p:cNvSpPr txBox="1"/>
              <p:nvPr/>
            </p:nvSpPr>
            <p:spPr>
              <a:xfrm>
                <a:off x="4879975" y="5422900"/>
                <a:ext cx="1524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5" name="Shape 1175"/>
              <p:cNvSpPr txBox="1"/>
              <p:nvPr/>
            </p:nvSpPr>
            <p:spPr>
              <a:xfrm>
                <a:off x="4413250" y="5422900"/>
                <a:ext cx="101600"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6" name="Shape 1176"/>
              <p:cNvSpPr txBox="1"/>
              <p:nvPr/>
            </p:nvSpPr>
            <p:spPr>
              <a:xfrm>
                <a:off x="2911475" y="5902325"/>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77" name="Shape 1177"/>
              <p:cNvSpPr txBox="1"/>
              <p:nvPr/>
            </p:nvSpPr>
            <p:spPr>
              <a:xfrm>
                <a:off x="4738687" y="5389562"/>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1178" name="Shape 1178"/>
              <p:cNvSpPr txBox="1"/>
              <p:nvPr/>
            </p:nvSpPr>
            <p:spPr>
              <a:xfrm>
                <a:off x="3757612" y="5575300"/>
                <a:ext cx="166687"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1179" name="Shape 1179"/>
              <p:cNvSpPr txBox="1"/>
              <p:nvPr/>
            </p:nvSpPr>
            <p:spPr>
              <a:xfrm>
                <a:off x="2657475" y="5575300"/>
                <a:ext cx="2540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180" name="Shape 1180"/>
              <p:cNvSpPr txBox="1"/>
              <p:nvPr/>
            </p:nvSpPr>
            <p:spPr>
              <a:xfrm>
                <a:off x="2722562" y="5881687"/>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1181" name="Shape 1181"/>
              <p:cNvSpPr txBox="1"/>
              <p:nvPr/>
            </p:nvSpPr>
            <p:spPr>
              <a:xfrm>
                <a:off x="4519612" y="5422900"/>
                <a:ext cx="1698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2" name="Shape 1182"/>
              <p:cNvSpPr txBox="1"/>
              <p:nvPr/>
            </p:nvSpPr>
            <p:spPr>
              <a:xfrm>
                <a:off x="4092575" y="5427662"/>
                <a:ext cx="32226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3n</a:t>
                </a:r>
                <a:endPar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3" name="Shape 1183"/>
              <p:cNvSpPr txBox="1"/>
              <p:nvPr/>
            </p:nvSpPr>
            <p:spPr>
              <a:xfrm>
                <a:off x="3019425" y="5605450"/>
                <a:ext cx="831900" cy="365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Times New Roman" panose="02020603050405020304"/>
                  <a:buNone/>
                </a:pP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3(</a:t>
                </a: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4" name="Shape 1184"/>
              <p:cNvSpPr txBox="1"/>
              <p:nvPr/>
            </p:nvSpPr>
            <p:spPr>
              <a:xfrm>
                <a:off x="2576512" y="5292725"/>
                <a:ext cx="4508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400"/>
                  <a:buFont typeface="Times New Roman" panose="02020603050405020304"/>
                  <a:buNone/>
                </a:pPr>
                <a:r>
                  <a:rPr lang="en-US" sz="24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5" name="Shape 1185"/>
              <p:cNvSpPr txBox="1"/>
              <p:nvPr/>
            </p:nvSpPr>
            <p:spPr>
              <a:xfrm>
                <a:off x="2601912" y="5902325"/>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1186" name="Shape 1186"/>
          <p:cNvSpPr txBox="1"/>
          <p:nvPr/>
        </p:nvSpPr>
        <p:spPr>
          <a:xfrm>
            <a:off x="425450" y="6084875"/>
            <a:ext cx="54171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平均情况：</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87" name="Shape 1187"/>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2"/>
                                        </p:tgtEl>
                                        <p:attrNameLst>
                                          <p:attrName>style.visibility</p:attrName>
                                        </p:attrNameLst>
                                      </p:cBhvr>
                                      <p:to>
                                        <p:strVal val="visible"/>
                                      </p:to>
                                    </p:set>
                                    <p:animEffect transition="in" filter="fade">
                                      <p:cBhvr>
                                        <p:cTn id="7" dur="500"/>
                                        <p:tgtEl>
                                          <p:spTgt spid="114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11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191" name="Shape 1191"/>
        <p:cNvGrpSpPr/>
        <p:nvPr/>
      </p:nvGrpSpPr>
      <p:grpSpPr>
        <a:xfrm>
          <a:off x="0" y="0"/>
          <a:ext cx="0" cy="0"/>
          <a:chOff x="0" y="0"/>
          <a:chExt cx="0" cy="0"/>
        </a:xfrm>
      </p:grpSpPr>
      <p:sp>
        <p:nvSpPr>
          <p:cNvPr id="1192" name="Shape 1192"/>
          <p:cNvSpPr txBox="1"/>
          <p:nvPr/>
        </p:nvSpPr>
        <p:spPr>
          <a:xfrm>
            <a:off x="341312" y="1133475"/>
            <a:ext cx="6096000"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快速排序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193" name="Shape 1193"/>
          <p:cNvSpPr txBox="1"/>
          <p:nvPr/>
        </p:nvSpPr>
        <p:spPr>
          <a:xfrm>
            <a:off x="476250" y="1719262"/>
            <a:ext cx="8461375"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改进的着眼点：</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在起泡排序中，记录的比较和移动是在</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相邻</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单元中进行的，记录每次交换只能上移或下移</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一个</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单元，因而总的比较次数和移动次数较多。</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4" name="Shape 1194"/>
          <p:cNvSpPr txBox="1"/>
          <p:nvPr/>
        </p:nvSpPr>
        <p:spPr>
          <a:xfrm>
            <a:off x="2259000" y="3294050"/>
            <a:ext cx="5016300" cy="547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减少总的比较次数和移动次数</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195" name="Shape 1195"/>
          <p:cNvSpPr/>
          <p:nvPr/>
        </p:nvSpPr>
        <p:spPr>
          <a:xfrm>
            <a:off x="4500562" y="3905250"/>
            <a:ext cx="360362" cy="53975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6" name="Shape 1196"/>
          <p:cNvSpPr txBox="1"/>
          <p:nvPr/>
        </p:nvSpPr>
        <p:spPr>
          <a:xfrm>
            <a:off x="2443162" y="4475162"/>
            <a:ext cx="4545012" cy="547687"/>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增大记录的比较和移动距离</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197" name="Shape 1197"/>
          <p:cNvSpPr/>
          <p:nvPr/>
        </p:nvSpPr>
        <p:spPr>
          <a:xfrm>
            <a:off x="4500562" y="5073650"/>
            <a:ext cx="360362" cy="53975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8" name="Shape 1198"/>
          <p:cNvSpPr txBox="1"/>
          <p:nvPr/>
        </p:nvSpPr>
        <p:spPr>
          <a:xfrm>
            <a:off x="2033587" y="5645150"/>
            <a:ext cx="5310187" cy="974725"/>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较大记录从前面直接移动到后面</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较小记录从后面直接移动到前面</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199" name="Shape 1199"/>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95"/>
                                        </p:tgtEl>
                                        <p:attrNameLst>
                                          <p:attrName>style.visibility</p:attrName>
                                        </p:attrNameLst>
                                      </p:cBhvr>
                                      <p:to>
                                        <p:strVal val="visible"/>
                                      </p:to>
                                    </p:set>
                                    <p:animEffect transition="in" filter="fade">
                                      <p:cBhvr>
                                        <p:cTn id="11" dur="500"/>
                                        <p:tgtEl>
                                          <p:spTgt spid="119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9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97"/>
                                        </p:tgtEl>
                                        <p:attrNameLst>
                                          <p:attrName>style.visibility</p:attrName>
                                        </p:attrNameLst>
                                      </p:cBhvr>
                                      <p:to>
                                        <p:strVal val="visible"/>
                                      </p:to>
                                    </p:set>
                                    <p:animEffect transition="in" filter="fade">
                                      <p:cBhvr>
                                        <p:cTn id="20" dur="500"/>
                                        <p:tgtEl>
                                          <p:spTgt spid="119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203" name="Shape 1203"/>
        <p:cNvGrpSpPr/>
        <p:nvPr/>
      </p:nvGrpSpPr>
      <p:grpSpPr>
        <a:xfrm>
          <a:off x="0" y="0"/>
          <a:ext cx="0" cy="0"/>
          <a:chOff x="0" y="0"/>
          <a:chExt cx="0" cy="0"/>
        </a:xfrm>
      </p:grpSpPr>
      <p:sp>
        <p:nvSpPr>
          <p:cNvPr id="1204" name="Shape 1204"/>
          <p:cNvSpPr txBox="1"/>
          <p:nvPr/>
        </p:nvSpPr>
        <p:spPr>
          <a:xfrm>
            <a:off x="306387" y="1101725"/>
            <a:ext cx="5334000"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快速排序的基本思想</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5" name="Shape 1205"/>
          <p:cNvSpPr txBox="1"/>
          <p:nvPr/>
        </p:nvSpPr>
        <p:spPr>
          <a:xfrm>
            <a:off x="296862" y="1763712"/>
            <a:ext cx="8505825" cy="22272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首先选一个</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轴值</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（即比较的基准），通过一趟排序将待排序记录</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分割</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成独立的两部分，前一部分记录的关键码均</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小于或等于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轴值，后一部分记录的关键码均</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大于或等于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轴值，然后分别对这两部分重复上述方法，直到整个序列有序。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6" name="Shape 1206"/>
          <p:cNvSpPr txBox="1"/>
          <p:nvPr/>
        </p:nvSpPr>
        <p:spPr>
          <a:xfrm>
            <a:off x="381000" y="4630737"/>
            <a:ext cx="7986712" cy="1971675"/>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⑴如何选择轴值？</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⑵如何实现分割（称一次划分）？</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⑶如何处理分割得到的两个待排序子序列？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⑷如何判别快速排序的结束？</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207" name="Shape 1207"/>
          <p:cNvGrpSpPr/>
          <p:nvPr/>
        </p:nvGrpSpPr>
        <p:grpSpPr>
          <a:xfrm>
            <a:off x="385762" y="4059237"/>
            <a:ext cx="6604000" cy="542925"/>
            <a:chOff x="522287" y="3249612"/>
            <a:chExt cx="6604000" cy="542925"/>
          </a:xfrm>
        </p:grpSpPr>
        <p:sp>
          <p:nvSpPr>
            <p:cNvPr id="1208" name="Shape 1208"/>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209" name="Shape 1209"/>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1210" name="Shape 1210"/>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214" name="Shape 1214"/>
        <p:cNvGrpSpPr/>
        <p:nvPr/>
      </p:nvGrpSpPr>
      <p:grpSpPr>
        <a:xfrm>
          <a:off x="0" y="0"/>
          <a:ext cx="0" cy="0"/>
          <a:chOff x="0" y="0"/>
          <a:chExt cx="0" cy="0"/>
        </a:xfrm>
      </p:grpSpPr>
      <p:sp>
        <p:nvSpPr>
          <p:cNvPr id="1215" name="Shape 1215"/>
          <p:cNvSpPr txBox="1"/>
          <p:nvPr/>
        </p:nvSpPr>
        <p:spPr>
          <a:xfrm>
            <a:off x="341312" y="1808162"/>
            <a:ext cx="7772400" cy="33385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选择轴值的方法：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1.使用第一个记录的关键码；</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2.选取序列中间记录的关键码；</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3.比较序列中第一个记录、最后一个记录和中间记录的关键码，取关键码居中的作为轴值并调换到第一个记录的位置；</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4.随机选取轴值。</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16" name="Shape 1216"/>
          <p:cNvSpPr txBox="1"/>
          <p:nvPr/>
        </p:nvSpPr>
        <p:spPr>
          <a:xfrm>
            <a:off x="103187" y="1112837"/>
            <a:ext cx="757396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关键问题⑴：如何选择轴值？</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217" name="Shape 1217"/>
          <p:cNvSpPr txBox="1"/>
          <p:nvPr/>
        </p:nvSpPr>
        <p:spPr>
          <a:xfrm>
            <a:off x="341312" y="5187950"/>
            <a:ext cx="8235950" cy="11604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选取不同轴值的后果：</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决定两个子序列的长度，子序列的长度最好相等。</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18" name="Shape 1218"/>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222" name="Shape 1222"/>
        <p:cNvGrpSpPr/>
        <p:nvPr/>
      </p:nvGrpSpPr>
      <p:grpSpPr>
        <a:xfrm>
          <a:off x="0" y="0"/>
          <a:ext cx="0" cy="0"/>
          <a:chOff x="0" y="0"/>
          <a:chExt cx="0" cy="0"/>
        </a:xfrm>
      </p:grpSpPr>
      <p:sp>
        <p:nvSpPr>
          <p:cNvPr id="1223" name="Shape 1223"/>
          <p:cNvSpPr/>
          <p:nvPr/>
        </p:nvSpPr>
        <p:spPr>
          <a:xfrm>
            <a:off x="5111750" y="2528887"/>
            <a:ext cx="533400" cy="381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8492E"/>
              </a:buClr>
              <a:buSzPts val="2400"/>
              <a:buFont typeface="Arial" panose="020B0604020202020204"/>
              <a:buNone/>
            </a:pPr>
            <a:r>
              <a:rPr lang="en-US" sz="2400" b="1" i="0" u="none">
                <a:solidFill>
                  <a:srgbClr val="E8492E"/>
                </a:solidFill>
                <a:latin typeface="Arial" panose="020B0604020202020204"/>
                <a:ea typeface="Arial" panose="020B0604020202020204"/>
                <a:cs typeface="Arial" panose="020B0604020202020204"/>
                <a:sym typeface="Arial" panose="020B0604020202020204"/>
              </a:rPr>
              <a:t>13</a:t>
            </a:r>
            <a:endParaRPr lang="en-US" sz="2400" b="1" i="0" u="none">
              <a:solidFill>
                <a:srgbClr val="E8492E"/>
              </a:solidFill>
              <a:latin typeface="Arial" panose="020B0604020202020204"/>
              <a:ea typeface="Arial" panose="020B0604020202020204"/>
              <a:cs typeface="Arial" panose="020B0604020202020204"/>
              <a:sym typeface="Arial" panose="020B0604020202020204"/>
            </a:endParaRPr>
          </a:p>
        </p:txBody>
      </p:sp>
      <p:sp>
        <p:nvSpPr>
          <p:cNvPr id="1224" name="Shape 1224"/>
          <p:cNvSpPr/>
          <p:nvPr/>
        </p:nvSpPr>
        <p:spPr>
          <a:xfrm>
            <a:off x="6770687" y="1628775"/>
            <a:ext cx="533400" cy="12588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25" name="Shape 1225"/>
          <p:cNvSpPr/>
          <p:nvPr/>
        </p:nvSpPr>
        <p:spPr>
          <a:xfrm>
            <a:off x="2487612" y="2328862"/>
            <a:ext cx="533400" cy="519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27</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26" name="Shape 1226"/>
          <p:cNvSpPr/>
          <p:nvPr/>
        </p:nvSpPr>
        <p:spPr>
          <a:xfrm>
            <a:off x="4257675" y="1944687"/>
            <a:ext cx="533400" cy="9413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50</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27" name="Shape 1227"/>
          <p:cNvSpPr/>
          <p:nvPr/>
        </p:nvSpPr>
        <p:spPr>
          <a:xfrm>
            <a:off x="1589087" y="2176462"/>
            <a:ext cx="533400" cy="6858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38</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228" name="Shape 1228"/>
          <p:cNvSpPr/>
          <p:nvPr/>
        </p:nvSpPr>
        <p:spPr>
          <a:xfrm>
            <a:off x="5921375" y="2079625"/>
            <a:ext cx="533400" cy="8651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49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29" name="Shape 1229"/>
          <p:cNvSpPr/>
          <p:nvPr/>
        </p:nvSpPr>
        <p:spPr>
          <a:xfrm>
            <a:off x="3341687" y="1782762"/>
            <a:ext cx="533400" cy="11160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nvGrpSpPr>
          <p:cNvPr id="1230" name="Shape 1230"/>
          <p:cNvGrpSpPr/>
          <p:nvPr/>
        </p:nvGrpSpPr>
        <p:grpSpPr>
          <a:xfrm>
            <a:off x="7080250" y="2916237"/>
            <a:ext cx="285750" cy="520700"/>
            <a:chOff x="7080250" y="2916237"/>
            <a:chExt cx="285750" cy="520700"/>
          </a:xfrm>
        </p:grpSpPr>
        <p:cxnSp>
          <p:nvCxnSpPr>
            <p:cNvPr id="1231" name="Shape 1231"/>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32" name="Shape 1232"/>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33" name="Shape 1233"/>
          <p:cNvGrpSpPr/>
          <p:nvPr/>
        </p:nvGrpSpPr>
        <p:grpSpPr>
          <a:xfrm>
            <a:off x="1450975" y="2881312"/>
            <a:ext cx="330200" cy="555625"/>
            <a:chOff x="1450975" y="2881312"/>
            <a:chExt cx="330200" cy="555625"/>
          </a:xfrm>
        </p:grpSpPr>
        <p:cxnSp>
          <p:nvCxnSpPr>
            <p:cNvPr id="1234" name="Shape 1234"/>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235" name="Shape 1235"/>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36" name="Shape 1236"/>
          <p:cNvGrpSpPr/>
          <p:nvPr/>
        </p:nvGrpSpPr>
        <p:grpSpPr>
          <a:xfrm>
            <a:off x="1628775" y="3979862"/>
            <a:ext cx="4000500" cy="685800"/>
            <a:chOff x="1628775" y="4059237"/>
            <a:chExt cx="4000500" cy="685800"/>
          </a:xfrm>
        </p:grpSpPr>
        <p:sp>
          <p:nvSpPr>
            <p:cNvPr id="1237" name="Shape 1237"/>
            <p:cNvSpPr/>
            <p:nvPr/>
          </p:nvSpPr>
          <p:spPr>
            <a:xfrm>
              <a:off x="1628775" y="4352925"/>
              <a:ext cx="533400" cy="381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8492E"/>
                </a:buClr>
                <a:buSzPts val="2400"/>
                <a:buFont typeface="Arial" panose="020B0604020202020204"/>
                <a:buNone/>
              </a:pPr>
              <a:r>
                <a:rPr lang="en-US" sz="2400" b="1" i="0" u="none">
                  <a:solidFill>
                    <a:srgbClr val="E8492E"/>
                  </a:solidFill>
                  <a:latin typeface="Arial" panose="020B0604020202020204"/>
                  <a:ea typeface="Arial" panose="020B0604020202020204"/>
                  <a:cs typeface="Arial" panose="020B0604020202020204"/>
                  <a:sym typeface="Arial" panose="020B0604020202020204"/>
                </a:rPr>
                <a:t>13</a:t>
              </a:r>
              <a:endParaRPr lang="en-US" sz="2400" b="1" i="0" u="none">
                <a:solidFill>
                  <a:srgbClr val="E8492E"/>
                </a:solidFill>
                <a:latin typeface="Arial" panose="020B0604020202020204"/>
                <a:ea typeface="Arial" panose="020B0604020202020204"/>
                <a:cs typeface="Arial" panose="020B0604020202020204"/>
                <a:sym typeface="Arial" panose="020B0604020202020204"/>
              </a:endParaRPr>
            </a:p>
          </p:txBody>
        </p:sp>
        <p:sp>
          <p:nvSpPr>
            <p:cNvPr id="1238" name="Shape 1238"/>
            <p:cNvSpPr/>
            <p:nvPr/>
          </p:nvSpPr>
          <p:spPr>
            <a:xfrm>
              <a:off x="5095875" y="4059237"/>
              <a:ext cx="533400" cy="6858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38</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grpSp>
      <p:grpSp>
        <p:nvGrpSpPr>
          <p:cNvPr id="1239" name="Shape 1239"/>
          <p:cNvGrpSpPr/>
          <p:nvPr/>
        </p:nvGrpSpPr>
        <p:grpSpPr>
          <a:xfrm>
            <a:off x="2528887" y="3394075"/>
            <a:ext cx="4779963" cy="1269999"/>
            <a:chOff x="2528887" y="3473450"/>
            <a:chExt cx="4779963" cy="1269999"/>
          </a:xfrm>
        </p:grpSpPr>
        <p:sp>
          <p:nvSpPr>
            <p:cNvPr id="1240" name="Shape 1240"/>
            <p:cNvSpPr/>
            <p:nvPr/>
          </p:nvSpPr>
          <p:spPr>
            <a:xfrm>
              <a:off x="6775450" y="3473450"/>
              <a:ext cx="533400" cy="12588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1" name="Shape 1241"/>
            <p:cNvSpPr/>
            <p:nvPr/>
          </p:nvSpPr>
          <p:spPr>
            <a:xfrm>
              <a:off x="2528887" y="4214812"/>
              <a:ext cx="533400" cy="519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27</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2" name="Shape 1242"/>
            <p:cNvSpPr/>
            <p:nvPr/>
          </p:nvSpPr>
          <p:spPr>
            <a:xfrm>
              <a:off x="4241800" y="3789362"/>
              <a:ext cx="533400" cy="9413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50</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3" name="Shape 1243"/>
            <p:cNvSpPr/>
            <p:nvPr/>
          </p:nvSpPr>
          <p:spPr>
            <a:xfrm>
              <a:off x="5921375" y="3878262"/>
              <a:ext cx="533400" cy="8651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49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4" name="Shape 1244"/>
            <p:cNvSpPr/>
            <p:nvPr/>
          </p:nvSpPr>
          <p:spPr>
            <a:xfrm>
              <a:off x="3341687" y="3608387"/>
              <a:ext cx="533400" cy="11160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245" name="Shape 1245"/>
          <p:cNvGrpSpPr/>
          <p:nvPr/>
        </p:nvGrpSpPr>
        <p:grpSpPr>
          <a:xfrm>
            <a:off x="1670050" y="5003800"/>
            <a:ext cx="5640387" cy="1269999"/>
            <a:chOff x="1670050" y="5003800"/>
            <a:chExt cx="5640387" cy="1269999"/>
          </a:xfrm>
        </p:grpSpPr>
        <p:sp>
          <p:nvSpPr>
            <p:cNvPr id="1246" name="Shape 1246"/>
            <p:cNvSpPr/>
            <p:nvPr/>
          </p:nvSpPr>
          <p:spPr>
            <a:xfrm>
              <a:off x="1670050" y="5838825"/>
              <a:ext cx="533400" cy="381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E8492E"/>
                </a:buClr>
                <a:buSzPts val="2400"/>
                <a:buFont typeface="Arial" panose="020B0604020202020204"/>
                <a:buNone/>
              </a:pPr>
              <a:r>
                <a:rPr lang="en-US" sz="2400" b="1" i="0" u="none">
                  <a:solidFill>
                    <a:srgbClr val="E8492E"/>
                  </a:solidFill>
                  <a:latin typeface="Arial" panose="020B0604020202020204"/>
                  <a:ea typeface="Arial" panose="020B0604020202020204"/>
                  <a:cs typeface="Arial" panose="020B0604020202020204"/>
                  <a:sym typeface="Arial" panose="020B0604020202020204"/>
                </a:rPr>
                <a:t>13</a:t>
              </a:r>
              <a:endParaRPr lang="en-US" sz="2400" b="1" i="0" u="none">
                <a:solidFill>
                  <a:srgbClr val="E8492E"/>
                </a:solidFill>
                <a:latin typeface="Arial" panose="020B0604020202020204"/>
                <a:ea typeface="Arial" panose="020B0604020202020204"/>
                <a:cs typeface="Arial" panose="020B0604020202020204"/>
                <a:sym typeface="Arial" panose="020B0604020202020204"/>
              </a:endParaRPr>
            </a:p>
          </p:txBody>
        </p:sp>
        <p:sp>
          <p:nvSpPr>
            <p:cNvPr id="1247" name="Shape 1247"/>
            <p:cNvSpPr/>
            <p:nvPr/>
          </p:nvSpPr>
          <p:spPr>
            <a:xfrm>
              <a:off x="6777037" y="5003800"/>
              <a:ext cx="533400" cy="12588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8" name="Shape 1248"/>
            <p:cNvSpPr/>
            <p:nvPr/>
          </p:nvSpPr>
          <p:spPr>
            <a:xfrm>
              <a:off x="2552700" y="5721350"/>
              <a:ext cx="533400" cy="519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27</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49" name="Shape 1249"/>
            <p:cNvSpPr/>
            <p:nvPr/>
          </p:nvSpPr>
          <p:spPr>
            <a:xfrm>
              <a:off x="4260850" y="5319712"/>
              <a:ext cx="533400" cy="9413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50</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250" name="Shape 1250"/>
            <p:cNvSpPr/>
            <p:nvPr/>
          </p:nvSpPr>
          <p:spPr>
            <a:xfrm>
              <a:off x="5953125" y="5408612"/>
              <a:ext cx="533400" cy="8651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49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251" name="Shape 1251"/>
          <p:cNvGrpSpPr/>
          <p:nvPr/>
        </p:nvGrpSpPr>
        <p:grpSpPr>
          <a:xfrm>
            <a:off x="3371850" y="5138737"/>
            <a:ext cx="2276475" cy="1116012"/>
            <a:chOff x="3371850" y="5138737"/>
            <a:chExt cx="2276475" cy="1116012"/>
          </a:xfrm>
        </p:grpSpPr>
        <p:sp>
          <p:nvSpPr>
            <p:cNvPr id="1252" name="Shape 1252"/>
            <p:cNvSpPr/>
            <p:nvPr/>
          </p:nvSpPr>
          <p:spPr>
            <a:xfrm>
              <a:off x="3371850" y="5554662"/>
              <a:ext cx="533400" cy="6858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38</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253" name="Shape 1253"/>
            <p:cNvSpPr/>
            <p:nvPr/>
          </p:nvSpPr>
          <p:spPr>
            <a:xfrm>
              <a:off x="5114925" y="5138737"/>
              <a:ext cx="533400" cy="11160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sp>
        <p:nvSpPr>
          <p:cNvPr id="1254" name="Shape 1254"/>
          <p:cNvSpPr txBox="1"/>
          <p:nvPr/>
        </p:nvSpPr>
        <p:spPr>
          <a:xfrm>
            <a:off x="103187" y="1112837"/>
            <a:ext cx="757396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关键问题⑵：如何实现一次划分？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255" name="Shape 1255"/>
          <p:cNvGrpSpPr/>
          <p:nvPr/>
        </p:nvGrpSpPr>
        <p:grpSpPr>
          <a:xfrm>
            <a:off x="6237287" y="2933700"/>
            <a:ext cx="285750" cy="520700"/>
            <a:chOff x="7080250" y="2916237"/>
            <a:chExt cx="285750" cy="520700"/>
          </a:xfrm>
        </p:grpSpPr>
        <p:cxnSp>
          <p:nvCxnSpPr>
            <p:cNvPr id="1256" name="Shape 1256"/>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57" name="Shape 1257"/>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58" name="Shape 1258"/>
          <p:cNvGrpSpPr/>
          <p:nvPr/>
        </p:nvGrpSpPr>
        <p:grpSpPr>
          <a:xfrm>
            <a:off x="5381625" y="2933700"/>
            <a:ext cx="285750" cy="520700"/>
            <a:chOff x="7080250" y="2916237"/>
            <a:chExt cx="285750" cy="520700"/>
          </a:xfrm>
        </p:grpSpPr>
        <p:cxnSp>
          <p:nvCxnSpPr>
            <p:cNvPr id="1259" name="Shape 1259"/>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60" name="Shape 1260"/>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61" name="Shape 1261"/>
          <p:cNvGrpSpPr/>
          <p:nvPr/>
        </p:nvGrpSpPr>
        <p:grpSpPr>
          <a:xfrm>
            <a:off x="1557337" y="4643437"/>
            <a:ext cx="330200" cy="555625"/>
            <a:chOff x="1450975" y="2881312"/>
            <a:chExt cx="330200" cy="555625"/>
          </a:xfrm>
        </p:grpSpPr>
        <p:cxnSp>
          <p:nvCxnSpPr>
            <p:cNvPr id="1262" name="Shape 1262"/>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263" name="Shape 1263"/>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64" name="Shape 1264"/>
          <p:cNvGrpSpPr/>
          <p:nvPr/>
        </p:nvGrpSpPr>
        <p:grpSpPr>
          <a:xfrm>
            <a:off x="2457450" y="4673600"/>
            <a:ext cx="330200" cy="555625"/>
            <a:chOff x="1450975" y="2881312"/>
            <a:chExt cx="330200" cy="555625"/>
          </a:xfrm>
        </p:grpSpPr>
        <p:cxnSp>
          <p:nvCxnSpPr>
            <p:cNvPr id="1265" name="Shape 1265"/>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266" name="Shape 1266"/>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67" name="Shape 1267"/>
          <p:cNvGrpSpPr/>
          <p:nvPr/>
        </p:nvGrpSpPr>
        <p:grpSpPr>
          <a:xfrm>
            <a:off x="3267075" y="4689475"/>
            <a:ext cx="330200" cy="555625"/>
            <a:chOff x="1450975" y="2881312"/>
            <a:chExt cx="330200" cy="555625"/>
          </a:xfrm>
        </p:grpSpPr>
        <p:cxnSp>
          <p:nvCxnSpPr>
            <p:cNvPr id="1268" name="Shape 1268"/>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269" name="Shape 1269"/>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70" name="Shape 1270"/>
          <p:cNvGrpSpPr/>
          <p:nvPr/>
        </p:nvGrpSpPr>
        <p:grpSpPr>
          <a:xfrm>
            <a:off x="5381625" y="4643437"/>
            <a:ext cx="285750" cy="520700"/>
            <a:chOff x="7080250" y="2916237"/>
            <a:chExt cx="285750" cy="520700"/>
          </a:xfrm>
        </p:grpSpPr>
        <p:cxnSp>
          <p:nvCxnSpPr>
            <p:cNvPr id="1271" name="Shape 1271"/>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72" name="Shape 1272"/>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73" name="Shape 1273"/>
          <p:cNvGrpSpPr/>
          <p:nvPr/>
        </p:nvGrpSpPr>
        <p:grpSpPr>
          <a:xfrm>
            <a:off x="3216275" y="6254750"/>
            <a:ext cx="330200" cy="555625"/>
            <a:chOff x="1450975" y="2881312"/>
            <a:chExt cx="330200" cy="555625"/>
          </a:xfrm>
        </p:grpSpPr>
        <p:cxnSp>
          <p:nvCxnSpPr>
            <p:cNvPr id="1274" name="Shape 1274"/>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275" name="Shape 1275"/>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76" name="Shape 1276"/>
          <p:cNvGrpSpPr/>
          <p:nvPr/>
        </p:nvGrpSpPr>
        <p:grpSpPr>
          <a:xfrm>
            <a:off x="4556125" y="6242050"/>
            <a:ext cx="285750" cy="520700"/>
            <a:chOff x="7080250" y="2916237"/>
            <a:chExt cx="285750" cy="520700"/>
          </a:xfrm>
        </p:grpSpPr>
        <p:cxnSp>
          <p:nvCxnSpPr>
            <p:cNvPr id="1277" name="Shape 1277"/>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78" name="Shape 1278"/>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79" name="Shape 1279"/>
          <p:cNvGrpSpPr/>
          <p:nvPr/>
        </p:nvGrpSpPr>
        <p:grpSpPr>
          <a:xfrm>
            <a:off x="3730625" y="6257925"/>
            <a:ext cx="285750" cy="520700"/>
            <a:chOff x="7080250" y="2916237"/>
            <a:chExt cx="285750" cy="520700"/>
          </a:xfrm>
        </p:grpSpPr>
        <p:cxnSp>
          <p:nvCxnSpPr>
            <p:cNvPr id="1280" name="Shape 1280"/>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81" name="Shape 1281"/>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282" name="Shape 1282"/>
          <p:cNvGrpSpPr/>
          <p:nvPr/>
        </p:nvGrpSpPr>
        <p:grpSpPr>
          <a:xfrm>
            <a:off x="5384800" y="6289675"/>
            <a:ext cx="285750" cy="520700"/>
            <a:chOff x="7080250" y="2916237"/>
            <a:chExt cx="285750" cy="520700"/>
          </a:xfrm>
        </p:grpSpPr>
        <p:cxnSp>
          <p:nvCxnSpPr>
            <p:cNvPr id="1283" name="Shape 1283"/>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284" name="Shape 1284"/>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285" name="Shape 1285"/>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289" name="Shape 1289"/>
        <p:cNvGrpSpPr/>
        <p:nvPr/>
      </p:nvGrpSpPr>
      <p:grpSpPr>
        <a:xfrm>
          <a:off x="0" y="0"/>
          <a:ext cx="0" cy="0"/>
          <a:chOff x="0" y="0"/>
          <a:chExt cx="0" cy="0"/>
        </a:xfrm>
      </p:grpSpPr>
      <p:sp>
        <p:nvSpPr>
          <p:cNvPr id="1290" name="Shape 1290"/>
          <p:cNvSpPr txBox="1"/>
          <p:nvPr/>
        </p:nvSpPr>
        <p:spPr>
          <a:xfrm>
            <a:off x="222250" y="1719262"/>
            <a:ext cx="8535987" cy="4705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设待划分的序列是r[s] ~ r[t]，设参数i，j分别指向子序列左、右两端的下标s和t，令r[s]为轴值，</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从后</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向前</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扫描，直到r[j]&lt;r[i]，将r[j]移动到r[i]的位置，使关键码小（同轴值相比）的记录移动到前面去；</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从前</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向后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扫描，直到r[i]＞r[j]，将r[i]移动到r[j]的位置，使关键码大（同轴值比较）的记录移动到后面去；</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（3）重复上述过程，直到</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i=j</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1" name="Shape 1291"/>
          <p:cNvSpPr txBox="1"/>
          <p:nvPr/>
        </p:nvSpPr>
        <p:spPr>
          <a:xfrm>
            <a:off x="103187" y="1112837"/>
            <a:ext cx="757396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关键问题⑵：如何实现一次划分？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292" name="Shape 1292"/>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296" name="Shape 1296"/>
        <p:cNvGrpSpPr/>
        <p:nvPr/>
      </p:nvGrpSpPr>
      <p:grpSpPr>
        <a:xfrm>
          <a:off x="0" y="0"/>
          <a:ext cx="0" cy="0"/>
          <a:chOff x="0" y="0"/>
          <a:chExt cx="0" cy="0"/>
        </a:xfrm>
      </p:grpSpPr>
      <p:sp>
        <p:nvSpPr>
          <p:cNvPr id="1297" name="Shape 1297"/>
          <p:cNvSpPr txBox="1"/>
          <p:nvPr/>
        </p:nvSpPr>
        <p:spPr>
          <a:xfrm>
            <a:off x="103187" y="1112837"/>
            <a:ext cx="757396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关键问题⑵：如何实现一次划分？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298" name="Shape 1298"/>
          <p:cNvSpPr txBox="1"/>
          <p:nvPr/>
        </p:nvSpPr>
        <p:spPr>
          <a:xfrm>
            <a:off x="206375" y="1628775"/>
            <a:ext cx="8535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9" name="Shape 1299"/>
          <p:cNvSpPr txBox="1"/>
          <p:nvPr/>
        </p:nvSpPr>
        <p:spPr>
          <a:xfrm>
            <a:off x="385762" y="2092325"/>
            <a:ext cx="8056562" cy="4765675"/>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int Partition(int r[ ], int first, int end)</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i=first; j=end;         //初始化</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(i&lt;j)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(i&lt;j &amp;&amp; r[i]&lt;= r[j]) j--；  //右侧扫描</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(i&lt;j) {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r[i]←→r[j];   i++;  //将较小记录交换到前面</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(i&lt;j &amp;&amp; r[i]&lt;= r[j]) i++；  //左侧扫描</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(i&lt;j)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r[j]←→r[i];   j--;  //将较大记录交换到后面</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retutn i;    //i为轴值记录的最终位置</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00" name="Shape 1300"/>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04" name="Shape 1304"/>
        <p:cNvGrpSpPr/>
        <p:nvPr/>
      </p:nvGrpSpPr>
      <p:grpSpPr>
        <a:xfrm>
          <a:off x="0" y="0"/>
          <a:ext cx="0" cy="0"/>
          <a:chOff x="0" y="0"/>
          <a:chExt cx="0" cy="0"/>
        </a:xfrm>
      </p:grpSpPr>
      <p:sp>
        <p:nvSpPr>
          <p:cNvPr id="1305" name="Shape 1305"/>
          <p:cNvSpPr txBox="1"/>
          <p:nvPr/>
        </p:nvSpPr>
        <p:spPr>
          <a:xfrm>
            <a:off x="296862" y="1898650"/>
            <a:ext cx="8505825" cy="11604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对分割得到的两个子序列递归地执行快速排序。</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06" name="Shape 1306"/>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关键问题⑶：如何处理分割得到的两个待排序子序列？</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307" name="Shape 1307"/>
          <p:cNvGrpSpPr/>
          <p:nvPr/>
        </p:nvGrpSpPr>
        <p:grpSpPr>
          <a:xfrm>
            <a:off x="1455737" y="5911850"/>
            <a:ext cx="1447800" cy="519112"/>
            <a:chOff x="1455737" y="5911850"/>
            <a:chExt cx="1447800" cy="519112"/>
          </a:xfrm>
        </p:grpSpPr>
        <p:sp>
          <p:nvSpPr>
            <p:cNvPr id="1308" name="Shape 1308"/>
            <p:cNvSpPr/>
            <p:nvPr/>
          </p:nvSpPr>
          <p:spPr>
            <a:xfrm>
              <a:off x="1455737" y="6029325"/>
              <a:ext cx="533400" cy="381000"/>
            </a:xfrm>
            <a:prstGeom prst="can">
              <a:avLst>
                <a:gd name="adj" fmla="val 25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13</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309" name="Shape 1309"/>
            <p:cNvSpPr/>
            <p:nvPr/>
          </p:nvSpPr>
          <p:spPr>
            <a:xfrm>
              <a:off x="2370137" y="5911850"/>
              <a:ext cx="533400" cy="519112"/>
            </a:xfrm>
            <a:prstGeom prst="can">
              <a:avLst>
                <a:gd name="adj" fmla="val 25000"/>
              </a:avLst>
            </a:prstGeom>
            <a:gradFill>
              <a:gsLst>
                <a:gs pos="0">
                  <a:srgbClr val="8F8FB3"/>
                </a:gs>
                <a:gs pos="50000">
                  <a:schemeClr val="hlink"/>
                </a:gs>
                <a:gs pos="100000">
                  <a:srgbClr val="8F8F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27</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sp>
        <p:nvSpPr>
          <p:cNvPr id="1310" name="Shape 1310"/>
          <p:cNvSpPr/>
          <p:nvPr/>
        </p:nvSpPr>
        <p:spPr>
          <a:xfrm>
            <a:off x="3284537" y="5745162"/>
            <a:ext cx="533400" cy="685800"/>
          </a:xfrm>
          <a:prstGeom prst="can">
            <a:avLst>
              <a:gd name="adj" fmla="val 25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38</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grpSp>
        <p:nvGrpSpPr>
          <p:cNvPr id="1311" name="Shape 1311"/>
          <p:cNvGrpSpPr/>
          <p:nvPr/>
        </p:nvGrpSpPr>
        <p:grpSpPr>
          <a:xfrm>
            <a:off x="4211637" y="5078412"/>
            <a:ext cx="3368675" cy="1373187"/>
            <a:chOff x="4211637" y="5078412"/>
            <a:chExt cx="3368675" cy="1373187"/>
          </a:xfrm>
        </p:grpSpPr>
        <p:sp>
          <p:nvSpPr>
            <p:cNvPr id="1312" name="Shape 1312"/>
            <p:cNvSpPr/>
            <p:nvPr/>
          </p:nvSpPr>
          <p:spPr>
            <a:xfrm>
              <a:off x="7046912" y="5078412"/>
              <a:ext cx="533400" cy="13716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313" name="Shape 1313"/>
            <p:cNvSpPr/>
            <p:nvPr/>
          </p:nvSpPr>
          <p:spPr>
            <a:xfrm>
              <a:off x="5178425" y="5457825"/>
              <a:ext cx="533400" cy="941387"/>
            </a:xfrm>
            <a:prstGeom prst="can">
              <a:avLst>
                <a:gd name="adj" fmla="val 25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50</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314" name="Shape 1314"/>
            <p:cNvSpPr/>
            <p:nvPr/>
          </p:nvSpPr>
          <p:spPr>
            <a:xfrm>
              <a:off x="4211637" y="5557837"/>
              <a:ext cx="533400" cy="865187"/>
            </a:xfrm>
            <a:prstGeom prst="can">
              <a:avLst>
                <a:gd name="adj" fmla="val 25000"/>
              </a:avLst>
            </a:prstGeom>
            <a:gradFill>
              <a:gsLst>
                <a:gs pos="0">
                  <a:srgbClr val="B3236B"/>
                </a:gs>
                <a:gs pos="50000">
                  <a:srgbClr val="FF3399"/>
                </a:gs>
                <a:gs pos="100000">
                  <a:srgbClr val="B323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49</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315" name="Shape 1315"/>
            <p:cNvSpPr/>
            <p:nvPr/>
          </p:nvSpPr>
          <p:spPr>
            <a:xfrm>
              <a:off x="6124575" y="5329237"/>
              <a:ext cx="533400" cy="1122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316" name="Shape 1316"/>
          <p:cNvGrpSpPr/>
          <p:nvPr/>
        </p:nvGrpSpPr>
        <p:grpSpPr>
          <a:xfrm>
            <a:off x="1455737" y="3144837"/>
            <a:ext cx="6081713" cy="1374775"/>
            <a:chOff x="1455737" y="3144837"/>
            <a:chExt cx="6081713" cy="1374775"/>
          </a:xfrm>
        </p:grpSpPr>
        <p:sp>
          <p:nvSpPr>
            <p:cNvPr id="1317" name="Shape 1317"/>
            <p:cNvSpPr/>
            <p:nvPr/>
          </p:nvSpPr>
          <p:spPr>
            <a:xfrm>
              <a:off x="1455737" y="4135437"/>
              <a:ext cx="533400" cy="381000"/>
            </a:xfrm>
            <a:prstGeom prst="can">
              <a:avLst>
                <a:gd name="adj" fmla="val 25000"/>
              </a:avLst>
            </a:prstGeom>
            <a:gradFill>
              <a:gsLst>
                <a:gs pos="0">
                  <a:srgbClr val="B3236B"/>
                </a:gs>
                <a:gs pos="50000">
                  <a:srgbClr val="FF3399"/>
                </a:gs>
                <a:gs pos="100000">
                  <a:srgbClr val="B323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13</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318" name="Shape 1318"/>
            <p:cNvSpPr/>
            <p:nvPr/>
          </p:nvSpPr>
          <p:spPr>
            <a:xfrm>
              <a:off x="2400300" y="4000500"/>
              <a:ext cx="533400" cy="519112"/>
            </a:xfrm>
            <a:prstGeom prst="can">
              <a:avLst>
                <a:gd name="adj" fmla="val 25000"/>
              </a:avLst>
            </a:prstGeom>
            <a:gradFill>
              <a:gsLst>
                <a:gs pos="0">
                  <a:srgbClr val="B3236B"/>
                </a:gs>
                <a:gs pos="50000">
                  <a:srgbClr val="FF3399"/>
                </a:gs>
                <a:gs pos="100000">
                  <a:srgbClr val="B323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27</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319" name="Shape 1319"/>
            <p:cNvSpPr/>
            <p:nvPr/>
          </p:nvSpPr>
          <p:spPr>
            <a:xfrm>
              <a:off x="4208462" y="3551237"/>
              <a:ext cx="533400" cy="9413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50</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320" name="Shape 1320"/>
            <p:cNvSpPr/>
            <p:nvPr/>
          </p:nvSpPr>
          <p:spPr>
            <a:xfrm>
              <a:off x="3300412" y="3821112"/>
              <a:ext cx="533400" cy="685800"/>
            </a:xfrm>
            <a:prstGeom prst="can">
              <a:avLst>
                <a:gd name="adj" fmla="val 25000"/>
              </a:avLst>
            </a:prstGeom>
            <a:solidFill>
              <a:srgbClr val="339966"/>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FF"/>
                </a:buClr>
                <a:buSzPts val="2400"/>
                <a:buFont typeface="Arial" panose="020B0604020202020204"/>
                <a:buNone/>
              </a:pPr>
              <a:r>
                <a:rPr lang="en-US" sz="2400" b="1" i="0" u="none">
                  <a:solidFill>
                    <a:srgbClr val="FF00FF"/>
                  </a:solidFill>
                  <a:latin typeface="Arial" panose="020B0604020202020204"/>
                  <a:ea typeface="Arial" panose="020B0604020202020204"/>
                  <a:cs typeface="Arial" panose="020B0604020202020204"/>
                  <a:sym typeface="Arial" panose="020B0604020202020204"/>
                </a:rPr>
                <a:t>38</a:t>
              </a:r>
              <a:endParaRPr lang="en-US" sz="2400" b="1" i="0" u="none">
                <a:solidFill>
                  <a:srgbClr val="FF00FF"/>
                </a:solidFill>
                <a:latin typeface="Arial" panose="020B0604020202020204"/>
                <a:ea typeface="Arial" panose="020B0604020202020204"/>
                <a:cs typeface="Arial" panose="020B0604020202020204"/>
                <a:sym typeface="Arial" panose="020B0604020202020204"/>
              </a:endParaRPr>
            </a:p>
          </p:txBody>
        </p:sp>
        <p:sp>
          <p:nvSpPr>
            <p:cNvPr id="1321" name="Shape 1321"/>
            <p:cNvSpPr/>
            <p:nvPr/>
          </p:nvSpPr>
          <p:spPr>
            <a:xfrm>
              <a:off x="6096000" y="3640137"/>
              <a:ext cx="533400" cy="865187"/>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49</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322" name="Shape 1322"/>
            <p:cNvSpPr/>
            <p:nvPr/>
          </p:nvSpPr>
          <p:spPr>
            <a:xfrm>
              <a:off x="5157787" y="3384550"/>
              <a:ext cx="533400" cy="112236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55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323" name="Shape 1323"/>
            <p:cNvSpPr/>
            <p:nvPr/>
          </p:nvSpPr>
          <p:spPr>
            <a:xfrm>
              <a:off x="7004050" y="3144837"/>
              <a:ext cx="533400" cy="13716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3300"/>
                </a:buClr>
                <a:buSzPts val="2400"/>
                <a:buFont typeface="Arial" panose="020B0604020202020204"/>
                <a:buNone/>
              </a:pPr>
              <a:r>
                <a:rPr lang="en-US" sz="2400" b="1" i="0" u="none">
                  <a:solidFill>
                    <a:srgbClr val="FF3300"/>
                  </a:solidFill>
                  <a:latin typeface="Arial" panose="020B0604020202020204"/>
                  <a:ea typeface="Arial" panose="020B0604020202020204"/>
                  <a:cs typeface="Arial" panose="020B0604020202020204"/>
                  <a:sym typeface="Arial" panose="020B0604020202020204"/>
                </a:rPr>
                <a:t>65</a:t>
              </a:r>
              <a:endParaRPr lang="en-US" sz="2400" b="1" i="0" u="none">
                <a:solidFill>
                  <a:srgbClr val="FF3300"/>
                </a:solidFill>
                <a:latin typeface="Arial" panose="020B0604020202020204"/>
                <a:ea typeface="Arial" panose="020B0604020202020204"/>
                <a:cs typeface="Arial" panose="020B0604020202020204"/>
                <a:sym typeface="Arial" panose="020B0604020202020204"/>
              </a:endParaRPr>
            </a:p>
          </p:txBody>
        </p:sp>
      </p:grpSp>
      <p:grpSp>
        <p:nvGrpSpPr>
          <p:cNvPr id="1324" name="Shape 1324"/>
          <p:cNvGrpSpPr/>
          <p:nvPr/>
        </p:nvGrpSpPr>
        <p:grpSpPr>
          <a:xfrm>
            <a:off x="1314450" y="4518025"/>
            <a:ext cx="330200" cy="555625"/>
            <a:chOff x="1450975" y="2881312"/>
            <a:chExt cx="330200" cy="555625"/>
          </a:xfrm>
        </p:grpSpPr>
        <p:cxnSp>
          <p:nvCxnSpPr>
            <p:cNvPr id="1325" name="Shape 1325"/>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326" name="Shape 1326"/>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27" name="Shape 1327"/>
          <p:cNvGrpSpPr/>
          <p:nvPr/>
        </p:nvGrpSpPr>
        <p:grpSpPr>
          <a:xfrm>
            <a:off x="2652712" y="4508500"/>
            <a:ext cx="285750" cy="520700"/>
            <a:chOff x="7080250" y="2916237"/>
            <a:chExt cx="285750" cy="520700"/>
          </a:xfrm>
        </p:grpSpPr>
        <p:cxnSp>
          <p:nvCxnSpPr>
            <p:cNvPr id="1328" name="Shape 1328"/>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329" name="Shape 1329"/>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30" name="Shape 1330"/>
          <p:cNvGrpSpPr/>
          <p:nvPr/>
        </p:nvGrpSpPr>
        <p:grpSpPr>
          <a:xfrm>
            <a:off x="4178300" y="4508500"/>
            <a:ext cx="3417887" cy="565150"/>
            <a:chOff x="4178300" y="4508500"/>
            <a:chExt cx="3417887" cy="565150"/>
          </a:xfrm>
        </p:grpSpPr>
        <p:grpSp>
          <p:nvGrpSpPr>
            <p:cNvPr id="1331" name="Shape 1331"/>
            <p:cNvGrpSpPr/>
            <p:nvPr/>
          </p:nvGrpSpPr>
          <p:grpSpPr>
            <a:xfrm>
              <a:off x="4178300" y="4518025"/>
              <a:ext cx="330200" cy="555625"/>
              <a:chOff x="1450975" y="2881312"/>
              <a:chExt cx="330200" cy="555625"/>
            </a:xfrm>
          </p:grpSpPr>
          <p:cxnSp>
            <p:nvCxnSpPr>
              <p:cNvPr id="1332" name="Shape 1332"/>
              <p:cNvCxnSpPr/>
              <p:nvPr/>
            </p:nvCxnSpPr>
            <p:spPr>
              <a:xfrm rot="10800000">
                <a:off x="1781175" y="2881312"/>
                <a:ext cx="0" cy="431800"/>
              </a:xfrm>
              <a:prstGeom prst="straightConnector1">
                <a:avLst/>
              </a:prstGeom>
              <a:noFill/>
              <a:ln w="38100" cap="flat" cmpd="sng">
                <a:solidFill>
                  <a:schemeClr val="accent2"/>
                </a:solidFill>
                <a:prstDash val="solid"/>
                <a:miter lim="800000"/>
                <a:headEnd type="none" w="med" len="med"/>
                <a:tailEnd type="stealth" w="lg" len="lg"/>
              </a:ln>
            </p:spPr>
          </p:cxnSp>
          <p:sp>
            <p:nvSpPr>
              <p:cNvPr id="1333" name="Shape 1333"/>
              <p:cNvSpPr txBox="1"/>
              <p:nvPr/>
            </p:nvSpPr>
            <p:spPr>
              <a:xfrm>
                <a:off x="1450975"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400"/>
                  <a:buFont typeface="Times New Roman" panose="02020603050405020304"/>
                  <a:buNone/>
                </a:pPr>
                <a:r>
                  <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334" name="Shape 1334"/>
            <p:cNvGrpSpPr/>
            <p:nvPr/>
          </p:nvGrpSpPr>
          <p:grpSpPr>
            <a:xfrm>
              <a:off x="7310437" y="4508500"/>
              <a:ext cx="285750" cy="520700"/>
              <a:chOff x="7080250" y="2916237"/>
              <a:chExt cx="285750" cy="520700"/>
            </a:xfrm>
          </p:grpSpPr>
          <p:cxnSp>
            <p:nvCxnSpPr>
              <p:cNvPr id="1335" name="Shape 1335"/>
              <p:cNvCxnSpPr/>
              <p:nvPr/>
            </p:nvCxnSpPr>
            <p:spPr>
              <a:xfrm rot="10800000">
                <a:off x="7080250" y="2916237"/>
                <a:ext cx="0" cy="431800"/>
              </a:xfrm>
              <a:prstGeom prst="straightConnector1">
                <a:avLst/>
              </a:prstGeom>
              <a:noFill/>
              <a:ln w="28575" cap="flat" cmpd="sng">
                <a:solidFill>
                  <a:srgbClr val="008080"/>
                </a:solidFill>
                <a:prstDash val="solid"/>
                <a:miter lim="800000"/>
                <a:headEnd type="none" w="med" len="med"/>
                <a:tailEnd type="stealth" w="lg" len="lg"/>
              </a:ln>
            </p:spPr>
          </p:cxnSp>
          <p:sp>
            <p:nvSpPr>
              <p:cNvPr id="1336" name="Shape 1336"/>
              <p:cNvSpPr txBox="1"/>
              <p:nvPr/>
            </p:nvSpPr>
            <p:spPr>
              <a:xfrm>
                <a:off x="7137400" y="2979737"/>
                <a:ext cx="2286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9966"/>
                  </a:buClr>
                  <a:buSzPts val="2400"/>
                  <a:buFont typeface="Times New Roman" panose="02020603050405020304"/>
                  <a:buNone/>
                </a:pPr>
                <a:r>
                  <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0" u="none">
                  <a:solidFill>
                    <a:srgbClr val="339966"/>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1337" name="Shape 1337"/>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41" name="Shape 1341"/>
        <p:cNvGrpSpPr/>
        <p:nvPr/>
      </p:nvGrpSpPr>
      <p:grpSpPr>
        <a:xfrm>
          <a:off x="0" y="0"/>
          <a:ext cx="0" cy="0"/>
          <a:chOff x="0" y="0"/>
          <a:chExt cx="0" cy="0"/>
        </a:xfrm>
      </p:grpSpPr>
      <p:sp>
        <p:nvSpPr>
          <p:cNvPr id="1342" name="Shape 1342"/>
          <p:cNvSpPr txBox="1"/>
          <p:nvPr/>
        </p:nvSpPr>
        <p:spPr>
          <a:xfrm>
            <a:off x="296862" y="1898650"/>
            <a:ext cx="850582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算法描述：</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343" name="Shape 1343"/>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关键问题⑶：如何处理分割得到的两个待排序子序列？</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344" name="Shape 1344"/>
          <p:cNvSpPr txBox="1"/>
          <p:nvPr/>
        </p:nvSpPr>
        <p:spPr>
          <a:xfrm>
            <a:off x="476250" y="2619375"/>
            <a:ext cx="8415337" cy="3467100"/>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QuickSort (int  r[ ], int first, int end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pivotpos = Partition (r, first, end );  //一次划分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QuickSort (r, first, pivotpos-1);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//对前一个子序列进行快速排序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QuickSort (r, pivotpos+1, end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//对后一个子序列进行快速排序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45" name="Shape 1345"/>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49" name="Shape 1349"/>
        <p:cNvGrpSpPr/>
        <p:nvPr/>
      </p:nvGrpSpPr>
      <p:grpSpPr>
        <a:xfrm>
          <a:off x="0" y="0"/>
          <a:ext cx="0" cy="0"/>
          <a:chOff x="0" y="0"/>
          <a:chExt cx="0" cy="0"/>
        </a:xfrm>
      </p:grpSpPr>
      <p:sp>
        <p:nvSpPr>
          <p:cNvPr id="1350" name="Shape 1350"/>
          <p:cNvSpPr txBox="1"/>
          <p:nvPr/>
        </p:nvSpPr>
        <p:spPr>
          <a:xfrm>
            <a:off x="296862" y="1719262"/>
            <a:ext cx="8054975"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若待排序列中只有一个记录，显然已有序，否则进行一次划分后，再分别对分割所得的两个子序列进行快速排序（即递归处理）。</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351" name="Shape 1351"/>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关键问题⑷：如何判别快速排序的结束？</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352" name="Shape 1352"/>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56" name="Shape 1356"/>
        <p:cNvGrpSpPr/>
        <p:nvPr/>
      </p:nvGrpSpPr>
      <p:grpSpPr>
        <a:xfrm>
          <a:off x="0" y="0"/>
          <a:ext cx="0" cy="0"/>
          <a:chOff x="0" y="0"/>
          <a:chExt cx="0" cy="0"/>
        </a:xfrm>
      </p:grpSpPr>
      <p:sp>
        <p:nvSpPr>
          <p:cNvPr id="1357" name="Shape 1357"/>
          <p:cNvSpPr txBox="1"/>
          <p:nvPr/>
        </p:nvSpPr>
        <p:spPr>
          <a:xfrm>
            <a:off x="566737" y="2303462"/>
            <a:ext cx="8001000" cy="3800475"/>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QuickSort (int  r[ ], int first, int end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//在序列 first~end中递归地进行快速排序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(first &lt; end) {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pivotpos = Partition (r, first, end );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QuickSort (r, first, pivotpos-1);</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QuickSort (r, pivotpos+1, end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5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58" name="Shape 1358"/>
          <p:cNvSpPr txBox="1"/>
          <p:nvPr/>
        </p:nvSpPr>
        <p:spPr>
          <a:xfrm>
            <a:off x="296862" y="1719262"/>
            <a:ext cx="80549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算法描述：</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1359" name="Shape 1359"/>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关键问题⑷：如何判别快速排序的结束？</a:t>
            </a:r>
            <a:r>
              <a:rPr lang="en-US" sz="28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2800" b="0" i="0" u="none">
              <a:solidFill>
                <a:schemeClr val="accent2"/>
              </a:solidFill>
              <a:latin typeface="Arial" panose="020B0604020202020204"/>
              <a:ea typeface="Arial" panose="020B0604020202020204"/>
              <a:cs typeface="Arial" panose="020B0604020202020204"/>
              <a:sym typeface="Arial" panose="020B0604020202020204"/>
            </a:endParaRPr>
          </a:p>
        </p:txBody>
      </p:sp>
      <p:cxnSp>
        <p:nvCxnSpPr>
          <p:cNvPr id="1360" name="Shape 1360"/>
          <p:cNvCxnSpPr/>
          <p:nvPr/>
        </p:nvCxnSpPr>
        <p:spPr>
          <a:xfrm>
            <a:off x="1422400" y="3743325"/>
            <a:ext cx="2051050" cy="0"/>
          </a:xfrm>
          <a:prstGeom prst="straightConnector1">
            <a:avLst/>
          </a:prstGeom>
          <a:noFill/>
          <a:ln w="28575" cap="flat" cmpd="sng">
            <a:solidFill>
              <a:srgbClr val="FF3300"/>
            </a:solidFill>
            <a:prstDash val="solid"/>
            <a:miter lim="800000"/>
            <a:headEnd type="none" w="med" len="med"/>
            <a:tailEnd type="none" w="med" len="med"/>
          </a:ln>
        </p:spPr>
      </p:cxnSp>
      <p:sp>
        <p:nvSpPr>
          <p:cNvPr id="1361" name="Shape 1361"/>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65" name="Shape 1365"/>
        <p:cNvGrpSpPr/>
        <p:nvPr/>
      </p:nvGrpSpPr>
      <p:grpSpPr>
        <a:xfrm>
          <a:off x="0" y="0"/>
          <a:ext cx="0" cy="0"/>
          <a:chOff x="0" y="0"/>
          <a:chExt cx="0" cy="0"/>
        </a:xfrm>
      </p:grpSpPr>
      <p:sp>
        <p:nvSpPr>
          <p:cNvPr id="1366" name="Shape 1366"/>
          <p:cNvSpPr txBox="1"/>
          <p:nvPr/>
        </p:nvSpPr>
        <p:spPr>
          <a:xfrm>
            <a:off x="341312" y="2398712"/>
            <a:ext cx="88026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例：{38, 27, 55, 50, 13, 49, 65}的快速排序递归树如下：</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367" name="Shape 1367"/>
          <p:cNvGrpSpPr/>
          <p:nvPr/>
        </p:nvGrpSpPr>
        <p:grpSpPr>
          <a:xfrm>
            <a:off x="3089275" y="3024187"/>
            <a:ext cx="3406774" cy="2936875"/>
            <a:chOff x="5232400" y="2754312"/>
            <a:chExt cx="3406774" cy="2936875"/>
          </a:xfrm>
        </p:grpSpPr>
        <p:sp>
          <p:nvSpPr>
            <p:cNvPr id="1368" name="Shape 1368"/>
            <p:cNvSpPr/>
            <p:nvPr/>
          </p:nvSpPr>
          <p:spPr>
            <a:xfrm>
              <a:off x="6148387" y="2754312"/>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69" name="Shape 1369"/>
            <p:cNvSpPr txBox="1"/>
            <p:nvPr/>
          </p:nvSpPr>
          <p:spPr>
            <a:xfrm>
              <a:off x="6192837" y="2798762"/>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38</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0" name="Shape 1370"/>
            <p:cNvSpPr/>
            <p:nvPr/>
          </p:nvSpPr>
          <p:spPr>
            <a:xfrm>
              <a:off x="5232400" y="3367087"/>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1" name="Shape 1371"/>
            <p:cNvSpPr txBox="1"/>
            <p:nvPr/>
          </p:nvSpPr>
          <p:spPr>
            <a:xfrm>
              <a:off x="5276850" y="3411537"/>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13</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2" name="Shape 1372"/>
            <p:cNvSpPr/>
            <p:nvPr/>
          </p:nvSpPr>
          <p:spPr>
            <a:xfrm>
              <a:off x="7037387" y="3351212"/>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3" name="Shape 1373"/>
            <p:cNvSpPr txBox="1"/>
            <p:nvPr/>
          </p:nvSpPr>
          <p:spPr>
            <a:xfrm>
              <a:off x="7088187" y="3382962"/>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50</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4" name="Shape 1374"/>
            <p:cNvSpPr/>
            <p:nvPr/>
          </p:nvSpPr>
          <p:spPr>
            <a:xfrm>
              <a:off x="7699375" y="4235450"/>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5" name="Shape 1375"/>
            <p:cNvSpPr txBox="1"/>
            <p:nvPr/>
          </p:nvSpPr>
          <p:spPr>
            <a:xfrm>
              <a:off x="7743825" y="4279900"/>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55</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6" name="Shape 1376"/>
            <p:cNvSpPr/>
            <p:nvPr/>
          </p:nvSpPr>
          <p:spPr>
            <a:xfrm>
              <a:off x="6567487" y="4257675"/>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7" name="Shape 1377"/>
            <p:cNvSpPr txBox="1"/>
            <p:nvPr/>
          </p:nvSpPr>
          <p:spPr>
            <a:xfrm>
              <a:off x="6611937" y="4302125"/>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49</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8" name="Shape 1378"/>
            <p:cNvSpPr/>
            <p:nvPr/>
          </p:nvSpPr>
          <p:spPr>
            <a:xfrm>
              <a:off x="8170862" y="5170487"/>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9" name="Shape 1379"/>
            <p:cNvSpPr txBox="1"/>
            <p:nvPr/>
          </p:nvSpPr>
          <p:spPr>
            <a:xfrm>
              <a:off x="8215312" y="5214937"/>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65</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0" name="Shape 1380"/>
            <p:cNvSpPr/>
            <p:nvPr/>
          </p:nvSpPr>
          <p:spPr>
            <a:xfrm>
              <a:off x="5830887" y="4251325"/>
              <a:ext cx="468312" cy="468312"/>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1" name="Shape 1381"/>
            <p:cNvSpPr txBox="1"/>
            <p:nvPr/>
          </p:nvSpPr>
          <p:spPr>
            <a:xfrm>
              <a:off x="5875337" y="4295775"/>
              <a:ext cx="363537" cy="476250"/>
            </a:xfrm>
            <a:prstGeom prst="rect">
              <a:avLst/>
            </a:prstGeom>
            <a:noFill/>
            <a:ln>
              <a:noFill/>
            </a:ln>
          </p:spPr>
          <p:txBody>
            <a:bodyPr spcFirstLastPara="1" wrap="square" lIns="0" tIns="0" rIns="0" bIns="36000" anchor="t" anchorCtr="0">
              <a:noAutofit/>
            </a:bodyPr>
            <a:lstStyle/>
            <a:p>
              <a:pPr marL="0" marR="0" lvl="0" indent="0" algn="ctr" rtl="0">
                <a:lnSpc>
                  <a:spcPct val="100000"/>
                </a:lnSpc>
                <a:spcBef>
                  <a:spcPts val="0"/>
                </a:spcBef>
                <a:spcAft>
                  <a:spcPts val="0"/>
                </a:spcAft>
                <a:buClr>
                  <a:schemeClr val="lt1"/>
                </a:buClr>
                <a:buSzPts val="2400"/>
                <a:buFont typeface="Times New Roman" panose="02020603050405020304"/>
                <a:buNone/>
              </a:pPr>
              <a:r>
                <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t>27</a:t>
              </a:r>
              <a:endParaRPr lang="en-US" sz="2400" b="1"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382" name="Shape 1382"/>
            <p:cNvCxnSpPr/>
            <p:nvPr/>
          </p:nvCxnSpPr>
          <p:spPr>
            <a:xfrm flipH="1">
              <a:off x="5649912" y="3068637"/>
              <a:ext cx="522287" cy="358775"/>
            </a:xfrm>
            <a:prstGeom prst="straightConnector1">
              <a:avLst/>
            </a:prstGeom>
            <a:noFill/>
            <a:ln w="38100" cap="flat" cmpd="sng">
              <a:solidFill>
                <a:srgbClr val="336699"/>
              </a:solidFill>
              <a:prstDash val="solid"/>
              <a:miter lim="800000"/>
              <a:headEnd type="none" w="med" len="med"/>
              <a:tailEnd type="none" w="med" len="med"/>
            </a:ln>
          </p:spPr>
        </p:cxnSp>
        <p:cxnSp>
          <p:nvCxnSpPr>
            <p:cNvPr id="1383" name="Shape 1383"/>
            <p:cNvCxnSpPr/>
            <p:nvPr/>
          </p:nvCxnSpPr>
          <p:spPr>
            <a:xfrm>
              <a:off x="6596062" y="3068637"/>
              <a:ext cx="504825" cy="355600"/>
            </a:xfrm>
            <a:prstGeom prst="straightConnector1">
              <a:avLst/>
            </a:prstGeom>
            <a:noFill/>
            <a:ln w="38100" cap="flat" cmpd="sng">
              <a:solidFill>
                <a:srgbClr val="336699"/>
              </a:solidFill>
              <a:prstDash val="solid"/>
              <a:miter lim="800000"/>
              <a:headEnd type="none" w="med" len="med"/>
              <a:tailEnd type="none" w="med" len="med"/>
            </a:ln>
          </p:spPr>
        </p:cxnSp>
        <p:cxnSp>
          <p:nvCxnSpPr>
            <p:cNvPr id="1384" name="Shape 1384"/>
            <p:cNvCxnSpPr/>
            <p:nvPr/>
          </p:nvCxnSpPr>
          <p:spPr>
            <a:xfrm>
              <a:off x="5605462" y="3787775"/>
              <a:ext cx="360362" cy="495300"/>
            </a:xfrm>
            <a:prstGeom prst="straightConnector1">
              <a:avLst/>
            </a:prstGeom>
            <a:noFill/>
            <a:ln w="38100" cap="flat" cmpd="sng">
              <a:solidFill>
                <a:srgbClr val="336699"/>
              </a:solidFill>
              <a:prstDash val="solid"/>
              <a:miter lim="800000"/>
              <a:headEnd type="none" w="med" len="med"/>
              <a:tailEnd type="none" w="med" len="med"/>
            </a:ln>
          </p:spPr>
        </p:cxnSp>
        <p:cxnSp>
          <p:nvCxnSpPr>
            <p:cNvPr id="1385" name="Shape 1385"/>
            <p:cNvCxnSpPr/>
            <p:nvPr/>
          </p:nvCxnSpPr>
          <p:spPr>
            <a:xfrm>
              <a:off x="7450137" y="3743325"/>
              <a:ext cx="404812" cy="495300"/>
            </a:xfrm>
            <a:prstGeom prst="straightConnector1">
              <a:avLst/>
            </a:prstGeom>
            <a:noFill/>
            <a:ln w="38100" cap="flat" cmpd="sng">
              <a:solidFill>
                <a:srgbClr val="336699"/>
              </a:solidFill>
              <a:prstDash val="solid"/>
              <a:miter lim="800000"/>
              <a:headEnd type="none" w="med" len="med"/>
              <a:tailEnd type="none" w="med" len="med"/>
            </a:ln>
          </p:spPr>
        </p:cxnSp>
        <p:cxnSp>
          <p:nvCxnSpPr>
            <p:cNvPr id="1386" name="Shape 1386"/>
            <p:cNvCxnSpPr/>
            <p:nvPr/>
          </p:nvCxnSpPr>
          <p:spPr>
            <a:xfrm flipH="1">
              <a:off x="6869112" y="3757612"/>
              <a:ext cx="265112" cy="525462"/>
            </a:xfrm>
            <a:prstGeom prst="straightConnector1">
              <a:avLst/>
            </a:prstGeom>
            <a:noFill/>
            <a:ln w="38100" cap="flat" cmpd="sng">
              <a:solidFill>
                <a:srgbClr val="336699"/>
              </a:solidFill>
              <a:prstDash val="solid"/>
              <a:miter lim="800000"/>
              <a:headEnd type="none" w="med" len="med"/>
              <a:tailEnd type="none" w="med" len="med"/>
            </a:ln>
          </p:spPr>
        </p:cxnSp>
        <p:cxnSp>
          <p:nvCxnSpPr>
            <p:cNvPr id="1387" name="Shape 1387"/>
            <p:cNvCxnSpPr/>
            <p:nvPr/>
          </p:nvCxnSpPr>
          <p:spPr>
            <a:xfrm>
              <a:off x="8059737" y="4659312"/>
              <a:ext cx="293687" cy="523875"/>
            </a:xfrm>
            <a:prstGeom prst="straightConnector1">
              <a:avLst/>
            </a:prstGeom>
            <a:noFill/>
            <a:ln w="38100" cap="flat" cmpd="sng">
              <a:solidFill>
                <a:srgbClr val="336699"/>
              </a:solidFill>
              <a:prstDash val="solid"/>
              <a:miter lim="800000"/>
              <a:headEnd type="none" w="med" len="med"/>
              <a:tailEnd type="none" w="med" len="med"/>
            </a:ln>
          </p:spPr>
        </p:cxnSp>
      </p:grpSp>
      <p:sp>
        <p:nvSpPr>
          <p:cNvPr id="1388" name="Shape 1388"/>
          <p:cNvSpPr txBox="1"/>
          <p:nvPr/>
        </p:nvSpPr>
        <p:spPr>
          <a:xfrm>
            <a:off x="341312" y="1763712"/>
            <a:ext cx="83264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快速排序的递归执行过程可以用递归树描述。</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9" name="Shape 1389"/>
          <p:cNvSpPr txBox="1"/>
          <p:nvPr/>
        </p:nvSpPr>
        <p:spPr>
          <a:xfrm>
            <a:off x="341312" y="1089025"/>
            <a:ext cx="5257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快速排序的时间性能分析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0" name="Shape 1390"/>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394" name="Shape 1394"/>
        <p:cNvGrpSpPr/>
        <p:nvPr/>
      </p:nvGrpSpPr>
      <p:grpSpPr>
        <a:xfrm>
          <a:off x="0" y="0"/>
          <a:ext cx="0" cy="0"/>
          <a:chOff x="0" y="0"/>
          <a:chExt cx="0" cy="0"/>
        </a:xfrm>
      </p:grpSpPr>
      <p:sp>
        <p:nvSpPr>
          <p:cNvPr id="1395" name="Shape 1395"/>
          <p:cNvSpPr txBox="1"/>
          <p:nvPr/>
        </p:nvSpPr>
        <p:spPr>
          <a:xfrm>
            <a:off x="341312" y="1089025"/>
            <a:ext cx="5257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快速排序的时间性能分析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6" name="Shape 1396"/>
          <p:cNvSpPr txBox="1"/>
          <p:nvPr/>
        </p:nvSpPr>
        <p:spPr>
          <a:xfrm>
            <a:off x="2305050" y="4870450"/>
            <a:ext cx="3527700" cy="547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快速排序的时间性能</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97" name="Shape 1397"/>
          <p:cNvSpPr/>
          <p:nvPr/>
        </p:nvSpPr>
        <p:spPr>
          <a:xfrm>
            <a:off x="3879850" y="4330700"/>
            <a:ext cx="315912" cy="449262"/>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8" name="Shape 1398"/>
          <p:cNvSpPr txBox="1"/>
          <p:nvPr/>
        </p:nvSpPr>
        <p:spPr>
          <a:xfrm>
            <a:off x="2257425" y="3654425"/>
            <a:ext cx="3600600" cy="547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快速排序递归的深度</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399" name="Shape 1399"/>
          <p:cNvSpPr/>
          <p:nvPr/>
        </p:nvSpPr>
        <p:spPr>
          <a:xfrm>
            <a:off x="3852862" y="3160712"/>
            <a:ext cx="315912" cy="449262"/>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0" name="Shape 1400"/>
          <p:cNvSpPr txBox="1"/>
          <p:nvPr/>
        </p:nvSpPr>
        <p:spPr>
          <a:xfrm>
            <a:off x="2232025" y="2484425"/>
            <a:ext cx="3600600" cy="547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每次划分轴值的选取</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401" name="Shape 1401"/>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97"/>
                                        </p:tgtEl>
                                        <p:attrNameLst>
                                          <p:attrName>style.visibility</p:attrName>
                                        </p:attrNameLst>
                                      </p:cBhvr>
                                      <p:to>
                                        <p:strVal val="visible"/>
                                      </p:to>
                                    </p:set>
                                    <p:animEffect transition="in" filter="fade">
                                      <p:cBhvr>
                                        <p:cTn id="11" dur="500"/>
                                        <p:tgtEl>
                                          <p:spTgt spid="139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9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99"/>
                                        </p:tgtEl>
                                        <p:attrNameLst>
                                          <p:attrName>style.visibility</p:attrName>
                                        </p:attrNameLst>
                                      </p:cBhvr>
                                      <p:to>
                                        <p:strVal val="visible"/>
                                      </p:to>
                                    </p:set>
                                    <p:animEffect transition="in" filter="fade">
                                      <p:cBhvr>
                                        <p:cTn id="20" dur="500"/>
                                        <p:tgtEl>
                                          <p:spTgt spid="139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405" name="Shape 1405"/>
        <p:cNvGrpSpPr/>
        <p:nvPr/>
      </p:nvGrpSpPr>
      <p:grpSpPr>
        <a:xfrm>
          <a:off x="0" y="0"/>
          <a:ext cx="0" cy="0"/>
          <a:chOff x="0" y="0"/>
          <a:chExt cx="0" cy="0"/>
        </a:xfrm>
      </p:grpSpPr>
      <p:sp>
        <p:nvSpPr>
          <p:cNvPr id="1406" name="Shape 1406"/>
          <p:cNvSpPr txBox="1"/>
          <p:nvPr/>
        </p:nvSpPr>
        <p:spPr>
          <a:xfrm>
            <a:off x="341312" y="1854200"/>
            <a:ext cx="8551862" cy="13303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每一次划分对一个记录定位后，该记录的左侧子表与右侧子表的长度相同，为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7" name="Shape 1407"/>
          <p:cNvSpPr txBox="1"/>
          <p:nvPr/>
        </p:nvSpPr>
        <p:spPr>
          <a:xfrm>
            <a:off x="341312" y="1089025"/>
            <a:ext cx="5257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快速排序的时间性能分析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8" name="Shape 1408"/>
          <p:cNvSpPr txBox="1"/>
          <p:nvPr/>
        </p:nvSpPr>
        <p:spPr>
          <a:xfrm>
            <a:off x="393700" y="3429000"/>
            <a:ext cx="6443662" cy="22272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≤4(2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/8)＋3</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9" name="Shape 1409"/>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413" name="Shape 1413"/>
        <p:cNvGrpSpPr/>
        <p:nvPr/>
      </p:nvGrpSpPr>
      <p:grpSpPr>
        <a:xfrm>
          <a:off x="0" y="0"/>
          <a:ext cx="0" cy="0"/>
          <a:chOff x="0" y="0"/>
          <a:chExt cx="0" cy="0"/>
        </a:xfrm>
      </p:grpSpPr>
      <p:sp>
        <p:nvSpPr>
          <p:cNvPr id="1414" name="Shape 1414"/>
          <p:cNvSpPr txBox="1"/>
          <p:nvPr/>
        </p:nvSpPr>
        <p:spPr>
          <a:xfrm>
            <a:off x="344487" y="3294062"/>
            <a:ext cx="8413750" cy="1800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最坏情况：</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每次划分只得到一个比上一次划分少一个记录的子序列（另一个子序列为空），为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5" name="Shape 1415"/>
          <p:cNvSpPr txBox="1"/>
          <p:nvPr/>
        </p:nvSpPr>
        <p:spPr>
          <a:xfrm>
            <a:off x="341312" y="1854200"/>
            <a:ext cx="8461375" cy="13303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每一次划分对一个记录定位后，该记录的左侧子表与右侧子表的长度相同，为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6" name="Shape 1416"/>
          <p:cNvSpPr txBox="1"/>
          <p:nvPr/>
        </p:nvSpPr>
        <p:spPr>
          <a:xfrm>
            <a:off x="341312" y="1089025"/>
            <a:ext cx="5257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快速排序的时间性能分析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7" name="Shape 1417"/>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8" name="Shape 1418"/>
          <p:cNvSpPr txBox="1"/>
          <p:nvPr/>
        </p:nvSpPr>
        <p:spPr>
          <a:xfrm>
            <a:off x="341299" y="5902325"/>
            <a:ext cx="43467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平均情况：</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19" name="Shape 1419"/>
          <p:cNvGrpSpPr/>
          <p:nvPr/>
        </p:nvGrpSpPr>
        <p:grpSpPr>
          <a:xfrm>
            <a:off x="1054100" y="4735512"/>
            <a:ext cx="4454524" cy="984250"/>
            <a:chOff x="1054100" y="4735512"/>
            <a:chExt cx="4454524" cy="984250"/>
          </a:xfrm>
        </p:grpSpPr>
        <p:cxnSp>
          <p:nvCxnSpPr>
            <p:cNvPr id="1420" name="Shape 1420"/>
            <p:cNvCxnSpPr/>
            <p:nvPr/>
          </p:nvCxnSpPr>
          <p:spPr>
            <a:xfrm>
              <a:off x="2784475" y="5218112"/>
              <a:ext cx="247650" cy="1587"/>
            </a:xfrm>
            <a:prstGeom prst="straightConnector1">
              <a:avLst/>
            </a:prstGeom>
            <a:solidFill>
              <a:srgbClr val="FFFFFF"/>
            </a:solidFill>
            <a:ln w="20625" cap="flat" cmpd="sng">
              <a:solidFill>
                <a:srgbClr val="000000"/>
              </a:solidFill>
              <a:prstDash val="solid"/>
              <a:miter lim="800000"/>
              <a:headEnd type="none" w="med" len="med"/>
              <a:tailEnd type="none" w="med" len="med"/>
            </a:ln>
          </p:spPr>
        </p:cxnSp>
        <p:sp>
          <p:nvSpPr>
            <p:cNvPr id="1421" name="Shape 1421"/>
            <p:cNvSpPr txBox="1"/>
            <p:nvPr/>
          </p:nvSpPr>
          <p:spPr>
            <a:xfrm>
              <a:off x="5386387" y="4978400"/>
              <a:ext cx="12223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2" name="Shape 1422"/>
            <p:cNvSpPr txBox="1"/>
            <p:nvPr/>
          </p:nvSpPr>
          <p:spPr>
            <a:xfrm>
              <a:off x="4883150" y="4978400"/>
              <a:ext cx="12223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3" name="Shape 1423"/>
            <p:cNvSpPr txBox="1"/>
            <p:nvPr/>
          </p:nvSpPr>
          <p:spPr>
            <a:xfrm>
              <a:off x="4100512" y="4978400"/>
              <a:ext cx="12223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4" name="Shape 1424"/>
            <p:cNvSpPr txBox="1"/>
            <p:nvPr/>
          </p:nvSpPr>
          <p:spPr>
            <a:xfrm>
              <a:off x="3943350" y="4978400"/>
              <a:ext cx="184150"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5" name="Shape 1425"/>
            <p:cNvSpPr txBox="1"/>
            <p:nvPr/>
          </p:nvSpPr>
          <p:spPr>
            <a:xfrm>
              <a:off x="3300412" y="4978400"/>
              <a:ext cx="12223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6" name="Shape 1426"/>
            <p:cNvSpPr txBox="1"/>
            <p:nvPr/>
          </p:nvSpPr>
          <p:spPr>
            <a:xfrm>
              <a:off x="2838450" y="5226050"/>
              <a:ext cx="184150"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7" name="Shape 1427"/>
            <p:cNvSpPr txBox="1"/>
            <p:nvPr/>
          </p:nvSpPr>
          <p:spPr>
            <a:xfrm>
              <a:off x="2832100" y="4787900"/>
              <a:ext cx="184150"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8" name="Shape 1428"/>
            <p:cNvSpPr txBox="1"/>
            <p:nvPr/>
          </p:nvSpPr>
          <p:spPr>
            <a:xfrm>
              <a:off x="5195887" y="492125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29" name="Shape 1429"/>
            <p:cNvSpPr txBox="1"/>
            <p:nvPr/>
          </p:nvSpPr>
          <p:spPr>
            <a:xfrm>
              <a:off x="1382712" y="4762500"/>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0" name="Shape 1430"/>
            <p:cNvSpPr txBox="1"/>
            <p:nvPr/>
          </p:nvSpPr>
          <p:spPr>
            <a:xfrm>
              <a:off x="1336675" y="5414962"/>
              <a:ext cx="1270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0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1" name="Shape 1431"/>
            <p:cNvSpPr txBox="1"/>
            <p:nvPr/>
          </p:nvSpPr>
          <p:spPr>
            <a:xfrm>
              <a:off x="5011737" y="4978400"/>
              <a:ext cx="2047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2" name="Shape 1432"/>
            <p:cNvSpPr txBox="1"/>
            <p:nvPr/>
          </p:nvSpPr>
          <p:spPr>
            <a:xfrm>
              <a:off x="4603750" y="4978400"/>
              <a:ext cx="266700"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O</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3" name="Shape 1433"/>
            <p:cNvSpPr txBox="1"/>
            <p:nvPr/>
          </p:nvSpPr>
          <p:spPr>
            <a:xfrm>
              <a:off x="3427412" y="4978400"/>
              <a:ext cx="2047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4" name="Shape 1434"/>
            <p:cNvSpPr txBox="1"/>
            <p:nvPr/>
          </p:nvSpPr>
          <p:spPr>
            <a:xfrm>
              <a:off x="3097212" y="4978400"/>
              <a:ext cx="2047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5" name="Shape 1435"/>
            <p:cNvSpPr txBox="1"/>
            <p:nvPr/>
          </p:nvSpPr>
          <p:spPr>
            <a:xfrm>
              <a:off x="2122487" y="4978400"/>
              <a:ext cx="101600"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6" name="Shape 1436"/>
            <p:cNvSpPr txBox="1"/>
            <p:nvPr/>
          </p:nvSpPr>
          <p:spPr>
            <a:xfrm>
              <a:off x="1579562" y="4978400"/>
              <a:ext cx="2047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Times New Roman" panose="02020603050405020304"/>
                <a:buNone/>
              </a:pPr>
              <a:r>
                <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7" name="Shape 1437"/>
            <p:cNvSpPr txBox="1"/>
            <p:nvPr/>
          </p:nvSpPr>
          <p:spPr>
            <a:xfrm>
              <a:off x="1054100" y="4762500"/>
              <a:ext cx="141287"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8" name="Shape 1438"/>
            <p:cNvSpPr txBox="1"/>
            <p:nvPr/>
          </p:nvSpPr>
          <p:spPr>
            <a:xfrm>
              <a:off x="1063625" y="5414962"/>
              <a:ext cx="6985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0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9" name="Shape 1439"/>
            <p:cNvSpPr txBox="1"/>
            <p:nvPr/>
          </p:nvSpPr>
          <p:spPr>
            <a:xfrm>
              <a:off x="4356100" y="4935537"/>
              <a:ext cx="201612"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Noto Sans Symbols"/>
                <a:buNone/>
              </a:pPr>
              <a:r>
                <a:rPr lang="en-US" sz="2900" b="1" i="0" u="none">
                  <a:solidFill>
                    <a:srgbClr val="000000"/>
                  </a:solidFill>
                  <a:latin typeface="Noto Sans Symbols"/>
                  <a:ea typeface="Noto Sans Symbols"/>
                  <a:cs typeface="Noto Sans Symbols"/>
                  <a:sym typeface="Noto Sans Symbols"/>
                </a:rPr>
                <a:t>=</a:t>
              </a:r>
              <a:endParaRPr lang="en-US" sz="2900" b="1" i="0" u="none">
                <a:solidFill>
                  <a:srgbClr val="000000"/>
                </a:solidFill>
                <a:latin typeface="Noto Sans Symbols"/>
                <a:ea typeface="Noto Sans Symbols"/>
                <a:cs typeface="Noto Sans Symbols"/>
                <a:sym typeface="Noto Sans Symbols"/>
              </a:endParaRPr>
            </a:p>
          </p:txBody>
        </p:sp>
        <p:sp>
          <p:nvSpPr>
            <p:cNvPr id="1440" name="Shape 1440"/>
            <p:cNvSpPr txBox="1"/>
            <p:nvPr/>
          </p:nvSpPr>
          <p:spPr>
            <a:xfrm>
              <a:off x="3740150" y="4935537"/>
              <a:ext cx="201612"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Noto Sans Symbols"/>
                <a:buNone/>
              </a:pPr>
              <a:r>
                <a:rPr lang="en-US" sz="2900" b="1" i="0" u="none">
                  <a:solidFill>
                    <a:srgbClr val="000000"/>
                  </a:solidFill>
                  <a:latin typeface="Noto Sans Symbols"/>
                  <a:ea typeface="Noto Sans Symbols"/>
                  <a:cs typeface="Noto Sans Symbols"/>
                  <a:sym typeface="Noto Sans Symbols"/>
                </a:rPr>
                <a:t>−</a:t>
              </a:r>
              <a:endParaRPr lang="en-US" sz="2900" b="1" i="0" u="none">
                <a:solidFill>
                  <a:srgbClr val="000000"/>
                </a:solidFill>
                <a:latin typeface="Noto Sans Symbols"/>
                <a:ea typeface="Noto Sans Symbols"/>
                <a:cs typeface="Noto Sans Symbols"/>
                <a:sym typeface="Noto Sans Symbols"/>
              </a:endParaRPr>
            </a:p>
          </p:txBody>
        </p:sp>
        <p:sp>
          <p:nvSpPr>
            <p:cNvPr id="1441" name="Shape 1441"/>
            <p:cNvSpPr txBox="1"/>
            <p:nvPr/>
          </p:nvSpPr>
          <p:spPr>
            <a:xfrm>
              <a:off x="2536825" y="4935537"/>
              <a:ext cx="201612"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Noto Sans Symbols"/>
                <a:buNone/>
              </a:pPr>
              <a:r>
                <a:rPr lang="en-US" sz="2900" b="1" i="0" u="none">
                  <a:solidFill>
                    <a:srgbClr val="000000"/>
                  </a:solidFill>
                  <a:latin typeface="Noto Sans Symbols"/>
                  <a:ea typeface="Noto Sans Symbols"/>
                  <a:cs typeface="Noto Sans Symbols"/>
                  <a:sym typeface="Noto Sans Symbols"/>
                </a:rPr>
                <a:t>=</a:t>
              </a:r>
              <a:endParaRPr lang="en-US" sz="2900" b="1" i="0" u="none">
                <a:solidFill>
                  <a:srgbClr val="000000"/>
                </a:solidFill>
                <a:latin typeface="Noto Sans Symbols"/>
                <a:ea typeface="Noto Sans Symbols"/>
                <a:cs typeface="Noto Sans Symbols"/>
                <a:sym typeface="Noto Sans Symbols"/>
              </a:endParaRPr>
            </a:p>
          </p:txBody>
        </p:sp>
        <p:sp>
          <p:nvSpPr>
            <p:cNvPr id="1442" name="Shape 1442"/>
            <p:cNvSpPr txBox="1"/>
            <p:nvPr/>
          </p:nvSpPr>
          <p:spPr>
            <a:xfrm>
              <a:off x="1892300" y="4935537"/>
              <a:ext cx="201612"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Noto Sans Symbols"/>
                <a:buNone/>
              </a:pPr>
              <a:r>
                <a:rPr lang="en-US" sz="2900" b="1" i="0" u="none">
                  <a:solidFill>
                    <a:srgbClr val="000000"/>
                  </a:solidFill>
                  <a:latin typeface="Noto Sans Symbols"/>
                  <a:ea typeface="Noto Sans Symbols"/>
                  <a:cs typeface="Noto Sans Symbols"/>
                  <a:sym typeface="Noto Sans Symbols"/>
                </a:rPr>
                <a:t>−</a:t>
              </a:r>
              <a:endParaRPr lang="en-US" sz="2900" b="1" i="0" u="none">
                <a:solidFill>
                  <a:srgbClr val="000000"/>
                </a:solidFill>
                <a:latin typeface="Noto Sans Symbols"/>
                <a:ea typeface="Noto Sans Symbols"/>
                <a:cs typeface="Noto Sans Symbols"/>
                <a:sym typeface="Noto Sans Symbols"/>
              </a:endParaRPr>
            </a:p>
          </p:txBody>
        </p:sp>
        <p:sp>
          <p:nvSpPr>
            <p:cNvPr id="1443" name="Shape 1443"/>
            <p:cNvSpPr txBox="1"/>
            <p:nvPr/>
          </p:nvSpPr>
          <p:spPr>
            <a:xfrm>
              <a:off x="1127125" y="4933950"/>
              <a:ext cx="298450" cy="5032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3300"/>
                <a:buFont typeface="Noto Sans Symbols"/>
                <a:buNone/>
              </a:pPr>
              <a:r>
                <a:rPr lang="en-US" sz="3300" b="1" i="0" u="none">
                  <a:solidFill>
                    <a:srgbClr val="000000"/>
                  </a:solidFill>
                  <a:latin typeface="Noto Sans Symbols"/>
                  <a:ea typeface="Noto Sans Symbols"/>
                  <a:cs typeface="Noto Sans Symbols"/>
                  <a:sym typeface="Noto Sans Symbols"/>
                </a:rPr>
                <a:t>∑</a:t>
              </a:r>
              <a:endParaRPr lang="en-US" sz="3300" b="1" i="0" u="none">
                <a:solidFill>
                  <a:srgbClr val="000000"/>
                </a:solidFill>
                <a:latin typeface="Noto Sans Symbols"/>
                <a:ea typeface="Noto Sans Symbols"/>
                <a:cs typeface="Noto Sans Symbols"/>
                <a:sym typeface="Noto Sans Symbols"/>
              </a:endParaRPr>
            </a:p>
          </p:txBody>
        </p:sp>
        <p:sp>
          <p:nvSpPr>
            <p:cNvPr id="1444" name="Shape 1444"/>
            <p:cNvSpPr txBox="1"/>
            <p:nvPr/>
          </p:nvSpPr>
          <p:spPr>
            <a:xfrm>
              <a:off x="1230312" y="4735512"/>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1445" name="Shape 1445"/>
            <p:cNvSpPr txBox="1"/>
            <p:nvPr/>
          </p:nvSpPr>
          <p:spPr>
            <a:xfrm>
              <a:off x="1184275" y="5387975"/>
              <a:ext cx="139700" cy="3048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a:solidFill>
                    <a:srgbClr val="000000"/>
                  </a:solidFill>
                  <a:latin typeface="Noto Sans Symbols"/>
                  <a:ea typeface="Noto Sans Symbols"/>
                  <a:cs typeface="Noto Sans Symbols"/>
                  <a:sym typeface="Noto Sans Symbols"/>
                </a:rPr>
                <a:t>=</a:t>
              </a:r>
              <a:endParaRPr lang="en-US" sz="2000" b="1" i="0" u="none">
                <a:solidFill>
                  <a:srgbClr val="000000"/>
                </a:solidFill>
                <a:latin typeface="Noto Sans Symbols"/>
                <a:ea typeface="Noto Sans Symbols"/>
                <a:cs typeface="Noto Sans Symbols"/>
                <a:sym typeface="Noto Sans Symbols"/>
              </a:endParaRPr>
            </a:p>
          </p:txBody>
        </p:sp>
        <p:sp>
          <p:nvSpPr>
            <p:cNvPr id="1446" name="Shape 1446"/>
            <p:cNvSpPr txBox="1"/>
            <p:nvPr/>
          </p:nvSpPr>
          <p:spPr>
            <a:xfrm>
              <a:off x="2252662" y="4989512"/>
              <a:ext cx="3698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Arial" panose="020B0604020202020204"/>
                <a:buNone/>
              </a:pPr>
              <a:r>
                <a:rPr lang="en-US" sz="2900" b="1" i="0" u="none">
                  <a:solidFill>
                    <a:srgbClr val="000000"/>
                  </a:solidFill>
                  <a:latin typeface="Arial" panose="020B0604020202020204"/>
                  <a:ea typeface="Arial" panose="020B0604020202020204"/>
                  <a:cs typeface="Arial" panose="020B0604020202020204"/>
                  <a:sym typeface="Arial" panose="020B0604020202020204"/>
                </a:rPr>
                <a:t>）</a:t>
              </a:r>
              <a:endParaRPr lang="en-US" sz="29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7" name="Shape 1447"/>
            <p:cNvSpPr txBox="1"/>
            <p:nvPr/>
          </p:nvSpPr>
          <p:spPr>
            <a:xfrm>
              <a:off x="1236662" y="4989512"/>
              <a:ext cx="369887" cy="4413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900"/>
                <a:buFont typeface="Arial" panose="020B0604020202020204"/>
                <a:buNone/>
              </a:pPr>
              <a:r>
                <a:rPr lang="en-US" sz="2900" b="1" i="0" u="none">
                  <a:solidFill>
                    <a:srgbClr val="000000"/>
                  </a:solidFill>
                  <a:latin typeface="Arial" panose="020B0604020202020204"/>
                  <a:ea typeface="Arial" panose="020B0604020202020204"/>
                  <a:cs typeface="Arial" panose="020B0604020202020204"/>
                  <a:sym typeface="Arial" panose="020B0604020202020204"/>
                </a:rPr>
                <a:t>（</a:t>
              </a:r>
              <a:endParaRPr lang="en-US" sz="2900" b="1" i="0" u="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48" name="Shape 1448"/>
          <p:cNvSpPr txBox="1"/>
          <p:nvPr/>
        </p:nvSpPr>
        <p:spPr>
          <a:xfrm>
            <a:off x="2540000" y="279400"/>
            <a:ext cx="360045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8.3  交换排序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452" name="Shape 1452"/>
        <p:cNvGrpSpPr/>
        <p:nvPr/>
      </p:nvGrpSpPr>
      <p:grpSpPr>
        <a:xfrm>
          <a:off x="0" y="0"/>
          <a:ext cx="0" cy="0"/>
          <a:chOff x="0" y="0"/>
          <a:chExt cx="0" cy="0"/>
        </a:xfrm>
      </p:grpSpPr>
      <p:sp>
        <p:nvSpPr>
          <p:cNvPr id="1453" name="Shape 1453"/>
          <p:cNvSpPr txBox="1"/>
          <p:nvPr/>
        </p:nvSpPr>
        <p:spPr>
          <a:xfrm>
            <a:off x="296862" y="1449387"/>
            <a:ext cx="8577262" cy="1554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panose="020B0604020202020204"/>
              <a:buNone/>
            </a:pPr>
            <a:r>
              <a:rPr lang="en-US" sz="3200" b="1" i="0" u="none">
                <a:solidFill>
                  <a:schemeClr val="dk1"/>
                </a:solidFill>
                <a:latin typeface="Arial" panose="020B0604020202020204"/>
                <a:ea typeface="Arial" panose="020B0604020202020204"/>
                <a:cs typeface="Arial" panose="020B0604020202020204"/>
                <a:sym typeface="Arial" panose="020B0604020202020204"/>
              </a:rPr>
              <a:t>选择排序的主要操作是</a:t>
            </a:r>
            <a:r>
              <a:rPr lang="en-US" sz="3200" b="1" i="0" u="none">
                <a:solidFill>
                  <a:srgbClr val="FF3300"/>
                </a:solidFill>
                <a:latin typeface="Arial" panose="020B0604020202020204"/>
                <a:ea typeface="Arial" panose="020B0604020202020204"/>
                <a:cs typeface="Arial" panose="020B0604020202020204"/>
                <a:sym typeface="Arial" panose="020B0604020202020204"/>
              </a:rPr>
              <a:t>选择</a:t>
            </a:r>
            <a:r>
              <a:rPr lang="en-US" sz="3200" b="1" i="0" u="none">
                <a:solidFill>
                  <a:schemeClr val="dk1"/>
                </a:solidFill>
                <a:latin typeface="Arial" panose="020B0604020202020204"/>
                <a:ea typeface="Arial" panose="020B0604020202020204"/>
                <a:cs typeface="Arial" panose="020B0604020202020204"/>
                <a:sym typeface="Arial" panose="020B0604020202020204"/>
              </a:rPr>
              <a:t>，其主要思想是：每趟排序在当前待排序序列中选出关键码</a:t>
            </a:r>
            <a:r>
              <a:rPr lang="en-US" sz="3200" b="1" i="0" u="none">
                <a:solidFill>
                  <a:srgbClr val="FF3300"/>
                </a:solidFill>
                <a:latin typeface="Arial" panose="020B0604020202020204"/>
                <a:ea typeface="Arial" panose="020B0604020202020204"/>
                <a:cs typeface="Arial" panose="020B0604020202020204"/>
                <a:sym typeface="Arial" panose="020B0604020202020204"/>
              </a:rPr>
              <a:t>最小</a:t>
            </a:r>
            <a:r>
              <a:rPr lang="en-US" sz="3200" b="1" i="0" u="none">
                <a:solidFill>
                  <a:schemeClr val="dk1"/>
                </a:solidFill>
                <a:latin typeface="Arial" panose="020B0604020202020204"/>
                <a:ea typeface="Arial" panose="020B0604020202020204"/>
                <a:cs typeface="Arial" panose="020B0604020202020204"/>
                <a:sym typeface="Arial" panose="020B0604020202020204"/>
              </a:rPr>
              <a:t>的记录，添加到有序序列中。</a:t>
            </a: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4" name="Shape 1454"/>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55" name="Shape 1455"/>
          <p:cNvGrpSpPr/>
          <p:nvPr/>
        </p:nvGrpSpPr>
        <p:grpSpPr>
          <a:xfrm>
            <a:off x="971550" y="2933700"/>
            <a:ext cx="3151187" cy="900112"/>
            <a:chOff x="971550" y="2933700"/>
            <a:chExt cx="3151187" cy="900112"/>
          </a:xfrm>
        </p:grpSpPr>
        <p:sp>
          <p:nvSpPr>
            <p:cNvPr id="1456" name="Shape 1456"/>
            <p:cNvSpPr/>
            <p:nvPr/>
          </p:nvSpPr>
          <p:spPr>
            <a:xfrm rot="5400000">
              <a:off x="2366962" y="2078037"/>
              <a:ext cx="360362" cy="3151187"/>
            </a:xfrm>
            <a:prstGeom prst="leftBrace">
              <a:avLst>
                <a:gd name="adj1" fmla="val 8333"/>
                <a:gd name="adj2" fmla="val 50000"/>
              </a:avLst>
            </a:prstGeom>
            <a:noFill/>
            <a:ln w="28575" cap="flat" cmpd="sng">
              <a:solidFill>
                <a:srgbClr val="0066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7" name="Shape 1457"/>
            <p:cNvSpPr txBox="1"/>
            <p:nvPr/>
          </p:nvSpPr>
          <p:spPr>
            <a:xfrm>
              <a:off x="1781175" y="2933700"/>
              <a:ext cx="19812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有序序列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458" name="Shape 1458"/>
          <p:cNvGrpSpPr/>
          <p:nvPr/>
        </p:nvGrpSpPr>
        <p:grpSpPr>
          <a:xfrm>
            <a:off x="667724" y="3940175"/>
            <a:ext cx="7773199" cy="561975"/>
            <a:chOff x="760408" y="3940175"/>
            <a:chExt cx="7678750" cy="561975"/>
          </a:xfrm>
        </p:grpSpPr>
        <p:sp>
          <p:nvSpPr>
            <p:cNvPr id="1459" name="Shape 1459"/>
            <p:cNvSpPr/>
            <p:nvPr/>
          </p:nvSpPr>
          <p:spPr>
            <a:xfrm>
              <a:off x="760408" y="3940175"/>
              <a:ext cx="698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0" name="Shape 1460"/>
            <p:cNvSpPr/>
            <p:nvPr/>
          </p:nvSpPr>
          <p:spPr>
            <a:xfrm>
              <a:off x="1458918" y="3956050"/>
              <a:ext cx="698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1" name="Shape 1461"/>
            <p:cNvSpPr/>
            <p:nvPr/>
          </p:nvSpPr>
          <p:spPr>
            <a:xfrm>
              <a:off x="3897457" y="3946525"/>
              <a:ext cx="611602"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2" name="Shape 1462"/>
            <p:cNvSpPr/>
            <p:nvPr/>
          </p:nvSpPr>
          <p:spPr>
            <a:xfrm>
              <a:off x="4681537" y="3956050"/>
              <a:ext cx="5334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3" name="Shape 1463"/>
            <p:cNvSpPr/>
            <p:nvPr/>
          </p:nvSpPr>
          <p:spPr>
            <a:xfrm>
              <a:off x="7764458" y="3956050"/>
              <a:ext cx="6747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4" name="Shape 1464"/>
            <p:cNvSpPr/>
            <p:nvPr/>
          </p:nvSpPr>
          <p:spPr>
            <a:xfrm>
              <a:off x="6343662" y="3968750"/>
              <a:ext cx="6747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k</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5" name="Shape 1465"/>
            <p:cNvSpPr txBox="1"/>
            <p:nvPr/>
          </p:nvSpPr>
          <p:spPr>
            <a:xfrm>
              <a:off x="2501900" y="4014787"/>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2400"/>
                <a:buFont typeface="Arial" panose="020B0604020202020204"/>
                <a:buNone/>
              </a:pPr>
              <a:r>
                <a:rPr lang="en-US" sz="2400" b="1" i="0" u="none">
                  <a:solidFill>
                    <a:schemeClr val="accent1"/>
                  </a:solidFill>
                  <a:latin typeface="Arial" panose="020B0604020202020204"/>
                  <a:ea typeface="Arial" panose="020B0604020202020204"/>
                  <a:cs typeface="Arial" panose="020B0604020202020204"/>
                  <a:sym typeface="Arial" panose="020B0604020202020204"/>
                </a:rPr>
                <a:t>……</a:t>
              </a:r>
              <a:endParaRPr lang="en-US" sz="2400" b="1" i="0" u="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1466" name="Shape 1466"/>
            <p:cNvSpPr txBox="1"/>
            <p:nvPr/>
          </p:nvSpPr>
          <p:spPr>
            <a:xfrm>
              <a:off x="7018337" y="3968750"/>
              <a:ext cx="584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sp>
          <p:nvSpPr>
            <p:cNvPr id="1467" name="Shape 1467"/>
            <p:cNvSpPr txBox="1"/>
            <p:nvPr/>
          </p:nvSpPr>
          <p:spPr>
            <a:xfrm>
              <a:off x="5472112" y="4014787"/>
              <a:ext cx="584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grpSp>
      <p:grpSp>
        <p:nvGrpSpPr>
          <p:cNvPr id="1468" name="Shape 1468"/>
          <p:cNvGrpSpPr/>
          <p:nvPr/>
        </p:nvGrpSpPr>
        <p:grpSpPr>
          <a:xfrm>
            <a:off x="4887912" y="2963862"/>
            <a:ext cx="3151187" cy="900113"/>
            <a:chOff x="4887912" y="2963862"/>
            <a:chExt cx="3151187" cy="900113"/>
          </a:xfrm>
        </p:grpSpPr>
        <p:sp>
          <p:nvSpPr>
            <p:cNvPr id="1469" name="Shape 1469"/>
            <p:cNvSpPr/>
            <p:nvPr/>
          </p:nvSpPr>
          <p:spPr>
            <a:xfrm rot="5400000">
              <a:off x="6283325" y="2108200"/>
              <a:ext cx="360362" cy="3151187"/>
            </a:xfrm>
            <a:prstGeom prst="leftBrace">
              <a:avLst>
                <a:gd name="adj1" fmla="val 8333"/>
                <a:gd name="adj2" fmla="val 50000"/>
              </a:avLst>
            </a:prstGeom>
            <a:noFill/>
            <a:ln w="28575" cap="flat" cmpd="sng">
              <a:solidFill>
                <a:srgbClr val="0066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0" name="Shape 1470"/>
            <p:cNvSpPr txBox="1"/>
            <p:nvPr/>
          </p:nvSpPr>
          <p:spPr>
            <a:xfrm>
              <a:off x="5697537" y="2963862"/>
              <a:ext cx="19812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无序序列</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471" name="Shape 1471"/>
          <p:cNvGrpSpPr/>
          <p:nvPr/>
        </p:nvGrpSpPr>
        <p:grpSpPr>
          <a:xfrm>
            <a:off x="768350" y="5529250"/>
            <a:ext cx="7672647" cy="561975"/>
            <a:chOff x="768350" y="5529250"/>
            <a:chExt cx="7672647" cy="561975"/>
          </a:xfrm>
        </p:grpSpPr>
        <p:sp>
          <p:nvSpPr>
            <p:cNvPr id="1472" name="Shape 1472"/>
            <p:cNvSpPr/>
            <p:nvPr/>
          </p:nvSpPr>
          <p:spPr>
            <a:xfrm>
              <a:off x="7732697" y="5557825"/>
              <a:ext cx="7083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3" name="Shape 1473"/>
            <p:cNvSpPr/>
            <p:nvPr/>
          </p:nvSpPr>
          <p:spPr>
            <a:xfrm>
              <a:off x="5149850" y="5557825"/>
              <a:ext cx="10065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4" name="Shape 1474"/>
            <p:cNvSpPr/>
            <p:nvPr/>
          </p:nvSpPr>
          <p:spPr>
            <a:xfrm>
              <a:off x="768350" y="5529250"/>
              <a:ext cx="7083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5" name="Shape 1475"/>
            <p:cNvSpPr/>
            <p:nvPr/>
          </p:nvSpPr>
          <p:spPr>
            <a:xfrm>
              <a:off x="1466850" y="5545125"/>
              <a:ext cx="6477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6" name="Shape 1476"/>
            <p:cNvSpPr/>
            <p:nvPr/>
          </p:nvSpPr>
          <p:spPr>
            <a:xfrm>
              <a:off x="3905250" y="5545125"/>
              <a:ext cx="667385"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7" name="Shape 1477"/>
            <p:cNvSpPr txBox="1"/>
            <p:nvPr/>
          </p:nvSpPr>
          <p:spPr>
            <a:xfrm>
              <a:off x="2509837" y="5603875"/>
              <a:ext cx="9271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1"/>
                </a:buClr>
                <a:buSzPts val="2400"/>
                <a:buFont typeface="Arial" panose="020B0604020202020204"/>
                <a:buNone/>
              </a:pPr>
              <a:r>
                <a:rPr lang="en-US" sz="2400" b="1" i="0" u="none">
                  <a:solidFill>
                    <a:schemeClr val="accent1"/>
                  </a:solidFill>
                  <a:latin typeface="Arial" panose="020B0604020202020204"/>
                  <a:ea typeface="Arial" panose="020B0604020202020204"/>
                  <a:cs typeface="Arial" panose="020B0604020202020204"/>
                  <a:sym typeface="Arial" panose="020B0604020202020204"/>
                </a:rPr>
                <a:t>……</a:t>
              </a:r>
              <a:endParaRPr lang="en-US" sz="2400" b="1" i="0" u="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1478" name="Shape 1478"/>
            <p:cNvSpPr/>
            <p:nvPr/>
          </p:nvSpPr>
          <p:spPr>
            <a:xfrm>
              <a:off x="4616450" y="5545137"/>
              <a:ext cx="533400" cy="533400"/>
            </a:xfrm>
            <a:prstGeom prst="ellipse">
              <a:avLst/>
            </a:prstGeom>
            <a:gradFill>
              <a:gsLst>
                <a:gs pos="0">
                  <a:schemeClr val="accent1"/>
                </a:gs>
                <a:gs pos="100000">
                  <a:srgbClr val="008F6B"/>
                </a:gs>
              </a:gsLst>
              <a:path path="circle">
                <a:fillToRect l="50000" t="50000" r="50000" b="50000"/>
              </a:path>
              <a:tileRect/>
            </a:gradFill>
            <a:ln>
              <a:noFill/>
            </a:ln>
          </p:spPr>
          <p:txBody>
            <a:bodyPr spcFirstLastPara="1" wrap="square" lIns="0" tIns="0" rIns="0"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9" name="Shape 1479"/>
            <p:cNvSpPr/>
            <p:nvPr/>
          </p:nvSpPr>
          <p:spPr>
            <a:xfrm>
              <a:off x="6435725" y="5545125"/>
              <a:ext cx="584100" cy="533400"/>
            </a:xfrm>
            <a:prstGeom prst="ellipse">
              <a:avLst/>
            </a:prstGeom>
            <a:gradFill>
              <a:gsLst>
                <a:gs pos="0">
                  <a:srgbClr val="FF0066"/>
                </a:gs>
                <a:gs pos="100000">
                  <a:srgbClr val="B30047"/>
                </a:gs>
              </a:gsLst>
              <a:path path="circle">
                <a:fillToRect l="50000" t="50000" r="50000" b="50000"/>
              </a:path>
              <a:tileRect/>
            </a:gradFill>
            <a:ln>
              <a:noFill/>
            </a:ln>
          </p:spPr>
          <p:txBody>
            <a:bodyPr spcFirstLastPara="1" wrap="square" lIns="91425" tIns="0" rIns="91425" bIns="0" anchor="ctr" anchorCtr="0">
              <a:noAutofit/>
            </a:bodyPr>
            <a:lstStyle/>
            <a:p>
              <a:pPr marL="0" marR="0" lvl="0" indent="0" algn="ctr" rtl="0">
                <a:lnSpc>
                  <a:spcPct val="70000"/>
                </a:lnSpc>
                <a:spcBef>
                  <a:spcPts val="0"/>
                </a:spcBef>
                <a:spcAft>
                  <a:spcPts val="0"/>
                </a:spcAft>
                <a:buClr>
                  <a:schemeClr val="lt1"/>
                </a:buClr>
                <a:buSzPts val="2800"/>
                <a:buFont typeface="Times New Roman" panose="02020603050405020304"/>
                <a:buNone/>
              </a:pPr>
              <a:r>
                <a:rPr lang="en-US" sz="2800" b="1" i="1" u="none">
                  <a:solidFill>
                    <a:schemeClr val="lt1"/>
                  </a:solidFill>
                  <a:latin typeface="Times New Roman" panose="02020603050405020304"/>
                  <a:ea typeface="Times New Roman" panose="02020603050405020304"/>
                  <a:cs typeface="Times New Roman" panose="02020603050405020304"/>
                  <a:sym typeface="Times New Roman" panose="02020603050405020304"/>
                </a:rPr>
                <a:t>r</a:t>
              </a:r>
              <a:r>
                <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baseline="-25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80" name="Shape 1480"/>
            <p:cNvSpPr txBox="1"/>
            <p:nvPr/>
          </p:nvSpPr>
          <p:spPr>
            <a:xfrm>
              <a:off x="7142162" y="5545137"/>
              <a:ext cx="584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sp>
          <p:nvSpPr>
            <p:cNvPr id="1481" name="Shape 1481"/>
            <p:cNvSpPr txBox="1"/>
            <p:nvPr/>
          </p:nvSpPr>
          <p:spPr>
            <a:xfrm>
              <a:off x="5876925" y="5589587"/>
              <a:ext cx="5842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2400"/>
                <a:buFont typeface="Arial" panose="020B0604020202020204"/>
                <a:buNone/>
              </a:pPr>
              <a:r>
                <a:rPr lang="en-US" sz="2400" b="1" i="0" u="none">
                  <a:solidFill>
                    <a:srgbClr val="FF0066"/>
                  </a:solidFill>
                  <a:latin typeface="Arial" panose="020B0604020202020204"/>
                  <a:ea typeface="Arial" panose="020B0604020202020204"/>
                  <a:cs typeface="Arial" panose="020B0604020202020204"/>
                  <a:sym typeface="Arial" panose="020B0604020202020204"/>
                </a:rPr>
                <a:t>…</a:t>
              </a:r>
              <a:endParaRPr lang="en-US" sz="2400" b="1" i="0" u="none">
                <a:solidFill>
                  <a:srgbClr val="FF0066"/>
                </a:solidFill>
                <a:latin typeface="Arial" panose="020B0604020202020204"/>
                <a:ea typeface="Arial" panose="020B0604020202020204"/>
                <a:cs typeface="Arial" panose="020B0604020202020204"/>
                <a:sym typeface="Arial" panose="020B0604020202020204"/>
              </a:endParaRPr>
            </a:p>
          </p:txBody>
        </p:sp>
      </p:grpSp>
      <p:grpSp>
        <p:nvGrpSpPr>
          <p:cNvPr id="1482" name="Shape 1482"/>
          <p:cNvGrpSpPr/>
          <p:nvPr/>
        </p:nvGrpSpPr>
        <p:grpSpPr>
          <a:xfrm>
            <a:off x="4992687" y="4373562"/>
            <a:ext cx="1620838" cy="519112"/>
            <a:chOff x="4992687" y="4373562"/>
            <a:chExt cx="1620838" cy="519112"/>
          </a:xfrm>
        </p:grpSpPr>
        <p:grpSp>
          <p:nvGrpSpPr>
            <p:cNvPr id="1483" name="Shape 1483"/>
            <p:cNvGrpSpPr/>
            <p:nvPr/>
          </p:nvGrpSpPr>
          <p:grpSpPr>
            <a:xfrm>
              <a:off x="4992687" y="4506912"/>
              <a:ext cx="1620838" cy="360363"/>
              <a:chOff x="4992687" y="4506912"/>
              <a:chExt cx="1620838" cy="360363"/>
            </a:xfrm>
          </p:grpSpPr>
          <p:cxnSp>
            <p:nvCxnSpPr>
              <p:cNvPr id="1484" name="Shape 1484"/>
              <p:cNvCxnSpPr/>
              <p:nvPr/>
            </p:nvCxnSpPr>
            <p:spPr>
              <a:xfrm>
                <a:off x="4992687" y="4867275"/>
                <a:ext cx="1620837" cy="0"/>
              </a:xfrm>
              <a:prstGeom prst="straightConnector1">
                <a:avLst/>
              </a:prstGeom>
              <a:noFill/>
              <a:ln w="38100" cap="flat" cmpd="sng">
                <a:solidFill>
                  <a:srgbClr val="008080"/>
                </a:solidFill>
                <a:prstDash val="solid"/>
                <a:miter lim="800000"/>
                <a:headEnd type="none" w="med" len="med"/>
                <a:tailEnd type="none" w="med" len="med"/>
              </a:ln>
            </p:spPr>
          </p:cxnSp>
          <p:cxnSp>
            <p:nvCxnSpPr>
              <p:cNvPr id="1485" name="Shape 1485"/>
              <p:cNvCxnSpPr/>
              <p:nvPr/>
            </p:nvCxnSpPr>
            <p:spPr>
              <a:xfrm rot="10800000">
                <a:off x="6613525" y="4506912"/>
                <a:ext cx="0" cy="360362"/>
              </a:xfrm>
              <a:prstGeom prst="straightConnector1">
                <a:avLst/>
              </a:prstGeom>
              <a:noFill/>
              <a:ln w="38100" cap="flat" cmpd="sng">
                <a:solidFill>
                  <a:srgbClr val="008080"/>
                </a:solidFill>
                <a:prstDash val="solid"/>
                <a:miter lim="800000"/>
                <a:headEnd type="none" w="med" len="med"/>
                <a:tailEnd type="triangle" w="med" len="med"/>
              </a:ln>
            </p:spPr>
          </p:cxnSp>
          <p:cxnSp>
            <p:nvCxnSpPr>
              <p:cNvPr id="1486" name="Shape 1486"/>
              <p:cNvCxnSpPr/>
              <p:nvPr/>
            </p:nvCxnSpPr>
            <p:spPr>
              <a:xfrm rot="10800000">
                <a:off x="4995862" y="4506912"/>
                <a:ext cx="0" cy="360362"/>
              </a:xfrm>
              <a:prstGeom prst="straightConnector1">
                <a:avLst/>
              </a:prstGeom>
              <a:noFill/>
              <a:ln w="38100" cap="flat" cmpd="sng">
                <a:solidFill>
                  <a:srgbClr val="008080"/>
                </a:solidFill>
                <a:prstDash val="solid"/>
                <a:miter lim="800000"/>
                <a:headEnd type="none" w="med" len="med"/>
                <a:tailEnd type="triangle" w="med" len="med"/>
              </a:ln>
            </p:spPr>
          </p:cxnSp>
        </p:grpSp>
        <p:sp>
          <p:nvSpPr>
            <p:cNvPr id="1487" name="Shape 1487"/>
            <p:cNvSpPr txBox="1"/>
            <p:nvPr/>
          </p:nvSpPr>
          <p:spPr>
            <a:xfrm>
              <a:off x="5381625" y="4373562"/>
              <a:ext cx="90011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1488" name="Shape 1488"/>
          <p:cNvGrpSpPr/>
          <p:nvPr/>
        </p:nvGrpSpPr>
        <p:grpSpPr>
          <a:xfrm>
            <a:off x="5832475" y="4495800"/>
            <a:ext cx="1620837" cy="847724"/>
            <a:chOff x="5832475" y="4495800"/>
            <a:chExt cx="1620837" cy="847724"/>
          </a:xfrm>
        </p:grpSpPr>
        <p:sp>
          <p:nvSpPr>
            <p:cNvPr id="1489" name="Shape 1489"/>
            <p:cNvSpPr txBox="1"/>
            <p:nvPr/>
          </p:nvSpPr>
          <p:spPr>
            <a:xfrm>
              <a:off x="5832475" y="4824412"/>
              <a:ext cx="16208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最小记录</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490" name="Shape 1490"/>
            <p:cNvCxnSpPr/>
            <p:nvPr/>
          </p:nvCxnSpPr>
          <p:spPr>
            <a:xfrm rot="10800000">
              <a:off x="6623050" y="4495800"/>
              <a:ext cx="0" cy="360362"/>
            </a:xfrm>
            <a:prstGeom prst="straightConnector1">
              <a:avLst/>
            </a:prstGeom>
            <a:noFill/>
            <a:ln w="38100" cap="flat" cmpd="sng">
              <a:solidFill>
                <a:srgbClr val="008080"/>
              </a:solidFill>
              <a:prstDash val="solid"/>
              <a:miter lim="800000"/>
              <a:headEnd type="none" w="med" len="med"/>
              <a:tailEnd type="triangle" w="med" len="med"/>
            </a:ln>
          </p:spPr>
        </p:cxn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494" name="Shape 1494"/>
        <p:cNvGrpSpPr/>
        <p:nvPr/>
      </p:nvGrpSpPr>
      <p:grpSpPr>
        <a:xfrm>
          <a:off x="0" y="0"/>
          <a:ext cx="0" cy="0"/>
          <a:chOff x="0" y="0"/>
          <a:chExt cx="0" cy="0"/>
        </a:xfrm>
      </p:grpSpPr>
      <p:sp>
        <p:nvSpPr>
          <p:cNvPr id="1495" name="Shape 1495"/>
          <p:cNvSpPr txBox="1"/>
          <p:nvPr/>
        </p:nvSpPr>
        <p:spPr>
          <a:xfrm>
            <a:off x="431800" y="1223962"/>
            <a:ext cx="5867400"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简单选择排序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496" name="Shape 1496"/>
          <p:cNvSpPr txBox="1"/>
          <p:nvPr/>
        </p:nvSpPr>
        <p:spPr>
          <a:xfrm>
            <a:off x="268287" y="1989137"/>
            <a:ext cx="8621712" cy="111760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基本思想：</a:t>
            </a:r>
            <a:r>
              <a:rPr lang="en-US" sz="2800" b="1" i="0" u="none">
                <a:solidFill>
                  <a:schemeClr val="dk1"/>
                </a:solidFill>
                <a:latin typeface="Arial" panose="020B0604020202020204"/>
                <a:ea typeface="Arial" panose="020B0604020202020204"/>
                <a:cs typeface="Arial" panose="020B0604020202020204"/>
                <a:sym typeface="Arial" panose="020B0604020202020204"/>
              </a:rPr>
              <a:t>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Arial" panose="020B0604020202020204"/>
                <a:ea typeface="Arial" panose="020B0604020202020204"/>
                <a:cs typeface="Arial" panose="020B0604020202020204"/>
                <a:sym typeface="Arial" panose="020B0604020202020204"/>
              </a:rPr>
              <a:t>趟在</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=1,2,</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dk1"/>
                </a:solidFill>
                <a:latin typeface="Arial" panose="020B0604020202020204"/>
                <a:ea typeface="Arial" panose="020B0604020202020204"/>
                <a:cs typeface="Arial" panose="020B0604020202020204"/>
                <a:sym typeface="Arial" panose="020B0604020202020204"/>
              </a:rPr>
              <a:t>）个记录中选取关键码最小的记录作为有序序列中的第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Arial" panose="020B0604020202020204"/>
                <a:ea typeface="Arial" panose="020B0604020202020204"/>
                <a:cs typeface="Arial" panose="020B0604020202020204"/>
                <a:sym typeface="Arial" panose="020B0604020202020204"/>
              </a:rPr>
              <a:t>个记录。</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97" name="Shape 1497"/>
          <p:cNvGrpSpPr/>
          <p:nvPr/>
        </p:nvGrpSpPr>
        <p:grpSpPr>
          <a:xfrm>
            <a:off x="385762" y="3294062"/>
            <a:ext cx="6604000" cy="542925"/>
            <a:chOff x="522287" y="3249612"/>
            <a:chExt cx="6604000" cy="542925"/>
          </a:xfrm>
        </p:grpSpPr>
        <p:sp>
          <p:nvSpPr>
            <p:cNvPr id="1498" name="Shape 1498"/>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499" name="Shape 1499"/>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1500" name="Shape 1500"/>
          <p:cNvSpPr txBox="1"/>
          <p:nvPr/>
        </p:nvSpPr>
        <p:spPr>
          <a:xfrm>
            <a:off x="352425" y="3968750"/>
            <a:ext cx="7924800" cy="14589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⑴如何在待排序序列中选出关键码最小的记录？</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⑵如何确定待排序序列中关键码最小的记录在有序序列中的位置？</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1" name="Shape 1501"/>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505" name="Shape 1505"/>
        <p:cNvGrpSpPr/>
        <p:nvPr/>
      </p:nvGrpSpPr>
      <p:grpSpPr>
        <a:xfrm>
          <a:off x="0" y="0"/>
          <a:ext cx="0" cy="0"/>
          <a:chOff x="0" y="0"/>
          <a:chExt cx="0" cy="0"/>
        </a:xfrm>
      </p:grpSpPr>
      <p:sp>
        <p:nvSpPr>
          <p:cNvPr id="1506" name="Shape 1506"/>
          <p:cNvSpPr txBox="1"/>
          <p:nvPr/>
        </p:nvSpPr>
        <p:spPr>
          <a:xfrm>
            <a:off x="296862" y="1089025"/>
            <a:ext cx="4876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简单选择排序示例</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507" name="Shape 1507"/>
          <p:cNvGrpSpPr/>
          <p:nvPr/>
        </p:nvGrpSpPr>
        <p:grpSpPr>
          <a:xfrm>
            <a:off x="1466850" y="3878262"/>
            <a:ext cx="5394325" cy="755650"/>
            <a:chOff x="1466850" y="3878262"/>
            <a:chExt cx="5394325" cy="755650"/>
          </a:xfrm>
        </p:grpSpPr>
        <p:sp>
          <p:nvSpPr>
            <p:cNvPr id="1508" name="Shape 1508"/>
            <p:cNvSpPr/>
            <p:nvPr/>
          </p:nvSpPr>
          <p:spPr>
            <a:xfrm>
              <a:off x="1466850" y="4238625"/>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08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09" name="Shape 1509"/>
            <p:cNvSpPr/>
            <p:nvPr/>
          </p:nvSpPr>
          <p:spPr>
            <a:xfrm>
              <a:off x="6327775" y="3878262"/>
              <a:ext cx="533400" cy="7556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21</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grpSp>
      <p:sp>
        <p:nvSpPr>
          <p:cNvPr id="1510" name="Shape 1510"/>
          <p:cNvSpPr txBox="1"/>
          <p:nvPr/>
        </p:nvSpPr>
        <p:spPr>
          <a:xfrm>
            <a:off x="250825" y="4014787"/>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1" name="Shape 1511"/>
          <p:cNvSpPr txBox="1"/>
          <p:nvPr/>
        </p:nvSpPr>
        <p:spPr>
          <a:xfrm>
            <a:off x="7316787" y="2006600"/>
            <a:ext cx="1484312"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最小者 08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交换21,08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2" name="Shape 1512"/>
          <p:cNvSpPr txBox="1"/>
          <p:nvPr/>
        </p:nvSpPr>
        <p:spPr>
          <a:xfrm>
            <a:off x="7286625" y="3451225"/>
            <a:ext cx="1484312"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最小者 16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交换25,16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3" name="Shape 1513"/>
          <p:cNvSpPr txBox="1"/>
          <p:nvPr/>
        </p:nvSpPr>
        <p:spPr>
          <a:xfrm>
            <a:off x="7315200" y="4899025"/>
            <a:ext cx="1484312"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最小者 21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交换49,21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4" name="Shape 1514"/>
          <p:cNvSpPr/>
          <p:nvPr/>
        </p:nvSpPr>
        <p:spPr>
          <a:xfrm>
            <a:off x="1450975" y="2362200"/>
            <a:ext cx="533400" cy="7556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21</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15" name="Shape 1515"/>
          <p:cNvSpPr/>
          <p:nvPr/>
        </p:nvSpPr>
        <p:spPr>
          <a:xfrm>
            <a:off x="4422775" y="2286000"/>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16" name="Shape 1516"/>
          <p:cNvSpPr txBox="1"/>
          <p:nvPr/>
        </p:nvSpPr>
        <p:spPr>
          <a:xfrm>
            <a:off x="206375" y="2484437"/>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7" name="Shape 1517"/>
          <p:cNvSpPr/>
          <p:nvPr/>
        </p:nvSpPr>
        <p:spPr>
          <a:xfrm>
            <a:off x="2441575" y="2286000"/>
            <a:ext cx="533400" cy="8382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25</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18" name="Shape 1518"/>
          <p:cNvSpPr/>
          <p:nvPr/>
        </p:nvSpPr>
        <p:spPr>
          <a:xfrm>
            <a:off x="5413375" y="2438400"/>
            <a:ext cx="533400" cy="6842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16</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19" name="Shape 1519"/>
          <p:cNvSpPr/>
          <p:nvPr/>
        </p:nvSpPr>
        <p:spPr>
          <a:xfrm>
            <a:off x="3432175" y="1981200"/>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20" name="Shape 1520"/>
          <p:cNvSpPr/>
          <p:nvPr/>
        </p:nvSpPr>
        <p:spPr>
          <a:xfrm>
            <a:off x="6327775" y="2754312"/>
            <a:ext cx="533400" cy="381000"/>
          </a:xfrm>
          <a:prstGeom prst="can">
            <a:avLst>
              <a:gd name="adj" fmla="val 25000"/>
            </a:avLst>
          </a:prstGeom>
          <a:gradFill>
            <a:gsLst>
              <a:gs pos="0">
                <a:srgbClr val="8FA6B3"/>
              </a:gs>
              <a:gs pos="100000">
                <a:srgbClr val="CCECFF"/>
              </a:gs>
            </a:gsLst>
            <a:lin ang="135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08</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521" name="Shape 1521"/>
          <p:cNvSpPr/>
          <p:nvPr/>
        </p:nvSpPr>
        <p:spPr>
          <a:xfrm>
            <a:off x="6327775" y="2751137"/>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08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22" name="Shape 1522"/>
          <p:cNvSpPr txBox="1"/>
          <p:nvPr/>
        </p:nvSpPr>
        <p:spPr>
          <a:xfrm>
            <a:off x="231775" y="5229225"/>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3</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523" name="Shape 1523"/>
          <p:cNvGrpSpPr/>
          <p:nvPr/>
        </p:nvGrpSpPr>
        <p:grpSpPr>
          <a:xfrm>
            <a:off x="1450975" y="4876800"/>
            <a:ext cx="5410200" cy="1241425"/>
            <a:chOff x="1450975" y="4876800"/>
            <a:chExt cx="5410200" cy="1241425"/>
          </a:xfrm>
        </p:grpSpPr>
        <p:sp>
          <p:nvSpPr>
            <p:cNvPr id="1524" name="Shape 1524"/>
            <p:cNvSpPr/>
            <p:nvPr/>
          </p:nvSpPr>
          <p:spPr>
            <a:xfrm>
              <a:off x="6327775" y="5362575"/>
              <a:ext cx="533400" cy="7556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21</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25" name="Shape 1525"/>
            <p:cNvSpPr/>
            <p:nvPr/>
          </p:nvSpPr>
          <p:spPr>
            <a:xfrm>
              <a:off x="1450975" y="5638800"/>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08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26" name="Shape 1526"/>
            <p:cNvSpPr/>
            <p:nvPr/>
          </p:nvSpPr>
          <p:spPr>
            <a:xfrm>
              <a:off x="4405312" y="5184775"/>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27" name="Shape 1527"/>
            <p:cNvSpPr/>
            <p:nvPr/>
          </p:nvSpPr>
          <p:spPr>
            <a:xfrm>
              <a:off x="3432175" y="4876800"/>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grpSp>
      <p:sp>
        <p:nvSpPr>
          <p:cNvPr id="1528" name="Shape 1528"/>
          <p:cNvSpPr/>
          <p:nvPr/>
        </p:nvSpPr>
        <p:spPr>
          <a:xfrm>
            <a:off x="6327775" y="5367337"/>
            <a:ext cx="533400" cy="755650"/>
          </a:xfrm>
          <a:prstGeom prst="can">
            <a:avLst>
              <a:gd name="adj" fmla="val 25000"/>
            </a:avLst>
          </a:prstGeom>
          <a:gradFill>
            <a:gsLst>
              <a:gs pos="0">
                <a:srgbClr val="00BE8E"/>
              </a:gs>
              <a:gs pos="100000">
                <a:schemeClr val="accent1"/>
              </a:gs>
            </a:gsLst>
            <a:path path="circle">
              <a:fillToRect l="50000" t="50000" r="50000" b="50000"/>
            </a:path>
            <a:tileRect/>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529" name="Shape 1529"/>
          <p:cNvGrpSpPr/>
          <p:nvPr/>
        </p:nvGrpSpPr>
        <p:grpSpPr>
          <a:xfrm>
            <a:off x="2411412" y="3473450"/>
            <a:ext cx="3503613" cy="1216024"/>
            <a:chOff x="2411412" y="3473450"/>
            <a:chExt cx="3503613" cy="1216024"/>
          </a:xfrm>
        </p:grpSpPr>
        <p:sp>
          <p:nvSpPr>
            <p:cNvPr id="1530" name="Shape 1530"/>
            <p:cNvSpPr/>
            <p:nvPr/>
          </p:nvSpPr>
          <p:spPr>
            <a:xfrm>
              <a:off x="4424362" y="3789362"/>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31" name="Shape 1531"/>
            <p:cNvSpPr/>
            <p:nvPr/>
          </p:nvSpPr>
          <p:spPr>
            <a:xfrm>
              <a:off x="3446462" y="3473450"/>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32" name="Shape 1532"/>
            <p:cNvSpPr/>
            <p:nvPr/>
          </p:nvSpPr>
          <p:spPr>
            <a:xfrm>
              <a:off x="5381625" y="3924300"/>
              <a:ext cx="533400" cy="6842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16</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33" name="Shape 1533"/>
            <p:cNvSpPr/>
            <p:nvPr/>
          </p:nvSpPr>
          <p:spPr>
            <a:xfrm>
              <a:off x="2411412" y="3789362"/>
              <a:ext cx="533400" cy="8382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25</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grpSp>
      <p:sp>
        <p:nvSpPr>
          <p:cNvPr id="1534" name="Shape 1534"/>
          <p:cNvSpPr/>
          <p:nvPr/>
        </p:nvSpPr>
        <p:spPr>
          <a:xfrm>
            <a:off x="5381625" y="3924300"/>
            <a:ext cx="533400" cy="6842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16</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535" name="Shape 1535"/>
          <p:cNvGrpSpPr/>
          <p:nvPr/>
        </p:nvGrpSpPr>
        <p:grpSpPr>
          <a:xfrm>
            <a:off x="2441575" y="5273675"/>
            <a:ext cx="3473450" cy="838200"/>
            <a:chOff x="2441575" y="5273675"/>
            <a:chExt cx="3473450" cy="838200"/>
          </a:xfrm>
        </p:grpSpPr>
        <p:sp>
          <p:nvSpPr>
            <p:cNvPr id="1536" name="Shape 1536"/>
            <p:cNvSpPr/>
            <p:nvPr/>
          </p:nvSpPr>
          <p:spPr>
            <a:xfrm>
              <a:off x="2441575" y="5334000"/>
              <a:ext cx="533400" cy="6858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16</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37" name="Shape 1537"/>
            <p:cNvSpPr/>
            <p:nvPr/>
          </p:nvSpPr>
          <p:spPr>
            <a:xfrm>
              <a:off x="5381625" y="5273675"/>
              <a:ext cx="533400" cy="8382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25</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grpSp>
      <p:sp>
        <p:nvSpPr>
          <p:cNvPr id="1538" name="Shape 1538"/>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521"/>
                                        </p:tgtEl>
                                        <p:attrNameLst>
                                          <p:attrName>style.visibility</p:attrName>
                                        </p:attrNameLst>
                                      </p:cBhvr>
                                      <p:to>
                                        <p:strVal val="visible"/>
                                      </p:to>
                                    </p:set>
                                    <p:animEffect transition="in" filter="fade">
                                      <p:cBhvr>
                                        <p:cTn id="11" dur="500"/>
                                        <p:tgtEl>
                                          <p:spTgt spid="152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1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534"/>
                                        </p:tgtEl>
                                        <p:attrNameLst>
                                          <p:attrName>style.visibility</p:attrName>
                                        </p:attrNameLst>
                                      </p:cBhvr>
                                      <p:to>
                                        <p:strVal val="visible"/>
                                      </p:to>
                                    </p:set>
                                    <p:animEffect transition="in" filter="fade">
                                      <p:cBhvr>
                                        <p:cTn id="24" dur="500"/>
                                        <p:tgtEl>
                                          <p:spTgt spid="153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28"/>
                                        </p:tgtEl>
                                        <p:attrNameLst>
                                          <p:attrName>style.visibility</p:attrName>
                                        </p:attrNameLst>
                                      </p:cBhvr>
                                      <p:to>
                                        <p:strVal val="visible"/>
                                      </p:to>
                                    </p:set>
                                    <p:animEffect transition="in" filter="fade">
                                      <p:cBhvr>
                                        <p:cTn id="37" dur="500"/>
                                        <p:tgtEl>
                                          <p:spTgt spid="152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542" name="Shape 1542"/>
        <p:cNvGrpSpPr/>
        <p:nvPr/>
      </p:nvGrpSpPr>
      <p:grpSpPr>
        <a:xfrm>
          <a:off x="0" y="0"/>
          <a:ext cx="0" cy="0"/>
          <a:chOff x="0" y="0"/>
          <a:chExt cx="0" cy="0"/>
        </a:xfrm>
      </p:grpSpPr>
      <p:sp>
        <p:nvSpPr>
          <p:cNvPr id="1543" name="Shape 1543"/>
          <p:cNvSpPr txBox="1"/>
          <p:nvPr/>
        </p:nvSpPr>
        <p:spPr>
          <a:xfrm>
            <a:off x="457200" y="2028825"/>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4</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4" name="Shape 1544"/>
          <p:cNvSpPr txBox="1"/>
          <p:nvPr/>
        </p:nvSpPr>
        <p:spPr>
          <a:xfrm>
            <a:off x="7239000" y="1698625"/>
            <a:ext cx="1484312"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最小者 25</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交换25,28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5" name="Shape 1545"/>
          <p:cNvSpPr txBox="1"/>
          <p:nvPr/>
        </p:nvSpPr>
        <p:spPr>
          <a:xfrm>
            <a:off x="457200" y="3476625"/>
            <a:ext cx="84137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5</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6" name="Shape 1546"/>
          <p:cNvSpPr txBox="1"/>
          <p:nvPr/>
        </p:nvSpPr>
        <p:spPr>
          <a:xfrm>
            <a:off x="7239000" y="3146425"/>
            <a:ext cx="1484312"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最小者 28</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不交换</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47" name="Shape 1547"/>
          <p:cNvSpPr txBox="1"/>
          <p:nvPr/>
        </p:nvSpPr>
        <p:spPr>
          <a:xfrm>
            <a:off x="296862" y="1089025"/>
            <a:ext cx="4876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简单选择排序示例</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548" name="Shape 1548"/>
          <p:cNvGrpSpPr/>
          <p:nvPr/>
        </p:nvGrpSpPr>
        <p:grpSpPr>
          <a:xfrm>
            <a:off x="3671887" y="1604962"/>
            <a:ext cx="3498850" cy="1143000"/>
            <a:chOff x="3671887" y="1604962"/>
            <a:chExt cx="3498850" cy="1143000"/>
          </a:xfrm>
        </p:grpSpPr>
        <p:sp>
          <p:nvSpPr>
            <p:cNvPr id="1549" name="Shape 1549"/>
            <p:cNvSpPr/>
            <p:nvPr/>
          </p:nvSpPr>
          <p:spPr>
            <a:xfrm>
              <a:off x="6637337" y="1604962"/>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50" name="Shape 1550"/>
            <p:cNvSpPr/>
            <p:nvPr/>
          </p:nvSpPr>
          <p:spPr>
            <a:xfrm>
              <a:off x="3671887" y="1989137"/>
              <a:ext cx="533400" cy="755650"/>
            </a:xfrm>
            <a:prstGeom prst="can">
              <a:avLst>
                <a:gd name="adj" fmla="val 25000"/>
              </a:avLst>
            </a:prstGeom>
            <a:gradFill>
              <a:gsLst>
                <a:gs pos="0">
                  <a:srgbClr val="00BE8E"/>
                </a:gs>
                <a:gs pos="100000">
                  <a:schemeClr val="accent1"/>
                </a:gs>
              </a:gsLst>
              <a:path path="circle">
                <a:fillToRect l="50000" t="50000" r="50000" b="50000"/>
              </a:path>
              <a:tileRect/>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grpSp>
        <p:nvGrpSpPr>
          <p:cNvPr id="1551" name="Shape 1551"/>
          <p:cNvGrpSpPr/>
          <p:nvPr/>
        </p:nvGrpSpPr>
        <p:grpSpPr>
          <a:xfrm>
            <a:off x="1703387" y="1865312"/>
            <a:ext cx="4481513" cy="900112"/>
            <a:chOff x="1703387" y="1865312"/>
            <a:chExt cx="4481513" cy="900112"/>
          </a:xfrm>
        </p:grpSpPr>
        <p:sp>
          <p:nvSpPr>
            <p:cNvPr id="1552" name="Shape 1552"/>
            <p:cNvSpPr/>
            <p:nvPr/>
          </p:nvSpPr>
          <p:spPr>
            <a:xfrm>
              <a:off x="1703387" y="2319337"/>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08</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sp>
          <p:nvSpPr>
            <p:cNvPr id="1553" name="Shape 1553"/>
            <p:cNvSpPr/>
            <p:nvPr/>
          </p:nvSpPr>
          <p:spPr>
            <a:xfrm>
              <a:off x="4657725" y="1865312"/>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54" name="Shape 1554"/>
            <p:cNvSpPr/>
            <p:nvPr/>
          </p:nvSpPr>
          <p:spPr>
            <a:xfrm>
              <a:off x="2693987" y="2014537"/>
              <a:ext cx="533400" cy="6858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16</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sp>
          <p:nvSpPr>
            <p:cNvPr id="1555" name="Shape 1555"/>
            <p:cNvSpPr/>
            <p:nvPr/>
          </p:nvSpPr>
          <p:spPr>
            <a:xfrm>
              <a:off x="5651500" y="1898650"/>
              <a:ext cx="533400" cy="8382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25</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grpSp>
      <p:sp>
        <p:nvSpPr>
          <p:cNvPr id="1556" name="Shape 1556"/>
          <p:cNvSpPr/>
          <p:nvPr/>
        </p:nvSpPr>
        <p:spPr>
          <a:xfrm>
            <a:off x="5651500" y="1898650"/>
            <a:ext cx="533400" cy="8382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25</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557" name="Shape 1557"/>
          <p:cNvGrpSpPr/>
          <p:nvPr/>
        </p:nvGrpSpPr>
        <p:grpSpPr>
          <a:xfrm>
            <a:off x="1706562" y="3068637"/>
            <a:ext cx="5467350" cy="1143000"/>
            <a:chOff x="1706562" y="3068637"/>
            <a:chExt cx="5467350" cy="1143000"/>
          </a:xfrm>
        </p:grpSpPr>
        <p:sp>
          <p:nvSpPr>
            <p:cNvPr id="1558" name="Shape 1558"/>
            <p:cNvSpPr/>
            <p:nvPr/>
          </p:nvSpPr>
          <p:spPr>
            <a:xfrm>
              <a:off x="6640512" y="3068637"/>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59" name="Shape 1559"/>
            <p:cNvSpPr/>
            <p:nvPr/>
          </p:nvSpPr>
          <p:spPr>
            <a:xfrm>
              <a:off x="3675062" y="3452812"/>
              <a:ext cx="533400" cy="755650"/>
            </a:xfrm>
            <a:prstGeom prst="can">
              <a:avLst>
                <a:gd name="adj" fmla="val 25000"/>
              </a:avLst>
            </a:prstGeom>
            <a:gradFill>
              <a:gsLst>
                <a:gs pos="0">
                  <a:srgbClr val="00BE8E"/>
                </a:gs>
                <a:gs pos="100000">
                  <a:schemeClr val="accent1"/>
                </a:gs>
              </a:gsLst>
              <a:path path="circle">
                <a:fillToRect l="50000" t="50000" r="50000" b="50000"/>
              </a:path>
              <a:tileRect/>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60" name="Shape 1560"/>
            <p:cNvSpPr/>
            <p:nvPr/>
          </p:nvSpPr>
          <p:spPr>
            <a:xfrm>
              <a:off x="1706562" y="3783012"/>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08</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sp>
          <p:nvSpPr>
            <p:cNvPr id="1561" name="Shape 1561"/>
            <p:cNvSpPr/>
            <p:nvPr/>
          </p:nvSpPr>
          <p:spPr>
            <a:xfrm>
              <a:off x="2697162" y="3478212"/>
              <a:ext cx="533400" cy="6858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16</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grpSp>
      <p:grpSp>
        <p:nvGrpSpPr>
          <p:cNvPr id="1562" name="Shape 1562"/>
          <p:cNvGrpSpPr/>
          <p:nvPr/>
        </p:nvGrpSpPr>
        <p:grpSpPr>
          <a:xfrm>
            <a:off x="4654550" y="3321050"/>
            <a:ext cx="1533525" cy="900112"/>
            <a:chOff x="4654550" y="3321050"/>
            <a:chExt cx="1533525" cy="900112"/>
          </a:xfrm>
        </p:grpSpPr>
        <p:sp>
          <p:nvSpPr>
            <p:cNvPr id="1563" name="Shape 1563"/>
            <p:cNvSpPr/>
            <p:nvPr/>
          </p:nvSpPr>
          <p:spPr>
            <a:xfrm>
              <a:off x="5654675" y="3321050"/>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64" name="Shape 1564"/>
            <p:cNvSpPr/>
            <p:nvPr/>
          </p:nvSpPr>
          <p:spPr>
            <a:xfrm>
              <a:off x="4654550" y="3362325"/>
              <a:ext cx="533400" cy="8382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25</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565" name="Shape 1565"/>
          <p:cNvSpPr/>
          <p:nvPr/>
        </p:nvSpPr>
        <p:spPr>
          <a:xfrm>
            <a:off x="5651500" y="3294062"/>
            <a:ext cx="533400" cy="9001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566" name="Shape 1566"/>
          <p:cNvGrpSpPr/>
          <p:nvPr/>
        </p:nvGrpSpPr>
        <p:grpSpPr>
          <a:xfrm>
            <a:off x="1692275" y="4419600"/>
            <a:ext cx="5467350" cy="1169987"/>
            <a:chOff x="1692275" y="4419600"/>
            <a:chExt cx="5467350" cy="1169987"/>
          </a:xfrm>
        </p:grpSpPr>
        <p:sp>
          <p:nvSpPr>
            <p:cNvPr id="1567" name="Shape 1567"/>
            <p:cNvSpPr/>
            <p:nvPr/>
          </p:nvSpPr>
          <p:spPr>
            <a:xfrm>
              <a:off x="6626225" y="4419600"/>
              <a:ext cx="533400" cy="1143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49</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68" name="Shape 1568"/>
            <p:cNvSpPr/>
            <p:nvPr/>
          </p:nvSpPr>
          <p:spPr>
            <a:xfrm>
              <a:off x="3660775" y="4803775"/>
              <a:ext cx="533400" cy="755650"/>
            </a:xfrm>
            <a:prstGeom prst="can">
              <a:avLst>
                <a:gd name="adj" fmla="val 25000"/>
              </a:avLst>
            </a:prstGeom>
            <a:gradFill>
              <a:gsLst>
                <a:gs pos="0">
                  <a:srgbClr val="00BE8E"/>
                </a:gs>
                <a:gs pos="100000">
                  <a:schemeClr val="accent1"/>
                </a:gs>
              </a:gsLst>
              <a:path path="circle">
                <a:fillToRect l="50000" t="50000" r="50000" b="50000"/>
              </a:path>
              <a:tileRect/>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569" name="Shape 1569"/>
            <p:cNvSpPr/>
            <p:nvPr/>
          </p:nvSpPr>
          <p:spPr>
            <a:xfrm>
              <a:off x="1692275" y="5133975"/>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08</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sp>
          <p:nvSpPr>
            <p:cNvPr id="1570" name="Shape 1570"/>
            <p:cNvSpPr/>
            <p:nvPr/>
          </p:nvSpPr>
          <p:spPr>
            <a:xfrm>
              <a:off x="2682875" y="4829175"/>
              <a:ext cx="533400" cy="6858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CC"/>
                </a:buClr>
                <a:buSzPts val="2400"/>
                <a:buFont typeface="Arial" panose="020B0604020202020204"/>
                <a:buNone/>
              </a:pPr>
              <a:r>
                <a:rPr lang="en-US" sz="2400" b="1" i="0" u="none">
                  <a:solidFill>
                    <a:srgbClr val="FFFFCC"/>
                  </a:solidFill>
                  <a:latin typeface="Arial" panose="020B0604020202020204"/>
                  <a:ea typeface="Arial" panose="020B0604020202020204"/>
                  <a:cs typeface="Arial" panose="020B0604020202020204"/>
                  <a:sym typeface="Arial" panose="020B0604020202020204"/>
                </a:rPr>
                <a:t>16</a:t>
              </a:r>
              <a:endParaRPr lang="en-US" sz="2400" b="1" i="0" u="none">
                <a:solidFill>
                  <a:srgbClr val="FFFFCC"/>
                </a:solidFill>
                <a:latin typeface="Arial" panose="020B0604020202020204"/>
                <a:ea typeface="Arial" panose="020B0604020202020204"/>
                <a:cs typeface="Arial" panose="020B0604020202020204"/>
                <a:sym typeface="Arial" panose="020B0604020202020204"/>
              </a:endParaRPr>
            </a:p>
          </p:txBody>
        </p:sp>
        <p:grpSp>
          <p:nvGrpSpPr>
            <p:cNvPr id="1571" name="Shape 1571"/>
            <p:cNvGrpSpPr/>
            <p:nvPr/>
          </p:nvGrpSpPr>
          <p:grpSpPr>
            <a:xfrm>
              <a:off x="4640262" y="4672012"/>
              <a:ext cx="1533525" cy="900112"/>
              <a:chOff x="4654550" y="3321050"/>
              <a:chExt cx="1533525" cy="900112"/>
            </a:xfrm>
          </p:grpSpPr>
          <p:sp>
            <p:nvSpPr>
              <p:cNvPr id="1572" name="Shape 1572"/>
              <p:cNvSpPr/>
              <p:nvPr/>
            </p:nvSpPr>
            <p:spPr>
              <a:xfrm>
                <a:off x="5654675" y="3321050"/>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73" name="Shape 1573"/>
              <p:cNvSpPr/>
              <p:nvPr/>
            </p:nvSpPr>
            <p:spPr>
              <a:xfrm>
                <a:off x="4654550" y="3362325"/>
                <a:ext cx="533400" cy="8382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25</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574" name="Shape 1574"/>
            <p:cNvSpPr/>
            <p:nvPr/>
          </p:nvSpPr>
          <p:spPr>
            <a:xfrm>
              <a:off x="5637212" y="4689475"/>
              <a:ext cx="533400" cy="900112"/>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575" name="Shape 1575"/>
          <p:cNvSpPr txBox="1"/>
          <p:nvPr/>
        </p:nvSpPr>
        <p:spPr>
          <a:xfrm>
            <a:off x="7272337" y="4402137"/>
            <a:ext cx="1716087" cy="7493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无序区只有</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一个记录</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6" name="Shape 1576"/>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556"/>
                                        </p:tgtEl>
                                        <p:attrNameLst>
                                          <p:attrName>style.visibility</p:attrName>
                                        </p:attrNameLst>
                                      </p:cBhvr>
                                      <p:to>
                                        <p:strVal val="visible"/>
                                      </p:to>
                                    </p:set>
                                    <p:animEffect transition="in" filter="fade">
                                      <p:cBhvr>
                                        <p:cTn id="11" dur="500"/>
                                        <p:tgtEl>
                                          <p:spTgt spid="155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54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4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565"/>
                                        </p:tgtEl>
                                        <p:attrNameLst>
                                          <p:attrName>style.visibility</p:attrName>
                                        </p:attrNameLst>
                                      </p:cBhvr>
                                      <p:to>
                                        <p:strVal val="visible"/>
                                      </p:to>
                                    </p:set>
                                    <p:animEffect transition="in" filter="fade">
                                      <p:cBhvr>
                                        <p:cTn id="24" dur="500"/>
                                        <p:tgtEl>
                                          <p:spTgt spid="156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580" name="Shape 1580"/>
        <p:cNvGrpSpPr/>
        <p:nvPr/>
      </p:nvGrpSpPr>
      <p:grpSpPr>
        <a:xfrm>
          <a:off x="0" y="0"/>
          <a:ext cx="0" cy="0"/>
          <a:chOff x="0" y="0"/>
          <a:chExt cx="0" cy="0"/>
        </a:xfrm>
      </p:grpSpPr>
      <p:sp>
        <p:nvSpPr>
          <p:cNvPr id="1581" name="Shape 1581"/>
          <p:cNvSpPr txBox="1"/>
          <p:nvPr/>
        </p:nvSpPr>
        <p:spPr>
          <a:xfrm>
            <a:off x="341312" y="1854200"/>
            <a:ext cx="8640762" cy="1587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设置一个整型变量index，用于记录在一趟比较的过程中关键码</a:t>
            </a:r>
            <a:r>
              <a:rPr lang="en-US" sz="2800" b="1" i="0" u="none">
                <a:solidFill>
                  <a:schemeClr val="dk1"/>
                </a:solidFill>
                <a:latin typeface="Arial" panose="020B0604020202020204"/>
                <a:ea typeface="Arial" panose="020B0604020202020204"/>
                <a:cs typeface="Arial" panose="020B0604020202020204"/>
                <a:sym typeface="Arial" panose="020B0604020202020204"/>
              </a:rPr>
              <a:t>最小的记录位置。</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2" name="Shape 1582"/>
          <p:cNvSpPr txBox="1"/>
          <p:nvPr/>
        </p:nvSpPr>
        <p:spPr>
          <a:xfrm>
            <a:off x="103175" y="1112825"/>
            <a:ext cx="88788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关键问题⑴：如何在无序区中选出关键码最小的记录？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583" name="Shape 1583"/>
          <p:cNvSpPr/>
          <p:nvPr/>
        </p:nvSpPr>
        <p:spPr>
          <a:xfrm>
            <a:off x="1500187" y="4308475"/>
            <a:ext cx="533400" cy="75565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21</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84" name="Shape 1584"/>
          <p:cNvSpPr/>
          <p:nvPr/>
        </p:nvSpPr>
        <p:spPr>
          <a:xfrm>
            <a:off x="4471987" y="4184650"/>
            <a:ext cx="533400" cy="9001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28</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85" name="Shape 1585"/>
          <p:cNvSpPr/>
          <p:nvPr/>
        </p:nvSpPr>
        <p:spPr>
          <a:xfrm>
            <a:off x="2490787" y="4232275"/>
            <a:ext cx="533400" cy="8382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25</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86" name="Shape 1586"/>
          <p:cNvSpPr/>
          <p:nvPr/>
        </p:nvSpPr>
        <p:spPr>
          <a:xfrm>
            <a:off x="5462587" y="4384675"/>
            <a:ext cx="533400" cy="684212"/>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16</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87" name="Shape 1587"/>
          <p:cNvSpPr/>
          <p:nvPr/>
        </p:nvSpPr>
        <p:spPr>
          <a:xfrm>
            <a:off x="3481387" y="3927475"/>
            <a:ext cx="533400" cy="1143000"/>
          </a:xfrm>
          <a:prstGeom prst="can">
            <a:avLst>
              <a:gd name="adj" fmla="val 25000"/>
            </a:avLst>
          </a:prstGeom>
          <a:gradFill>
            <a:gsLst>
              <a:gs pos="0">
                <a:srgbClr val="8FA6B3"/>
              </a:gs>
              <a:gs pos="50000">
                <a:srgbClr val="CCECFF"/>
              </a:gs>
              <a:gs pos="100000">
                <a:srgbClr val="8FA6B3"/>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2"/>
              </a:buClr>
              <a:buSzPts val="2400"/>
              <a:buFont typeface="Arial" panose="020B0604020202020204"/>
              <a:buNone/>
            </a:pPr>
            <a:r>
              <a:rPr lang="en-US" sz="2400" b="1" i="0" u="none">
                <a:solidFill>
                  <a:schemeClr val="dk2"/>
                </a:solidFill>
                <a:latin typeface="Arial" panose="020B0604020202020204"/>
                <a:ea typeface="Arial" panose="020B0604020202020204"/>
                <a:cs typeface="Arial" panose="020B0604020202020204"/>
                <a:sym typeface="Arial" panose="020B0604020202020204"/>
              </a:rPr>
              <a:t>49</a:t>
            </a:r>
            <a:endParaRPr lang="en-US" sz="2400" b="1" i="0" u="none">
              <a:solidFill>
                <a:schemeClr val="dk2"/>
              </a:solidFill>
              <a:latin typeface="Arial" panose="020B0604020202020204"/>
              <a:ea typeface="Arial" panose="020B0604020202020204"/>
              <a:cs typeface="Arial" panose="020B0604020202020204"/>
              <a:sym typeface="Arial" panose="020B0604020202020204"/>
            </a:endParaRPr>
          </a:p>
        </p:txBody>
      </p:sp>
      <p:sp>
        <p:nvSpPr>
          <p:cNvPr id="1588" name="Shape 1588"/>
          <p:cNvSpPr/>
          <p:nvPr/>
        </p:nvSpPr>
        <p:spPr>
          <a:xfrm>
            <a:off x="6376987" y="4700587"/>
            <a:ext cx="533400" cy="381000"/>
          </a:xfrm>
          <a:prstGeom prst="can">
            <a:avLst>
              <a:gd name="adj" fmla="val 25000"/>
            </a:avLst>
          </a:prstGeom>
          <a:gradFill>
            <a:gsLst>
              <a:gs pos="0">
                <a:srgbClr val="8FA6B3"/>
              </a:gs>
              <a:gs pos="100000">
                <a:srgbClr val="CCECFF"/>
              </a:gs>
            </a:gsLst>
            <a:lin ang="135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08</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589" name="Shape 1589"/>
          <p:cNvGrpSpPr/>
          <p:nvPr/>
        </p:nvGrpSpPr>
        <p:grpSpPr>
          <a:xfrm>
            <a:off x="1244600" y="5113337"/>
            <a:ext cx="1035050" cy="909637"/>
            <a:chOff x="1196975" y="5272087"/>
            <a:chExt cx="1035050" cy="909637"/>
          </a:xfrm>
        </p:grpSpPr>
        <p:cxnSp>
          <p:nvCxnSpPr>
            <p:cNvPr id="1590" name="Shape 1590"/>
            <p:cNvCxnSpPr/>
            <p:nvPr/>
          </p:nvCxnSpPr>
          <p:spPr>
            <a:xfrm rot="10800000">
              <a:off x="1692275" y="5272087"/>
              <a:ext cx="0" cy="404812"/>
            </a:xfrm>
            <a:prstGeom prst="straightConnector1">
              <a:avLst/>
            </a:prstGeom>
            <a:noFill/>
            <a:ln w="38100" cap="flat" cmpd="sng">
              <a:solidFill>
                <a:srgbClr val="008080"/>
              </a:solidFill>
              <a:prstDash val="solid"/>
              <a:miter lim="800000"/>
              <a:headEnd type="none" w="med" len="med"/>
              <a:tailEnd type="stealth" w="lg" len="lg"/>
            </a:ln>
          </p:spPr>
        </p:cxnSp>
        <p:sp>
          <p:nvSpPr>
            <p:cNvPr id="1591" name="Shape 1591"/>
            <p:cNvSpPr txBox="1"/>
            <p:nvPr/>
          </p:nvSpPr>
          <p:spPr>
            <a:xfrm>
              <a:off x="1196975" y="5662612"/>
              <a:ext cx="10350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cxnSp>
        <p:nvCxnSpPr>
          <p:cNvPr id="1592" name="Shape 1592"/>
          <p:cNvCxnSpPr/>
          <p:nvPr/>
        </p:nvCxnSpPr>
        <p:spPr>
          <a:xfrm rot="10800000">
            <a:off x="2774950" y="5113337"/>
            <a:ext cx="0" cy="404812"/>
          </a:xfrm>
          <a:prstGeom prst="straightConnector1">
            <a:avLst/>
          </a:prstGeom>
          <a:noFill/>
          <a:ln w="38100" cap="flat" cmpd="sng">
            <a:solidFill>
              <a:schemeClr val="accent2"/>
            </a:solidFill>
            <a:prstDash val="solid"/>
            <a:miter lim="800000"/>
            <a:headEnd type="none" w="med" len="med"/>
            <a:tailEnd type="stealth" w="lg" len="lg"/>
          </a:ln>
        </p:spPr>
      </p:cxnSp>
      <p:cxnSp>
        <p:nvCxnSpPr>
          <p:cNvPr id="1593" name="Shape 1593"/>
          <p:cNvCxnSpPr/>
          <p:nvPr/>
        </p:nvCxnSpPr>
        <p:spPr>
          <a:xfrm rot="10800000">
            <a:off x="3719512" y="5114925"/>
            <a:ext cx="0" cy="404812"/>
          </a:xfrm>
          <a:prstGeom prst="straightConnector1">
            <a:avLst/>
          </a:prstGeom>
          <a:noFill/>
          <a:ln w="38100" cap="flat" cmpd="sng">
            <a:solidFill>
              <a:schemeClr val="accent2"/>
            </a:solidFill>
            <a:prstDash val="solid"/>
            <a:miter lim="800000"/>
            <a:headEnd type="none" w="med" len="med"/>
            <a:tailEnd type="stealth" w="lg" len="lg"/>
          </a:ln>
        </p:spPr>
      </p:cxnSp>
      <p:cxnSp>
        <p:nvCxnSpPr>
          <p:cNvPr id="1594" name="Shape 1594"/>
          <p:cNvCxnSpPr/>
          <p:nvPr/>
        </p:nvCxnSpPr>
        <p:spPr>
          <a:xfrm rot="10800000">
            <a:off x="4754562" y="5114925"/>
            <a:ext cx="0" cy="404812"/>
          </a:xfrm>
          <a:prstGeom prst="straightConnector1">
            <a:avLst/>
          </a:prstGeom>
          <a:noFill/>
          <a:ln w="38100" cap="flat" cmpd="sng">
            <a:solidFill>
              <a:schemeClr val="accent2"/>
            </a:solidFill>
            <a:prstDash val="solid"/>
            <a:miter lim="800000"/>
            <a:headEnd type="none" w="med" len="med"/>
            <a:tailEnd type="stealth" w="lg" len="lg"/>
          </a:ln>
        </p:spPr>
      </p:cxnSp>
      <p:cxnSp>
        <p:nvCxnSpPr>
          <p:cNvPr id="1595" name="Shape 1595"/>
          <p:cNvCxnSpPr/>
          <p:nvPr/>
        </p:nvCxnSpPr>
        <p:spPr>
          <a:xfrm rot="10800000">
            <a:off x="5745162" y="5114925"/>
            <a:ext cx="0" cy="404812"/>
          </a:xfrm>
          <a:prstGeom prst="straightConnector1">
            <a:avLst/>
          </a:prstGeom>
          <a:noFill/>
          <a:ln w="38100" cap="flat" cmpd="sng">
            <a:solidFill>
              <a:schemeClr val="accent2"/>
            </a:solidFill>
            <a:prstDash val="solid"/>
            <a:miter lim="800000"/>
            <a:headEnd type="none" w="med" len="med"/>
            <a:tailEnd type="stealth" w="lg" len="lg"/>
          </a:ln>
        </p:spPr>
      </p:cxnSp>
      <p:sp>
        <p:nvSpPr>
          <p:cNvPr id="1596" name="Shape 1596"/>
          <p:cNvSpPr txBox="1"/>
          <p:nvPr/>
        </p:nvSpPr>
        <p:spPr>
          <a:xfrm>
            <a:off x="5249862" y="5503862"/>
            <a:ext cx="10350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597" name="Shape 1597"/>
          <p:cNvCxnSpPr/>
          <p:nvPr/>
        </p:nvCxnSpPr>
        <p:spPr>
          <a:xfrm rot="10800000">
            <a:off x="6645275" y="5113337"/>
            <a:ext cx="0" cy="404812"/>
          </a:xfrm>
          <a:prstGeom prst="straightConnector1">
            <a:avLst/>
          </a:prstGeom>
          <a:noFill/>
          <a:ln w="38100" cap="flat" cmpd="sng">
            <a:solidFill>
              <a:schemeClr val="accent2"/>
            </a:solidFill>
            <a:prstDash val="solid"/>
            <a:miter lim="800000"/>
            <a:headEnd type="none" w="med" len="med"/>
            <a:tailEnd type="stealth" w="lg" len="lg"/>
          </a:ln>
        </p:spPr>
      </p:cxnSp>
      <p:sp>
        <p:nvSpPr>
          <p:cNvPr id="1598" name="Shape 1598"/>
          <p:cNvSpPr txBox="1"/>
          <p:nvPr/>
        </p:nvSpPr>
        <p:spPr>
          <a:xfrm>
            <a:off x="6226175" y="5503862"/>
            <a:ext cx="10493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9" name="Shape 1599"/>
          <p:cNvSpPr/>
          <p:nvPr/>
        </p:nvSpPr>
        <p:spPr>
          <a:xfrm>
            <a:off x="6375400" y="4710112"/>
            <a:ext cx="533400" cy="381000"/>
          </a:xfrm>
          <a:prstGeom prst="can">
            <a:avLst>
              <a:gd name="adj" fmla="val 25000"/>
            </a:avLst>
          </a:prstGeom>
          <a:gradFill>
            <a:gsLst>
              <a:gs pos="0">
                <a:srgbClr val="008F6B"/>
              </a:gs>
              <a:gs pos="50000">
                <a:schemeClr val="accent1"/>
              </a:gs>
              <a:gs pos="100000">
                <a:srgbClr val="008F6B"/>
              </a:gs>
            </a:gsLst>
            <a:lin ang="108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08</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00" name="Shape 1600"/>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2"/>
                                        </p:tgtEl>
                                        <p:attrNameLst>
                                          <p:attrName>style.visibility</p:attrName>
                                        </p:attrNameLst>
                                      </p:cBhvr>
                                      <p:to>
                                        <p:strVal val="visible"/>
                                      </p:to>
                                    </p:set>
                                    <p:animEffect transition="in" filter="fade">
                                      <p:cBhvr>
                                        <p:cTn id="7" dur="500"/>
                                        <p:tgtEl>
                                          <p:spTgt spid="159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3"/>
                                        </p:tgtEl>
                                        <p:attrNameLst>
                                          <p:attrName>style.visibility</p:attrName>
                                        </p:attrNameLst>
                                      </p:cBhvr>
                                      <p:to>
                                        <p:strVal val="visible"/>
                                      </p:to>
                                    </p:set>
                                    <p:animEffect transition="in" filter="fade">
                                      <p:cBhvr>
                                        <p:cTn id="12" dur="500"/>
                                        <p:tgtEl>
                                          <p:spTgt spid="15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94"/>
                                        </p:tgtEl>
                                        <p:attrNameLst>
                                          <p:attrName>style.visibility</p:attrName>
                                        </p:attrNameLst>
                                      </p:cBhvr>
                                      <p:to>
                                        <p:strVal val="visible"/>
                                      </p:to>
                                    </p:set>
                                    <p:animEffect transition="in" filter="fade">
                                      <p:cBhvr>
                                        <p:cTn id="17" dur="500"/>
                                        <p:tgtEl>
                                          <p:spTgt spid="159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95"/>
                                        </p:tgtEl>
                                        <p:attrNameLst>
                                          <p:attrName>style.visibility</p:attrName>
                                        </p:attrNameLst>
                                      </p:cBhvr>
                                      <p:to>
                                        <p:strVal val="visible"/>
                                      </p:to>
                                    </p:set>
                                    <p:animEffect transition="in" filter="fade">
                                      <p:cBhvr>
                                        <p:cTn id="22" dur="500"/>
                                        <p:tgtEl>
                                          <p:spTgt spid="159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97"/>
                                        </p:tgtEl>
                                        <p:attrNameLst>
                                          <p:attrName>style.visibility</p:attrName>
                                        </p:attrNameLst>
                                      </p:cBhvr>
                                      <p:to>
                                        <p:strVal val="visible"/>
                                      </p:to>
                                    </p:set>
                                    <p:animEffect transition="in" filter="fade">
                                      <p:cBhvr>
                                        <p:cTn id="31" dur="500"/>
                                        <p:tgtEl>
                                          <p:spTgt spid="1597"/>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59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599"/>
                                        </p:tgtEl>
                                        <p:attrNameLst>
                                          <p:attrName>style.visibility</p:attrName>
                                        </p:attrNameLst>
                                      </p:cBhvr>
                                      <p:to>
                                        <p:strVal val="visible"/>
                                      </p:to>
                                    </p:set>
                                    <p:animEffect transition="in" filter="fade">
                                      <p:cBhvr>
                                        <p:cTn id="40" dur="500"/>
                                        <p:tgtEl>
                                          <p:spTgt spid="15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04" name="Shape 1604"/>
        <p:cNvGrpSpPr/>
        <p:nvPr/>
      </p:nvGrpSpPr>
      <p:grpSpPr>
        <a:xfrm>
          <a:off x="0" y="0"/>
          <a:ext cx="0" cy="0"/>
          <a:chOff x="0" y="0"/>
          <a:chExt cx="0" cy="0"/>
        </a:xfrm>
      </p:grpSpPr>
      <p:sp>
        <p:nvSpPr>
          <p:cNvPr id="1605" name="Shape 1605"/>
          <p:cNvSpPr txBox="1"/>
          <p:nvPr/>
        </p:nvSpPr>
        <p:spPr>
          <a:xfrm>
            <a:off x="312737" y="3473450"/>
            <a:ext cx="7772400" cy="214312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index=i;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j=i+1; j&lt;=n; j++</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1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r[j]&lt;r[index]</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index=j;</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6" name="Shape 1606"/>
          <p:cNvSpPr txBox="1"/>
          <p:nvPr/>
        </p:nvSpPr>
        <p:spPr>
          <a:xfrm>
            <a:off x="341312" y="1854200"/>
            <a:ext cx="8640762" cy="1587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设置一个整型变量index，用于记录在一趟比较的过程中关键码</a:t>
            </a:r>
            <a:r>
              <a:rPr lang="en-US" sz="2800" b="1" i="0" u="none">
                <a:solidFill>
                  <a:schemeClr val="dk1"/>
                </a:solidFill>
                <a:latin typeface="Arial" panose="020B0604020202020204"/>
                <a:ea typeface="Arial" panose="020B0604020202020204"/>
                <a:cs typeface="Arial" panose="020B0604020202020204"/>
                <a:sym typeface="Arial" panose="020B0604020202020204"/>
              </a:rPr>
              <a:t>最小的记录位置。</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7" name="Shape 1607"/>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关键问题⑴：如何在无序区中选出关键码最小的记录？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608" name="Shape 1608"/>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12" name="Shape 1612"/>
        <p:cNvGrpSpPr/>
        <p:nvPr/>
      </p:nvGrpSpPr>
      <p:grpSpPr>
        <a:xfrm>
          <a:off x="0" y="0"/>
          <a:ext cx="0" cy="0"/>
          <a:chOff x="0" y="0"/>
          <a:chExt cx="0" cy="0"/>
        </a:xfrm>
      </p:grpSpPr>
      <p:sp>
        <p:nvSpPr>
          <p:cNvPr id="1613" name="Shape 1613"/>
          <p:cNvSpPr txBox="1"/>
          <p:nvPr/>
        </p:nvSpPr>
        <p:spPr>
          <a:xfrm>
            <a:off x="206375" y="1763712"/>
            <a:ext cx="8505825"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趟简单选择排序的待排序区间是r[i] ~ r[n]，则r[i]是无序</a:t>
            </a:r>
            <a:r>
              <a:rPr lang="en-US" sz="2800" b="1" i="0" u="none">
                <a:solidFill>
                  <a:schemeClr val="dk1"/>
                </a:solidFill>
                <a:latin typeface="Arial" panose="020B0604020202020204"/>
                <a:ea typeface="Arial" panose="020B0604020202020204"/>
                <a:cs typeface="Arial" panose="020B0604020202020204"/>
                <a:sym typeface="Arial" panose="020B0604020202020204"/>
              </a:rPr>
              <a:t>区第一个记录，所以，将</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a:t>
            </a:r>
            <a:r>
              <a:rPr lang="en-US" sz="2800" b="1" i="0" u="none">
                <a:solidFill>
                  <a:schemeClr val="dk1"/>
                </a:solidFill>
                <a:latin typeface="Arial" panose="020B0604020202020204"/>
                <a:ea typeface="Arial" panose="020B0604020202020204"/>
                <a:cs typeface="Arial" panose="020B0604020202020204"/>
                <a:sym typeface="Arial" panose="020B0604020202020204"/>
              </a:rPr>
              <a:t>所记载的关键码最小的记录与</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r[i]</a:t>
            </a:r>
            <a:r>
              <a:rPr lang="en-US" sz="2800" b="1" i="0" u="none">
                <a:solidFill>
                  <a:schemeClr val="dk1"/>
                </a:solidFill>
                <a:latin typeface="Arial" panose="020B0604020202020204"/>
                <a:ea typeface="Arial" panose="020B0604020202020204"/>
                <a:cs typeface="Arial" panose="020B0604020202020204"/>
                <a:sym typeface="Arial" panose="020B0604020202020204"/>
              </a:rPr>
              <a:t>交换</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14" name="Shape 1614"/>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关键问题⑵：如何确定最小记录的最终位置？</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615" name="Shape 1615"/>
          <p:cNvSpPr txBox="1"/>
          <p:nvPr/>
        </p:nvSpPr>
        <p:spPr>
          <a:xfrm>
            <a:off x="206375" y="3878262"/>
            <a:ext cx="6400800" cy="1544637"/>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index!=i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r[i]←→r[index];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16" name="Shape 1616"/>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20" name="Shape 1620"/>
        <p:cNvGrpSpPr/>
        <p:nvPr/>
      </p:nvGrpSpPr>
      <p:grpSpPr>
        <a:xfrm>
          <a:off x="0" y="0"/>
          <a:ext cx="0" cy="0"/>
          <a:chOff x="0" y="0"/>
          <a:chExt cx="0" cy="0"/>
        </a:xfrm>
      </p:grpSpPr>
      <p:sp>
        <p:nvSpPr>
          <p:cNvPr id="1621" name="Shape 1621"/>
          <p:cNvSpPr txBox="1"/>
          <p:nvPr/>
        </p:nvSpPr>
        <p:spPr>
          <a:xfrm>
            <a:off x="701675" y="1763712"/>
            <a:ext cx="7848600" cy="3933825"/>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selectSort ( int  r[ ], int n)</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 i=1; i&lt;n; i++)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index=i;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(j=i+1; j&lt;=n; j++)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(r[j]&lt;r[index])  index=j;</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(index!=i)   r[i] </a:t>
            </a:r>
            <a:r>
              <a:rPr lang="en-US" sz="1800" b="1" i="0" u="none">
                <a:solidFill>
                  <a:schemeClr val="dk1"/>
                </a:solidFill>
                <a:latin typeface="Arial" panose="020B0604020202020204"/>
                <a:ea typeface="Arial" panose="020B0604020202020204"/>
                <a:cs typeface="Arial" panose="020B0604020202020204"/>
                <a:sym typeface="Arial" panose="020B0604020202020204"/>
              </a:rPr>
              <a:t>←→</a:t>
            </a:r>
            <a:r>
              <a:rPr lang="en-US" sz="1800" b="0" i="0" u="none">
                <a:solidFill>
                  <a:schemeClr val="accent2"/>
                </a:solidFill>
                <a:latin typeface="Arial" panose="020B0604020202020204"/>
                <a:ea typeface="Arial" panose="020B0604020202020204"/>
                <a:cs typeface="Arial" panose="020B0604020202020204"/>
                <a:sym typeface="Arial" panose="020B0604020202020204"/>
              </a:rPr>
              <a:t>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r[index];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22" name="Shape 1622"/>
          <p:cNvSpPr txBox="1"/>
          <p:nvPr/>
        </p:nvSpPr>
        <p:spPr>
          <a:xfrm>
            <a:off x="341312" y="1089025"/>
            <a:ext cx="51816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简单选择排序算法</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23" name="Shape 1623"/>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27" name="Shape 1627"/>
        <p:cNvGrpSpPr/>
        <p:nvPr/>
      </p:nvGrpSpPr>
      <p:grpSpPr>
        <a:xfrm>
          <a:off x="0" y="0"/>
          <a:ext cx="0" cy="0"/>
          <a:chOff x="0" y="0"/>
          <a:chExt cx="0" cy="0"/>
        </a:xfrm>
      </p:grpSpPr>
      <p:sp>
        <p:nvSpPr>
          <p:cNvPr id="1628" name="Shape 1628"/>
          <p:cNvSpPr txBox="1"/>
          <p:nvPr/>
        </p:nvSpPr>
        <p:spPr>
          <a:xfrm>
            <a:off x="317500" y="1042987"/>
            <a:ext cx="61722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简单选择排序算法的性能分析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29" name="Shape 1629"/>
          <p:cNvSpPr txBox="1"/>
          <p:nvPr/>
        </p:nvSpPr>
        <p:spPr>
          <a:xfrm>
            <a:off x="347662" y="1808162"/>
            <a:ext cx="4945062" cy="94615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移动次数：</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最好情况（正序）：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0次</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630" name="Shape 1630"/>
          <p:cNvGrpSpPr/>
          <p:nvPr/>
        </p:nvGrpSpPr>
        <p:grpSpPr>
          <a:xfrm>
            <a:off x="5594350" y="2009775"/>
            <a:ext cx="3225800" cy="431800"/>
            <a:chOff x="5594350" y="2009775"/>
            <a:chExt cx="3225800" cy="431800"/>
          </a:xfrm>
        </p:grpSpPr>
        <p:sp>
          <p:nvSpPr>
            <p:cNvPr id="1631" name="Shape 1631"/>
            <p:cNvSpPr/>
            <p:nvPr/>
          </p:nvSpPr>
          <p:spPr>
            <a:xfrm>
              <a:off x="5594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2" name="Shape 1632"/>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3" name="Shape 1633"/>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4" name="Shape 1634"/>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5" name="Shape 1635"/>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636" name="Shape 1636"/>
          <p:cNvGrpSpPr/>
          <p:nvPr/>
        </p:nvGrpSpPr>
        <p:grpSpPr>
          <a:xfrm>
            <a:off x="5594350" y="2552700"/>
            <a:ext cx="3225800" cy="431800"/>
            <a:chOff x="5594350" y="2009775"/>
            <a:chExt cx="3225800" cy="431800"/>
          </a:xfrm>
        </p:grpSpPr>
        <p:sp>
          <p:nvSpPr>
            <p:cNvPr id="1637" name="Shape 1637"/>
            <p:cNvSpPr/>
            <p:nvPr/>
          </p:nvSpPr>
          <p:spPr>
            <a:xfrm>
              <a:off x="5594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8" name="Shape 1638"/>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9" name="Shape 1639"/>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0" name="Shape 1640"/>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1" name="Shape 1641"/>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642" name="Shape 1642"/>
          <p:cNvGrpSpPr/>
          <p:nvPr/>
        </p:nvGrpSpPr>
        <p:grpSpPr>
          <a:xfrm>
            <a:off x="5607050" y="3103562"/>
            <a:ext cx="3225800" cy="431800"/>
            <a:chOff x="5594350" y="2009775"/>
            <a:chExt cx="3225800" cy="431800"/>
          </a:xfrm>
        </p:grpSpPr>
        <p:sp>
          <p:nvSpPr>
            <p:cNvPr id="1643" name="Shape 1643"/>
            <p:cNvSpPr/>
            <p:nvPr/>
          </p:nvSpPr>
          <p:spPr>
            <a:xfrm>
              <a:off x="5594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4" name="Shape 1644"/>
            <p:cNvSpPr/>
            <p:nvPr/>
          </p:nvSpPr>
          <p:spPr>
            <a:xfrm>
              <a:off x="62801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5" name="Shape 1645"/>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6" name="Shape 1646"/>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7" name="Shape 1647"/>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648" name="Shape 1648"/>
          <p:cNvGrpSpPr/>
          <p:nvPr/>
        </p:nvGrpSpPr>
        <p:grpSpPr>
          <a:xfrm>
            <a:off x="5619750" y="3654425"/>
            <a:ext cx="3225800" cy="431800"/>
            <a:chOff x="5594350" y="2009775"/>
            <a:chExt cx="3225800" cy="431800"/>
          </a:xfrm>
        </p:grpSpPr>
        <p:sp>
          <p:nvSpPr>
            <p:cNvPr id="1649" name="Shape 1649"/>
            <p:cNvSpPr/>
            <p:nvPr/>
          </p:nvSpPr>
          <p:spPr>
            <a:xfrm>
              <a:off x="5594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0" name="Shape 1650"/>
            <p:cNvSpPr/>
            <p:nvPr/>
          </p:nvSpPr>
          <p:spPr>
            <a:xfrm>
              <a:off x="62801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1" name="Shape 1651"/>
            <p:cNvSpPr/>
            <p:nvPr/>
          </p:nvSpPr>
          <p:spPr>
            <a:xfrm>
              <a:off x="6991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2" name="Shape 1652"/>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3" name="Shape 1653"/>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1654" name="Shape 1654"/>
          <p:cNvGrpSpPr/>
          <p:nvPr/>
        </p:nvGrpSpPr>
        <p:grpSpPr>
          <a:xfrm>
            <a:off x="5622925" y="4225925"/>
            <a:ext cx="3225800" cy="431800"/>
            <a:chOff x="5594350" y="2009775"/>
            <a:chExt cx="3225800" cy="431800"/>
          </a:xfrm>
        </p:grpSpPr>
        <p:sp>
          <p:nvSpPr>
            <p:cNvPr id="1655" name="Shape 1655"/>
            <p:cNvSpPr/>
            <p:nvPr/>
          </p:nvSpPr>
          <p:spPr>
            <a:xfrm>
              <a:off x="5594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6" name="Shape 1656"/>
            <p:cNvSpPr/>
            <p:nvPr/>
          </p:nvSpPr>
          <p:spPr>
            <a:xfrm>
              <a:off x="62801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7" name="Shape 1657"/>
            <p:cNvSpPr/>
            <p:nvPr/>
          </p:nvSpPr>
          <p:spPr>
            <a:xfrm>
              <a:off x="6991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8" name="Shape 1658"/>
            <p:cNvSpPr/>
            <p:nvPr/>
          </p:nvSpPr>
          <p:spPr>
            <a:xfrm>
              <a:off x="7686675"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9" name="Shape 1659"/>
            <p:cNvSpPr/>
            <p:nvPr/>
          </p:nvSpPr>
          <p:spPr>
            <a:xfrm>
              <a:off x="8388350" y="20097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660" name="Shape 1660"/>
          <p:cNvSpPr/>
          <p:nvPr/>
        </p:nvSpPr>
        <p:spPr>
          <a:xfrm>
            <a:off x="5591175" y="20177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61" name="Shape 1661"/>
          <p:cNvSpPr/>
          <p:nvPr/>
        </p:nvSpPr>
        <p:spPr>
          <a:xfrm>
            <a:off x="6281737" y="25574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62" name="Shape 1662"/>
          <p:cNvSpPr/>
          <p:nvPr/>
        </p:nvSpPr>
        <p:spPr>
          <a:xfrm>
            <a:off x="7002462" y="309880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3</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63" name="Shape 1663"/>
          <p:cNvSpPr/>
          <p:nvPr/>
        </p:nvSpPr>
        <p:spPr>
          <a:xfrm>
            <a:off x="7708900" y="36544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4</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64" name="Shape 1664"/>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0"/>
                                        </p:tgtEl>
                                        <p:attrNameLst>
                                          <p:attrName>style.visibility</p:attrName>
                                        </p:attrNameLst>
                                      </p:cBhvr>
                                      <p:to>
                                        <p:strVal val="visible"/>
                                      </p:to>
                                    </p:set>
                                    <p:animEffect transition="in" filter="fade">
                                      <p:cBhvr>
                                        <p:cTn id="7" dur="500"/>
                                        <p:tgtEl>
                                          <p:spTgt spid="16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61"/>
                                        </p:tgtEl>
                                        <p:attrNameLst>
                                          <p:attrName>style.visibility</p:attrName>
                                        </p:attrNameLst>
                                      </p:cBhvr>
                                      <p:to>
                                        <p:strVal val="visible"/>
                                      </p:to>
                                    </p:set>
                                    <p:animEffect transition="in" filter="fade">
                                      <p:cBhvr>
                                        <p:cTn id="12" dur="500"/>
                                        <p:tgtEl>
                                          <p:spTgt spid="16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62"/>
                                        </p:tgtEl>
                                        <p:attrNameLst>
                                          <p:attrName>style.visibility</p:attrName>
                                        </p:attrNameLst>
                                      </p:cBhvr>
                                      <p:to>
                                        <p:strVal val="visible"/>
                                      </p:to>
                                    </p:set>
                                    <p:animEffect transition="in" filter="fade">
                                      <p:cBhvr>
                                        <p:cTn id="17" dur="500"/>
                                        <p:tgtEl>
                                          <p:spTgt spid="166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63"/>
                                        </p:tgtEl>
                                        <p:attrNameLst>
                                          <p:attrName>style.visibility</p:attrName>
                                        </p:attrNameLst>
                                      </p:cBhvr>
                                      <p:to>
                                        <p:strVal val="visible"/>
                                      </p:to>
                                    </p:set>
                                    <p:animEffect transition="in" filter="fade">
                                      <p:cBhvr>
                                        <p:cTn id="22" dur="500"/>
                                        <p:tgtEl>
                                          <p:spTgt spid="1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668" name="Shape 1668"/>
        <p:cNvGrpSpPr/>
        <p:nvPr/>
      </p:nvGrpSpPr>
      <p:grpSpPr>
        <a:xfrm>
          <a:off x="0" y="0"/>
          <a:ext cx="0" cy="0"/>
          <a:chOff x="0" y="0"/>
          <a:chExt cx="0" cy="0"/>
        </a:xfrm>
      </p:grpSpPr>
      <p:sp>
        <p:nvSpPr>
          <p:cNvPr id="1669" name="Shape 1669"/>
          <p:cNvSpPr txBox="1"/>
          <p:nvPr/>
        </p:nvSpPr>
        <p:spPr>
          <a:xfrm>
            <a:off x="333375" y="2809875"/>
            <a:ext cx="471011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最坏情况：</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-1)次</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0" name="Shape 1670"/>
          <p:cNvSpPr txBox="1"/>
          <p:nvPr/>
        </p:nvSpPr>
        <p:spPr>
          <a:xfrm>
            <a:off x="317500" y="1042987"/>
            <a:ext cx="61722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简单选择排序算法的性能分析</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1" name="Shape 1671"/>
          <p:cNvSpPr txBox="1"/>
          <p:nvPr/>
        </p:nvSpPr>
        <p:spPr>
          <a:xfrm>
            <a:off x="347662" y="1808162"/>
            <a:ext cx="4945062" cy="94615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移动次数：</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56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最好情况（正序）：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0次</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72" name="Shape 1672"/>
          <p:cNvSpPr txBox="1"/>
          <p:nvPr/>
        </p:nvSpPr>
        <p:spPr>
          <a:xfrm>
            <a:off x="357187" y="5589587"/>
            <a:ext cx="8077200" cy="1031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空间性能：</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需一个辅助空间。</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6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稳定性：</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是一种稳定的排序算法。</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673" name="Shape 1673"/>
          <p:cNvGrpSpPr/>
          <p:nvPr/>
        </p:nvGrpSpPr>
        <p:grpSpPr>
          <a:xfrm>
            <a:off x="5594350" y="2009775"/>
            <a:ext cx="3225800" cy="431800"/>
            <a:chOff x="5594350" y="2009775"/>
            <a:chExt cx="3225800" cy="431800"/>
          </a:xfrm>
        </p:grpSpPr>
        <p:sp>
          <p:nvSpPr>
            <p:cNvPr id="1674" name="Shape 1674"/>
            <p:cNvSpPr/>
            <p:nvPr/>
          </p:nvSpPr>
          <p:spPr>
            <a:xfrm>
              <a:off x="5594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5" name="Shape 1675"/>
            <p:cNvSpPr/>
            <p:nvPr/>
          </p:nvSpPr>
          <p:spPr>
            <a:xfrm>
              <a:off x="62801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6" name="Shape 1676"/>
            <p:cNvSpPr/>
            <p:nvPr/>
          </p:nvSpPr>
          <p:spPr>
            <a:xfrm>
              <a:off x="6991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7" name="Shape 1677"/>
            <p:cNvSpPr/>
            <p:nvPr/>
          </p:nvSpPr>
          <p:spPr>
            <a:xfrm>
              <a:off x="7686675"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8" name="Shape 1678"/>
            <p:cNvSpPr/>
            <p:nvPr/>
          </p:nvSpPr>
          <p:spPr>
            <a:xfrm>
              <a:off x="8388350" y="20097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1</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679" name="Shape 1679"/>
          <p:cNvSpPr/>
          <p:nvPr/>
        </p:nvSpPr>
        <p:spPr>
          <a:xfrm>
            <a:off x="8382000" y="200660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680" name="Shape 1680"/>
          <p:cNvGrpSpPr/>
          <p:nvPr/>
        </p:nvGrpSpPr>
        <p:grpSpPr>
          <a:xfrm>
            <a:off x="5622925" y="2565400"/>
            <a:ext cx="3209925" cy="431800"/>
            <a:chOff x="5622925" y="2708275"/>
            <a:chExt cx="3209925" cy="431800"/>
          </a:xfrm>
        </p:grpSpPr>
        <p:sp>
          <p:nvSpPr>
            <p:cNvPr id="1681" name="Shape 1681"/>
            <p:cNvSpPr/>
            <p:nvPr/>
          </p:nvSpPr>
          <p:spPr>
            <a:xfrm>
              <a:off x="6292850" y="27082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2" name="Shape 1682"/>
            <p:cNvSpPr/>
            <p:nvPr/>
          </p:nvSpPr>
          <p:spPr>
            <a:xfrm>
              <a:off x="7004050" y="27082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2</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3" name="Shape 1683"/>
            <p:cNvSpPr/>
            <p:nvPr/>
          </p:nvSpPr>
          <p:spPr>
            <a:xfrm>
              <a:off x="7699375" y="27082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4" name="Shape 1684"/>
            <p:cNvSpPr/>
            <p:nvPr/>
          </p:nvSpPr>
          <p:spPr>
            <a:xfrm>
              <a:off x="8401050" y="2708275"/>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5" name="Shape 1685"/>
            <p:cNvSpPr/>
            <p:nvPr/>
          </p:nvSpPr>
          <p:spPr>
            <a:xfrm>
              <a:off x="5622925" y="27082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686" name="Shape 1686"/>
          <p:cNvSpPr/>
          <p:nvPr/>
        </p:nvSpPr>
        <p:spPr>
          <a:xfrm>
            <a:off x="7002462" y="2565400"/>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687" name="Shape 1687"/>
          <p:cNvGrpSpPr/>
          <p:nvPr/>
        </p:nvGrpSpPr>
        <p:grpSpPr>
          <a:xfrm>
            <a:off x="5641975" y="3122612"/>
            <a:ext cx="3209925" cy="431800"/>
            <a:chOff x="5641975" y="3440112"/>
            <a:chExt cx="3209925" cy="431800"/>
          </a:xfrm>
        </p:grpSpPr>
        <p:sp>
          <p:nvSpPr>
            <p:cNvPr id="1688" name="Shape 1688"/>
            <p:cNvSpPr/>
            <p:nvPr/>
          </p:nvSpPr>
          <p:spPr>
            <a:xfrm>
              <a:off x="7070725" y="3440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9" name="Shape 1689"/>
            <p:cNvSpPr/>
            <p:nvPr/>
          </p:nvSpPr>
          <p:spPr>
            <a:xfrm>
              <a:off x="7718425" y="3440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3</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90" name="Shape 1690"/>
            <p:cNvSpPr/>
            <p:nvPr/>
          </p:nvSpPr>
          <p:spPr>
            <a:xfrm>
              <a:off x="8420100" y="3440112"/>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91" name="Shape 1691"/>
            <p:cNvSpPr/>
            <p:nvPr/>
          </p:nvSpPr>
          <p:spPr>
            <a:xfrm>
              <a:off x="5641975" y="34401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92" name="Shape 1692"/>
            <p:cNvSpPr/>
            <p:nvPr/>
          </p:nvSpPr>
          <p:spPr>
            <a:xfrm>
              <a:off x="6375400" y="344011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693" name="Shape 1693"/>
          <p:cNvSpPr/>
          <p:nvPr/>
        </p:nvSpPr>
        <p:spPr>
          <a:xfrm>
            <a:off x="7721600" y="312737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3</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694" name="Shape 1694"/>
          <p:cNvGrpSpPr/>
          <p:nvPr/>
        </p:nvGrpSpPr>
        <p:grpSpPr>
          <a:xfrm>
            <a:off x="5651500" y="3675062"/>
            <a:ext cx="3209925" cy="431800"/>
            <a:chOff x="5651500" y="4103687"/>
            <a:chExt cx="3209925" cy="431800"/>
          </a:xfrm>
        </p:grpSpPr>
        <p:sp>
          <p:nvSpPr>
            <p:cNvPr id="1695" name="Shape 1695"/>
            <p:cNvSpPr/>
            <p:nvPr/>
          </p:nvSpPr>
          <p:spPr>
            <a:xfrm>
              <a:off x="7727950" y="410368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96" name="Shape 1696"/>
            <p:cNvSpPr/>
            <p:nvPr/>
          </p:nvSpPr>
          <p:spPr>
            <a:xfrm>
              <a:off x="8429625" y="4103687"/>
              <a:ext cx="431800" cy="431800"/>
            </a:xfrm>
            <a:prstGeom prst="ellipse">
              <a:avLst/>
            </a:prstGeom>
            <a:gradFill>
              <a:gsLst>
                <a:gs pos="0">
                  <a:srgbClr val="B30047"/>
                </a:gs>
                <a:gs pos="100000">
                  <a:srgbClr val="FF0066"/>
                </a:gs>
              </a:gsLst>
              <a:lin ang="10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4</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697" name="Shape 1697"/>
            <p:cNvSpPr/>
            <p:nvPr/>
          </p:nvSpPr>
          <p:spPr>
            <a:xfrm>
              <a:off x="5651500" y="4103687"/>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98" name="Shape 1698"/>
            <p:cNvSpPr/>
            <p:nvPr/>
          </p:nvSpPr>
          <p:spPr>
            <a:xfrm>
              <a:off x="6384925" y="4103687"/>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699" name="Shape 1699"/>
            <p:cNvSpPr/>
            <p:nvPr/>
          </p:nvSpPr>
          <p:spPr>
            <a:xfrm>
              <a:off x="7105650" y="4103687"/>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3</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700" name="Shape 1700"/>
          <p:cNvSpPr/>
          <p:nvPr/>
        </p:nvSpPr>
        <p:spPr>
          <a:xfrm>
            <a:off x="8426450" y="3675062"/>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4</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nvGrpSpPr>
          <p:cNvPr id="1701" name="Shape 1701"/>
          <p:cNvGrpSpPr/>
          <p:nvPr/>
        </p:nvGrpSpPr>
        <p:grpSpPr>
          <a:xfrm>
            <a:off x="5659437" y="4210050"/>
            <a:ext cx="3209925" cy="444500"/>
            <a:chOff x="5659437" y="4733925"/>
            <a:chExt cx="3209925" cy="444500"/>
          </a:xfrm>
        </p:grpSpPr>
        <p:sp>
          <p:nvSpPr>
            <p:cNvPr id="1702" name="Shape 1702"/>
            <p:cNvSpPr/>
            <p:nvPr/>
          </p:nvSpPr>
          <p:spPr>
            <a:xfrm>
              <a:off x="8437562" y="4746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400"/>
                <a:buFont typeface="Arial" panose="020B0604020202020204"/>
                <a:buNone/>
              </a:pPr>
              <a:r>
                <a:rPr lang="en-US" sz="2400" b="1" i="0" u="none">
                  <a:solidFill>
                    <a:schemeClr val="lt1"/>
                  </a:solidFill>
                  <a:latin typeface="Arial" panose="020B0604020202020204"/>
                  <a:ea typeface="Arial" panose="020B0604020202020204"/>
                  <a:cs typeface="Arial" panose="020B0604020202020204"/>
                  <a:sym typeface="Arial" panose="020B0604020202020204"/>
                </a:rPr>
                <a:t>5</a:t>
              </a:r>
              <a:endParaRPr lang="en-US" sz="2400" b="1" i="0" u="none">
                <a:solidFill>
                  <a:schemeClr val="lt1"/>
                </a:solidFill>
                <a:latin typeface="Arial" panose="020B0604020202020204"/>
                <a:ea typeface="Arial" panose="020B0604020202020204"/>
                <a:cs typeface="Arial" panose="020B0604020202020204"/>
                <a:sym typeface="Arial" panose="020B0604020202020204"/>
              </a:endParaRPr>
            </a:p>
          </p:txBody>
        </p:sp>
        <p:sp>
          <p:nvSpPr>
            <p:cNvPr id="1703" name="Shape 1703"/>
            <p:cNvSpPr/>
            <p:nvPr/>
          </p:nvSpPr>
          <p:spPr>
            <a:xfrm>
              <a:off x="5659437" y="4746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1</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704" name="Shape 1704"/>
            <p:cNvSpPr/>
            <p:nvPr/>
          </p:nvSpPr>
          <p:spPr>
            <a:xfrm>
              <a:off x="6392862" y="4746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2</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705" name="Shape 1705"/>
            <p:cNvSpPr/>
            <p:nvPr/>
          </p:nvSpPr>
          <p:spPr>
            <a:xfrm>
              <a:off x="7113587" y="47466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3</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sp>
          <p:nvSpPr>
            <p:cNvPr id="1706" name="Shape 1706"/>
            <p:cNvSpPr/>
            <p:nvPr/>
          </p:nvSpPr>
          <p:spPr>
            <a:xfrm>
              <a:off x="7799387" y="4733925"/>
              <a:ext cx="431800" cy="431800"/>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9"/>
                </a:buClr>
                <a:buSzPts val="2400"/>
                <a:buFont typeface="Arial" panose="020B0604020202020204"/>
                <a:buNone/>
              </a:pPr>
              <a:r>
                <a:rPr lang="en-US" sz="2400" b="1" i="0" u="none">
                  <a:solidFill>
                    <a:srgbClr val="FFFF99"/>
                  </a:solidFill>
                  <a:latin typeface="Arial" panose="020B0604020202020204"/>
                  <a:ea typeface="Arial" panose="020B0604020202020204"/>
                  <a:cs typeface="Arial" panose="020B0604020202020204"/>
                  <a:sym typeface="Arial" panose="020B0604020202020204"/>
                </a:rPr>
                <a:t>4</a:t>
              </a:r>
              <a:endParaRPr lang="en-US" sz="2400" b="1" i="0" u="none">
                <a:solidFill>
                  <a:srgbClr val="FFFF99"/>
                </a:solidFill>
                <a:latin typeface="Arial" panose="020B0604020202020204"/>
                <a:ea typeface="Arial" panose="020B0604020202020204"/>
                <a:cs typeface="Arial" panose="020B0604020202020204"/>
                <a:sym typeface="Arial" panose="020B0604020202020204"/>
              </a:endParaRPr>
            </a:p>
          </p:txBody>
        </p:sp>
      </p:grpSp>
      <p:sp>
        <p:nvSpPr>
          <p:cNvPr id="1707" name="Shape 1707"/>
          <p:cNvSpPr txBox="1"/>
          <p:nvPr/>
        </p:nvSpPr>
        <p:spPr>
          <a:xfrm>
            <a:off x="349250" y="3260725"/>
            <a:ext cx="20874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比较次数：</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708" name="Shape 1708"/>
          <p:cNvSpPr/>
          <p:nvPr/>
        </p:nvSpPr>
        <p:spPr>
          <a:xfrm>
            <a:off x="0" y="3252787"/>
            <a:ext cx="9144000" cy="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09" name="Shape 1709"/>
          <p:cNvGrpSpPr/>
          <p:nvPr/>
        </p:nvGrpSpPr>
        <p:grpSpPr>
          <a:xfrm>
            <a:off x="846137" y="3951287"/>
            <a:ext cx="3803650" cy="957263"/>
            <a:chOff x="846137" y="4176712"/>
            <a:chExt cx="3803650" cy="957263"/>
          </a:xfrm>
        </p:grpSpPr>
        <p:cxnSp>
          <p:nvCxnSpPr>
            <p:cNvPr id="1710" name="Shape 1710"/>
            <p:cNvCxnSpPr/>
            <p:nvPr/>
          </p:nvCxnSpPr>
          <p:spPr>
            <a:xfrm>
              <a:off x="2349500" y="4654550"/>
              <a:ext cx="215900" cy="1587"/>
            </a:xfrm>
            <a:prstGeom prst="straightConnector1">
              <a:avLst/>
            </a:prstGeom>
            <a:solidFill>
              <a:srgbClr val="FFFFFF"/>
            </a:solidFill>
            <a:ln w="12700" cap="flat" cmpd="sng">
              <a:solidFill>
                <a:srgbClr val="000000"/>
              </a:solidFill>
              <a:prstDash val="solid"/>
              <a:miter lim="800000"/>
              <a:headEnd type="none" w="med" len="med"/>
              <a:tailEnd type="none" w="med" len="med"/>
            </a:ln>
          </p:spPr>
        </p:cxnSp>
        <p:sp>
          <p:nvSpPr>
            <p:cNvPr id="1711" name="Shape 1711"/>
            <p:cNvSpPr txBox="1"/>
            <p:nvPr/>
          </p:nvSpPr>
          <p:spPr>
            <a:xfrm>
              <a:off x="4530725" y="4425950"/>
              <a:ext cx="1190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2" name="Shape 1712"/>
            <p:cNvSpPr txBox="1"/>
            <p:nvPr/>
          </p:nvSpPr>
          <p:spPr>
            <a:xfrm>
              <a:off x="4119562" y="4425950"/>
              <a:ext cx="1190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3" name="Shape 1713"/>
            <p:cNvSpPr txBox="1"/>
            <p:nvPr/>
          </p:nvSpPr>
          <p:spPr>
            <a:xfrm>
              <a:off x="3471862" y="4425950"/>
              <a:ext cx="1190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4" name="Shape 1714"/>
            <p:cNvSpPr txBox="1"/>
            <p:nvPr/>
          </p:nvSpPr>
          <p:spPr>
            <a:xfrm>
              <a:off x="3341687" y="4425950"/>
              <a:ext cx="1778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5" name="Shape 1715"/>
            <p:cNvSpPr txBox="1"/>
            <p:nvPr/>
          </p:nvSpPr>
          <p:spPr>
            <a:xfrm>
              <a:off x="2763837" y="4425950"/>
              <a:ext cx="1190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6" name="Shape 1716"/>
            <p:cNvSpPr txBox="1"/>
            <p:nvPr/>
          </p:nvSpPr>
          <p:spPr>
            <a:xfrm>
              <a:off x="2379662" y="4660900"/>
              <a:ext cx="1778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7" name="Shape 1717"/>
            <p:cNvSpPr txBox="1"/>
            <p:nvPr/>
          </p:nvSpPr>
          <p:spPr>
            <a:xfrm>
              <a:off x="2373312" y="4230687"/>
              <a:ext cx="177800"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8" name="Shape 1718"/>
            <p:cNvSpPr txBox="1"/>
            <p:nvPr/>
          </p:nvSpPr>
          <p:spPr>
            <a:xfrm>
              <a:off x="4379912" y="4371975"/>
              <a:ext cx="120650"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Times New Roman" panose="02020603050405020304"/>
                <a:buNone/>
              </a:pPr>
              <a:r>
                <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9" name="Shape 1719"/>
            <p:cNvSpPr txBox="1"/>
            <p:nvPr/>
          </p:nvSpPr>
          <p:spPr>
            <a:xfrm>
              <a:off x="1131887" y="4203700"/>
              <a:ext cx="120650"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Times New Roman" panose="02020603050405020304"/>
                <a:buNone/>
              </a:pPr>
              <a:r>
                <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0" name="Shape 1720"/>
            <p:cNvSpPr txBox="1"/>
            <p:nvPr/>
          </p:nvSpPr>
          <p:spPr>
            <a:xfrm>
              <a:off x="1076325" y="4845050"/>
              <a:ext cx="120650"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Times New Roman" panose="02020603050405020304"/>
                <a:buNone/>
              </a:pPr>
              <a:r>
                <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r>
              <a:endParaRPr lang="en-US" sz="19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1" name="Shape 1721"/>
            <p:cNvSpPr txBox="1"/>
            <p:nvPr/>
          </p:nvSpPr>
          <p:spPr>
            <a:xfrm>
              <a:off x="4227512" y="4425950"/>
              <a:ext cx="19843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2" name="Shape 1722"/>
            <p:cNvSpPr txBox="1"/>
            <p:nvPr/>
          </p:nvSpPr>
          <p:spPr>
            <a:xfrm>
              <a:off x="3870325" y="4425950"/>
              <a:ext cx="257175"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O</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3" name="Shape 1723"/>
            <p:cNvSpPr txBox="1"/>
            <p:nvPr/>
          </p:nvSpPr>
          <p:spPr>
            <a:xfrm>
              <a:off x="2887662" y="4425950"/>
              <a:ext cx="19843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4" name="Shape 1724"/>
            <p:cNvSpPr txBox="1"/>
            <p:nvPr/>
          </p:nvSpPr>
          <p:spPr>
            <a:xfrm>
              <a:off x="2581275" y="4425950"/>
              <a:ext cx="19843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5" name="Shape 1725"/>
            <p:cNvSpPr txBox="1"/>
            <p:nvPr/>
          </p:nvSpPr>
          <p:spPr>
            <a:xfrm>
              <a:off x="1760537" y="4425950"/>
              <a:ext cx="98425"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6" name="Shape 1726"/>
            <p:cNvSpPr txBox="1"/>
            <p:nvPr/>
          </p:nvSpPr>
          <p:spPr>
            <a:xfrm>
              <a:off x="1323975" y="4425950"/>
              <a:ext cx="19843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8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7" name="Shape 1727"/>
            <p:cNvSpPr txBox="1"/>
            <p:nvPr/>
          </p:nvSpPr>
          <p:spPr>
            <a:xfrm>
              <a:off x="846137" y="4203700"/>
              <a:ext cx="134937"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Times New Roman" panose="02020603050405020304"/>
                <a:buNone/>
              </a:pPr>
              <a:r>
                <a:rPr lang="en-US" sz="1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1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8" name="Shape 1728"/>
            <p:cNvSpPr txBox="1"/>
            <p:nvPr/>
          </p:nvSpPr>
          <p:spPr>
            <a:xfrm>
              <a:off x="857250" y="4845050"/>
              <a:ext cx="66675"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Times New Roman" panose="02020603050405020304"/>
                <a:buNone/>
              </a:pPr>
              <a:r>
                <a:rPr lang="en-US" sz="1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i</a:t>
              </a:r>
              <a:endParaRPr lang="en-US" sz="19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9" name="Shape 1729"/>
            <p:cNvSpPr txBox="1"/>
            <p:nvPr/>
          </p:nvSpPr>
          <p:spPr>
            <a:xfrm>
              <a:off x="3665537" y="4384675"/>
              <a:ext cx="1952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730" name="Shape 1730"/>
            <p:cNvSpPr txBox="1"/>
            <p:nvPr/>
          </p:nvSpPr>
          <p:spPr>
            <a:xfrm>
              <a:off x="3133725" y="4384675"/>
              <a:ext cx="1952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731" name="Shape 1731"/>
            <p:cNvSpPr txBox="1"/>
            <p:nvPr/>
          </p:nvSpPr>
          <p:spPr>
            <a:xfrm>
              <a:off x="2076450" y="4384675"/>
              <a:ext cx="1952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732" name="Shape 1732"/>
            <p:cNvSpPr txBox="1"/>
            <p:nvPr/>
          </p:nvSpPr>
          <p:spPr>
            <a:xfrm>
              <a:off x="1570037" y="4384675"/>
              <a:ext cx="195262"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a:solidFill>
                    <a:srgbClr val="000000"/>
                  </a:solidFill>
                  <a:latin typeface="Noto Sans Symbols"/>
                  <a:ea typeface="Noto Sans Symbols"/>
                  <a:cs typeface="Noto Sans Symbols"/>
                  <a:sym typeface="Noto Sans Symbols"/>
                </a:rPr>
                <a:t>−</a:t>
              </a:r>
              <a:endParaRPr lang="en-US" sz="2800" b="1" i="0" u="none">
                <a:solidFill>
                  <a:srgbClr val="000000"/>
                </a:solidFill>
                <a:latin typeface="Noto Sans Symbols"/>
                <a:ea typeface="Noto Sans Symbols"/>
                <a:cs typeface="Noto Sans Symbols"/>
                <a:sym typeface="Noto Sans Symbols"/>
              </a:endParaRPr>
            </a:p>
          </p:txBody>
        </p:sp>
        <p:sp>
          <p:nvSpPr>
            <p:cNvPr id="1733" name="Shape 1733"/>
            <p:cNvSpPr txBox="1"/>
            <p:nvPr/>
          </p:nvSpPr>
          <p:spPr>
            <a:xfrm>
              <a:off x="919162" y="4384675"/>
              <a:ext cx="280987" cy="4730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3100"/>
                <a:buFont typeface="Noto Sans Symbols"/>
                <a:buNone/>
              </a:pPr>
              <a:r>
                <a:rPr lang="en-US" sz="3100" b="1" i="0" u="none">
                  <a:solidFill>
                    <a:srgbClr val="000000"/>
                  </a:solidFill>
                  <a:latin typeface="Noto Sans Symbols"/>
                  <a:ea typeface="Noto Sans Symbols"/>
                  <a:cs typeface="Noto Sans Symbols"/>
                  <a:sym typeface="Noto Sans Symbols"/>
                </a:rPr>
                <a:t>∑</a:t>
              </a:r>
              <a:endParaRPr lang="en-US" sz="3100" b="1" i="0" u="none">
                <a:solidFill>
                  <a:srgbClr val="000000"/>
                </a:solidFill>
                <a:latin typeface="Noto Sans Symbols"/>
                <a:ea typeface="Noto Sans Symbols"/>
                <a:cs typeface="Noto Sans Symbols"/>
                <a:sym typeface="Noto Sans Symbols"/>
              </a:endParaRPr>
            </a:p>
          </p:txBody>
        </p:sp>
        <p:sp>
          <p:nvSpPr>
            <p:cNvPr id="1734" name="Shape 1734"/>
            <p:cNvSpPr txBox="1"/>
            <p:nvPr/>
          </p:nvSpPr>
          <p:spPr>
            <a:xfrm>
              <a:off x="985837" y="4176712"/>
              <a:ext cx="131762"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Noto Sans Symbols"/>
                <a:buNone/>
              </a:pPr>
              <a:r>
                <a:rPr lang="en-US" sz="1900" b="1" i="0" u="none">
                  <a:solidFill>
                    <a:srgbClr val="000000"/>
                  </a:solidFill>
                  <a:latin typeface="Noto Sans Symbols"/>
                  <a:ea typeface="Noto Sans Symbols"/>
                  <a:cs typeface="Noto Sans Symbols"/>
                  <a:sym typeface="Noto Sans Symbols"/>
                </a:rPr>
                <a:t>−</a:t>
              </a:r>
              <a:endParaRPr lang="en-US" sz="1900" b="1" i="0" u="none">
                <a:solidFill>
                  <a:srgbClr val="000000"/>
                </a:solidFill>
                <a:latin typeface="Noto Sans Symbols"/>
                <a:ea typeface="Noto Sans Symbols"/>
                <a:cs typeface="Noto Sans Symbols"/>
                <a:sym typeface="Noto Sans Symbols"/>
              </a:endParaRPr>
            </a:p>
          </p:txBody>
        </p:sp>
        <p:sp>
          <p:nvSpPr>
            <p:cNvPr id="1735" name="Shape 1735"/>
            <p:cNvSpPr txBox="1"/>
            <p:nvPr/>
          </p:nvSpPr>
          <p:spPr>
            <a:xfrm>
              <a:off x="946150" y="4818062"/>
              <a:ext cx="131762" cy="288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900"/>
                <a:buFont typeface="Noto Sans Symbols"/>
                <a:buNone/>
              </a:pPr>
              <a:r>
                <a:rPr lang="en-US" sz="1900" b="1" i="0" u="none">
                  <a:solidFill>
                    <a:srgbClr val="000000"/>
                  </a:solidFill>
                  <a:latin typeface="Noto Sans Symbols"/>
                  <a:ea typeface="Noto Sans Symbols"/>
                  <a:cs typeface="Noto Sans Symbols"/>
                  <a:sym typeface="Noto Sans Symbols"/>
                </a:rPr>
                <a:t>=</a:t>
              </a:r>
              <a:endParaRPr lang="en-US" sz="1900" b="1" i="0" u="none">
                <a:solidFill>
                  <a:srgbClr val="000000"/>
                </a:solidFill>
                <a:latin typeface="Noto Sans Symbols"/>
                <a:ea typeface="Noto Sans Symbols"/>
                <a:cs typeface="Noto Sans Symbols"/>
                <a:sym typeface="Noto Sans Symbols"/>
              </a:endParaRPr>
            </a:p>
          </p:txBody>
        </p:sp>
        <p:sp>
          <p:nvSpPr>
            <p:cNvPr id="1736" name="Shape 1736"/>
            <p:cNvSpPr txBox="1"/>
            <p:nvPr/>
          </p:nvSpPr>
          <p:spPr>
            <a:xfrm>
              <a:off x="1839912" y="4437062"/>
              <a:ext cx="35718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a:solidFill>
                    <a:srgbClr val="000000"/>
                  </a:solidFill>
                  <a:latin typeface="Arial" panose="020B0604020202020204"/>
                  <a:ea typeface="Arial" panose="020B0604020202020204"/>
                  <a:cs typeface="Arial" panose="020B0604020202020204"/>
                  <a:sym typeface="Arial" panose="020B0604020202020204"/>
                </a:rPr>
                <a:t>）</a:t>
              </a:r>
              <a:endParaRPr lang="en-US" sz="2800" b="1" i="0" u="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7" name="Shape 1737"/>
            <p:cNvSpPr txBox="1"/>
            <p:nvPr/>
          </p:nvSpPr>
          <p:spPr>
            <a:xfrm>
              <a:off x="1041400" y="4437062"/>
              <a:ext cx="357187" cy="42703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a:solidFill>
                    <a:srgbClr val="000000"/>
                  </a:solidFill>
                  <a:latin typeface="Arial" panose="020B0604020202020204"/>
                  <a:ea typeface="Arial" panose="020B0604020202020204"/>
                  <a:cs typeface="Arial" panose="020B0604020202020204"/>
                  <a:sym typeface="Arial" panose="020B0604020202020204"/>
                </a:rPr>
                <a:t>（</a:t>
              </a:r>
              <a:endParaRPr lang="en-US" sz="2800" b="1" i="0" u="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38" name="Shape 1738"/>
          <p:cNvSpPr txBox="1"/>
          <p:nvPr/>
        </p:nvSpPr>
        <p:spPr>
          <a:xfrm>
            <a:off x="357175" y="5003800"/>
            <a:ext cx="61722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简单选择排序的时间复杂度为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39" name="Shape 1739"/>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9"/>
                                        </p:tgtEl>
                                        <p:attrNameLst>
                                          <p:attrName>style.visibility</p:attrName>
                                        </p:attrNameLst>
                                      </p:cBhvr>
                                      <p:to>
                                        <p:strVal val="visible"/>
                                      </p:to>
                                    </p:set>
                                    <p:animEffect transition="in" filter="fade">
                                      <p:cBhvr>
                                        <p:cTn id="7" dur="500"/>
                                        <p:tgtEl>
                                          <p:spTgt spid="16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86"/>
                                        </p:tgtEl>
                                        <p:attrNameLst>
                                          <p:attrName>style.visibility</p:attrName>
                                        </p:attrNameLst>
                                      </p:cBhvr>
                                      <p:to>
                                        <p:strVal val="visible"/>
                                      </p:to>
                                    </p:set>
                                    <p:animEffect transition="in" filter="fade">
                                      <p:cBhvr>
                                        <p:cTn id="12" dur="500"/>
                                        <p:tgtEl>
                                          <p:spTgt spid="16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93"/>
                                        </p:tgtEl>
                                        <p:attrNameLst>
                                          <p:attrName>style.visibility</p:attrName>
                                        </p:attrNameLst>
                                      </p:cBhvr>
                                      <p:to>
                                        <p:strVal val="visible"/>
                                      </p:to>
                                    </p:set>
                                    <p:animEffect transition="in" filter="fade">
                                      <p:cBhvr>
                                        <p:cTn id="17" dur="500"/>
                                        <p:tgtEl>
                                          <p:spTgt spid="169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00"/>
                                        </p:tgtEl>
                                        <p:attrNameLst>
                                          <p:attrName>style.visibility</p:attrName>
                                        </p:attrNameLst>
                                      </p:cBhvr>
                                      <p:to>
                                        <p:strVal val="visible"/>
                                      </p:to>
                                    </p:set>
                                    <p:animEffect transition="in" filter="fade">
                                      <p:cBhvr>
                                        <p:cTn id="22" dur="500"/>
                                        <p:tgtEl>
                                          <p:spTgt spid="170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743" name="Shape 1743"/>
        <p:cNvGrpSpPr/>
        <p:nvPr/>
      </p:nvGrpSpPr>
      <p:grpSpPr>
        <a:xfrm>
          <a:off x="0" y="0"/>
          <a:ext cx="0" cy="0"/>
          <a:chOff x="0" y="0"/>
          <a:chExt cx="0" cy="0"/>
        </a:xfrm>
      </p:grpSpPr>
      <p:sp>
        <p:nvSpPr>
          <p:cNvPr id="1744" name="Shape 1744"/>
          <p:cNvSpPr txBox="1"/>
          <p:nvPr/>
        </p:nvSpPr>
        <p:spPr>
          <a:xfrm>
            <a:off x="341312" y="1089025"/>
            <a:ext cx="53340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745" name="Shape 1745"/>
          <p:cNvSpPr txBox="1"/>
          <p:nvPr/>
        </p:nvSpPr>
        <p:spPr>
          <a:xfrm>
            <a:off x="433387" y="1898650"/>
            <a:ext cx="8147050" cy="22272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改进的着眼点：</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如何</a:t>
            </a:r>
            <a:r>
              <a:rPr lang="en-US" sz="2800" b="1" i="0" u="none">
                <a:solidFill>
                  <a:srgbClr val="DC3A49"/>
                </a:solidFill>
                <a:latin typeface="Times New Roman" panose="02020603050405020304"/>
                <a:ea typeface="Times New Roman" panose="02020603050405020304"/>
                <a:cs typeface="Times New Roman" panose="02020603050405020304"/>
                <a:sym typeface="Times New Roman" panose="02020603050405020304"/>
              </a:rPr>
              <a:t>减少</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关键码间的</a:t>
            </a:r>
            <a:r>
              <a:rPr lang="en-US" sz="2800" b="1" i="0" u="none">
                <a:solidFill>
                  <a:srgbClr val="DC3A49"/>
                </a:solidFill>
                <a:latin typeface="Times New Roman" panose="02020603050405020304"/>
                <a:ea typeface="Times New Roman" panose="02020603050405020304"/>
                <a:cs typeface="Times New Roman" panose="02020603050405020304"/>
                <a:sym typeface="Times New Roman" panose="02020603050405020304"/>
              </a:rPr>
              <a:t>比较</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次数。若能利用每趟比较后的结果，也就是在找出键值最小记录的同时，也找出键值较小的记录，则可减少后面的选择中所用的比较次数，从而提高整个排序过程的效率。</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46" name="Shape 1746"/>
          <p:cNvSpPr txBox="1"/>
          <p:nvPr/>
        </p:nvSpPr>
        <p:spPr>
          <a:xfrm>
            <a:off x="2411412" y="4238625"/>
            <a:ext cx="4186237" cy="547687"/>
          </a:xfrm>
          <a:prstGeom prst="rect">
            <a:avLst/>
          </a:prstGeom>
          <a:noFill/>
          <a:ln w="28575" cap="flat" cmpd="sng">
            <a:solidFill>
              <a:srgbClr val="00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减少关键码间的比较次数</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747" name="Shape 1747"/>
          <p:cNvSpPr/>
          <p:nvPr/>
        </p:nvSpPr>
        <p:spPr>
          <a:xfrm>
            <a:off x="4302125" y="4868862"/>
            <a:ext cx="314325" cy="49530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48" name="Shape 1748"/>
          <p:cNvSpPr txBox="1"/>
          <p:nvPr/>
        </p:nvSpPr>
        <p:spPr>
          <a:xfrm>
            <a:off x="1985950" y="5454650"/>
            <a:ext cx="5334000" cy="547800"/>
          </a:xfrm>
          <a:prstGeom prst="rect">
            <a:avLst/>
          </a:prstGeom>
          <a:noFill/>
          <a:ln w="28575" cap="flat" cmpd="sng">
            <a:solidFill>
              <a:srgbClr val="00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查找最小值的同时，找出较小值</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1749" name="Shape 1749"/>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747"/>
                                        </p:tgtEl>
                                        <p:attrNameLst>
                                          <p:attrName>style.visibility</p:attrName>
                                        </p:attrNameLst>
                                      </p:cBhvr>
                                      <p:to>
                                        <p:strVal val="visible"/>
                                      </p:to>
                                    </p:set>
                                    <p:animEffect transition="in" filter="fade">
                                      <p:cBhvr>
                                        <p:cTn id="11" dur="500"/>
                                        <p:tgtEl>
                                          <p:spTgt spid="174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7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753" name="Shape 1753"/>
        <p:cNvGrpSpPr/>
        <p:nvPr/>
      </p:nvGrpSpPr>
      <p:grpSpPr>
        <a:xfrm>
          <a:off x="0" y="0"/>
          <a:ext cx="0" cy="0"/>
          <a:chOff x="0" y="0"/>
          <a:chExt cx="0" cy="0"/>
        </a:xfrm>
      </p:grpSpPr>
      <p:sp>
        <p:nvSpPr>
          <p:cNvPr id="1754" name="Shape 1754"/>
          <p:cNvSpPr txBox="1"/>
          <p:nvPr/>
        </p:nvSpPr>
        <p:spPr>
          <a:xfrm>
            <a:off x="296862" y="1042987"/>
            <a:ext cx="32004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堆的定义</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755" name="Shape 1755"/>
          <p:cNvSpPr txBox="1"/>
          <p:nvPr/>
        </p:nvSpPr>
        <p:spPr>
          <a:xfrm>
            <a:off x="431800" y="1763712"/>
            <a:ext cx="8189912" cy="1800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堆是具有下列性质的</a:t>
            </a:r>
            <a:r>
              <a:rPr lang="en-US" sz="2800" b="1" i="0" u="none">
                <a:solidFill>
                  <a:srgbClr val="FF3300"/>
                </a:solidFill>
                <a:latin typeface="Arial" panose="020B0604020202020204"/>
                <a:ea typeface="Arial" panose="020B0604020202020204"/>
                <a:cs typeface="Arial" panose="020B0604020202020204"/>
                <a:sym typeface="Arial" panose="020B0604020202020204"/>
              </a:rPr>
              <a:t>完全二叉树</a:t>
            </a:r>
            <a:r>
              <a:rPr lang="en-US" sz="2800" b="1" i="0" u="none">
                <a:solidFill>
                  <a:schemeClr val="dk1"/>
                </a:solidFill>
                <a:latin typeface="Arial" panose="020B0604020202020204"/>
                <a:ea typeface="Arial" panose="020B0604020202020204"/>
                <a:cs typeface="Arial" panose="020B0604020202020204"/>
                <a:sym typeface="Arial" panose="020B0604020202020204"/>
              </a:rPr>
              <a:t>：每个结点的值都小于或等于其左右孩子结点的值（称为</a:t>
            </a:r>
            <a:r>
              <a:rPr lang="en-US" sz="2800" b="1" i="0" u="none">
                <a:solidFill>
                  <a:srgbClr val="FF3300"/>
                </a:solidFill>
                <a:latin typeface="Arial" panose="020B0604020202020204"/>
                <a:ea typeface="Arial" panose="020B0604020202020204"/>
                <a:cs typeface="Arial" panose="020B0604020202020204"/>
                <a:sym typeface="Arial" panose="020B0604020202020204"/>
              </a:rPr>
              <a:t>小根堆</a:t>
            </a:r>
            <a:r>
              <a:rPr lang="en-US" sz="2800" b="1" i="0" u="none">
                <a:solidFill>
                  <a:schemeClr val="dk1"/>
                </a:solidFill>
                <a:latin typeface="Arial" panose="020B0604020202020204"/>
                <a:ea typeface="Arial" panose="020B0604020202020204"/>
                <a:cs typeface="Arial" panose="020B0604020202020204"/>
                <a:sym typeface="Arial" panose="020B0604020202020204"/>
              </a:rPr>
              <a:t>），或每个结点的值都大于或等于其左右孩子结点的值（称为</a:t>
            </a:r>
            <a:r>
              <a:rPr lang="en-US" sz="2800" b="1" i="0" u="none">
                <a:solidFill>
                  <a:srgbClr val="FF3300"/>
                </a:solidFill>
                <a:latin typeface="Arial" panose="020B0604020202020204"/>
                <a:ea typeface="Arial" panose="020B0604020202020204"/>
                <a:cs typeface="Arial" panose="020B0604020202020204"/>
                <a:sym typeface="Arial" panose="020B0604020202020204"/>
              </a:rPr>
              <a:t>大根堆</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756" name="Shape 1756"/>
          <p:cNvGrpSpPr/>
          <p:nvPr/>
        </p:nvGrpSpPr>
        <p:grpSpPr>
          <a:xfrm>
            <a:off x="442912" y="3654425"/>
            <a:ext cx="3910013" cy="2973387"/>
            <a:chOff x="442912" y="3654425"/>
            <a:chExt cx="3910013" cy="2973387"/>
          </a:xfrm>
        </p:grpSpPr>
        <p:sp>
          <p:nvSpPr>
            <p:cNvPr id="1757" name="Shape 1757"/>
            <p:cNvSpPr/>
            <p:nvPr/>
          </p:nvSpPr>
          <p:spPr>
            <a:xfrm>
              <a:off x="2492375" y="36544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58" name="Shape 1758"/>
            <p:cNvSpPr txBox="1"/>
            <p:nvPr/>
          </p:nvSpPr>
          <p:spPr>
            <a:xfrm>
              <a:off x="2452687" y="36861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59" name="Shape 1759"/>
            <p:cNvSpPr/>
            <p:nvPr/>
          </p:nvSpPr>
          <p:spPr>
            <a:xfrm>
              <a:off x="2001837" y="4000500"/>
              <a:ext cx="539750" cy="427037"/>
            </a:xfrm>
            <a:custGeom>
              <a:avLst/>
              <a:gdLst/>
              <a:ahLst/>
              <a:cxnLst/>
              <a:pathLst>
                <a:path w="406" h="302" extrusionOk="0">
                  <a:moveTo>
                    <a:pt x="406" y="0"/>
                  </a:moveTo>
                  <a:lnTo>
                    <a:pt x="0" y="302"/>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0" name="Shape 1760"/>
            <p:cNvSpPr/>
            <p:nvPr/>
          </p:nvSpPr>
          <p:spPr>
            <a:xfrm>
              <a:off x="1217612" y="4749800"/>
              <a:ext cx="476250" cy="511175"/>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761" name="Shape 1761"/>
            <p:cNvCxnSpPr/>
            <p:nvPr/>
          </p:nvCxnSpPr>
          <p:spPr>
            <a:xfrm>
              <a:off x="2001837" y="4749800"/>
              <a:ext cx="431800" cy="466725"/>
            </a:xfrm>
            <a:prstGeom prst="straightConnector1">
              <a:avLst/>
            </a:prstGeom>
            <a:noFill/>
            <a:ln w="38100" cap="flat" cmpd="sng">
              <a:solidFill>
                <a:srgbClr val="008080"/>
              </a:solidFill>
              <a:prstDash val="solid"/>
              <a:miter lim="800000"/>
              <a:headEnd type="none" w="med" len="med"/>
              <a:tailEnd type="none" w="med" len="med"/>
            </a:ln>
          </p:spPr>
        </p:cxnSp>
        <p:sp>
          <p:nvSpPr>
            <p:cNvPr id="1762" name="Shape 1762"/>
            <p:cNvSpPr/>
            <p:nvPr/>
          </p:nvSpPr>
          <p:spPr>
            <a:xfrm>
              <a:off x="741362" y="5576887"/>
              <a:ext cx="301625" cy="584200"/>
            </a:xfrm>
            <a:custGeom>
              <a:avLst/>
              <a:gdLst/>
              <a:ahLst/>
              <a:cxnLst/>
              <a:pathLst>
                <a:path w="159" h="357" extrusionOk="0">
                  <a:moveTo>
                    <a:pt x="159" y="0"/>
                  </a:moveTo>
                  <a:lnTo>
                    <a:pt x="0" y="35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3" name="Shape 1763"/>
            <p:cNvSpPr/>
            <p:nvPr/>
          </p:nvSpPr>
          <p:spPr>
            <a:xfrm>
              <a:off x="2117725" y="5634037"/>
              <a:ext cx="255587" cy="661987"/>
            </a:xfrm>
            <a:custGeom>
              <a:avLst/>
              <a:gdLst/>
              <a:ahLst/>
              <a:cxnLst/>
              <a:pathLst>
                <a:path w="133" h="297" extrusionOk="0">
                  <a:moveTo>
                    <a:pt x="133" y="0"/>
                  </a:moveTo>
                  <a:lnTo>
                    <a:pt x="0" y="29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4" name="Shape 1764"/>
            <p:cNvSpPr/>
            <p:nvPr/>
          </p:nvSpPr>
          <p:spPr>
            <a:xfrm>
              <a:off x="1344612" y="5618162"/>
              <a:ext cx="149225" cy="511175"/>
            </a:xfrm>
            <a:custGeom>
              <a:avLst/>
              <a:gdLst/>
              <a:ahLst/>
              <a:cxnLst/>
              <a:pathLst>
                <a:path w="140" h="327" extrusionOk="0">
                  <a:moveTo>
                    <a:pt x="0" y="0"/>
                  </a:moveTo>
                  <a:lnTo>
                    <a:pt x="140" y="32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5" name="Shape 1765"/>
            <p:cNvSpPr/>
            <p:nvPr/>
          </p:nvSpPr>
          <p:spPr>
            <a:xfrm>
              <a:off x="2901950" y="4000500"/>
              <a:ext cx="544512" cy="419100"/>
            </a:xfrm>
            <a:custGeom>
              <a:avLst/>
              <a:gdLst/>
              <a:ahLst/>
              <a:cxnLst/>
              <a:pathLst>
                <a:path w="325" h="288" extrusionOk="0">
                  <a:moveTo>
                    <a:pt x="0" y="0"/>
                  </a:moveTo>
                  <a:lnTo>
                    <a:pt x="325"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6" name="Shape 1766"/>
            <p:cNvSpPr/>
            <p:nvPr/>
          </p:nvSpPr>
          <p:spPr>
            <a:xfrm>
              <a:off x="1606550" y="43592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7" name="Shape 1767"/>
            <p:cNvSpPr txBox="1"/>
            <p:nvPr/>
          </p:nvSpPr>
          <p:spPr>
            <a:xfrm>
              <a:off x="1566862" y="43910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8" name="Shape 1768"/>
            <p:cNvSpPr/>
            <p:nvPr/>
          </p:nvSpPr>
          <p:spPr>
            <a:xfrm>
              <a:off x="3378200" y="43561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69" name="Shape 1769"/>
            <p:cNvSpPr txBox="1"/>
            <p:nvPr/>
          </p:nvSpPr>
          <p:spPr>
            <a:xfrm>
              <a:off x="3338512" y="438785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0" name="Shape 1770"/>
            <p:cNvSpPr/>
            <p:nvPr/>
          </p:nvSpPr>
          <p:spPr>
            <a:xfrm>
              <a:off x="2994025" y="52212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1" name="Shape 1771"/>
            <p:cNvSpPr txBox="1"/>
            <p:nvPr/>
          </p:nvSpPr>
          <p:spPr>
            <a:xfrm>
              <a:off x="2954337" y="525303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2" name="Shape 1772"/>
            <p:cNvSpPr/>
            <p:nvPr/>
          </p:nvSpPr>
          <p:spPr>
            <a:xfrm>
              <a:off x="3852862" y="52355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3" name="Shape 1773"/>
            <p:cNvSpPr txBox="1"/>
            <p:nvPr/>
          </p:nvSpPr>
          <p:spPr>
            <a:xfrm>
              <a:off x="3813175" y="52673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4" name="Shape 1774"/>
            <p:cNvSpPr/>
            <p:nvPr/>
          </p:nvSpPr>
          <p:spPr>
            <a:xfrm>
              <a:off x="2247900" y="52197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5" name="Shape 1775"/>
            <p:cNvSpPr txBox="1"/>
            <p:nvPr/>
          </p:nvSpPr>
          <p:spPr>
            <a:xfrm>
              <a:off x="2208212" y="525145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6" name="Shape 1776"/>
            <p:cNvSpPr/>
            <p:nvPr/>
          </p:nvSpPr>
          <p:spPr>
            <a:xfrm>
              <a:off x="966787" y="52085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7" name="Shape 1777"/>
            <p:cNvSpPr txBox="1"/>
            <p:nvPr/>
          </p:nvSpPr>
          <p:spPr>
            <a:xfrm>
              <a:off x="927100" y="524033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8" name="Shape 1778"/>
            <p:cNvSpPr/>
            <p:nvPr/>
          </p:nvSpPr>
          <p:spPr>
            <a:xfrm>
              <a:off x="482600" y="61293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9" name="Shape 1779"/>
            <p:cNvSpPr txBox="1"/>
            <p:nvPr/>
          </p:nvSpPr>
          <p:spPr>
            <a:xfrm>
              <a:off x="442912" y="616108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50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0" name="Shape 1780"/>
            <p:cNvSpPr/>
            <p:nvPr/>
          </p:nvSpPr>
          <p:spPr>
            <a:xfrm>
              <a:off x="1244600" y="61436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1" name="Shape 1781"/>
            <p:cNvSpPr txBox="1"/>
            <p:nvPr/>
          </p:nvSpPr>
          <p:spPr>
            <a:xfrm>
              <a:off x="1204912" y="61753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2" name="Shape 1782"/>
            <p:cNvSpPr/>
            <p:nvPr/>
          </p:nvSpPr>
          <p:spPr>
            <a:xfrm>
              <a:off x="1862137" y="61595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3" name="Shape 1783"/>
            <p:cNvSpPr txBox="1"/>
            <p:nvPr/>
          </p:nvSpPr>
          <p:spPr>
            <a:xfrm>
              <a:off x="1822450" y="619125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4" name="Shape 1784"/>
            <p:cNvSpPr/>
            <p:nvPr/>
          </p:nvSpPr>
          <p:spPr>
            <a:xfrm>
              <a:off x="3243262" y="4733925"/>
              <a:ext cx="215900" cy="527050"/>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785" name="Shape 1785"/>
            <p:cNvCxnSpPr/>
            <p:nvPr/>
          </p:nvCxnSpPr>
          <p:spPr>
            <a:xfrm>
              <a:off x="3783012" y="4749800"/>
              <a:ext cx="225425" cy="511175"/>
            </a:xfrm>
            <a:prstGeom prst="straightConnector1">
              <a:avLst/>
            </a:prstGeom>
            <a:noFill/>
            <a:ln w="38100" cap="flat" cmpd="sng">
              <a:solidFill>
                <a:srgbClr val="008080"/>
              </a:solidFill>
              <a:prstDash val="solid"/>
              <a:miter lim="800000"/>
              <a:headEnd type="none" w="med" len="med"/>
              <a:tailEnd type="none" w="med" len="med"/>
            </a:ln>
          </p:spPr>
        </p:cxnSp>
      </p:grpSp>
      <p:sp>
        <p:nvSpPr>
          <p:cNvPr id="1786" name="Shape 1786"/>
          <p:cNvSpPr txBox="1"/>
          <p:nvPr/>
        </p:nvSpPr>
        <p:spPr>
          <a:xfrm>
            <a:off x="5381625" y="4059225"/>
            <a:ext cx="3645000" cy="1828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小根堆的根结点是所有结点的最小者。</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较小结点靠近根结点，但不绝对。</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7" name="Shape 1787"/>
          <p:cNvSpPr/>
          <p:nvPr/>
        </p:nvSpPr>
        <p:spPr>
          <a:xfrm>
            <a:off x="4576762" y="4733925"/>
            <a:ext cx="630237" cy="45085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8" name="Shape 1788"/>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87"/>
                                        </p:tgtEl>
                                        <p:attrNameLst>
                                          <p:attrName>style.visibility</p:attrName>
                                        </p:attrNameLst>
                                      </p:cBhvr>
                                      <p:to>
                                        <p:strVal val="visible"/>
                                      </p:to>
                                    </p:set>
                                    <p:animEffect transition="in" filter="fade">
                                      <p:cBhvr>
                                        <p:cTn id="7" dur="500"/>
                                        <p:tgtEl>
                                          <p:spTgt spid="178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792" name="Shape 1792"/>
        <p:cNvGrpSpPr/>
        <p:nvPr/>
      </p:nvGrpSpPr>
      <p:grpSpPr>
        <a:xfrm>
          <a:off x="0" y="0"/>
          <a:ext cx="0" cy="0"/>
          <a:chOff x="0" y="0"/>
          <a:chExt cx="0" cy="0"/>
        </a:xfrm>
      </p:grpSpPr>
      <p:sp>
        <p:nvSpPr>
          <p:cNvPr id="1793" name="Shape 1793"/>
          <p:cNvSpPr txBox="1"/>
          <p:nvPr/>
        </p:nvSpPr>
        <p:spPr>
          <a:xfrm>
            <a:off x="296862" y="1042987"/>
            <a:ext cx="32004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堆的定义</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794" name="Shape 1794"/>
          <p:cNvSpPr txBox="1"/>
          <p:nvPr/>
        </p:nvSpPr>
        <p:spPr>
          <a:xfrm>
            <a:off x="431800" y="1763712"/>
            <a:ext cx="8189912" cy="1800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堆是具有下列性质的</a:t>
            </a:r>
            <a:r>
              <a:rPr lang="en-US" sz="2800" b="1" i="0" u="none">
                <a:solidFill>
                  <a:srgbClr val="FF3300"/>
                </a:solidFill>
                <a:latin typeface="Arial" panose="020B0604020202020204"/>
                <a:ea typeface="Arial" panose="020B0604020202020204"/>
                <a:cs typeface="Arial" panose="020B0604020202020204"/>
                <a:sym typeface="Arial" panose="020B0604020202020204"/>
              </a:rPr>
              <a:t>完全二叉树</a:t>
            </a:r>
            <a:r>
              <a:rPr lang="en-US" sz="2800" b="1" i="0" u="none">
                <a:solidFill>
                  <a:schemeClr val="dk1"/>
                </a:solidFill>
                <a:latin typeface="Arial" panose="020B0604020202020204"/>
                <a:ea typeface="Arial" panose="020B0604020202020204"/>
                <a:cs typeface="Arial" panose="020B0604020202020204"/>
                <a:sym typeface="Arial" panose="020B0604020202020204"/>
              </a:rPr>
              <a:t>：每个结点的值都小于或等于其左右孩子结点的值（称为</a:t>
            </a:r>
            <a:r>
              <a:rPr lang="en-US" sz="2800" b="1" i="0" u="none">
                <a:solidFill>
                  <a:srgbClr val="FF3300"/>
                </a:solidFill>
                <a:latin typeface="Arial" panose="020B0604020202020204"/>
                <a:ea typeface="Arial" panose="020B0604020202020204"/>
                <a:cs typeface="Arial" panose="020B0604020202020204"/>
                <a:sym typeface="Arial" panose="020B0604020202020204"/>
              </a:rPr>
              <a:t>小根堆</a:t>
            </a:r>
            <a:r>
              <a:rPr lang="en-US" sz="2800" b="1" i="0" u="none">
                <a:solidFill>
                  <a:schemeClr val="dk1"/>
                </a:solidFill>
                <a:latin typeface="Arial" panose="020B0604020202020204"/>
                <a:ea typeface="Arial" panose="020B0604020202020204"/>
                <a:cs typeface="Arial" panose="020B0604020202020204"/>
                <a:sym typeface="Arial" panose="020B0604020202020204"/>
              </a:rPr>
              <a:t>），或每个结点的值都大于或等于其左右孩子结点的值（称为</a:t>
            </a:r>
            <a:r>
              <a:rPr lang="en-US" sz="2800" b="1" i="0" u="none">
                <a:solidFill>
                  <a:srgbClr val="FF3300"/>
                </a:solidFill>
                <a:latin typeface="Arial" panose="020B0604020202020204"/>
                <a:ea typeface="Arial" panose="020B0604020202020204"/>
                <a:cs typeface="Arial" panose="020B0604020202020204"/>
                <a:sym typeface="Arial" panose="020B0604020202020204"/>
              </a:rPr>
              <a:t>大根堆</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795" name="Shape 1795"/>
          <p:cNvGrpSpPr/>
          <p:nvPr/>
        </p:nvGrpSpPr>
        <p:grpSpPr>
          <a:xfrm>
            <a:off x="4818062" y="3698875"/>
            <a:ext cx="3878263" cy="2973387"/>
            <a:chOff x="4706937" y="3698875"/>
            <a:chExt cx="3878263" cy="2973387"/>
          </a:xfrm>
        </p:grpSpPr>
        <p:sp>
          <p:nvSpPr>
            <p:cNvPr id="1796" name="Shape 1796"/>
            <p:cNvSpPr/>
            <p:nvPr/>
          </p:nvSpPr>
          <p:spPr>
            <a:xfrm>
              <a:off x="6756400" y="36988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7" name="Shape 1797"/>
            <p:cNvSpPr txBox="1"/>
            <p:nvPr/>
          </p:nvSpPr>
          <p:spPr>
            <a:xfrm>
              <a:off x="6716712" y="37306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50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8" name="Shape 1798"/>
            <p:cNvSpPr/>
            <p:nvPr/>
          </p:nvSpPr>
          <p:spPr>
            <a:xfrm>
              <a:off x="6265862" y="4044950"/>
              <a:ext cx="539750" cy="427037"/>
            </a:xfrm>
            <a:custGeom>
              <a:avLst/>
              <a:gdLst/>
              <a:ahLst/>
              <a:cxnLst/>
              <a:pathLst>
                <a:path w="406" h="302" extrusionOk="0">
                  <a:moveTo>
                    <a:pt x="406" y="0"/>
                  </a:moveTo>
                  <a:lnTo>
                    <a:pt x="0" y="302"/>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9" name="Shape 1799"/>
            <p:cNvSpPr/>
            <p:nvPr/>
          </p:nvSpPr>
          <p:spPr>
            <a:xfrm>
              <a:off x="5481637" y="4794250"/>
              <a:ext cx="476250" cy="511175"/>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800" name="Shape 1800"/>
            <p:cNvCxnSpPr/>
            <p:nvPr/>
          </p:nvCxnSpPr>
          <p:spPr>
            <a:xfrm>
              <a:off x="6265862" y="4794250"/>
              <a:ext cx="431800" cy="466725"/>
            </a:xfrm>
            <a:prstGeom prst="straightConnector1">
              <a:avLst/>
            </a:prstGeom>
            <a:noFill/>
            <a:ln w="38100" cap="flat" cmpd="sng">
              <a:solidFill>
                <a:srgbClr val="008080"/>
              </a:solidFill>
              <a:prstDash val="solid"/>
              <a:miter lim="800000"/>
              <a:headEnd type="none" w="med" len="med"/>
              <a:tailEnd type="none" w="med" len="med"/>
            </a:ln>
          </p:spPr>
        </p:cxnSp>
        <p:sp>
          <p:nvSpPr>
            <p:cNvPr id="1801" name="Shape 1801"/>
            <p:cNvSpPr/>
            <p:nvPr/>
          </p:nvSpPr>
          <p:spPr>
            <a:xfrm>
              <a:off x="5005387" y="5621337"/>
              <a:ext cx="301625" cy="584200"/>
            </a:xfrm>
            <a:custGeom>
              <a:avLst/>
              <a:gdLst/>
              <a:ahLst/>
              <a:cxnLst/>
              <a:pathLst>
                <a:path w="159" h="357" extrusionOk="0">
                  <a:moveTo>
                    <a:pt x="159" y="0"/>
                  </a:moveTo>
                  <a:lnTo>
                    <a:pt x="0" y="35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2" name="Shape 1802"/>
            <p:cNvSpPr/>
            <p:nvPr/>
          </p:nvSpPr>
          <p:spPr>
            <a:xfrm>
              <a:off x="6381750" y="5678487"/>
              <a:ext cx="255587" cy="661987"/>
            </a:xfrm>
            <a:custGeom>
              <a:avLst/>
              <a:gdLst/>
              <a:ahLst/>
              <a:cxnLst/>
              <a:pathLst>
                <a:path w="133" h="297" extrusionOk="0">
                  <a:moveTo>
                    <a:pt x="133" y="0"/>
                  </a:moveTo>
                  <a:lnTo>
                    <a:pt x="0" y="29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3" name="Shape 1803"/>
            <p:cNvSpPr/>
            <p:nvPr/>
          </p:nvSpPr>
          <p:spPr>
            <a:xfrm>
              <a:off x="5608637" y="5662612"/>
              <a:ext cx="149225" cy="511175"/>
            </a:xfrm>
            <a:custGeom>
              <a:avLst/>
              <a:gdLst/>
              <a:ahLst/>
              <a:cxnLst/>
              <a:pathLst>
                <a:path w="140" h="327" extrusionOk="0">
                  <a:moveTo>
                    <a:pt x="0" y="0"/>
                  </a:moveTo>
                  <a:lnTo>
                    <a:pt x="140" y="32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4" name="Shape 1804"/>
            <p:cNvSpPr/>
            <p:nvPr/>
          </p:nvSpPr>
          <p:spPr>
            <a:xfrm>
              <a:off x="7165975" y="4044950"/>
              <a:ext cx="511175" cy="419100"/>
            </a:xfrm>
            <a:custGeom>
              <a:avLst/>
              <a:gdLst/>
              <a:ahLst/>
              <a:cxnLst/>
              <a:pathLst>
                <a:path w="325" h="288" extrusionOk="0">
                  <a:moveTo>
                    <a:pt x="0" y="0"/>
                  </a:moveTo>
                  <a:lnTo>
                    <a:pt x="325"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5" name="Shape 1805"/>
            <p:cNvSpPr/>
            <p:nvPr/>
          </p:nvSpPr>
          <p:spPr>
            <a:xfrm>
              <a:off x="5870575" y="44037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6" name="Shape 1806"/>
            <p:cNvSpPr txBox="1"/>
            <p:nvPr/>
          </p:nvSpPr>
          <p:spPr>
            <a:xfrm>
              <a:off x="5830887" y="44354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7" name="Shape 1807"/>
            <p:cNvSpPr/>
            <p:nvPr/>
          </p:nvSpPr>
          <p:spPr>
            <a:xfrm>
              <a:off x="7610475" y="44005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8" name="Shape 1808"/>
            <p:cNvSpPr txBox="1"/>
            <p:nvPr/>
          </p:nvSpPr>
          <p:spPr>
            <a:xfrm>
              <a:off x="7570787" y="443230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9" name="Shape 1809"/>
            <p:cNvSpPr/>
            <p:nvPr/>
          </p:nvSpPr>
          <p:spPr>
            <a:xfrm>
              <a:off x="7226300" y="52657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0" name="Shape 1810"/>
            <p:cNvSpPr txBox="1"/>
            <p:nvPr/>
          </p:nvSpPr>
          <p:spPr>
            <a:xfrm>
              <a:off x="7202487" y="529748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1" name="Shape 1811"/>
            <p:cNvSpPr/>
            <p:nvPr/>
          </p:nvSpPr>
          <p:spPr>
            <a:xfrm>
              <a:off x="8085137" y="52800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2" name="Shape 1812"/>
            <p:cNvSpPr txBox="1"/>
            <p:nvPr/>
          </p:nvSpPr>
          <p:spPr>
            <a:xfrm>
              <a:off x="8045450" y="53117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3" name="Shape 1813"/>
            <p:cNvSpPr/>
            <p:nvPr/>
          </p:nvSpPr>
          <p:spPr>
            <a:xfrm>
              <a:off x="6511925" y="52641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4" name="Shape 1814"/>
            <p:cNvSpPr txBox="1"/>
            <p:nvPr/>
          </p:nvSpPr>
          <p:spPr>
            <a:xfrm>
              <a:off x="6472237" y="529590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5" name="Shape 1815"/>
            <p:cNvSpPr/>
            <p:nvPr/>
          </p:nvSpPr>
          <p:spPr>
            <a:xfrm>
              <a:off x="5230812" y="52530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6" name="Shape 1816"/>
            <p:cNvSpPr txBox="1"/>
            <p:nvPr/>
          </p:nvSpPr>
          <p:spPr>
            <a:xfrm>
              <a:off x="5191125" y="528478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7" name="Shape 1817"/>
            <p:cNvSpPr/>
            <p:nvPr/>
          </p:nvSpPr>
          <p:spPr>
            <a:xfrm>
              <a:off x="4746625" y="61737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8" name="Shape 1818"/>
            <p:cNvSpPr txBox="1"/>
            <p:nvPr/>
          </p:nvSpPr>
          <p:spPr>
            <a:xfrm>
              <a:off x="4706937" y="620553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9" name="Shape 1819"/>
            <p:cNvSpPr/>
            <p:nvPr/>
          </p:nvSpPr>
          <p:spPr>
            <a:xfrm>
              <a:off x="5508625" y="61880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0" name="Shape 1820"/>
            <p:cNvSpPr txBox="1"/>
            <p:nvPr/>
          </p:nvSpPr>
          <p:spPr>
            <a:xfrm>
              <a:off x="5468937" y="62198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1" name="Shape 1821"/>
            <p:cNvSpPr/>
            <p:nvPr/>
          </p:nvSpPr>
          <p:spPr>
            <a:xfrm>
              <a:off x="6126162" y="62039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2" name="Shape 1822"/>
            <p:cNvSpPr txBox="1"/>
            <p:nvPr/>
          </p:nvSpPr>
          <p:spPr>
            <a:xfrm>
              <a:off x="6086475" y="623570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3" name="Shape 1823"/>
            <p:cNvSpPr/>
            <p:nvPr/>
          </p:nvSpPr>
          <p:spPr>
            <a:xfrm>
              <a:off x="7475537" y="4778375"/>
              <a:ext cx="215900" cy="527050"/>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824" name="Shape 1824"/>
            <p:cNvCxnSpPr/>
            <p:nvPr/>
          </p:nvCxnSpPr>
          <p:spPr>
            <a:xfrm>
              <a:off x="8015287" y="4794250"/>
              <a:ext cx="225425" cy="511175"/>
            </a:xfrm>
            <a:prstGeom prst="straightConnector1">
              <a:avLst/>
            </a:prstGeom>
            <a:noFill/>
            <a:ln w="38100" cap="flat" cmpd="sng">
              <a:solidFill>
                <a:srgbClr val="008080"/>
              </a:solidFill>
              <a:prstDash val="solid"/>
              <a:miter lim="800000"/>
              <a:headEnd type="none" w="med" len="med"/>
              <a:tailEnd type="none" w="med" len="med"/>
            </a:ln>
          </p:spPr>
        </p:cxnSp>
      </p:grpSp>
      <p:sp>
        <p:nvSpPr>
          <p:cNvPr id="1825" name="Shape 1825"/>
          <p:cNvSpPr txBox="1"/>
          <p:nvPr/>
        </p:nvSpPr>
        <p:spPr>
          <a:xfrm>
            <a:off x="836599" y="4014775"/>
            <a:ext cx="3645000" cy="1828800"/>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大根堆的根结点是所有结点的最大者。</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 较大结点靠近根结点，但不绝对。</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6" name="Shape 1826"/>
          <p:cNvSpPr/>
          <p:nvPr/>
        </p:nvSpPr>
        <p:spPr>
          <a:xfrm>
            <a:off x="4751387" y="4733925"/>
            <a:ext cx="584200" cy="360362"/>
          </a:xfrm>
          <a:prstGeom prst="lef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7" name="Shape 1827"/>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26"/>
                                        </p:tgtEl>
                                        <p:attrNameLst>
                                          <p:attrName>style.visibility</p:attrName>
                                        </p:attrNameLst>
                                      </p:cBhvr>
                                      <p:to>
                                        <p:strVal val="visible"/>
                                      </p:to>
                                    </p:set>
                                    <p:animEffect transition="in" filter="fade">
                                      <p:cBhvr>
                                        <p:cTn id="7" dur="500"/>
                                        <p:tgtEl>
                                          <p:spTgt spid="18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831" name="Shape 1831"/>
        <p:cNvGrpSpPr/>
        <p:nvPr/>
      </p:nvGrpSpPr>
      <p:grpSpPr>
        <a:xfrm>
          <a:off x="0" y="0"/>
          <a:ext cx="0" cy="0"/>
          <a:chOff x="0" y="0"/>
          <a:chExt cx="0" cy="0"/>
        </a:xfrm>
      </p:grpSpPr>
      <p:sp>
        <p:nvSpPr>
          <p:cNvPr id="1832" name="Shape 1832"/>
          <p:cNvSpPr txBox="1"/>
          <p:nvPr/>
        </p:nvSpPr>
        <p:spPr>
          <a:xfrm>
            <a:off x="296862" y="1089025"/>
            <a:ext cx="36449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堆和序列的关系</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33" name="Shape 1833"/>
          <p:cNvSpPr txBox="1"/>
          <p:nvPr/>
        </p:nvSpPr>
        <p:spPr>
          <a:xfrm>
            <a:off x="522287" y="6038850"/>
            <a:ext cx="83248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将堆用顺序存储结构来存储，则堆对应一组序列。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834" name="Shape 1834"/>
          <p:cNvGrpSpPr/>
          <p:nvPr/>
        </p:nvGrpSpPr>
        <p:grpSpPr>
          <a:xfrm>
            <a:off x="820737" y="1673225"/>
            <a:ext cx="3875088" cy="2957512"/>
            <a:chOff x="820737" y="1673225"/>
            <a:chExt cx="3875088" cy="2957512"/>
          </a:xfrm>
        </p:grpSpPr>
        <p:sp>
          <p:nvSpPr>
            <p:cNvPr id="1835" name="Shape 1835"/>
            <p:cNvSpPr/>
            <p:nvPr/>
          </p:nvSpPr>
          <p:spPr>
            <a:xfrm>
              <a:off x="2870200" y="16732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36" name="Shape 1836"/>
            <p:cNvSpPr txBox="1"/>
            <p:nvPr/>
          </p:nvSpPr>
          <p:spPr>
            <a:xfrm>
              <a:off x="2830512" y="17049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50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37" name="Shape 1837"/>
            <p:cNvSpPr/>
            <p:nvPr/>
          </p:nvSpPr>
          <p:spPr>
            <a:xfrm>
              <a:off x="2379662" y="2019300"/>
              <a:ext cx="539750" cy="427037"/>
            </a:xfrm>
            <a:custGeom>
              <a:avLst/>
              <a:gdLst/>
              <a:ahLst/>
              <a:cxnLst/>
              <a:pathLst>
                <a:path w="406" h="302" extrusionOk="0">
                  <a:moveTo>
                    <a:pt x="406" y="0"/>
                  </a:moveTo>
                  <a:lnTo>
                    <a:pt x="0" y="302"/>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38" name="Shape 1838"/>
            <p:cNvSpPr/>
            <p:nvPr/>
          </p:nvSpPr>
          <p:spPr>
            <a:xfrm>
              <a:off x="1595437" y="2768600"/>
              <a:ext cx="476250" cy="511175"/>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839" name="Shape 1839"/>
            <p:cNvCxnSpPr/>
            <p:nvPr/>
          </p:nvCxnSpPr>
          <p:spPr>
            <a:xfrm>
              <a:off x="2379662" y="2768600"/>
              <a:ext cx="431800" cy="466725"/>
            </a:xfrm>
            <a:prstGeom prst="straightConnector1">
              <a:avLst/>
            </a:prstGeom>
            <a:noFill/>
            <a:ln w="38100" cap="flat" cmpd="sng">
              <a:solidFill>
                <a:srgbClr val="008080"/>
              </a:solidFill>
              <a:prstDash val="solid"/>
              <a:miter lim="800000"/>
              <a:headEnd type="none" w="med" len="med"/>
              <a:tailEnd type="none" w="med" len="med"/>
            </a:ln>
          </p:spPr>
        </p:cxnSp>
        <p:sp>
          <p:nvSpPr>
            <p:cNvPr id="1840" name="Shape 1840"/>
            <p:cNvSpPr/>
            <p:nvPr/>
          </p:nvSpPr>
          <p:spPr>
            <a:xfrm>
              <a:off x="1119187" y="3595687"/>
              <a:ext cx="301625" cy="584200"/>
            </a:xfrm>
            <a:custGeom>
              <a:avLst/>
              <a:gdLst/>
              <a:ahLst/>
              <a:cxnLst/>
              <a:pathLst>
                <a:path w="159" h="357" extrusionOk="0">
                  <a:moveTo>
                    <a:pt x="159" y="0"/>
                  </a:moveTo>
                  <a:lnTo>
                    <a:pt x="0" y="35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1" name="Shape 1841"/>
            <p:cNvSpPr/>
            <p:nvPr/>
          </p:nvSpPr>
          <p:spPr>
            <a:xfrm>
              <a:off x="2495550" y="3652837"/>
              <a:ext cx="255587" cy="661987"/>
            </a:xfrm>
            <a:custGeom>
              <a:avLst/>
              <a:gdLst/>
              <a:ahLst/>
              <a:cxnLst/>
              <a:pathLst>
                <a:path w="133" h="297" extrusionOk="0">
                  <a:moveTo>
                    <a:pt x="133" y="0"/>
                  </a:moveTo>
                  <a:lnTo>
                    <a:pt x="0" y="29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2" name="Shape 1842"/>
            <p:cNvSpPr/>
            <p:nvPr/>
          </p:nvSpPr>
          <p:spPr>
            <a:xfrm>
              <a:off x="1722437" y="3636962"/>
              <a:ext cx="149225" cy="511175"/>
            </a:xfrm>
            <a:custGeom>
              <a:avLst/>
              <a:gdLst/>
              <a:ahLst/>
              <a:cxnLst/>
              <a:pathLst>
                <a:path w="140" h="327" extrusionOk="0">
                  <a:moveTo>
                    <a:pt x="0" y="0"/>
                  </a:moveTo>
                  <a:lnTo>
                    <a:pt x="140" y="327"/>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3" name="Shape 1843"/>
            <p:cNvSpPr/>
            <p:nvPr/>
          </p:nvSpPr>
          <p:spPr>
            <a:xfrm>
              <a:off x="3279775" y="2003425"/>
              <a:ext cx="555625" cy="438150"/>
            </a:xfrm>
            <a:custGeom>
              <a:avLst/>
              <a:gdLst/>
              <a:ahLst/>
              <a:cxnLst/>
              <a:pathLst>
                <a:path w="325" h="288" extrusionOk="0">
                  <a:moveTo>
                    <a:pt x="0" y="0"/>
                  </a:moveTo>
                  <a:lnTo>
                    <a:pt x="325"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4" name="Shape 1844"/>
            <p:cNvSpPr/>
            <p:nvPr/>
          </p:nvSpPr>
          <p:spPr>
            <a:xfrm>
              <a:off x="1984375" y="23780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5" name="Shape 1845"/>
            <p:cNvSpPr txBox="1"/>
            <p:nvPr/>
          </p:nvSpPr>
          <p:spPr>
            <a:xfrm>
              <a:off x="1944687" y="24098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6" name="Shape 1846"/>
            <p:cNvSpPr/>
            <p:nvPr/>
          </p:nvSpPr>
          <p:spPr>
            <a:xfrm>
              <a:off x="3721100" y="23780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7" name="Shape 1847"/>
            <p:cNvSpPr txBox="1"/>
            <p:nvPr/>
          </p:nvSpPr>
          <p:spPr>
            <a:xfrm>
              <a:off x="3681412" y="24098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8" name="Shape 1848"/>
            <p:cNvSpPr/>
            <p:nvPr/>
          </p:nvSpPr>
          <p:spPr>
            <a:xfrm>
              <a:off x="3336925" y="32432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49" name="Shape 1849"/>
            <p:cNvSpPr txBox="1"/>
            <p:nvPr/>
          </p:nvSpPr>
          <p:spPr>
            <a:xfrm>
              <a:off x="3297237" y="3275012"/>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40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0" name="Shape 1850"/>
            <p:cNvSpPr/>
            <p:nvPr/>
          </p:nvSpPr>
          <p:spPr>
            <a:xfrm>
              <a:off x="4195762" y="32416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1" name="Shape 1851"/>
            <p:cNvSpPr txBox="1"/>
            <p:nvPr/>
          </p:nvSpPr>
          <p:spPr>
            <a:xfrm>
              <a:off x="4156075" y="327342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2" name="Shape 1852"/>
            <p:cNvSpPr/>
            <p:nvPr/>
          </p:nvSpPr>
          <p:spPr>
            <a:xfrm>
              <a:off x="2625725" y="32385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3" name="Shape 1853"/>
            <p:cNvSpPr txBox="1"/>
            <p:nvPr/>
          </p:nvSpPr>
          <p:spPr>
            <a:xfrm>
              <a:off x="2586037" y="3270250"/>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4" name="Shape 1854"/>
            <p:cNvSpPr/>
            <p:nvPr/>
          </p:nvSpPr>
          <p:spPr>
            <a:xfrm>
              <a:off x="1344612" y="32273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5" name="Shape 1855"/>
            <p:cNvSpPr txBox="1"/>
            <p:nvPr/>
          </p:nvSpPr>
          <p:spPr>
            <a:xfrm>
              <a:off x="1304925" y="325913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6" name="Shape 1856"/>
            <p:cNvSpPr/>
            <p:nvPr/>
          </p:nvSpPr>
          <p:spPr>
            <a:xfrm>
              <a:off x="860425" y="41481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7" name="Shape 1857"/>
            <p:cNvSpPr txBox="1"/>
            <p:nvPr/>
          </p:nvSpPr>
          <p:spPr>
            <a:xfrm>
              <a:off x="820737" y="4179887"/>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20</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8" name="Shape 1858"/>
            <p:cNvSpPr/>
            <p:nvPr/>
          </p:nvSpPr>
          <p:spPr>
            <a:xfrm>
              <a:off x="1622425" y="41624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59" name="Shape 1859"/>
            <p:cNvSpPr txBox="1"/>
            <p:nvPr/>
          </p:nvSpPr>
          <p:spPr>
            <a:xfrm>
              <a:off x="1582737" y="41941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0" name="Shape 1860"/>
            <p:cNvSpPr/>
            <p:nvPr/>
          </p:nvSpPr>
          <p:spPr>
            <a:xfrm>
              <a:off x="2255837" y="41624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1" name="Shape 1861"/>
            <p:cNvSpPr txBox="1"/>
            <p:nvPr/>
          </p:nvSpPr>
          <p:spPr>
            <a:xfrm>
              <a:off x="2216150" y="4194175"/>
              <a:ext cx="539750" cy="404812"/>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2" name="Shape 1862"/>
            <p:cNvSpPr/>
            <p:nvPr/>
          </p:nvSpPr>
          <p:spPr>
            <a:xfrm>
              <a:off x="3586162" y="2755900"/>
              <a:ext cx="215900" cy="527050"/>
            </a:xfrm>
            <a:custGeom>
              <a:avLst/>
              <a:gdLst/>
              <a:ahLst/>
              <a:cxnLst/>
              <a:pathLst>
                <a:path w="318" h="288" extrusionOk="0">
                  <a:moveTo>
                    <a:pt x="318" y="0"/>
                  </a:moveTo>
                  <a:lnTo>
                    <a:pt x="0" y="288"/>
                  </a:lnTo>
                </a:path>
              </a:pathLst>
            </a:custGeom>
            <a:noFill/>
            <a:ln w="38100"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863" name="Shape 1863"/>
            <p:cNvCxnSpPr/>
            <p:nvPr/>
          </p:nvCxnSpPr>
          <p:spPr>
            <a:xfrm>
              <a:off x="4125912" y="2771775"/>
              <a:ext cx="225425" cy="511175"/>
            </a:xfrm>
            <a:prstGeom prst="straightConnector1">
              <a:avLst/>
            </a:prstGeom>
            <a:noFill/>
            <a:ln w="38100" cap="flat" cmpd="sng">
              <a:solidFill>
                <a:srgbClr val="008080"/>
              </a:solidFill>
              <a:prstDash val="solid"/>
              <a:miter lim="800000"/>
              <a:headEnd type="none" w="med" len="med"/>
              <a:tailEnd type="none" w="med" len="med"/>
            </a:ln>
          </p:spPr>
        </p:cxnSp>
      </p:grpSp>
      <p:grpSp>
        <p:nvGrpSpPr>
          <p:cNvPr id="1864" name="Shape 1864"/>
          <p:cNvGrpSpPr/>
          <p:nvPr/>
        </p:nvGrpSpPr>
        <p:grpSpPr>
          <a:xfrm>
            <a:off x="1166812" y="4840287"/>
            <a:ext cx="7112000" cy="919163"/>
            <a:chOff x="1166812" y="4840287"/>
            <a:chExt cx="7112000" cy="919163"/>
          </a:xfrm>
        </p:grpSpPr>
        <p:grpSp>
          <p:nvGrpSpPr>
            <p:cNvPr id="1865" name="Shape 1865"/>
            <p:cNvGrpSpPr/>
            <p:nvPr/>
          </p:nvGrpSpPr>
          <p:grpSpPr>
            <a:xfrm>
              <a:off x="1166812" y="5289550"/>
              <a:ext cx="7021512" cy="469900"/>
              <a:chOff x="836612" y="5043487"/>
              <a:chExt cx="7021512" cy="469900"/>
            </a:xfrm>
          </p:grpSpPr>
          <p:sp>
            <p:nvSpPr>
              <p:cNvPr id="1866" name="Shape 1866"/>
              <p:cNvSpPr txBox="1"/>
              <p:nvPr/>
            </p:nvSpPr>
            <p:spPr>
              <a:xfrm>
                <a:off x="836612" y="5049837"/>
                <a:ext cx="7021512" cy="463550"/>
              </a:xfrm>
              <a:prstGeom prst="rect">
                <a:avLst/>
              </a:prstGeom>
              <a:solidFill>
                <a:schemeClr val="hlink"/>
              </a:solidFill>
              <a:ln w="28575" cap="flat" cmpd="sng">
                <a:solidFill>
                  <a:schemeClr val="accent1"/>
                </a:solidFill>
                <a:prstDash val="solid"/>
                <a:miter lim="800000"/>
                <a:headEnd type="none" w="sm" len="sm"/>
                <a:tailEnd type="none" w="sm" len="sm"/>
              </a:ln>
            </p:spPr>
            <p:txBody>
              <a:bodyPr spcFirstLastPara="1" wrap="square" lIns="90000" tIns="0" rIns="0" bIns="0" anchor="t" anchorCtr="0">
                <a:noAutofit/>
              </a:bodyPr>
              <a:lstStyle/>
              <a:p>
                <a:pPr marL="0" marR="0" lvl="0" indent="0" algn="just" rtl="0">
                  <a:lnSpc>
                    <a:spcPct val="100000"/>
                  </a:lnSpc>
                  <a:spcBef>
                    <a:spcPts val="0"/>
                  </a:spcBef>
                  <a:spcAft>
                    <a:spcPts val="0"/>
                  </a:spcAft>
                  <a:buClr>
                    <a:schemeClr val="dk1"/>
                  </a:buClr>
                  <a:buSzPts val="3200"/>
                  <a:buFont typeface="Times New Roman" panose="02020603050405020304"/>
                  <a:buNone/>
                </a:pP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50   38   45   32   36   40   28   20   18   28</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867" name="Shape 1867"/>
              <p:cNvCxnSpPr/>
              <p:nvPr/>
            </p:nvCxnSpPr>
            <p:spPr>
              <a:xfrm>
                <a:off x="1543050" y="50498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68" name="Shape 1868"/>
              <p:cNvCxnSpPr/>
              <p:nvPr/>
            </p:nvCxnSpPr>
            <p:spPr>
              <a:xfrm>
                <a:off x="2233612" y="50625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69" name="Shape 1869"/>
              <p:cNvCxnSpPr/>
              <p:nvPr/>
            </p:nvCxnSpPr>
            <p:spPr>
              <a:xfrm>
                <a:off x="2922587" y="50498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0" name="Shape 1870"/>
              <p:cNvCxnSpPr/>
              <p:nvPr/>
            </p:nvCxnSpPr>
            <p:spPr>
              <a:xfrm>
                <a:off x="3660775" y="50625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1" name="Shape 1871"/>
              <p:cNvCxnSpPr/>
              <p:nvPr/>
            </p:nvCxnSpPr>
            <p:spPr>
              <a:xfrm>
                <a:off x="4362450" y="5046662"/>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2" name="Shape 1872"/>
              <p:cNvCxnSpPr/>
              <p:nvPr/>
            </p:nvCxnSpPr>
            <p:spPr>
              <a:xfrm>
                <a:off x="5068887" y="50498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3" name="Shape 1873"/>
              <p:cNvCxnSpPr/>
              <p:nvPr/>
            </p:nvCxnSpPr>
            <p:spPr>
              <a:xfrm>
                <a:off x="5773737" y="50498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4" name="Shape 1874"/>
              <p:cNvCxnSpPr/>
              <p:nvPr/>
            </p:nvCxnSpPr>
            <p:spPr>
              <a:xfrm>
                <a:off x="6496050" y="5049837"/>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1875" name="Shape 1875"/>
              <p:cNvCxnSpPr/>
              <p:nvPr/>
            </p:nvCxnSpPr>
            <p:spPr>
              <a:xfrm>
                <a:off x="7196137" y="5043487"/>
                <a:ext cx="0" cy="449262"/>
              </a:xfrm>
              <a:prstGeom prst="straightConnector1">
                <a:avLst/>
              </a:prstGeom>
              <a:noFill/>
              <a:ln w="28575" cap="flat" cmpd="sng">
                <a:solidFill>
                  <a:schemeClr val="accent1"/>
                </a:solidFill>
                <a:prstDash val="solid"/>
                <a:miter lim="800000"/>
                <a:headEnd type="none" w="med" len="med"/>
                <a:tailEnd type="none" w="med" len="med"/>
              </a:ln>
            </p:spPr>
          </p:cxnSp>
        </p:grpSp>
        <p:sp>
          <p:nvSpPr>
            <p:cNvPr id="1876" name="Shape 1876"/>
            <p:cNvSpPr txBox="1"/>
            <p:nvPr/>
          </p:nvSpPr>
          <p:spPr>
            <a:xfrm>
              <a:off x="1365250" y="4840287"/>
              <a:ext cx="6913562" cy="427037"/>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1      2      3     4      5      6      7      8      9     10</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877" name="Shape 1877"/>
          <p:cNvGrpSpPr/>
          <p:nvPr/>
        </p:nvGrpSpPr>
        <p:grpSpPr>
          <a:xfrm>
            <a:off x="5249862" y="3384550"/>
            <a:ext cx="2384425" cy="1169987"/>
            <a:chOff x="5249862" y="3384550"/>
            <a:chExt cx="2384425" cy="1169987"/>
          </a:xfrm>
        </p:grpSpPr>
        <p:sp>
          <p:nvSpPr>
            <p:cNvPr id="1878" name="Shape 1878"/>
            <p:cNvSpPr txBox="1"/>
            <p:nvPr/>
          </p:nvSpPr>
          <p:spPr>
            <a:xfrm>
              <a:off x="5249862" y="3384550"/>
              <a:ext cx="2384425" cy="547687"/>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采用顺序存储</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79" name="Shape 1879"/>
            <p:cNvSpPr/>
            <p:nvPr/>
          </p:nvSpPr>
          <p:spPr>
            <a:xfrm>
              <a:off x="6213475" y="4059237"/>
              <a:ext cx="404812" cy="495300"/>
            </a:xfrm>
            <a:prstGeom prst="down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880" name="Shape 1880"/>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3"/>
                                        </p:tgtEl>
                                        <p:attrNameLst>
                                          <p:attrName>style.visibility</p:attrName>
                                        </p:attrNameLst>
                                      </p:cBhvr>
                                      <p:to>
                                        <p:strVal val="visible"/>
                                      </p:to>
                                    </p:set>
                                    <p:animEffect transition="in" filter="fade">
                                      <p:cBhvr>
                                        <p:cTn id="7" dur="500"/>
                                        <p:tgtEl>
                                          <p:spTgt spid="18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884" name="Shape 1884"/>
        <p:cNvGrpSpPr/>
        <p:nvPr/>
      </p:nvGrpSpPr>
      <p:grpSpPr>
        <a:xfrm>
          <a:off x="0" y="0"/>
          <a:ext cx="0" cy="0"/>
          <a:chOff x="0" y="0"/>
          <a:chExt cx="0" cy="0"/>
        </a:xfrm>
      </p:grpSpPr>
      <p:sp>
        <p:nvSpPr>
          <p:cNvPr id="1885" name="Shape 1885"/>
          <p:cNvSpPr txBox="1"/>
          <p:nvPr/>
        </p:nvSpPr>
        <p:spPr>
          <a:xfrm>
            <a:off x="296862" y="1808162"/>
            <a:ext cx="8621712" cy="1800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基本思想：</a:t>
            </a:r>
            <a:r>
              <a:rPr lang="en-US" sz="2800" b="1" i="0" u="none">
                <a:solidFill>
                  <a:schemeClr val="dk1"/>
                </a:solidFill>
                <a:latin typeface="Arial" panose="020B0604020202020204"/>
                <a:ea typeface="Arial" panose="020B0604020202020204"/>
                <a:cs typeface="Arial" panose="020B0604020202020204"/>
                <a:sym typeface="Arial" panose="020B0604020202020204"/>
              </a:rPr>
              <a:t>首先将待排序的记录序列构造成一个堆，此时，选出了堆中所有记录的最大者，然后将它从堆中移走，并将剩余的记录再调整成堆，这样又找出了次小的记录，以此类推，直到堆中只有一个记录。</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86" name="Shape 1886"/>
          <p:cNvSpPr txBox="1"/>
          <p:nvPr/>
        </p:nvSpPr>
        <p:spPr>
          <a:xfrm>
            <a:off x="341312" y="1089025"/>
            <a:ext cx="53340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grpSp>
        <p:nvGrpSpPr>
          <p:cNvPr id="1887" name="Shape 1887"/>
          <p:cNvGrpSpPr/>
          <p:nvPr/>
        </p:nvGrpSpPr>
        <p:grpSpPr>
          <a:xfrm>
            <a:off x="431800" y="3789362"/>
            <a:ext cx="6604000" cy="542925"/>
            <a:chOff x="522287" y="3249612"/>
            <a:chExt cx="6604000" cy="542925"/>
          </a:xfrm>
        </p:grpSpPr>
        <p:sp>
          <p:nvSpPr>
            <p:cNvPr id="1888" name="Shape 1888"/>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1889" name="Shape 1889"/>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1890" name="Shape 1890"/>
          <p:cNvSpPr txBox="1"/>
          <p:nvPr/>
        </p:nvSpPr>
        <p:spPr>
          <a:xfrm>
            <a:off x="296862" y="4554537"/>
            <a:ext cx="8640762" cy="15446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⑴如何由一个无序序列建成一个堆（即初始建堆）？</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⑵如何处理堆顶记录？</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6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⑶如何调整剩余记录，成为一个新堆（即重建堆）？</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1" name="Shape 1891"/>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895" name="Shape 1895"/>
        <p:cNvGrpSpPr/>
        <p:nvPr/>
      </p:nvGrpSpPr>
      <p:grpSpPr>
        <a:xfrm>
          <a:off x="0" y="0"/>
          <a:ext cx="0" cy="0"/>
          <a:chOff x="0" y="0"/>
          <a:chExt cx="0" cy="0"/>
        </a:xfrm>
      </p:grpSpPr>
      <p:sp>
        <p:nvSpPr>
          <p:cNvPr id="1896" name="Shape 1896"/>
          <p:cNvSpPr txBox="1"/>
          <p:nvPr/>
        </p:nvSpPr>
        <p:spPr>
          <a:xfrm>
            <a:off x="250825" y="1089025"/>
            <a:ext cx="42672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堆调整</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1897" name="Shape 1897"/>
          <p:cNvSpPr txBox="1"/>
          <p:nvPr/>
        </p:nvSpPr>
        <p:spPr>
          <a:xfrm>
            <a:off x="273050" y="1719262"/>
            <a:ext cx="8870950"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堆调整：</a:t>
            </a:r>
            <a:r>
              <a:rPr lang="en-US" sz="2800" b="1" i="0" u="none">
                <a:solidFill>
                  <a:schemeClr val="dk1"/>
                </a:solidFill>
                <a:latin typeface="Arial" panose="020B0604020202020204"/>
                <a:ea typeface="Arial" panose="020B0604020202020204"/>
                <a:cs typeface="Arial" panose="020B0604020202020204"/>
                <a:sym typeface="Arial" panose="020B0604020202020204"/>
              </a:rPr>
              <a:t>在一棵完全二叉树中，根结点的左右子树均是堆，如何调整根结点，使整个完全二叉树成为一个堆？</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898" name="Shape 1898"/>
          <p:cNvGrpSpPr/>
          <p:nvPr/>
        </p:nvGrpSpPr>
        <p:grpSpPr>
          <a:xfrm>
            <a:off x="1233487" y="3149600"/>
            <a:ext cx="2541587" cy="2216149"/>
            <a:chOff x="1233487" y="3149600"/>
            <a:chExt cx="2541587" cy="2216149"/>
          </a:xfrm>
        </p:grpSpPr>
        <p:sp>
          <p:nvSpPr>
            <p:cNvPr id="1899" name="Shape 1899"/>
            <p:cNvSpPr/>
            <p:nvPr/>
          </p:nvSpPr>
          <p:spPr>
            <a:xfrm>
              <a:off x="2541587" y="3149600"/>
              <a:ext cx="468312" cy="468312"/>
            </a:xfrm>
            <a:prstGeom prst="ellipse">
              <a:avLst/>
            </a:prstGeom>
            <a:gradFill>
              <a:gsLst>
                <a:gs pos="0">
                  <a:srgbClr val="960067"/>
                </a:gs>
                <a:gs pos="100000">
                  <a:srgbClr val="D60093"/>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0" name="Shape 1900"/>
            <p:cNvSpPr txBox="1"/>
            <p:nvPr/>
          </p:nvSpPr>
          <p:spPr>
            <a:xfrm>
              <a:off x="2586037" y="315912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1" name="Shape 1901"/>
            <p:cNvSpPr/>
            <p:nvPr/>
          </p:nvSpPr>
          <p:spPr>
            <a:xfrm>
              <a:off x="2952750" y="3482975"/>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2" name="Shape 1902"/>
            <p:cNvSpPr/>
            <p:nvPr/>
          </p:nvSpPr>
          <p:spPr>
            <a:xfrm>
              <a:off x="2116137" y="4276725"/>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3" name="Shape 1903"/>
            <p:cNvSpPr/>
            <p:nvPr/>
          </p:nvSpPr>
          <p:spPr>
            <a:xfrm>
              <a:off x="1506537" y="4287837"/>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904" name="Shape 1904"/>
            <p:cNvCxnSpPr/>
            <p:nvPr/>
          </p:nvCxnSpPr>
          <p:spPr>
            <a:xfrm flipH="1">
              <a:off x="2136775" y="3498850"/>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1905" name="Shape 1905"/>
            <p:cNvSpPr/>
            <p:nvPr/>
          </p:nvSpPr>
          <p:spPr>
            <a:xfrm>
              <a:off x="3171825" y="4271962"/>
              <a:ext cx="225425" cy="58420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6" name="Shape 1906"/>
            <p:cNvSpPr/>
            <p:nvPr/>
          </p:nvSpPr>
          <p:spPr>
            <a:xfrm>
              <a:off x="1751012" y="38703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7" name="Shape 1907"/>
            <p:cNvSpPr txBox="1"/>
            <p:nvPr/>
          </p:nvSpPr>
          <p:spPr>
            <a:xfrm>
              <a:off x="1795462" y="39116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8" name="Shape 1908"/>
            <p:cNvSpPr/>
            <p:nvPr/>
          </p:nvSpPr>
          <p:spPr>
            <a:xfrm>
              <a:off x="3306762" y="38671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9" name="Shape 1909"/>
            <p:cNvSpPr txBox="1"/>
            <p:nvPr/>
          </p:nvSpPr>
          <p:spPr>
            <a:xfrm>
              <a:off x="3351212" y="390842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0" name="Shape 1910"/>
            <p:cNvSpPr/>
            <p:nvPr/>
          </p:nvSpPr>
          <p:spPr>
            <a:xfrm>
              <a:off x="2882900" y="48196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1" name="Shape 1911"/>
            <p:cNvSpPr txBox="1"/>
            <p:nvPr/>
          </p:nvSpPr>
          <p:spPr>
            <a:xfrm>
              <a:off x="2930525" y="481171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2" name="Shape 1912"/>
            <p:cNvSpPr/>
            <p:nvPr/>
          </p:nvSpPr>
          <p:spPr>
            <a:xfrm>
              <a:off x="2244725" y="48148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3" name="Shape 1913"/>
            <p:cNvSpPr txBox="1"/>
            <p:nvPr/>
          </p:nvSpPr>
          <p:spPr>
            <a:xfrm>
              <a:off x="2289175" y="48561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4" name="Shape 1914"/>
            <p:cNvSpPr/>
            <p:nvPr/>
          </p:nvSpPr>
          <p:spPr>
            <a:xfrm>
              <a:off x="1233487" y="48148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5" name="Shape 1915"/>
            <p:cNvSpPr txBox="1"/>
            <p:nvPr/>
          </p:nvSpPr>
          <p:spPr>
            <a:xfrm>
              <a:off x="1277937" y="48561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16" name="Shape 1916"/>
          <p:cNvSpPr/>
          <p:nvPr/>
        </p:nvSpPr>
        <p:spPr>
          <a:xfrm>
            <a:off x="4167187" y="3968750"/>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917" name="Shape 1917"/>
          <p:cNvGrpSpPr/>
          <p:nvPr/>
        </p:nvGrpSpPr>
        <p:grpSpPr>
          <a:xfrm>
            <a:off x="4729162" y="3508375"/>
            <a:ext cx="2541587" cy="1882774"/>
            <a:chOff x="4729162" y="3508375"/>
            <a:chExt cx="2541587" cy="1882774"/>
          </a:xfrm>
        </p:grpSpPr>
        <p:sp>
          <p:nvSpPr>
            <p:cNvPr id="1918" name="Shape 1918"/>
            <p:cNvSpPr/>
            <p:nvPr/>
          </p:nvSpPr>
          <p:spPr>
            <a:xfrm>
              <a:off x="6448425" y="3508375"/>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9" name="Shape 1919"/>
            <p:cNvSpPr/>
            <p:nvPr/>
          </p:nvSpPr>
          <p:spPr>
            <a:xfrm>
              <a:off x="5611812" y="4302125"/>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0" name="Shape 1920"/>
            <p:cNvSpPr/>
            <p:nvPr/>
          </p:nvSpPr>
          <p:spPr>
            <a:xfrm>
              <a:off x="5002212" y="4313237"/>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1" name="Shape 1921"/>
            <p:cNvSpPr/>
            <p:nvPr/>
          </p:nvSpPr>
          <p:spPr>
            <a:xfrm>
              <a:off x="6667500" y="4297362"/>
              <a:ext cx="225425" cy="58420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2" name="Shape 1922"/>
            <p:cNvSpPr/>
            <p:nvPr/>
          </p:nvSpPr>
          <p:spPr>
            <a:xfrm>
              <a:off x="6802437" y="38925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3" name="Shape 1923"/>
            <p:cNvSpPr txBox="1"/>
            <p:nvPr/>
          </p:nvSpPr>
          <p:spPr>
            <a:xfrm>
              <a:off x="6846887" y="393382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4" name="Shape 1924"/>
            <p:cNvSpPr/>
            <p:nvPr/>
          </p:nvSpPr>
          <p:spPr>
            <a:xfrm>
              <a:off x="6378575" y="48450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5" name="Shape 1925"/>
            <p:cNvSpPr txBox="1"/>
            <p:nvPr/>
          </p:nvSpPr>
          <p:spPr>
            <a:xfrm>
              <a:off x="6426200" y="483711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6" name="Shape 1926"/>
            <p:cNvSpPr/>
            <p:nvPr/>
          </p:nvSpPr>
          <p:spPr>
            <a:xfrm>
              <a:off x="5740400" y="48402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7" name="Shape 1927"/>
            <p:cNvSpPr txBox="1"/>
            <p:nvPr/>
          </p:nvSpPr>
          <p:spPr>
            <a:xfrm>
              <a:off x="5784850" y="48815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8" name="Shape 1928"/>
            <p:cNvSpPr/>
            <p:nvPr/>
          </p:nvSpPr>
          <p:spPr>
            <a:xfrm>
              <a:off x="4729162" y="48402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29" name="Shape 1929"/>
            <p:cNvSpPr txBox="1"/>
            <p:nvPr/>
          </p:nvSpPr>
          <p:spPr>
            <a:xfrm>
              <a:off x="4773612" y="48815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30" name="Shape 1930"/>
          <p:cNvGrpSpPr/>
          <p:nvPr/>
        </p:nvGrpSpPr>
        <p:grpSpPr>
          <a:xfrm>
            <a:off x="5276850" y="3179762"/>
            <a:ext cx="1203324" cy="1241425"/>
            <a:chOff x="5276850" y="3179762"/>
            <a:chExt cx="1203324" cy="1241425"/>
          </a:xfrm>
        </p:grpSpPr>
        <p:cxnSp>
          <p:nvCxnSpPr>
            <p:cNvPr id="1931" name="Shape 1931"/>
            <p:cNvCxnSpPr/>
            <p:nvPr/>
          </p:nvCxnSpPr>
          <p:spPr>
            <a:xfrm flipH="1">
              <a:off x="5632450" y="3524250"/>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1932" name="Shape 1932"/>
            <p:cNvSpPr/>
            <p:nvPr/>
          </p:nvSpPr>
          <p:spPr>
            <a:xfrm>
              <a:off x="6011862" y="31797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33" name="Shape 1933"/>
            <p:cNvSpPr txBox="1"/>
            <p:nvPr/>
          </p:nvSpPr>
          <p:spPr>
            <a:xfrm>
              <a:off x="6056312" y="3221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34" name="Shape 1934"/>
            <p:cNvSpPr/>
            <p:nvPr/>
          </p:nvSpPr>
          <p:spPr>
            <a:xfrm>
              <a:off x="5276850" y="3902075"/>
              <a:ext cx="468312" cy="468312"/>
            </a:xfrm>
            <a:prstGeom prst="ellipse">
              <a:avLst/>
            </a:prstGeom>
            <a:gradFill>
              <a:gsLst>
                <a:gs pos="0">
                  <a:srgbClr val="960067"/>
                </a:gs>
                <a:gs pos="100000">
                  <a:srgbClr val="D60093"/>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35" name="Shape 1935"/>
            <p:cNvSpPr txBox="1"/>
            <p:nvPr/>
          </p:nvSpPr>
          <p:spPr>
            <a:xfrm>
              <a:off x="5321300" y="39116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36" name="Shape 1936"/>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16"/>
                                        </p:tgtEl>
                                        <p:attrNameLst>
                                          <p:attrName>style.visibility</p:attrName>
                                        </p:attrNameLst>
                                      </p:cBhvr>
                                      <p:to>
                                        <p:strVal val="visible"/>
                                      </p:to>
                                    </p:set>
                                    <p:animEffect transition="in" filter="fade">
                                      <p:cBhvr>
                                        <p:cTn id="7" dur="500"/>
                                        <p:tgtEl>
                                          <p:spTgt spid="19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940" name="Shape 1940"/>
        <p:cNvGrpSpPr/>
        <p:nvPr/>
      </p:nvGrpSpPr>
      <p:grpSpPr>
        <a:xfrm>
          <a:off x="0" y="0"/>
          <a:ext cx="0" cy="0"/>
          <a:chOff x="0" y="0"/>
          <a:chExt cx="0" cy="0"/>
        </a:xfrm>
      </p:grpSpPr>
      <p:sp>
        <p:nvSpPr>
          <p:cNvPr id="1941" name="Shape 1941"/>
          <p:cNvSpPr txBox="1"/>
          <p:nvPr/>
        </p:nvSpPr>
        <p:spPr>
          <a:xfrm>
            <a:off x="412750" y="1719262"/>
            <a:ext cx="8731250" cy="4625975"/>
          </a:xfrm>
          <a:prstGeom prst="rect">
            <a:avLst/>
          </a:prstGeom>
          <a:noFill/>
          <a:ln>
            <a:noFill/>
          </a:ln>
        </p:spPr>
        <p:txBody>
          <a:bodyPr spcFirstLastPara="1" wrap="square" lIns="91425" tIns="45700" rIns="91425" bIns="45700" anchor="t" anchorCtr="0">
            <a:noAutofit/>
          </a:bodyPr>
          <a:lstStyle/>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sift ( int r[ ], int k, int m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600" b="1" i="0" u="none">
                <a:solidFill>
                  <a:schemeClr val="dk1"/>
                </a:solidFill>
                <a:latin typeface="Arial" panose="020B0604020202020204"/>
                <a:ea typeface="Arial" panose="020B0604020202020204"/>
                <a:cs typeface="Arial" panose="020B0604020202020204"/>
                <a:sym typeface="Arial" panose="020B0604020202020204"/>
              </a:rPr>
              <a:t>要筛选结点的编号为</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600" b="1" i="0" u="none">
                <a:solidFill>
                  <a:schemeClr val="dk1"/>
                </a:solidFill>
                <a:latin typeface="Arial" panose="020B0604020202020204"/>
                <a:ea typeface="Arial" panose="020B0604020202020204"/>
                <a:cs typeface="Arial" panose="020B0604020202020204"/>
                <a:sym typeface="Arial" panose="020B0604020202020204"/>
              </a:rPr>
              <a:t>，堆中最后一个结点的编号为</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i=k;  j=2*i;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(j&lt;=m )           //筛选还没有进行到叶子</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(j&lt;m &amp;&amp; r[j]&lt;r[j+1]) j++;  //左右孩子中取较大者</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(r[i]&gt;r[j]) break;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r[i] </a:t>
            </a:r>
            <a:r>
              <a:rPr lang="en-US" sz="1800" b="1" i="0" u="none">
                <a:solidFill>
                  <a:schemeClr val="dk1"/>
                </a:solidFill>
                <a:latin typeface="Arial" panose="020B0604020202020204"/>
                <a:ea typeface="Arial" panose="020B0604020202020204"/>
                <a:cs typeface="Arial" panose="020B0604020202020204"/>
                <a:sym typeface="Arial" panose="020B0604020202020204"/>
              </a:rPr>
              <a:t>←→</a:t>
            </a:r>
            <a:r>
              <a:rPr lang="en-US" sz="1800" b="0" i="0" u="none">
                <a:solidFill>
                  <a:schemeClr val="accent2"/>
                </a:solidFill>
                <a:latin typeface="Arial" panose="020B0604020202020204"/>
                <a:ea typeface="Arial" panose="020B0604020202020204"/>
                <a:cs typeface="Arial" panose="020B0604020202020204"/>
                <a:sym typeface="Arial" panose="020B0604020202020204"/>
              </a:rPr>
              <a:t> </a:t>
            </a: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r[j];   i=j;   j=2*i;</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5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42" name="Shape 1942"/>
          <p:cNvSpPr txBox="1"/>
          <p:nvPr/>
        </p:nvSpPr>
        <p:spPr>
          <a:xfrm>
            <a:off x="250825" y="1089025"/>
            <a:ext cx="4423200" cy="57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堆调整——</a:t>
            </a:r>
            <a:r>
              <a:rPr lang="en-US" sz="3200" b="1" i="0" u="none">
                <a:solidFill>
                  <a:schemeClr val="accent2"/>
                </a:solidFill>
                <a:latin typeface="Arial" panose="020B0604020202020204"/>
                <a:ea typeface="Arial" panose="020B0604020202020204"/>
                <a:cs typeface="Arial" panose="020B0604020202020204"/>
                <a:sym typeface="Arial" panose="020B0604020202020204"/>
              </a:rPr>
              <a:t>算法描述：</a:t>
            </a:r>
            <a:endParaRPr lang="en-US" sz="32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1943" name="Shape 1943"/>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1947" name="Shape 1947"/>
        <p:cNvGrpSpPr/>
        <p:nvPr/>
      </p:nvGrpSpPr>
      <p:grpSpPr>
        <a:xfrm>
          <a:off x="0" y="0"/>
          <a:ext cx="0" cy="0"/>
          <a:chOff x="0" y="0"/>
          <a:chExt cx="0" cy="0"/>
        </a:xfrm>
      </p:grpSpPr>
      <p:sp>
        <p:nvSpPr>
          <p:cNvPr id="1948" name="Shape 1948"/>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关键问题⑴：如何由一个无序序列建成一个堆？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949" name="Shape 1949"/>
          <p:cNvGrpSpPr/>
          <p:nvPr/>
        </p:nvGrpSpPr>
        <p:grpSpPr>
          <a:xfrm>
            <a:off x="690562" y="1808162"/>
            <a:ext cx="2541587" cy="2216150"/>
            <a:chOff x="341312" y="1808162"/>
            <a:chExt cx="2541587" cy="2216150"/>
          </a:xfrm>
        </p:grpSpPr>
        <p:sp>
          <p:nvSpPr>
            <p:cNvPr id="1950" name="Shape 1950"/>
            <p:cNvSpPr/>
            <p:nvPr/>
          </p:nvSpPr>
          <p:spPr>
            <a:xfrm>
              <a:off x="1649412" y="1808162"/>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1" name="Shape 1951"/>
            <p:cNvSpPr txBox="1"/>
            <p:nvPr/>
          </p:nvSpPr>
          <p:spPr>
            <a:xfrm>
              <a:off x="1693862" y="181768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2" name="Shape 1952"/>
            <p:cNvSpPr/>
            <p:nvPr/>
          </p:nvSpPr>
          <p:spPr>
            <a:xfrm>
              <a:off x="2060575" y="2141537"/>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3" name="Shape 1953"/>
            <p:cNvSpPr/>
            <p:nvPr/>
          </p:nvSpPr>
          <p:spPr>
            <a:xfrm>
              <a:off x="1223962" y="2935287"/>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4" name="Shape 1954"/>
            <p:cNvSpPr/>
            <p:nvPr/>
          </p:nvSpPr>
          <p:spPr>
            <a:xfrm>
              <a:off x="614362" y="2946400"/>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955" name="Shape 1955"/>
            <p:cNvCxnSpPr/>
            <p:nvPr/>
          </p:nvCxnSpPr>
          <p:spPr>
            <a:xfrm flipH="1">
              <a:off x="1244600" y="2157412"/>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1956" name="Shape 1956"/>
            <p:cNvSpPr/>
            <p:nvPr/>
          </p:nvSpPr>
          <p:spPr>
            <a:xfrm>
              <a:off x="2232025" y="2933700"/>
              <a:ext cx="269875" cy="53975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7" name="Shape 1957"/>
            <p:cNvSpPr/>
            <p:nvPr/>
          </p:nvSpPr>
          <p:spPr>
            <a:xfrm>
              <a:off x="858837" y="25288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8" name="Shape 1958"/>
            <p:cNvSpPr txBox="1"/>
            <p:nvPr/>
          </p:nvSpPr>
          <p:spPr>
            <a:xfrm>
              <a:off x="903287" y="25701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59" name="Shape 1959"/>
            <p:cNvSpPr/>
            <p:nvPr/>
          </p:nvSpPr>
          <p:spPr>
            <a:xfrm>
              <a:off x="2414587" y="252571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0" name="Shape 1960"/>
            <p:cNvSpPr txBox="1"/>
            <p:nvPr/>
          </p:nvSpPr>
          <p:spPr>
            <a:xfrm>
              <a:off x="2459037" y="256698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1" name="Shape 1961"/>
            <p:cNvSpPr/>
            <p:nvPr/>
          </p:nvSpPr>
          <p:spPr>
            <a:xfrm>
              <a:off x="1943100" y="347821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2" name="Shape 1962"/>
            <p:cNvSpPr txBox="1"/>
            <p:nvPr/>
          </p:nvSpPr>
          <p:spPr>
            <a:xfrm>
              <a:off x="1990725" y="34702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3" name="Shape 1963"/>
            <p:cNvSpPr/>
            <p:nvPr/>
          </p:nvSpPr>
          <p:spPr>
            <a:xfrm>
              <a:off x="1352550" y="34734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4" name="Shape 1964"/>
            <p:cNvSpPr txBox="1"/>
            <p:nvPr/>
          </p:nvSpPr>
          <p:spPr>
            <a:xfrm>
              <a:off x="1397000" y="351472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5" name="Shape 1965"/>
            <p:cNvSpPr/>
            <p:nvPr/>
          </p:nvSpPr>
          <p:spPr>
            <a:xfrm>
              <a:off x="341312" y="347345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6" name="Shape 1966"/>
            <p:cNvSpPr txBox="1"/>
            <p:nvPr/>
          </p:nvSpPr>
          <p:spPr>
            <a:xfrm>
              <a:off x="385762" y="351472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67" name="Shape 1967"/>
          <p:cNvSpPr/>
          <p:nvPr/>
        </p:nvSpPr>
        <p:spPr>
          <a:xfrm>
            <a:off x="3706812" y="2619375"/>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968" name="Shape 1968"/>
          <p:cNvGrpSpPr/>
          <p:nvPr/>
        </p:nvGrpSpPr>
        <p:grpSpPr>
          <a:xfrm>
            <a:off x="2760662" y="2532062"/>
            <a:ext cx="468312" cy="550862"/>
            <a:chOff x="2997200" y="3343275"/>
            <a:chExt cx="468312" cy="550862"/>
          </a:xfrm>
        </p:grpSpPr>
        <p:sp>
          <p:nvSpPr>
            <p:cNvPr id="1969" name="Shape 1969"/>
            <p:cNvSpPr/>
            <p:nvPr/>
          </p:nvSpPr>
          <p:spPr>
            <a:xfrm>
              <a:off x="2997200" y="3343275"/>
              <a:ext cx="468312" cy="468312"/>
            </a:xfrm>
            <a:prstGeom prst="ellipse">
              <a:avLst/>
            </a:prstGeom>
            <a:gradFill>
              <a:gsLst>
                <a:gs pos="0">
                  <a:srgbClr val="960067"/>
                </a:gs>
                <a:gs pos="100000">
                  <a:srgbClr val="D60093"/>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0" name="Shape 1970"/>
            <p:cNvSpPr txBox="1"/>
            <p:nvPr/>
          </p:nvSpPr>
          <p:spPr>
            <a:xfrm>
              <a:off x="3041650" y="33845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71" name="Shape 1971"/>
          <p:cNvGrpSpPr/>
          <p:nvPr/>
        </p:nvGrpSpPr>
        <p:grpSpPr>
          <a:xfrm>
            <a:off x="6073775" y="2532062"/>
            <a:ext cx="939799" cy="1485900"/>
            <a:chOff x="5724525" y="2706687"/>
            <a:chExt cx="939799" cy="1485900"/>
          </a:xfrm>
        </p:grpSpPr>
        <p:sp>
          <p:nvSpPr>
            <p:cNvPr id="1972" name="Shape 1972"/>
            <p:cNvSpPr/>
            <p:nvPr/>
          </p:nvSpPr>
          <p:spPr>
            <a:xfrm>
              <a:off x="6013450" y="3114675"/>
              <a:ext cx="269875" cy="53975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3" name="Shape 1973"/>
            <p:cNvSpPr/>
            <p:nvPr/>
          </p:nvSpPr>
          <p:spPr>
            <a:xfrm>
              <a:off x="6196012" y="27066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4" name="Shape 1974"/>
            <p:cNvSpPr txBox="1"/>
            <p:nvPr/>
          </p:nvSpPr>
          <p:spPr>
            <a:xfrm>
              <a:off x="6240462" y="27479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5" name="Shape 1975"/>
            <p:cNvSpPr/>
            <p:nvPr/>
          </p:nvSpPr>
          <p:spPr>
            <a:xfrm>
              <a:off x="5724525" y="36591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76" name="Shape 1976"/>
            <p:cNvSpPr txBox="1"/>
            <p:nvPr/>
          </p:nvSpPr>
          <p:spPr>
            <a:xfrm>
              <a:off x="5772150" y="36830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1977" name="Shape 1977"/>
          <p:cNvGrpSpPr/>
          <p:nvPr/>
        </p:nvGrpSpPr>
        <p:grpSpPr>
          <a:xfrm>
            <a:off x="4471987" y="1814512"/>
            <a:ext cx="2163763" cy="2216150"/>
            <a:chOff x="4122737" y="1989137"/>
            <a:chExt cx="2163763" cy="2216150"/>
          </a:xfrm>
        </p:grpSpPr>
        <p:sp>
          <p:nvSpPr>
            <p:cNvPr id="1978" name="Shape 1978"/>
            <p:cNvSpPr/>
            <p:nvPr/>
          </p:nvSpPr>
          <p:spPr>
            <a:xfrm>
              <a:off x="5842000" y="2322512"/>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979" name="Shape 1979"/>
            <p:cNvGrpSpPr/>
            <p:nvPr/>
          </p:nvGrpSpPr>
          <p:grpSpPr>
            <a:xfrm>
              <a:off x="4122737" y="1989137"/>
              <a:ext cx="1776412" cy="2216150"/>
              <a:chOff x="4122737" y="1989137"/>
              <a:chExt cx="1776412" cy="2216150"/>
            </a:xfrm>
          </p:grpSpPr>
          <p:sp>
            <p:nvSpPr>
              <p:cNvPr id="1980" name="Shape 1980"/>
              <p:cNvSpPr/>
              <p:nvPr/>
            </p:nvSpPr>
            <p:spPr>
              <a:xfrm>
                <a:off x="5430837" y="1989137"/>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1" name="Shape 1981"/>
              <p:cNvSpPr txBox="1"/>
              <p:nvPr/>
            </p:nvSpPr>
            <p:spPr>
              <a:xfrm>
                <a:off x="5475287" y="19986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2" name="Shape 1982"/>
              <p:cNvSpPr/>
              <p:nvPr/>
            </p:nvSpPr>
            <p:spPr>
              <a:xfrm>
                <a:off x="5005387" y="3116262"/>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3" name="Shape 1983"/>
              <p:cNvSpPr/>
              <p:nvPr/>
            </p:nvSpPr>
            <p:spPr>
              <a:xfrm>
                <a:off x="4395787" y="3127375"/>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984" name="Shape 1984"/>
              <p:cNvCxnSpPr/>
              <p:nvPr/>
            </p:nvCxnSpPr>
            <p:spPr>
              <a:xfrm flipH="1">
                <a:off x="5026025" y="2338387"/>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1985" name="Shape 1985"/>
              <p:cNvSpPr/>
              <p:nvPr/>
            </p:nvSpPr>
            <p:spPr>
              <a:xfrm>
                <a:off x="4640262" y="27098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6" name="Shape 1986"/>
              <p:cNvSpPr txBox="1"/>
              <p:nvPr/>
            </p:nvSpPr>
            <p:spPr>
              <a:xfrm>
                <a:off x="4684712" y="27511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7" name="Shape 1987"/>
              <p:cNvSpPr/>
              <p:nvPr/>
            </p:nvSpPr>
            <p:spPr>
              <a:xfrm>
                <a:off x="5133975" y="36544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8" name="Shape 1988"/>
              <p:cNvSpPr txBox="1"/>
              <p:nvPr/>
            </p:nvSpPr>
            <p:spPr>
              <a:xfrm>
                <a:off x="5178425" y="36957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89" name="Shape 1989"/>
              <p:cNvSpPr/>
              <p:nvPr/>
            </p:nvSpPr>
            <p:spPr>
              <a:xfrm>
                <a:off x="4122737" y="36544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90" name="Shape 1990"/>
              <p:cNvSpPr txBox="1"/>
              <p:nvPr/>
            </p:nvSpPr>
            <p:spPr>
              <a:xfrm>
                <a:off x="4167187" y="36957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grpSp>
        <p:nvGrpSpPr>
          <p:cNvPr id="1991" name="Shape 1991"/>
          <p:cNvGrpSpPr/>
          <p:nvPr/>
        </p:nvGrpSpPr>
        <p:grpSpPr>
          <a:xfrm>
            <a:off x="4997450" y="2533650"/>
            <a:ext cx="468312" cy="550862"/>
            <a:chOff x="2997200" y="3343275"/>
            <a:chExt cx="468312" cy="550862"/>
          </a:xfrm>
        </p:grpSpPr>
        <p:sp>
          <p:nvSpPr>
            <p:cNvPr id="1992" name="Shape 1992"/>
            <p:cNvSpPr/>
            <p:nvPr/>
          </p:nvSpPr>
          <p:spPr>
            <a:xfrm>
              <a:off x="2997200" y="3343275"/>
              <a:ext cx="468312" cy="468312"/>
            </a:xfrm>
            <a:prstGeom prst="ellipse">
              <a:avLst/>
            </a:prstGeom>
            <a:gradFill>
              <a:gsLst>
                <a:gs pos="0">
                  <a:srgbClr val="960067"/>
                </a:gs>
                <a:gs pos="100000">
                  <a:srgbClr val="D60093"/>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93" name="Shape 1993"/>
            <p:cNvSpPr txBox="1"/>
            <p:nvPr/>
          </p:nvSpPr>
          <p:spPr>
            <a:xfrm>
              <a:off x="3041650" y="33845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1994" name="Shape 1994"/>
          <p:cNvSpPr/>
          <p:nvPr/>
        </p:nvSpPr>
        <p:spPr>
          <a:xfrm>
            <a:off x="7586662" y="2619375"/>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995" name="Shape 1995"/>
          <p:cNvGrpSpPr/>
          <p:nvPr/>
        </p:nvGrpSpPr>
        <p:grpSpPr>
          <a:xfrm>
            <a:off x="1593850" y="4194175"/>
            <a:ext cx="1638299" cy="2203449"/>
            <a:chOff x="1244600" y="4194175"/>
            <a:chExt cx="1638299" cy="2203449"/>
          </a:xfrm>
        </p:grpSpPr>
        <p:sp>
          <p:nvSpPr>
            <p:cNvPr id="1996" name="Shape 1996"/>
            <p:cNvSpPr/>
            <p:nvPr/>
          </p:nvSpPr>
          <p:spPr>
            <a:xfrm>
              <a:off x="2232025" y="5319712"/>
              <a:ext cx="269875" cy="53975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97" name="Shape 1997"/>
            <p:cNvSpPr/>
            <p:nvPr/>
          </p:nvSpPr>
          <p:spPr>
            <a:xfrm>
              <a:off x="2414587" y="49117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98" name="Shape 1998"/>
            <p:cNvSpPr txBox="1"/>
            <p:nvPr/>
          </p:nvSpPr>
          <p:spPr>
            <a:xfrm>
              <a:off x="2459037" y="49530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99" name="Shape 1999"/>
            <p:cNvSpPr/>
            <p:nvPr/>
          </p:nvSpPr>
          <p:spPr>
            <a:xfrm>
              <a:off x="1943100" y="58642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0" name="Shape 2000"/>
            <p:cNvSpPr txBox="1"/>
            <p:nvPr/>
          </p:nvSpPr>
          <p:spPr>
            <a:xfrm>
              <a:off x="1990725" y="5888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1" name="Shape 2001"/>
            <p:cNvSpPr/>
            <p:nvPr/>
          </p:nvSpPr>
          <p:spPr>
            <a:xfrm>
              <a:off x="2060575" y="4527550"/>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2" name="Shape 2002"/>
            <p:cNvSpPr/>
            <p:nvPr/>
          </p:nvSpPr>
          <p:spPr>
            <a:xfrm>
              <a:off x="1649412" y="4194175"/>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3" name="Shape 2003"/>
            <p:cNvSpPr txBox="1"/>
            <p:nvPr/>
          </p:nvSpPr>
          <p:spPr>
            <a:xfrm>
              <a:off x="1693862" y="42037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04" name="Shape 2004"/>
            <p:cNvCxnSpPr/>
            <p:nvPr/>
          </p:nvCxnSpPr>
          <p:spPr>
            <a:xfrm flipH="1">
              <a:off x="1244600" y="4543425"/>
              <a:ext cx="439737" cy="457200"/>
            </a:xfrm>
            <a:prstGeom prst="straightConnector1">
              <a:avLst/>
            </a:prstGeom>
            <a:noFill/>
            <a:ln w="28575" cap="flat" cmpd="sng">
              <a:solidFill>
                <a:srgbClr val="008080"/>
              </a:solidFill>
              <a:prstDash val="solid"/>
              <a:miter lim="800000"/>
              <a:headEnd type="none" w="med" len="med"/>
              <a:tailEnd type="none" w="med" len="med"/>
            </a:ln>
          </p:spPr>
        </p:cxnSp>
      </p:grpSp>
      <p:grpSp>
        <p:nvGrpSpPr>
          <p:cNvPr id="2005" name="Shape 2005"/>
          <p:cNvGrpSpPr/>
          <p:nvPr/>
        </p:nvGrpSpPr>
        <p:grpSpPr>
          <a:xfrm>
            <a:off x="690562" y="4914900"/>
            <a:ext cx="1479550" cy="1495424"/>
            <a:chOff x="341312" y="4914900"/>
            <a:chExt cx="1479550" cy="1495424"/>
          </a:xfrm>
        </p:grpSpPr>
        <p:sp>
          <p:nvSpPr>
            <p:cNvPr id="2006" name="Shape 2006"/>
            <p:cNvSpPr/>
            <p:nvPr/>
          </p:nvSpPr>
          <p:spPr>
            <a:xfrm>
              <a:off x="1223962" y="5321300"/>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7" name="Shape 2007"/>
            <p:cNvSpPr/>
            <p:nvPr/>
          </p:nvSpPr>
          <p:spPr>
            <a:xfrm>
              <a:off x="1352550" y="58594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8" name="Shape 2008"/>
            <p:cNvSpPr txBox="1"/>
            <p:nvPr/>
          </p:nvSpPr>
          <p:spPr>
            <a:xfrm>
              <a:off x="1397000" y="59007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09" name="Shape 2009"/>
            <p:cNvGrpSpPr/>
            <p:nvPr/>
          </p:nvGrpSpPr>
          <p:grpSpPr>
            <a:xfrm>
              <a:off x="341312" y="4914900"/>
              <a:ext cx="985837" cy="1495424"/>
              <a:chOff x="341312" y="4914900"/>
              <a:chExt cx="985837" cy="1495424"/>
            </a:xfrm>
          </p:grpSpPr>
          <p:sp>
            <p:nvSpPr>
              <p:cNvPr id="2010" name="Shape 2010"/>
              <p:cNvSpPr/>
              <p:nvPr/>
            </p:nvSpPr>
            <p:spPr>
              <a:xfrm>
                <a:off x="614362" y="5332412"/>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1" name="Shape 2011"/>
              <p:cNvSpPr/>
              <p:nvPr/>
            </p:nvSpPr>
            <p:spPr>
              <a:xfrm>
                <a:off x="858837" y="49149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2" name="Shape 2012"/>
              <p:cNvSpPr txBox="1"/>
              <p:nvPr/>
            </p:nvSpPr>
            <p:spPr>
              <a:xfrm>
                <a:off x="903287" y="49561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3" name="Shape 2013"/>
              <p:cNvSpPr/>
              <p:nvPr/>
            </p:nvSpPr>
            <p:spPr>
              <a:xfrm>
                <a:off x="341312" y="58594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4" name="Shape 2014"/>
              <p:cNvSpPr txBox="1"/>
              <p:nvPr/>
            </p:nvSpPr>
            <p:spPr>
              <a:xfrm>
                <a:off x="385762" y="59007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grpSp>
        <p:nvGrpSpPr>
          <p:cNvPr id="2015" name="Shape 2015"/>
          <p:cNvGrpSpPr/>
          <p:nvPr/>
        </p:nvGrpSpPr>
        <p:grpSpPr>
          <a:xfrm>
            <a:off x="1995487" y="4194175"/>
            <a:ext cx="468312" cy="550862"/>
            <a:chOff x="2997200" y="3343275"/>
            <a:chExt cx="468312" cy="550862"/>
          </a:xfrm>
        </p:grpSpPr>
        <p:sp>
          <p:nvSpPr>
            <p:cNvPr id="2016" name="Shape 2016"/>
            <p:cNvSpPr/>
            <p:nvPr/>
          </p:nvSpPr>
          <p:spPr>
            <a:xfrm>
              <a:off x="2997200" y="3343275"/>
              <a:ext cx="468312" cy="468312"/>
            </a:xfrm>
            <a:prstGeom prst="ellipse">
              <a:avLst/>
            </a:prstGeom>
            <a:gradFill>
              <a:gsLst>
                <a:gs pos="0">
                  <a:srgbClr val="960067"/>
                </a:gs>
                <a:gs pos="100000">
                  <a:srgbClr val="D60093"/>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7" name="Shape 2017"/>
            <p:cNvSpPr txBox="1"/>
            <p:nvPr/>
          </p:nvSpPr>
          <p:spPr>
            <a:xfrm>
              <a:off x="3041650" y="33845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018" name="Shape 2018"/>
          <p:cNvSpPr/>
          <p:nvPr/>
        </p:nvSpPr>
        <p:spPr>
          <a:xfrm>
            <a:off x="3660775" y="5049837"/>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019" name="Shape 2019"/>
          <p:cNvGrpSpPr/>
          <p:nvPr/>
        </p:nvGrpSpPr>
        <p:grpSpPr>
          <a:xfrm>
            <a:off x="5303837" y="4181475"/>
            <a:ext cx="2024062" cy="1271587"/>
            <a:chOff x="4954587" y="4308475"/>
            <a:chExt cx="2024062" cy="1271587"/>
          </a:xfrm>
        </p:grpSpPr>
        <p:sp>
          <p:nvSpPr>
            <p:cNvPr id="2020" name="Shape 2020"/>
            <p:cNvSpPr/>
            <p:nvPr/>
          </p:nvSpPr>
          <p:spPr>
            <a:xfrm>
              <a:off x="6510337" y="50260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1" name="Shape 2021"/>
            <p:cNvSpPr txBox="1"/>
            <p:nvPr/>
          </p:nvSpPr>
          <p:spPr>
            <a:xfrm>
              <a:off x="6554787" y="50673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2" name="Shape 2022"/>
            <p:cNvSpPr/>
            <p:nvPr/>
          </p:nvSpPr>
          <p:spPr>
            <a:xfrm>
              <a:off x="6156325" y="4641850"/>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3" name="Shape 2023"/>
            <p:cNvSpPr/>
            <p:nvPr/>
          </p:nvSpPr>
          <p:spPr>
            <a:xfrm>
              <a:off x="5745162" y="4308475"/>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4" name="Shape 2024"/>
            <p:cNvSpPr txBox="1"/>
            <p:nvPr/>
          </p:nvSpPr>
          <p:spPr>
            <a:xfrm>
              <a:off x="5789612" y="43180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25" name="Shape 2025"/>
            <p:cNvCxnSpPr/>
            <p:nvPr/>
          </p:nvCxnSpPr>
          <p:spPr>
            <a:xfrm flipH="1">
              <a:off x="5340350" y="4657725"/>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2026" name="Shape 2026"/>
            <p:cNvSpPr/>
            <p:nvPr/>
          </p:nvSpPr>
          <p:spPr>
            <a:xfrm>
              <a:off x="4954587" y="50292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27" name="Shape 2027"/>
            <p:cNvSpPr txBox="1"/>
            <p:nvPr/>
          </p:nvSpPr>
          <p:spPr>
            <a:xfrm>
              <a:off x="4999037" y="50704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028" name="Shape 2028"/>
          <p:cNvGrpSpPr/>
          <p:nvPr/>
        </p:nvGrpSpPr>
        <p:grpSpPr>
          <a:xfrm>
            <a:off x="4786312" y="5307012"/>
            <a:ext cx="2160588" cy="1090612"/>
            <a:chOff x="4437062" y="5434012"/>
            <a:chExt cx="2160588" cy="1090612"/>
          </a:xfrm>
        </p:grpSpPr>
        <p:sp>
          <p:nvSpPr>
            <p:cNvPr id="2029" name="Shape 2029"/>
            <p:cNvSpPr/>
            <p:nvPr/>
          </p:nvSpPr>
          <p:spPr>
            <a:xfrm>
              <a:off x="6327775" y="5434012"/>
              <a:ext cx="269875" cy="53975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0" name="Shape 2030"/>
            <p:cNvSpPr/>
            <p:nvPr/>
          </p:nvSpPr>
          <p:spPr>
            <a:xfrm>
              <a:off x="6038850" y="59785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1" name="Shape 2031"/>
            <p:cNvSpPr txBox="1"/>
            <p:nvPr/>
          </p:nvSpPr>
          <p:spPr>
            <a:xfrm>
              <a:off x="6086475" y="60023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2" name="Shape 2032"/>
            <p:cNvSpPr/>
            <p:nvPr/>
          </p:nvSpPr>
          <p:spPr>
            <a:xfrm>
              <a:off x="5319712" y="5435600"/>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3" name="Shape 2033"/>
            <p:cNvSpPr/>
            <p:nvPr/>
          </p:nvSpPr>
          <p:spPr>
            <a:xfrm>
              <a:off x="5448300" y="59737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4" name="Shape 2034"/>
            <p:cNvSpPr txBox="1"/>
            <p:nvPr/>
          </p:nvSpPr>
          <p:spPr>
            <a:xfrm>
              <a:off x="5492750" y="6015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5" name="Shape 2035"/>
            <p:cNvSpPr/>
            <p:nvPr/>
          </p:nvSpPr>
          <p:spPr>
            <a:xfrm>
              <a:off x="4710112" y="5446712"/>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6" name="Shape 2036"/>
            <p:cNvSpPr/>
            <p:nvPr/>
          </p:nvSpPr>
          <p:spPr>
            <a:xfrm>
              <a:off x="4437062" y="59737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7" name="Shape 2037"/>
            <p:cNvSpPr txBox="1"/>
            <p:nvPr/>
          </p:nvSpPr>
          <p:spPr>
            <a:xfrm>
              <a:off x="4481512" y="6015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038" name="Shape 2038"/>
          <p:cNvSpPr txBox="1"/>
          <p:nvPr/>
        </p:nvSpPr>
        <p:spPr>
          <a:xfrm>
            <a:off x="2228850" y="2438400"/>
            <a:ext cx="1217612" cy="1624012"/>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039" name="Shape 2039"/>
          <p:cNvSpPr txBox="1"/>
          <p:nvPr/>
        </p:nvSpPr>
        <p:spPr>
          <a:xfrm>
            <a:off x="4392612" y="2438400"/>
            <a:ext cx="1619250" cy="1624012"/>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040" name="Shape 2040"/>
          <p:cNvSpPr txBox="1"/>
          <p:nvPr/>
        </p:nvSpPr>
        <p:spPr>
          <a:xfrm>
            <a:off x="657225" y="4149725"/>
            <a:ext cx="2654300" cy="2449512"/>
          </a:xfrm>
          <a:prstGeom prst="rect">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900"/>
              </a:spcBef>
              <a:spcAft>
                <a:spcPts val="0"/>
              </a:spcAft>
              <a:buClr>
                <a:schemeClr val="dk1"/>
              </a:buClr>
              <a:buSzPts val="1800"/>
              <a:buFont typeface="Times New Roman" panose="02020603050405020304"/>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8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041" name="Shape 2041"/>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38"/>
                                        </p:tgtEl>
                                        <p:attrNameLst>
                                          <p:attrName>style.visibility</p:attrName>
                                        </p:attrNameLst>
                                      </p:cBhvr>
                                      <p:to>
                                        <p:strVal val="visible"/>
                                      </p:to>
                                    </p:set>
                                    <p:animEffect transition="in" filter="fade">
                                      <p:cBhvr>
                                        <p:cTn id="7" dur="500"/>
                                        <p:tgtEl>
                                          <p:spTgt spid="20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67"/>
                                        </p:tgtEl>
                                        <p:attrNameLst>
                                          <p:attrName>style.visibility</p:attrName>
                                        </p:attrNameLst>
                                      </p:cBhvr>
                                      <p:to>
                                        <p:strVal val="visible"/>
                                      </p:to>
                                    </p:set>
                                    <p:animEffect transition="in" filter="fade">
                                      <p:cBhvr>
                                        <p:cTn id="12" dur="500"/>
                                        <p:tgtEl>
                                          <p:spTgt spid="196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39"/>
                                        </p:tgtEl>
                                        <p:attrNameLst>
                                          <p:attrName>style.visibility</p:attrName>
                                        </p:attrNameLst>
                                      </p:cBhvr>
                                      <p:to>
                                        <p:strVal val="visible"/>
                                      </p:to>
                                    </p:set>
                                    <p:animEffect transition="in" filter="fade">
                                      <p:cBhvr>
                                        <p:cTn id="17" dur="500"/>
                                        <p:tgtEl>
                                          <p:spTgt spid="20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94"/>
                                        </p:tgtEl>
                                        <p:attrNameLst>
                                          <p:attrName>style.visibility</p:attrName>
                                        </p:attrNameLst>
                                      </p:cBhvr>
                                      <p:to>
                                        <p:strVal val="visible"/>
                                      </p:to>
                                    </p:set>
                                    <p:animEffect transition="in" filter="fade">
                                      <p:cBhvr>
                                        <p:cTn id="22" dur="500"/>
                                        <p:tgtEl>
                                          <p:spTgt spid="199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40"/>
                                        </p:tgtEl>
                                        <p:attrNameLst>
                                          <p:attrName>style.visibility</p:attrName>
                                        </p:attrNameLst>
                                      </p:cBhvr>
                                      <p:to>
                                        <p:strVal val="visible"/>
                                      </p:to>
                                    </p:set>
                                    <p:animEffect transition="in" filter="fade">
                                      <p:cBhvr>
                                        <p:cTn id="27" dur="500"/>
                                        <p:tgtEl>
                                          <p:spTgt spid="204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18"/>
                                        </p:tgtEl>
                                        <p:attrNameLst>
                                          <p:attrName>style.visibility</p:attrName>
                                        </p:attrNameLst>
                                      </p:cBhvr>
                                      <p:to>
                                        <p:strVal val="visible"/>
                                      </p:to>
                                    </p:set>
                                    <p:animEffect transition="in" filter="fade">
                                      <p:cBhvr>
                                        <p:cTn id="32" dur="500"/>
                                        <p:tgtEl>
                                          <p:spTgt spid="20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045" name="Shape 2045"/>
        <p:cNvGrpSpPr/>
        <p:nvPr/>
      </p:nvGrpSpPr>
      <p:grpSpPr>
        <a:xfrm>
          <a:off x="0" y="0"/>
          <a:ext cx="0" cy="0"/>
          <a:chOff x="0" y="0"/>
          <a:chExt cx="0" cy="0"/>
        </a:xfrm>
      </p:grpSpPr>
      <p:sp>
        <p:nvSpPr>
          <p:cNvPr id="2046" name="Shape 2046"/>
          <p:cNvSpPr txBox="1"/>
          <p:nvPr/>
        </p:nvSpPr>
        <p:spPr>
          <a:xfrm>
            <a:off x="385762" y="1989137"/>
            <a:ext cx="5984875" cy="1587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for (i=n/2; i&gt;=1; i--)</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sift(r, i, n) ;</a:t>
            </a:r>
            <a:r>
              <a:rPr lang="en-US" sz="28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47" name="Shape 2047"/>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关键问题⑴：如何由一个无序序列建成一个堆？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048" name="Shape 2048"/>
          <p:cNvSpPr txBox="1"/>
          <p:nvPr/>
        </p:nvSpPr>
        <p:spPr>
          <a:xfrm>
            <a:off x="476250" y="3878262"/>
            <a:ext cx="8253412" cy="974725"/>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最后一个结点（叶子）的序号是</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，则最后一个分支结点即为结点</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的双亲，其序号是</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49" name="Shape 2049"/>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053" name="Shape 2053"/>
        <p:cNvGrpSpPr/>
        <p:nvPr/>
      </p:nvGrpSpPr>
      <p:grpSpPr>
        <a:xfrm>
          <a:off x="0" y="0"/>
          <a:ext cx="0" cy="0"/>
          <a:chOff x="0" y="0"/>
          <a:chExt cx="0" cy="0"/>
        </a:xfrm>
      </p:grpSpPr>
      <p:sp>
        <p:nvSpPr>
          <p:cNvPr id="2054" name="Shape 2054"/>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关键问题⑵：如何处理堆顶记录？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055" name="Shape 2055"/>
          <p:cNvGrpSpPr/>
          <p:nvPr/>
        </p:nvGrpSpPr>
        <p:grpSpPr>
          <a:xfrm>
            <a:off x="809625" y="1700212"/>
            <a:ext cx="2541587" cy="2216150"/>
            <a:chOff x="809625" y="1700212"/>
            <a:chExt cx="2541587" cy="2216150"/>
          </a:xfrm>
        </p:grpSpPr>
        <p:grpSp>
          <p:nvGrpSpPr>
            <p:cNvPr id="2056" name="Shape 2056"/>
            <p:cNvGrpSpPr/>
            <p:nvPr/>
          </p:nvGrpSpPr>
          <p:grpSpPr>
            <a:xfrm>
              <a:off x="1327150" y="1700212"/>
              <a:ext cx="2024062" cy="1271587"/>
              <a:chOff x="4954587" y="4308475"/>
              <a:chExt cx="2024062" cy="1271587"/>
            </a:xfrm>
          </p:grpSpPr>
          <p:sp>
            <p:nvSpPr>
              <p:cNvPr id="2057" name="Shape 2057"/>
              <p:cNvSpPr/>
              <p:nvPr/>
            </p:nvSpPr>
            <p:spPr>
              <a:xfrm>
                <a:off x="6510337" y="50260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8" name="Shape 2058"/>
              <p:cNvSpPr txBox="1"/>
              <p:nvPr/>
            </p:nvSpPr>
            <p:spPr>
              <a:xfrm>
                <a:off x="6554787" y="50673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59" name="Shape 2059"/>
              <p:cNvSpPr/>
              <p:nvPr/>
            </p:nvSpPr>
            <p:spPr>
              <a:xfrm>
                <a:off x="6156325" y="4641850"/>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0" name="Shape 2060"/>
              <p:cNvSpPr/>
              <p:nvPr/>
            </p:nvSpPr>
            <p:spPr>
              <a:xfrm>
                <a:off x="5745162" y="4308475"/>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1" name="Shape 2061"/>
              <p:cNvSpPr txBox="1"/>
              <p:nvPr/>
            </p:nvSpPr>
            <p:spPr>
              <a:xfrm>
                <a:off x="5789612" y="43180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62" name="Shape 2062"/>
              <p:cNvCxnSpPr/>
              <p:nvPr/>
            </p:nvCxnSpPr>
            <p:spPr>
              <a:xfrm flipH="1">
                <a:off x="5340350" y="4657725"/>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2063" name="Shape 2063"/>
              <p:cNvSpPr/>
              <p:nvPr/>
            </p:nvSpPr>
            <p:spPr>
              <a:xfrm>
                <a:off x="4954587" y="50292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4" name="Shape 2064"/>
              <p:cNvSpPr txBox="1"/>
              <p:nvPr/>
            </p:nvSpPr>
            <p:spPr>
              <a:xfrm>
                <a:off x="4999037" y="50704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065" name="Shape 2065"/>
            <p:cNvGrpSpPr/>
            <p:nvPr/>
          </p:nvGrpSpPr>
          <p:grpSpPr>
            <a:xfrm>
              <a:off x="809625" y="2825750"/>
              <a:ext cx="2160588" cy="1090612"/>
              <a:chOff x="4437062" y="5434012"/>
              <a:chExt cx="2160588" cy="1090612"/>
            </a:xfrm>
          </p:grpSpPr>
          <p:sp>
            <p:nvSpPr>
              <p:cNvPr id="2066" name="Shape 2066"/>
              <p:cNvSpPr/>
              <p:nvPr/>
            </p:nvSpPr>
            <p:spPr>
              <a:xfrm>
                <a:off x="6327775" y="5434012"/>
                <a:ext cx="269875" cy="539750"/>
              </a:xfrm>
              <a:custGeom>
                <a:avLst/>
                <a:gdLst/>
                <a:ahLst/>
                <a:cxnLst/>
                <a:pathLst>
                  <a:path w="188" h="329" extrusionOk="0">
                    <a:moveTo>
                      <a:pt x="188" y="0"/>
                    </a:moveTo>
                    <a:lnTo>
                      <a:pt x="0" y="329"/>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7" name="Shape 2067"/>
              <p:cNvSpPr/>
              <p:nvPr/>
            </p:nvSpPr>
            <p:spPr>
              <a:xfrm>
                <a:off x="6038850" y="597852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8" name="Shape 2068"/>
              <p:cNvSpPr txBox="1"/>
              <p:nvPr/>
            </p:nvSpPr>
            <p:spPr>
              <a:xfrm>
                <a:off x="6086475" y="60023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69" name="Shape 2069"/>
              <p:cNvSpPr/>
              <p:nvPr/>
            </p:nvSpPr>
            <p:spPr>
              <a:xfrm>
                <a:off x="5319712" y="5435600"/>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0" name="Shape 2070"/>
              <p:cNvSpPr/>
              <p:nvPr/>
            </p:nvSpPr>
            <p:spPr>
              <a:xfrm>
                <a:off x="5448300" y="59737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1" name="Shape 2071"/>
              <p:cNvSpPr txBox="1"/>
              <p:nvPr/>
            </p:nvSpPr>
            <p:spPr>
              <a:xfrm>
                <a:off x="5492750" y="6015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2" name="Shape 2072"/>
              <p:cNvSpPr/>
              <p:nvPr/>
            </p:nvSpPr>
            <p:spPr>
              <a:xfrm>
                <a:off x="4710112" y="5446712"/>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3" name="Shape 2073"/>
              <p:cNvSpPr/>
              <p:nvPr/>
            </p:nvSpPr>
            <p:spPr>
              <a:xfrm>
                <a:off x="4437062" y="59737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4" name="Shape 2074"/>
              <p:cNvSpPr txBox="1"/>
              <p:nvPr/>
            </p:nvSpPr>
            <p:spPr>
              <a:xfrm>
                <a:off x="4481512" y="60150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grpSp>
      <p:grpSp>
        <p:nvGrpSpPr>
          <p:cNvPr id="2075" name="Shape 2075"/>
          <p:cNvGrpSpPr/>
          <p:nvPr/>
        </p:nvGrpSpPr>
        <p:grpSpPr>
          <a:xfrm>
            <a:off x="328612" y="5145087"/>
            <a:ext cx="3689350" cy="919163"/>
            <a:chOff x="296862" y="4643437"/>
            <a:chExt cx="3689350" cy="919163"/>
          </a:xfrm>
        </p:grpSpPr>
        <p:sp>
          <p:nvSpPr>
            <p:cNvPr id="2076" name="Shape 2076"/>
            <p:cNvSpPr txBox="1"/>
            <p:nvPr/>
          </p:nvSpPr>
          <p:spPr>
            <a:xfrm>
              <a:off x="296862" y="5099050"/>
              <a:ext cx="3689350" cy="463550"/>
            </a:xfrm>
            <a:prstGeom prst="rect">
              <a:avLst/>
            </a:prstGeom>
            <a:solidFill>
              <a:schemeClr val="hlink"/>
            </a:solidFill>
            <a:ln w="28575" cap="flat" cmpd="sng">
              <a:solidFill>
                <a:schemeClr val="accent1"/>
              </a:solidFill>
              <a:prstDash val="solid"/>
              <a:miter lim="800000"/>
              <a:headEnd type="none" w="sm" len="sm"/>
              <a:tailEnd type="none" w="sm" len="sm"/>
            </a:ln>
          </p:spPr>
          <p:txBody>
            <a:bodyPr spcFirstLastPara="1" wrap="square" lIns="90000" tIns="0" rIns="0" bIns="0" anchor="t" anchorCtr="0">
              <a:noAutofit/>
            </a:bodyPr>
            <a:lstStyle/>
            <a:p>
              <a:pPr marL="0" marR="0" lvl="0" indent="0" algn="just"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36</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28   32   25   18   16</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77" name="Shape 2077"/>
            <p:cNvCxnSpPr/>
            <p:nvPr/>
          </p:nvCxnSpPr>
          <p:spPr>
            <a:xfrm>
              <a:off x="892175" y="50990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78" name="Shape 2078"/>
            <p:cNvCxnSpPr/>
            <p:nvPr/>
          </p:nvCxnSpPr>
          <p:spPr>
            <a:xfrm>
              <a:off x="1519237" y="51117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79" name="Shape 2079"/>
            <p:cNvCxnSpPr/>
            <p:nvPr/>
          </p:nvCxnSpPr>
          <p:spPr>
            <a:xfrm>
              <a:off x="2144712" y="50990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80" name="Shape 2080"/>
            <p:cNvCxnSpPr/>
            <p:nvPr/>
          </p:nvCxnSpPr>
          <p:spPr>
            <a:xfrm>
              <a:off x="2755900" y="51117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81" name="Shape 2081"/>
            <p:cNvCxnSpPr/>
            <p:nvPr/>
          </p:nvCxnSpPr>
          <p:spPr>
            <a:xfrm>
              <a:off x="3394075" y="5095875"/>
              <a:ext cx="0" cy="449262"/>
            </a:xfrm>
            <a:prstGeom prst="straightConnector1">
              <a:avLst/>
            </a:prstGeom>
            <a:noFill/>
            <a:ln w="28575" cap="flat" cmpd="sng">
              <a:solidFill>
                <a:schemeClr val="accent1"/>
              </a:solidFill>
              <a:prstDash val="solid"/>
              <a:miter lim="800000"/>
              <a:headEnd type="none" w="med" len="med"/>
              <a:tailEnd type="none" w="med" len="med"/>
            </a:ln>
          </p:spPr>
        </p:cxnSp>
        <p:sp>
          <p:nvSpPr>
            <p:cNvPr id="2082" name="Shape 2082"/>
            <p:cNvSpPr txBox="1"/>
            <p:nvPr/>
          </p:nvSpPr>
          <p:spPr>
            <a:xfrm>
              <a:off x="476250" y="4643437"/>
              <a:ext cx="3446462" cy="365125"/>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083" name="Shape 2083"/>
          <p:cNvSpPr/>
          <p:nvPr/>
        </p:nvSpPr>
        <p:spPr>
          <a:xfrm>
            <a:off x="1825625" y="4048125"/>
            <a:ext cx="855662" cy="1081087"/>
          </a:xfrm>
          <a:prstGeom prst="upDownArrow">
            <a:avLst>
              <a:gd name="adj1" fmla="val 50000"/>
              <a:gd name="adj2" fmla="val 50000"/>
            </a:avLst>
          </a:prstGeom>
          <a:solidFill>
            <a:schemeClr val="hlink"/>
          </a:solidFill>
          <a:ln w="28575" cap="flat" cmpd="sng">
            <a:solidFill>
              <a:schemeClr val="accent1"/>
            </a:solidFill>
            <a:prstDash val="solid"/>
            <a:miter lim="800000"/>
            <a:headEnd type="none" w="sm" len="sm"/>
            <a:tailEnd type="none" w="sm" len="sm"/>
          </a:ln>
        </p:spPr>
        <p:txBody>
          <a:bodyPr spcFirstLastPara="1" wrap="square" lIns="54000" tIns="45700" rIns="0" bIns="45700" anchor="ctr" anchorCtr="0">
            <a:noAutofit/>
          </a:bodyPr>
          <a:lstStyle/>
          <a:p>
            <a:pPr marL="0" marR="0" lvl="0" indent="0" algn="l" rtl="0">
              <a:lnSpc>
                <a:spcPct val="9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对</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9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应</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084" name="Shape 2084"/>
          <p:cNvGrpSpPr/>
          <p:nvPr/>
        </p:nvGrpSpPr>
        <p:grpSpPr>
          <a:xfrm>
            <a:off x="630237" y="6097587"/>
            <a:ext cx="3100388" cy="495300"/>
            <a:chOff x="630237" y="6097587"/>
            <a:chExt cx="3100388" cy="495300"/>
          </a:xfrm>
        </p:grpSpPr>
        <p:cxnSp>
          <p:nvCxnSpPr>
            <p:cNvPr id="2085" name="Shape 2085"/>
            <p:cNvCxnSpPr/>
            <p:nvPr/>
          </p:nvCxnSpPr>
          <p:spPr>
            <a:xfrm rot="10800000">
              <a:off x="630237" y="6097587"/>
              <a:ext cx="0" cy="495300"/>
            </a:xfrm>
            <a:prstGeom prst="straightConnector1">
              <a:avLst/>
            </a:prstGeom>
            <a:noFill/>
            <a:ln w="38100" cap="flat" cmpd="sng">
              <a:solidFill>
                <a:schemeClr val="dk1"/>
              </a:solidFill>
              <a:prstDash val="solid"/>
              <a:miter lim="800000"/>
              <a:headEnd type="none" w="med" len="med"/>
              <a:tailEnd type="stealth" w="lg" len="lg"/>
            </a:ln>
          </p:spPr>
        </p:cxnSp>
        <p:cxnSp>
          <p:nvCxnSpPr>
            <p:cNvPr id="2086" name="Shape 2086"/>
            <p:cNvCxnSpPr/>
            <p:nvPr/>
          </p:nvCxnSpPr>
          <p:spPr>
            <a:xfrm rot="10800000">
              <a:off x="3730625" y="6097587"/>
              <a:ext cx="0" cy="495300"/>
            </a:xfrm>
            <a:prstGeom prst="straightConnector1">
              <a:avLst/>
            </a:prstGeom>
            <a:noFill/>
            <a:ln w="38100" cap="flat" cmpd="sng">
              <a:solidFill>
                <a:schemeClr val="dk1"/>
              </a:solidFill>
              <a:prstDash val="solid"/>
              <a:miter lim="800000"/>
              <a:headEnd type="none" w="med" len="med"/>
              <a:tailEnd type="stealth" w="lg" len="lg"/>
            </a:ln>
          </p:spPr>
        </p:cxnSp>
        <p:cxnSp>
          <p:nvCxnSpPr>
            <p:cNvPr id="2087" name="Shape 2087"/>
            <p:cNvCxnSpPr/>
            <p:nvPr/>
          </p:nvCxnSpPr>
          <p:spPr>
            <a:xfrm>
              <a:off x="630237" y="6578600"/>
              <a:ext cx="3086100" cy="0"/>
            </a:xfrm>
            <a:prstGeom prst="straightConnector1">
              <a:avLst/>
            </a:prstGeom>
            <a:noFill/>
            <a:ln w="28575" cap="flat" cmpd="sng">
              <a:solidFill>
                <a:schemeClr val="dk1"/>
              </a:solidFill>
              <a:prstDash val="solid"/>
              <a:miter lim="800000"/>
              <a:headEnd type="none" w="med" len="med"/>
              <a:tailEnd type="none" w="med" len="med"/>
            </a:ln>
          </p:spPr>
        </p:cxnSp>
        <p:sp>
          <p:nvSpPr>
            <p:cNvPr id="2088" name="Shape 2088"/>
            <p:cNvSpPr txBox="1"/>
            <p:nvPr/>
          </p:nvSpPr>
          <p:spPr>
            <a:xfrm>
              <a:off x="1739900" y="6129337"/>
              <a:ext cx="811212"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交换</a:t>
              </a:r>
              <a:endParaRPr lang="en-US" sz="2400" b="1" i="0" u="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089" name="Shape 2089"/>
          <p:cNvGrpSpPr/>
          <p:nvPr/>
        </p:nvGrpSpPr>
        <p:grpSpPr>
          <a:xfrm>
            <a:off x="5095875" y="5153025"/>
            <a:ext cx="3689350" cy="919163"/>
            <a:chOff x="296862" y="4643437"/>
            <a:chExt cx="3689350" cy="919163"/>
          </a:xfrm>
        </p:grpSpPr>
        <p:sp>
          <p:nvSpPr>
            <p:cNvPr id="2090" name="Shape 2090"/>
            <p:cNvSpPr txBox="1"/>
            <p:nvPr/>
          </p:nvSpPr>
          <p:spPr>
            <a:xfrm>
              <a:off x="296862" y="5099050"/>
              <a:ext cx="3689350" cy="463550"/>
            </a:xfrm>
            <a:prstGeom prst="rect">
              <a:avLst/>
            </a:prstGeom>
            <a:solidFill>
              <a:schemeClr val="hlink"/>
            </a:solidFill>
            <a:ln w="28575" cap="flat" cmpd="sng">
              <a:solidFill>
                <a:schemeClr val="accent1"/>
              </a:solidFill>
              <a:prstDash val="solid"/>
              <a:miter lim="800000"/>
              <a:headEnd type="none" w="sm" len="sm"/>
              <a:tailEnd type="none" w="sm" len="sm"/>
            </a:ln>
          </p:spPr>
          <p:txBody>
            <a:bodyPr spcFirstLastPara="1" wrap="square" lIns="90000" tIns="0" rIns="0" bIns="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16   28   32   25   18   </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36</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091" name="Shape 2091"/>
            <p:cNvCxnSpPr/>
            <p:nvPr/>
          </p:nvCxnSpPr>
          <p:spPr>
            <a:xfrm>
              <a:off x="892175" y="50990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92" name="Shape 2092"/>
            <p:cNvCxnSpPr/>
            <p:nvPr/>
          </p:nvCxnSpPr>
          <p:spPr>
            <a:xfrm>
              <a:off x="1519237" y="51117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93" name="Shape 2093"/>
            <p:cNvCxnSpPr/>
            <p:nvPr/>
          </p:nvCxnSpPr>
          <p:spPr>
            <a:xfrm>
              <a:off x="2144712" y="50990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94" name="Shape 2094"/>
            <p:cNvCxnSpPr/>
            <p:nvPr/>
          </p:nvCxnSpPr>
          <p:spPr>
            <a:xfrm>
              <a:off x="2755900" y="5111750"/>
              <a:ext cx="0" cy="449262"/>
            </a:xfrm>
            <a:prstGeom prst="straightConnector1">
              <a:avLst/>
            </a:prstGeom>
            <a:noFill/>
            <a:ln w="28575" cap="flat" cmpd="sng">
              <a:solidFill>
                <a:schemeClr val="accent1"/>
              </a:solidFill>
              <a:prstDash val="solid"/>
              <a:miter lim="800000"/>
              <a:headEnd type="none" w="med" len="med"/>
              <a:tailEnd type="none" w="med" len="med"/>
            </a:ln>
          </p:spPr>
        </p:cxnSp>
        <p:cxnSp>
          <p:nvCxnSpPr>
            <p:cNvPr id="2095" name="Shape 2095"/>
            <p:cNvCxnSpPr/>
            <p:nvPr/>
          </p:nvCxnSpPr>
          <p:spPr>
            <a:xfrm>
              <a:off x="3394075" y="5095875"/>
              <a:ext cx="0" cy="449262"/>
            </a:xfrm>
            <a:prstGeom prst="straightConnector1">
              <a:avLst/>
            </a:prstGeom>
            <a:noFill/>
            <a:ln w="28575" cap="flat" cmpd="sng">
              <a:solidFill>
                <a:schemeClr val="accent1"/>
              </a:solidFill>
              <a:prstDash val="solid"/>
              <a:miter lim="800000"/>
              <a:headEnd type="none" w="med" len="med"/>
              <a:tailEnd type="none" w="med" len="med"/>
            </a:ln>
          </p:spPr>
        </p:cxnSp>
        <p:sp>
          <p:nvSpPr>
            <p:cNvPr id="2096" name="Shape 2096"/>
            <p:cNvSpPr txBox="1"/>
            <p:nvPr/>
          </p:nvSpPr>
          <p:spPr>
            <a:xfrm>
              <a:off x="476250" y="4643437"/>
              <a:ext cx="3446462" cy="365125"/>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1      2      3     4      5      6</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097" name="Shape 2097"/>
          <p:cNvSpPr/>
          <p:nvPr/>
        </p:nvSpPr>
        <p:spPr>
          <a:xfrm>
            <a:off x="6518275" y="4048125"/>
            <a:ext cx="855662" cy="1081087"/>
          </a:xfrm>
          <a:prstGeom prst="upDownArrow">
            <a:avLst>
              <a:gd name="adj1" fmla="val 50000"/>
              <a:gd name="adj2" fmla="val 50000"/>
            </a:avLst>
          </a:prstGeom>
          <a:solidFill>
            <a:schemeClr val="hlink"/>
          </a:solidFill>
          <a:ln w="28575" cap="flat" cmpd="sng">
            <a:solidFill>
              <a:schemeClr val="accent1"/>
            </a:solidFill>
            <a:prstDash val="solid"/>
            <a:miter lim="800000"/>
            <a:headEnd type="none" w="sm" len="sm"/>
            <a:tailEnd type="none" w="sm" len="sm"/>
          </a:ln>
        </p:spPr>
        <p:txBody>
          <a:bodyPr spcFirstLastPara="1" wrap="square" lIns="54000" tIns="45700" rIns="0" bIns="45700" anchor="ctr" anchorCtr="0">
            <a:noAutofit/>
          </a:bodyPr>
          <a:lstStyle/>
          <a:p>
            <a:pPr marL="0" marR="0" lvl="0" indent="0" algn="l" rtl="0">
              <a:lnSpc>
                <a:spcPct val="9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对</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9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应</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098" name="Shape 2098"/>
          <p:cNvGrpSpPr/>
          <p:nvPr/>
        </p:nvGrpSpPr>
        <p:grpSpPr>
          <a:xfrm>
            <a:off x="5418137" y="1700212"/>
            <a:ext cx="2541587" cy="2216150"/>
            <a:chOff x="5180012" y="1763712"/>
            <a:chExt cx="2541587" cy="2216150"/>
          </a:xfrm>
        </p:grpSpPr>
        <p:sp>
          <p:nvSpPr>
            <p:cNvPr id="2099" name="Shape 2099"/>
            <p:cNvSpPr/>
            <p:nvPr/>
          </p:nvSpPr>
          <p:spPr>
            <a:xfrm>
              <a:off x="7253287" y="24812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0" name="Shape 2100"/>
            <p:cNvSpPr txBox="1"/>
            <p:nvPr/>
          </p:nvSpPr>
          <p:spPr>
            <a:xfrm>
              <a:off x="7297737" y="25225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1" name="Shape 2101"/>
            <p:cNvSpPr/>
            <p:nvPr/>
          </p:nvSpPr>
          <p:spPr>
            <a:xfrm>
              <a:off x="6899275" y="2097087"/>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2" name="Shape 2102"/>
            <p:cNvSpPr/>
            <p:nvPr/>
          </p:nvSpPr>
          <p:spPr>
            <a:xfrm>
              <a:off x="6488112" y="1763712"/>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3" name="Shape 2103"/>
            <p:cNvSpPr txBox="1"/>
            <p:nvPr/>
          </p:nvSpPr>
          <p:spPr>
            <a:xfrm>
              <a:off x="6532562" y="17732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104" name="Shape 2104"/>
            <p:cNvCxnSpPr/>
            <p:nvPr/>
          </p:nvCxnSpPr>
          <p:spPr>
            <a:xfrm flipH="1">
              <a:off x="6083300" y="2112962"/>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2105" name="Shape 2105"/>
            <p:cNvSpPr/>
            <p:nvPr/>
          </p:nvSpPr>
          <p:spPr>
            <a:xfrm>
              <a:off x="5697537" y="24844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6" name="Shape 2106"/>
            <p:cNvSpPr txBox="1"/>
            <p:nvPr/>
          </p:nvSpPr>
          <p:spPr>
            <a:xfrm>
              <a:off x="5741987" y="252571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7" name="Shape 2107"/>
            <p:cNvSpPr/>
            <p:nvPr/>
          </p:nvSpPr>
          <p:spPr>
            <a:xfrm>
              <a:off x="6781800" y="3433762"/>
              <a:ext cx="468312" cy="468312"/>
            </a:xfrm>
            <a:prstGeom prst="ellipse">
              <a:avLst/>
            </a:prstGeom>
            <a:gradFill>
              <a:gsLst>
                <a:gs pos="0">
                  <a:srgbClr val="9A80B3"/>
                </a:gs>
                <a:gs pos="100000">
                  <a:srgbClr val="DBB7FF"/>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8" name="Shape 2108"/>
            <p:cNvSpPr txBox="1"/>
            <p:nvPr/>
          </p:nvSpPr>
          <p:spPr>
            <a:xfrm>
              <a:off x="6829425" y="34575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F3300"/>
                </a:buClr>
                <a:buSzPts val="2400"/>
                <a:buFont typeface="Times New Roman" panose="02020603050405020304"/>
                <a:buNone/>
              </a:pPr>
              <a:r>
                <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9" name="Shape 2109"/>
            <p:cNvSpPr/>
            <p:nvPr/>
          </p:nvSpPr>
          <p:spPr>
            <a:xfrm>
              <a:off x="6062662" y="2890837"/>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0" name="Shape 2110"/>
            <p:cNvSpPr/>
            <p:nvPr/>
          </p:nvSpPr>
          <p:spPr>
            <a:xfrm>
              <a:off x="6191250" y="34290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1" name="Shape 2111"/>
            <p:cNvSpPr txBox="1"/>
            <p:nvPr/>
          </p:nvSpPr>
          <p:spPr>
            <a:xfrm>
              <a:off x="6235700" y="34702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2" name="Shape 2112"/>
            <p:cNvSpPr/>
            <p:nvPr/>
          </p:nvSpPr>
          <p:spPr>
            <a:xfrm>
              <a:off x="5453062" y="2901950"/>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3" name="Shape 2113"/>
            <p:cNvSpPr/>
            <p:nvPr/>
          </p:nvSpPr>
          <p:spPr>
            <a:xfrm>
              <a:off x="5180012" y="34290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4" name="Shape 2114"/>
            <p:cNvSpPr txBox="1"/>
            <p:nvPr/>
          </p:nvSpPr>
          <p:spPr>
            <a:xfrm>
              <a:off x="5224462" y="34702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115" name="Shape 2115"/>
          <p:cNvSpPr/>
          <p:nvPr/>
        </p:nvSpPr>
        <p:spPr>
          <a:xfrm>
            <a:off x="4346575" y="5678487"/>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16" name="Shape 2116"/>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3"/>
                                        </p:tgtEl>
                                        <p:attrNameLst>
                                          <p:attrName>style.visibility</p:attrName>
                                        </p:attrNameLst>
                                      </p:cBhvr>
                                      <p:to>
                                        <p:strVal val="visible"/>
                                      </p:to>
                                    </p:set>
                                    <p:animEffect transition="in" filter="fade">
                                      <p:cBhvr>
                                        <p:cTn id="7" dur="500"/>
                                        <p:tgtEl>
                                          <p:spTgt spid="20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15"/>
                                        </p:tgtEl>
                                        <p:attrNameLst>
                                          <p:attrName>style.visibility</p:attrName>
                                        </p:attrNameLst>
                                      </p:cBhvr>
                                      <p:to>
                                        <p:strVal val="visible"/>
                                      </p:to>
                                    </p:set>
                                    <p:animEffect transition="in" filter="fade">
                                      <p:cBhvr>
                                        <p:cTn id="12" dur="500"/>
                                        <p:tgtEl>
                                          <p:spTgt spid="21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7"/>
                                        </p:tgtEl>
                                        <p:attrNameLst>
                                          <p:attrName>style.visibility</p:attrName>
                                        </p:attrNameLst>
                                      </p:cBhvr>
                                      <p:to>
                                        <p:strVal val="visible"/>
                                      </p:to>
                                    </p:set>
                                    <p:animEffect transition="in" filter="fade">
                                      <p:cBhvr>
                                        <p:cTn id="17" dur="500"/>
                                        <p:tgtEl>
                                          <p:spTgt spid="20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20" name="Shape 2120"/>
        <p:cNvGrpSpPr/>
        <p:nvPr/>
      </p:nvGrpSpPr>
      <p:grpSpPr>
        <a:xfrm>
          <a:off x="0" y="0"/>
          <a:ext cx="0" cy="0"/>
          <a:chOff x="0" y="0"/>
          <a:chExt cx="0" cy="0"/>
        </a:xfrm>
      </p:grpSpPr>
      <p:sp>
        <p:nvSpPr>
          <p:cNvPr id="2121" name="Shape 2121"/>
          <p:cNvSpPr txBox="1"/>
          <p:nvPr/>
        </p:nvSpPr>
        <p:spPr>
          <a:xfrm>
            <a:off x="385762" y="3833812"/>
            <a:ext cx="7065962" cy="1117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r[1]←→r[n-i+1];</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22" name="Shape 2122"/>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关键问题⑵：如何处理堆顶记录？</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123" name="Shape 2123"/>
          <p:cNvSpPr txBox="1"/>
          <p:nvPr/>
        </p:nvSpPr>
        <p:spPr>
          <a:xfrm>
            <a:off x="354012" y="1898650"/>
            <a:ext cx="8448675" cy="1587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 i 次处理堆顶是将堆顶记录r[1]与序列中第n-i+1个记录r[n-i+1]交换。</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24" name="Shape 2124"/>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28" name="Shape 2128"/>
        <p:cNvGrpSpPr/>
        <p:nvPr/>
      </p:nvGrpSpPr>
      <p:grpSpPr>
        <a:xfrm>
          <a:off x="0" y="0"/>
          <a:ext cx="0" cy="0"/>
          <a:chOff x="0" y="0"/>
          <a:chExt cx="0" cy="0"/>
        </a:xfrm>
      </p:grpSpPr>
      <p:grpSp>
        <p:nvGrpSpPr>
          <p:cNvPr id="2129" name="Shape 2129"/>
          <p:cNvGrpSpPr/>
          <p:nvPr/>
        </p:nvGrpSpPr>
        <p:grpSpPr>
          <a:xfrm>
            <a:off x="1325562" y="2532062"/>
            <a:ext cx="2541587" cy="2216150"/>
            <a:chOff x="5180012" y="1763712"/>
            <a:chExt cx="2541587" cy="2216150"/>
          </a:xfrm>
        </p:grpSpPr>
        <p:sp>
          <p:nvSpPr>
            <p:cNvPr id="2130" name="Shape 2130"/>
            <p:cNvSpPr/>
            <p:nvPr/>
          </p:nvSpPr>
          <p:spPr>
            <a:xfrm>
              <a:off x="7253287" y="2481262"/>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1" name="Shape 2131"/>
            <p:cNvSpPr txBox="1"/>
            <p:nvPr/>
          </p:nvSpPr>
          <p:spPr>
            <a:xfrm>
              <a:off x="7297737" y="25225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2" name="Shape 2132"/>
            <p:cNvSpPr/>
            <p:nvPr/>
          </p:nvSpPr>
          <p:spPr>
            <a:xfrm>
              <a:off x="6899275" y="2097087"/>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3" name="Shape 2133"/>
            <p:cNvSpPr/>
            <p:nvPr/>
          </p:nvSpPr>
          <p:spPr>
            <a:xfrm>
              <a:off x="6488112" y="1763712"/>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4" name="Shape 2134"/>
            <p:cNvSpPr txBox="1"/>
            <p:nvPr/>
          </p:nvSpPr>
          <p:spPr>
            <a:xfrm>
              <a:off x="6532562" y="1773237"/>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135" name="Shape 2135"/>
            <p:cNvCxnSpPr/>
            <p:nvPr/>
          </p:nvCxnSpPr>
          <p:spPr>
            <a:xfrm flipH="1">
              <a:off x="6083300" y="2112962"/>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2136" name="Shape 2136"/>
            <p:cNvSpPr/>
            <p:nvPr/>
          </p:nvSpPr>
          <p:spPr>
            <a:xfrm>
              <a:off x="5697537" y="248443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7" name="Shape 2137"/>
            <p:cNvSpPr txBox="1"/>
            <p:nvPr/>
          </p:nvSpPr>
          <p:spPr>
            <a:xfrm>
              <a:off x="5741987" y="252571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8" name="Shape 2138"/>
            <p:cNvSpPr/>
            <p:nvPr/>
          </p:nvSpPr>
          <p:spPr>
            <a:xfrm>
              <a:off x="6781800" y="3433762"/>
              <a:ext cx="468312" cy="468312"/>
            </a:xfrm>
            <a:prstGeom prst="ellipse">
              <a:avLst/>
            </a:prstGeom>
            <a:gradFill>
              <a:gsLst>
                <a:gs pos="0">
                  <a:srgbClr val="9A80B3"/>
                </a:gs>
                <a:gs pos="100000">
                  <a:srgbClr val="DBB7FF"/>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39" name="Shape 2139"/>
            <p:cNvSpPr txBox="1"/>
            <p:nvPr/>
          </p:nvSpPr>
          <p:spPr>
            <a:xfrm>
              <a:off x="6829425" y="34575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F3300"/>
                </a:buClr>
                <a:buSzPts val="2400"/>
                <a:buFont typeface="Times New Roman" panose="02020603050405020304"/>
                <a:buNone/>
              </a:pPr>
              <a:r>
                <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0" name="Shape 2140"/>
            <p:cNvSpPr/>
            <p:nvPr/>
          </p:nvSpPr>
          <p:spPr>
            <a:xfrm>
              <a:off x="6062662" y="2890837"/>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1" name="Shape 2141"/>
            <p:cNvSpPr/>
            <p:nvPr/>
          </p:nvSpPr>
          <p:spPr>
            <a:xfrm>
              <a:off x="6191250" y="34290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2" name="Shape 2142"/>
            <p:cNvSpPr txBox="1"/>
            <p:nvPr/>
          </p:nvSpPr>
          <p:spPr>
            <a:xfrm>
              <a:off x="6235700" y="34702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3" name="Shape 2143"/>
            <p:cNvSpPr/>
            <p:nvPr/>
          </p:nvSpPr>
          <p:spPr>
            <a:xfrm>
              <a:off x="5453062" y="2901950"/>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4" name="Shape 2144"/>
            <p:cNvSpPr/>
            <p:nvPr/>
          </p:nvSpPr>
          <p:spPr>
            <a:xfrm>
              <a:off x="5180012" y="3429000"/>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5" name="Shape 2145"/>
            <p:cNvSpPr txBox="1"/>
            <p:nvPr/>
          </p:nvSpPr>
          <p:spPr>
            <a:xfrm>
              <a:off x="5224462" y="3470275"/>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146" name="Shape 2146"/>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关键问题⑶：如何调整剩余记录，成为一个新堆？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147" name="Shape 2147"/>
          <p:cNvGrpSpPr/>
          <p:nvPr/>
        </p:nvGrpSpPr>
        <p:grpSpPr>
          <a:xfrm>
            <a:off x="2630487" y="2532062"/>
            <a:ext cx="468312" cy="550862"/>
            <a:chOff x="2997200" y="3343275"/>
            <a:chExt cx="468312" cy="550862"/>
          </a:xfrm>
        </p:grpSpPr>
        <p:sp>
          <p:nvSpPr>
            <p:cNvPr id="2148" name="Shape 2148"/>
            <p:cNvSpPr/>
            <p:nvPr/>
          </p:nvSpPr>
          <p:spPr>
            <a:xfrm>
              <a:off x="2997200" y="3343275"/>
              <a:ext cx="468312" cy="468312"/>
            </a:xfrm>
            <a:prstGeom prst="ellipse">
              <a:avLst/>
            </a:prstGeom>
            <a:gradFill>
              <a:gsLst>
                <a:gs pos="0">
                  <a:srgbClr val="960067"/>
                </a:gs>
                <a:gs pos="100000">
                  <a:srgbClr val="D60093"/>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9" name="Shape 2149"/>
            <p:cNvSpPr txBox="1"/>
            <p:nvPr/>
          </p:nvSpPr>
          <p:spPr>
            <a:xfrm>
              <a:off x="3041650" y="33845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150" name="Shape 2150"/>
          <p:cNvSpPr/>
          <p:nvPr/>
        </p:nvSpPr>
        <p:spPr>
          <a:xfrm>
            <a:off x="4141787" y="3341687"/>
            <a:ext cx="495300" cy="314325"/>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151" name="Shape 2151"/>
          <p:cNvGrpSpPr/>
          <p:nvPr/>
        </p:nvGrpSpPr>
        <p:grpSpPr>
          <a:xfrm>
            <a:off x="4419600" y="2196760"/>
            <a:ext cx="2762498" cy="2573677"/>
            <a:chOff x="3305175" y="2196760"/>
            <a:chExt cx="2762498" cy="2573677"/>
          </a:xfrm>
        </p:grpSpPr>
        <p:sp>
          <p:nvSpPr>
            <p:cNvPr id="2152" name="Shape 2152"/>
            <p:cNvSpPr/>
            <p:nvPr/>
          </p:nvSpPr>
          <p:spPr>
            <a:xfrm>
              <a:off x="4597400" y="2528887"/>
              <a:ext cx="468312" cy="468312"/>
            </a:xfrm>
            <a:prstGeom prst="ellipse">
              <a:avLst/>
            </a:prstGeom>
            <a:gradFill>
              <a:gsLst>
                <a:gs pos="0">
                  <a:srgbClr val="008F6B"/>
                </a:gs>
                <a:gs pos="100000">
                  <a:schemeClr val="accent1"/>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3" name="Shape 2153"/>
            <p:cNvSpPr txBox="1"/>
            <p:nvPr/>
          </p:nvSpPr>
          <p:spPr>
            <a:xfrm>
              <a:off x="4641850" y="253841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154" name="Shape 2154"/>
            <p:cNvCxnSpPr/>
            <p:nvPr/>
          </p:nvCxnSpPr>
          <p:spPr>
            <a:xfrm flipH="1">
              <a:off x="4192587" y="2878137"/>
              <a:ext cx="439737" cy="457200"/>
            </a:xfrm>
            <a:prstGeom prst="straightConnector1">
              <a:avLst/>
            </a:prstGeom>
            <a:noFill/>
            <a:ln w="28575" cap="flat" cmpd="sng">
              <a:solidFill>
                <a:srgbClr val="008080"/>
              </a:solidFill>
              <a:prstDash val="solid"/>
              <a:miter lim="800000"/>
              <a:headEnd type="none" w="med" len="med"/>
              <a:tailEnd type="none" w="med" len="med"/>
            </a:ln>
          </p:spPr>
        </p:cxnSp>
        <p:sp>
          <p:nvSpPr>
            <p:cNvPr id="2155" name="Shape 2155"/>
            <p:cNvSpPr/>
            <p:nvPr/>
          </p:nvSpPr>
          <p:spPr>
            <a:xfrm>
              <a:off x="5262562" y="3311525"/>
              <a:ext cx="468312" cy="468312"/>
            </a:xfrm>
            <a:prstGeom prst="ellipse">
              <a:avLst/>
            </a:prstGeom>
            <a:gradFill>
              <a:gsLst>
                <a:gs pos="0">
                  <a:srgbClr val="960067"/>
                </a:gs>
                <a:gs pos="100000">
                  <a:srgbClr val="D60093"/>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6" name="Shape 2156"/>
            <p:cNvSpPr txBox="1"/>
            <p:nvPr/>
          </p:nvSpPr>
          <p:spPr>
            <a:xfrm>
              <a:off x="5307012" y="335280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16</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7" name="Shape 2157"/>
            <p:cNvSpPr/>
            <p:nvPr/>
          </p:nvSpPr>
          <p:spPr>
            <a:xfrm>
              <a:off x="3821112" y="3252787"/>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8" name="Shape 2158"/>
            <p:cNvSpPr txBox="1"/>
            <p:nvPr/>
          </p:nvSpPr>
          <p:spPr>
            <a:xfrm>
              <a:off x="3865562" y="3294062"/>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32</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59" name="Shape 2159"/>
            <p:cNvSpPr/>
            <p:nvPr/>
          </p:nvSpPr>
          <p:spPr>
            <a:xfrm>
              <a:off x="5024437" y="2887662"/>
              <a:ext cx="444500" cy="428625"/>
            </a:xfrm>
            <a:custGeom>
              <a:avLst/>
              <a:gdLst/>
              <a:ahLst/>
              <a:cxnLst/>
              <a:pathLst>
                <a:path w="353" h="384" extrusionOk="0">
                  <a:moveTo>
                    <a:pt x="0" y="0"/>
                  </a:moveTo>
                  <a:lnTo>
                    <a:pt x="353" y="384"/>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0" name="Shape 2160"/>
            <p:cNvSpPr/>
            <p:nvPr/>
          </p:nvSpPr>
          <p:spPr>
            <a:xfrm>
              <a:off x="4906962" y="4224337"/>
              <a:ext cx="468312" cy="468312"/>
            </a:xfrm>
            <a:prstGeom prst="ellipse">
              <a:avLst/>
            </a:prstGeom>
            <a:gradFill>
              <a:gsLst>
                <a:gs pos="0">
                  <a:srgbClr val="9A80B3"/>
                </a:gs>
                <a:gs pos="100000">
                  <a:srgbClr val="DBB7FF"/>
                </a:gs>
              </a:gsLst>
              <a:path path="circle">
                <a:fillToRect l="50000" t="50000" r="50000" b="50000"/>
              </a:path>
              <a:tileRect/>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1" name="Shape 2161"/>
            <p:cNvSpPr txBox="1"/>
            <p:nvPr/>
          </p:nvSpPr>
          <p:spPr>
            <a:xfrm>
              <a:off x="4954587" y="42481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F3300"/>
                </a:buClr>
                <a:buSzPts val="2400"/>
                <a:buFont typeface="Times New Roman" panose="02020603050405020304"/>
                <a:buNone/>
              </a:pPr>
              <a:r>
                <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36</a:t>
              </a:r>
              <a:endParaRPr lang="en-US" sz="24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2" name="Shape 2162"/>
            <p:cNvSpPr/>
            <p:nvPr/>
          </p:nvSpPr>
          <p:spPr>
            <a:xfrm>
              <a:off x="4187825" y="3681412"/>
              <a:ext cx="290512" cy="579437"/>
            </a:xfrm>
            <a:custGeom>
              <a:avLst/>
              <a:gdLst/>
              <a:ahLst/>
              <a:cxnLst/>
              <a:pathLst>
                <a:path w="249" h="365" extrusionOk="0">
                  <a:moveTo>
                    <a:pt x="0" y="0"/>
                  </a:moveTo>
                  <a:lnTo>
                    <a:pt x="249" y="365"/>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3" name="Shape 2163"/>
            <p:cNvSpPr/>
            <p:nvPr/>
          </p:nvSpPr>
          <p:spPr>
            <a:xfrm>
              <a:off x="4316412" y="42195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4" name="Shape 2164"/>
            <p:cNvSpPr txBox="1"/>
            <p:nvPr/>
          </p:nvSpPr>
          <p:spPr>
            <a:xfrm>
              <a:off x="4360862" y="42608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18</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5" name="Shape 2165"/>
            <p:cNvSpPr/>
            <p:nvPr/>
          </p:nvSpPr>
          <p:spPr>
            <a:xfrm>
              <a:off x="3578225" y="3692525"/>
              <a:ext cx="358775" cy="568325"/>
            </a:xfrm>
            <a:custGeom>
              <a:avLst/>
              <a:gdLst/>
              <a:ahLst/>
              <a:cxnLst/>
              <a:pathLst>
                <a:path w="236" h="350" extrusionOk="0">
                  <a:moveTo>
                    <a:pt x="236" y="0"/>
                  </a:moveTo>
                  <a:lnTo>
                    <a:pt x="0" y="350"/>
                  </a:lnTo>
                </a:path>
              </a:pathLst>
            </a:custGeom>
            <a:noFill/>
            <a:ln w="28575" cap="flat" cmpd="sng">
              <a:solidFill>
                <a:srgbClr val="008080"/>
              </a:solidFill>
              <a:prstDash val="solid"/>
              <a:miter lim="800000"/>
              <a:headEnd type="none" w="med" len="med"/>
              <a:tailEnd type="none" w="med" len="med"/>
            </a:ln>
          </p:spPr>
          <p:txBody>
            <a:bodyPr spcFirstLastPara="1" wrap="square" lIns="10800" tIns="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6" name="Shape 2166"/>
            <p:cNvSpPr/>
            <p:nvPr/>
          </p:nvSpPr>
          <p:spPr>
            <a:xfrm>
              <a:off x="3305175" y="4219575"/>
              <a:ext cx="468312" cy="468312"/>
            </a:xfrm>
            <a:prstGeom prst="ellipse">
              <a:avLst/>
            </a:prstGeom>
            <a:gradFill>
              <a:gsLst>
                <a:gs pos="0">
                  <a:srgbClr val="008F6B"/>
                </a:gs>
                <a:gs pos="100000">
                  <a:schemeClr val="accent1"/>
                </a:gs>
              </a:gsLst>
              <a:lin ang="13500000" scaled="0"/>
            </a:gradFill>
            <a:ln>
              <a:noFill/>
            </a:ln>
          </p:spPr>
          <p:txBody>
            <a:bodyPr spcFirstLastPara="1" wrap="square" lIns="10800" tIns="28800" rIns="0" bIns="108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7" name="Shape 2167"/>
            <p:cNvSpPr txBox="1"/>
            <p:nvPr/>
          </p:nvSpPr>
          <p:spPr>
            <a:xfrm>
              <a:off x="3349625" y="4260850"/>
              <a:ext cx="360362" cy="509587"/>
            </a:xfrm>
            <a:prstGeom prst="rect">
              <a:avLst/>
            </a:prstGeom>
            <a:noFill/>
            <a:ln>
              <a:noFill/>
            </a:ln>
          </p:spPr>
          <p:txBody>
            <a:bodyPr spcFirstLastPara="1" wrap="square" lIns="10800" tIns="28800" rIns="0" bIns="10800" anchor="t" anchorCtr="0">
              <a:noAutofit/>
            </a:bodyPr>
            <a:lstStyle/>
            <a:p>
              <a:pPr marL="0" marR="0" lvl="0" indent="0" algn="ctr" rtl="0">
                <a:lnSpc>
                  <a:spcPct val="100000"/>
                </a:lnSpc>
                <a:spcBef>
                  <a:spcPts val="0"/>
                </a:spcBef>
                <a:spcAft>
                  <a:spcPts val="0"/>
                </a:spcAft>
                <a:buClr>
                  <a:srgbClr val="F4F999"/>
                </a:buClr>
                <a:buSzPts val="2400"/>
                <a:buFont typeface="Times New Roman" panose="02020603050405020304"/>
                <a:buNone/>
              </a:pPr>
              <a:r>
                <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rPr>
                <a:t>25</a:t>
              </a:r>
              <a:endParaRPr lang="en-US" sz="2400" b="1" i="0" u="none">
                <a:solidFill>
                  <a:srgbClr val="F4F99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68" name="Shape 2168"/>
            <p:cNvSpPr/>
            <p:nvPr/>
          </p:nvSpPr>
          <p:spPr>
            <a:xfrm rot="-2220000">
              <a:off x="4662487" y="2349500"/>
              <a:ext cx="1035050" cy="1576387"/>
            </a:xfrm>
            <a:prstGeom prst="ellipse">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169" name="Shape 2169"/>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
                                        </p:tgtEl>
                                        <p:attrNameLst>
                                          <p:attrName>style.visibility</p:attrName>
                                        </p:attrNameLst>
                                      </p:cBhvr>
                                      <p:to>
                                        <p:strVal val="visible"/>
                                      </p:to>
                                    </p:set>
                                    <p:animEffect transition="in" filter="fade">
                                      <p:cBhvr>
                                        <p:cTn id="7" dur="500"/>
                                        <p:tgtEl>
                                          <p:spTgt spid="2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73" name="Shape 2173"/>
        <p:cNvGrpSpPr/>
        <p:nvPr/>
      </p:nvGrpSpPr>
      <p:grpSpPr>
        <a:xfrm>
          <a:off x="0" y="0"/>
          <a:ext cx="0" cy="0"/>
          <a:chOff x="0" y="0"/>
          <a:chExt cx="0" cy="0"/>
        </a:xfrm>
      </p:grpSpPr>
      <p:sp>
        <p:nvSpPr>
          <p:cNvPr id="2174" name="Shape 2174"/>
          <p:cNvSpPr txBox="1"/>
          <p:nvPr/>
        </p:nvSpPr>
        <p:spPr>
          <a:xfrm>
            <a:off x="354012" y="1898650"/>
            <a:ext cx="8448675" cy="1587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解决方法：</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次调整剩余记录，此时，剩余记录有</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个，调整根结点至第</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个记录。</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5" name="Shape 2175"/>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关键问题⑶：如何调整剩余记录，成为一个新堆？</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176" name="Shape 2176"/>
          <p:cNvSpPr txBox="1"/>
          <p:nvPr/>
        </p:nvSpPr>
        <p:spPr>
          <a:xfrm>
            <a:off x="385762" y="3789362"/>
            <a:ext cx="2122487" cy="11604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sift(r, 1, n-i);</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7" name="Shape 2177"/>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81" name="Shape 2181"/>
        <p:cNvGrpSpPr/>
        <p:nvPr/>
      </p:nvGrpSpPr>
      <p:grpSpPr>
        <a:xfrm>
          <a:off x="0" y="0"/>
          <a:ext cx="0" cy="0"/>
          <a:chOff x="0" y="0"/>
          <a:chExt cx="0" cy="0"/>
        </a:xfrm>
      </p:grpSpPr>
      <p:sp>
        <p:nvSpPr>
          <p:cNvPr id="2182" name="Shape 2182"/>
          <p:cNvSpPr txBox="1"/>
          <p:nvPr/>
        </p:nvSpPr>
        <p:spPr>
          <a:xfrm>
            <a:off x="385762" y="1042987"/>
            <a:ext cx="38862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堆排序算法</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3" name="Shape 2183"/>
          <p:cNvSpPr txBox="1"/>
          <p:nvPr/>
        </p:nvSpPr>
        <p:spPr>
          <a:xfrm>
            <a:off x="657225" y="1808162"/>
            <a:ext cx="7848600" cy="436245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HeapSort ( int  r[], int n)</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(i=n/2; i&gt;=1; 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//初建堆</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sift(r, i, n)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(i=1; i&gt;n; i++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r[1]←→r[n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i+1];        //移走堆顶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sift(r, 1, 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//重建堆</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84" name="Shape 2184"/>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88" name="Shape 2188"/>
        <p:cNvGrpSpPr/>
        <p:nvPr/>
      </p:nvGrpSpPr>
      <p:grpSpPr>
        <a:xfrm>
          <a:off x="0" y="0"/>
          <a:ext cx="0" cy="0"/>
          <a:chOff x="0" y="0"/>
          <a:chExt cx="0" cy="0"/>
        </a:xfrm>
      </p:grpSpPr>
      <p:sp>
        <p:nvSpPr>
          <p:cNvPr id="2189" name="Shape 2189"/>
          <p:cNvSpPr txBox="1"/>
          <p:nvPr/>
        </p:nvSpPr>
        <p:spPr>
          <a:xfrm>
            <a:off x="317500" y="1042987"/>
            <a:ext cx="5535612"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堆排序算法的性能分析</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2190" name="Shape 2190"/>
          <p:cNvSpPr txBox="1"/>
          <p:nvPr/>
        </p:nvSpPr>
        <p:spPr>
          <a:xfrm>
            <a:off x="250825" y="2124075"/>
            <a:ext cx="8551862" cy="30829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第1个for循环是初始建堆，需要</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第2个for循环是输出堆顶重建堆，共需要取</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-1次堆顶记录，第 </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 </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次取堆顶记录重建堆需要</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)时间，需要</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因此整个时间复杂度为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)，这是堆排序的</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和</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平均</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的时间代价。</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91" name="Shape 2191"/>
          <p:cNvSpPr txBox="1"/>
          <p:nvPr/>
        </p:nvSpPr>
        <p:spPr>
          <a:xfrm>
            <a:off x="2511425"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8.4  选择排序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195" name="Shape 2195"/>
        <p:cNvGrpSpPr/>
        <p:nvPr/>
      </p:nvGrpSpPr>
      <p:grpSpPr>
        <a:xfrm>
          <a:off x="0" y="0"/>
          <a:ext cx="0" cy="0"/>
          <a:chOff x="0" y="0"/>
          <a:chExt cx="0" cy="0"/>
        </a:xfrm>
      </p:grpSpPr>
      <p:sp>
        <p:nvSpPr>
          <p:cNvPr id="2196" name="Shape 2196"/>
          <p:cNvSpPr txBox="1"/>
          <p:nvPr/>
        </p:nvSpPr>
        <p:spPr>
          <a:xfrm>
            <a:off x="385762" y="1042987"/>
            <a:ext cx="3733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归并排序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2197" name="Shape 2197"/>
          <p:cNvSpPr txBox="1"/>
          <p:nvPr/>
        </p:nvSpPr>
        <p:spPr>
          <a:xfrm>
            <a:off x="442912" y="1935162"/>
            <a:ext cx="8621712" cy="1554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panose="020B0604020202020204"/>
              <a:buNone/>
            </a:pPr>
            <a:r>
              <a:rPr lang="en-US" sz="3200" b="1" i="0" u="none">
                <a:solidFill>
                  <a:schemeClr val="dk1"/>
                </a:solidFill>
                <a:latin typeface="Arial" panose="020B0604020202020204"/>
                <a:ea typeface="Arial" panose="020B0604020202020204"/>
                <a:cs typeface="Arial" panose="020B0604020202020204"/>
                <a:sym typeface="Arial" panose="020B0604020202020204"/>
              </a:rPr>
              <a:t>归并排序的主要操作是</a:t>
            </a:r>
            <a:r>
              <a:rPr lang="en-US" sz="3200" b="1" i="0" u="none">
                <a:solidFill>
                  <a:srgbClr val="FF3300"/>
                </a:solidFill>
                <a:latin typeface="Arial" panose="020B0604020202020204"/>
                <a:ea typeface="Arial" panose="020B0604020202020204"/>
                <a:cs typeface="Arial" panose="020B0604020202020204"/>
                <a:sym typeface="Arial" panose="020B0604020202020204"/>
              </a:rPr>
              <a:t>归并</a:t>
            </a:r>
            <a:r>
              <a:rPr lang="en-US" sz="3200" b="1" i="0" u="none">
                <a:solidFill>
                  <a:schemeClr val="dk1"/>
                </a:solidFill>
                <a:latin typeface="Arial" panose="020B0604020202020204"/>
                <a:ea typeface="Arial" panose="020B0604020202020204"/>
                <a:cs typeface="Arial" panose="020B0604020202020204"/>
                <a:sym typeface="Arial" panose="020B0604020202020204"/>
              </a:rPr>
              <a:t>，其主要思想是：将若干有序序列逐步归并，最终得到一个有序序列。</a:t>
            </a:r>
            <a:r>
              <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32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98" name="Shape 2198"/>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99" name="Shape 2199"/>
          <p:cNvSpPr txBox="1"/>
          <p:nvPr/>
        </p:nvSpPr>
        <p:spPr>
          <a:xfrm>
            <a:off x="434975" y="3916362"/>
            <a:ext cx="8629650" cy="94615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归并：</a:t>
            </a:r>
            <a:r>
              <a:rPr lang="en-US" sz="2800" b="1" i="0" u="none">
                <a:solidFill>
                  <a:schemeClr val="dk1"/>
                </a:solidFill>
                <a:latin typeface="Arial" panose="020B0604020202020204"/>
                <a:ea typeface="Arial" panose="020B0604020202020204"/>
                <a:cs typeface="Arial" panose="020B0604020202020204"/>
                <a:sym typeface="Arial" panose="020B0604020202020204"/>
              </a:rPr>
              <a:t>将两个或两个以上的有序序列合并成一个有序序列的过程。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203" name="Shape 2203"/>
        <p:cNvGrpSpPr/>
        <p:nvPr/>
      </p:nvGrpSpPr>
      <p:grpSpPr>
        <a:xfrm>
          <a:off x="0" y="0"/>
          <a:ext cx="0" cy="0"/>
          <a:chOff x="0" y="0"/>
          <a:chExt cx="0" cy="0"/>
        </a:xfrm>
      </p:grpSpPr>
      <p:sp>
        <p:nvSpPr>
          <p:cNvPr id="2204" name="Shape 2204"/>
          <p:cNvSpPr txBox="1"/>
          <p:nvPr/>
        </p:nvSpPr>
        <p:spPr>
          <a:xfrm>
            <a:off x="522287" y="1763712"/>
            <a:ext cx="8101012" cy="22272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基本思想：</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将一个具有</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个待排序记录的序列看成是</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个长度为1的有序序列，然后进行两两归并，得到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/2个长度为2的有序序列，再进行两两归并，得到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/4个长度为4的有序序列，……，直至得到一个长度为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的有序序列为止。</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05" name="Shape 2205"/>
          <p:cNvSpPr txBox="1"/>
          <p:nvPr/>
        </p:nvSpPr>
        <p:spPr>
          <a:xfrm>
            <a:off x="385762" y="1042987"/>
            <a:ext cx="3733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二路归并排序</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grpSp>
        <p:nvGrpSpPr>
          <p:cNvPr id="2206" name="Shape 2206"/>
          <p:cNvGrpSpPr/>
          <p:nvPr/>
        </p:nvGrpSpPr>
        <p:grpSpPr>
          <a:xfrm>
            <a:off x="476250" y="4103687"/>
            <a:ext cx="6604000" cy="542925"/>
            <a:chOff x="522287" y="3249612"/>
            <a:chExt cx="6604000" cy="542925"/>
          </a:xfrm>
        </p:grpSpPr>
        <p:sp>
          <p:nvSpPr>
            <p:cNvPr id="2207" name="Shape 2207"/>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208" name="Shape 2208"/>
            <p:cNvPicPr preferRelativeResize="0"/>
            <p:nvPr/>
          </p:nvPicPr>
          <p:blipFill rotWithShape="1">
            <a:blip r:embed="rId1"/>
            <a:srcRect/>
            <a:stretch>
              <a:fillRect/>
            </a:stretch>
          </p:blipFill>
          <p:spPr>
            <a:xfrm>
              <a:off x="522287" y="3249612"/>
              <a:ext cx="584200" cy="542925"/>
            </a:xfrm>
            <a:prstGeom prst="rect">
              <a:avLst/>
            </a:prstGeom>
            <a:noFill/>
            <a:ln>
              <a:noFill/>
            </a:ln>
          </p:spPr>
        </p:pic>
      </p:grpSp>
      <p:sp>
        <p:nvSpPr>
          <p:cNvPr id="2209" name="Shape 2209"/>
          <p:cNvSpPr txBox="1"/>
          <p:nvPr/>
        </p:nvSpPr>
        <p:spPr>
          <a:xfrm>
            <a:off x="522287" y="4824412"/>
            <a:ext cx="7010400" cy="1544637"/>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⑴如何将两个有序序列合成一个有序序列？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⑵怎样完成一趟归并？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⑶如何控制二路归并的结束？</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0" name="Shape 2210"/>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214" name="Shape 2214"/>
        <p:cNvGrpSpPr/>
        <p:nvPr/>
      </p:nvGrpSpPr>
      <p:grpSpPr>
        <a:xfrm>
          <a:off x="0" y="0"/>
          <a:ext cx="0" cy="0"/>
          <a:chOff x="0" y="0"/>
          <a:chExt cx="0" cy="0"/>
        </a:xfrm>
      </p:grpSpPr>
      <p:sp>
        <p:nvSpPr>
          <p:cNvPr id="2215" name="Shape 2215"/>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216" name="Shape 2216"/>
          <p:cNvGrpSpPr/>
          <p:nvPr/>
        </p:nvGrpSpPr>
        <p:grpSpPr>
          <a:xfrm>
            <a:off x="765098" y="2628900"/>
            <a:ext cx="6129399" cy="538150"/>
            <a:chOff x="1304848" y="2486025"/>
            <a:chExt cx="6129399" cy="538150"/>
          </a:xfrm>
        </p:grpSpPr>
        <p:sp>
          <p:nvSpPr>
            <p:cNvPr id="2217" name="Shape 2217"/>
            <p:cNvSpPr/>
            <p:nvPr/>
          </p:nvSpPr>
          <p:spPr>
            <a:xfrm>
              <a:off x="1304848" y="249077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8" name="Shape 2218"/>
            <p:cNvSpPr/>
            <p:nvPr/>
          </p:nvSpPr>
          <p:spPr>
            <a:xfrm>
              <a:off x="2219225" y="249077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9" name="Shape 2219"/>
            <p:cNvSpPr/>
            <p:nvPr/>
          </p:nvSpPr>
          <p:spPr>
            <a:xfrm>
              <a:off x="3133624" y="249077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0" name="Shape 2220"/>
            <p:cNvSpPr/>
            <p:nvPr/>
          </p:nvSpPr>
          <p:spPr>
            <a:xfrm>
              <a:off x="4063898" y="248602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1" name="Shape 2221"/>
            <p:cNvSpPr/>
            <p:nvPr/>
          </p:nvSpPr>
          <p:spPr>
            <a:xfrm>
              <a:off x="4990998" y="248602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2" name="Shape 2222"/>
            <p:cNvSpPr/>
            <p:nvPr/>
          </p:nvSpPr>
          <p:spPr>
            <a:xfrm>
              <a:off x="5913350" y="248602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3" name="Shape 2223"/>
            <p:cNvSpPr/>
            <p:nvPr/>
          </p:nvSpPr>
          <p:spPr>
            <a:xfrm>
              <a:off x="6826148" y="2486025"/>
              <a:ext cx="608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24" name="Shape 2224"/>
          <p:cNvGrpSpPr/>
          <p:nvPr/>
        </p:nvGrpSpPr>
        <p:grpSpPr>
          <a:xfrm>
            <a:off x="935037" y="3167062"/>
            <a:ext cx="1219200" cy="990600"/>
            <a:chOff x="1474787" y="3024187"/>
            <a:chExt cx="1219200" cy="990600"/>
          </a:xfrm>
        </p:grpSpPr>
        <p:cxnSp>
          <p:nvCxnSpPr>
            <p:cNvPr id="2225" name="Shape 2225"/>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26" name="Shape 2226"/>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27" name="Shape 2227"/>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28" name="Shape 2228"/>
          <p:cNvGrpSpPr/>
          <p:nvPr/>
        </p:nvGrpSpPr>
        <p:grpSpPr>
          <a:xfrm>
            <a:off x="2728912" y="3167062"/>
            <a:ext cx="1219200" cy="990600"/>
            <a:chOff x="3268662" y="3024187"/>
            <a:chExt cx="1219200" cy="990600"/>
          </a:xfrm>
        </p:grpSpPr>
        <p:cxnSp>
          <p:nvCxnSpPr>
            <p:cNvPr id="2229" name="Shape 2229"/>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30" name="Shape 2230"/>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31" name="Shape 2231"/>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32" name="Shape 2232"/>
          <p:cNvGrpSpPr/>
          <p:nvPr/>
        </p:nvGrpSpPr>
        <p:grpSpPr>
          <a:xfrm>
            <a:off x="4605337" y="3160712"/>
            <a:ext cx="1219200" cy="990600"/>
            <a:chOff x="5145087" y="3017837"/>
            <a:chExt cx="1219200" cy="990600"/>
          </a:xfrm>
        </p:grpSpPr>
        <p:cxnSp>
          <p:nvCxnSpPr>
            <p:cNvPr id="2233" name="Shape 2233"/>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34" name="Shape 2234"/>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35" name="Shape 2235"/>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36" name="Shape 2236"/>
          <p:cNvGrpSpPr/>
          <p:nvPr/>
        </p:nvGrpSpPr>
        <p:grpSpPr>
          <a:xfrm>
            <a:off x="6287649" y="3167062"/>
            <a:ext cx="594300" cy="990588"/>
            <a:chOff x="6827399" y="3024187"/>
            <a:chExt cx="594300" cy="990588"/>
          </a:xfrm>
        </p:grpSpPr>
        <p:cxnSp>
          <p:nvCxnSpPr>
            <p:cNvPr id="2237" name="Shape 2237"/>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238" name="Shape 2238"/>
            <p:cNvSpPr/>
            <p:nvPr/>
          </p:nvSpPr>
          <p:spPr>
            <a:xfrm>
              <a:off x="6827399" y="3481375"/>
              <a:ext cx="5943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39" name="Shape 2239"/>
          <p:cNvSpPr/>
          <p:nvPr/>
        </p:nvSpPr>
        <p:spPr>
          <a:xfrm>
            <a:off x="1284287" y="4832350"/>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0" name="Shape 2240"/>
          <p:cNvSpPr/>
          <p:nvPr/>
        </p:nvSpPr>
        <p:spPr>
          <a:xfrm>
            <a:off x="927100" y="1862137"/>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241" name="Shape 2241"/>
          <p:cNvGrpSpPr/>
          <p:nvPr/>
        </p:nvGrpSpPr>
        <p:grpSpPr>
          <a:xfrm>
            <a:off x="1022350" y="4157662"/>
            <a:ext cx="219075" cy="454025"/>
            <a:chOff x="1562100" y="4014787"/>
            <a:chExt cx="219075" cy="454025"/>
          </a:xfrm>
        </p:grpSpPr>
        <p:cxnSp>
          <p:nvCxnSpPr>
            <p:cNvPr id="2242" name="Shape 2242"/>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43" name="Shape 2243"/>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44" name="Shape 2244"/>
          <p:cNvGrpSpPr/>
          <p:nvPr/>
        </p:nvGrpSpPr>
        <p:grpSpPr>
          <a:xfrm>
            <a:off x="2978150" y="4157662"/>
            <a:ext cx="277812" cy="454025"/>
            <a:chOff x="3517900" y="4014787"/>
            <a:chExt cx="277812" cy="454025"/>
          </a:xfrm>
        </p:grpSpPr>
        <p:cxnSp>
          <p:nvCxnSpPr>
            <p:cNvPr id="2245" name="Shape 2245"/>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46" name="Shape 2246"/>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47" name="Shape 2247"/>
          <p:cNvSpPr txBox="1"/>
          <p:nvPr/>
        </p:nvSpPr>
        <p:spPr>
          <a:xfrm>
            <a:off x="1439862" y="4938712"/>
            <a:ext cx="2968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248" name="Shape 2248"/>
          <p:cNvGrpSpPr/>
          <p:nvPr/>
        </p:nvGrpSpPr>
        <p:grpSpPr>
          <a:xfrm>
            <a:off x="1527175" y="5359400"/>
            <a:ext cx="277812" cy="454025"/>
            <a:chOff x="3517900" y="4014787"/>
            <a:chExt cx="277812" cy="454025"/>
          </a:xfrm>
        </p:grpSpPr>
        <p:cxnSp>
          <p:nvCxnSpPr>
            <p:cNvPr id="2249" name="Shape 2249"/>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50" name="Shape 2250"/>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51" name="Shape 2251"/>
          <p:cNvGrpSpPr/>
          <p:nvPr/>
        </p:nvGrpSpPr>
        <p:grpSpPr>
          <a:xfrm>
            <a:off x="3524250" y="4141787"/>
            <a:ext cx="277812" cy="454025"/>
            <a:chOff x="3517900" y="4014787"/>
            <a:chExt cx="277812" cy="454025"/>
          </a:xfrm>
        </p:grpSpPr>
        <p:cxnSp>
          <p:nvCxnSpPr>
            <p:cNvPr id="2252" name="Shape 2252"/>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53" name="Shape 2253"/>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54" name="Shape 2254"/>
          <p:cNvSpPr txBox="1"/>
          <p:nvPr/>
        </p:nvSpPr>
        <p:spPr>
          <a:xfrm>
            <a:off x="189071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255" name="Shape 2255"/>
          <p:cNvGrpSpPr/>
          <p:nvPr/>
        </p:nvGrpSpPr>
        <p:grpSpPr>
          <a:xfrm>
            <a:off x="1582737" y="4159250"/>
            <a:ext cx="219075" cy="454025"/>
            <a:chOff x="1562100" y="4014787"/>
            <a:chExt cx="219075" cy="454025"/>
          </a:xfrm>
        </p:grpSpPr>
        <p:cxnSp>
          <p:nvCxnSpPr>
            <p:cNvPr id="2256" name="Shape 2256"/>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57" name="Shape 2257"/>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58" name="Shape 2258"/>
          <p:cNvSpPr txBox="1"/>
          <p:nvPr/>
        </p:nvSpPr>
        <p:spPr>
          <a:xfrm>
            <a:off x="243046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259" name="Shape 2259"/>
          <p:cNvGrpSpPr/>
          <p:nvPr/>
        </p:nvGrpSpPr>
        <p:grpSpPr>
          <a:xfrm>
            <a:off x="4032250" y="4130675"/>
            <a:ext cx="277812" cy="454025"/>
            <a:chOff x="3517900" y="4014787"/>
            <a:chExt cx="277812" cy="454025"/>
          </a:xfrm>
        </p:grpSpPr>
        <p:cxnSp>
          <p:nvCxnSpPr>
            <p:cNvPr id="2260" name="Shape 2260"/>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61" name="Shape 2261"/>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62" name="Shape 2262"/>
          <p:cNvSpPr txBox="1"/>
          <p:nvPr/>
        </p:nvSpPr>
        <p:spPr>
          <a:xfrm>
            <a:off x="2968625" y="4954587"/>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63" name="Shape 2263"/>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47"/>
                                        </p:tgtEl>
                                        <p:attrNameLst>
                                          <p:attrName>style.visibility</p:attrName>
                                        </p:attrNameLst>
                                      </p:cBhvr>
                                      <p:to>
                                        <p:strVal val="visible"/>
                                      </p:to>
                                    </p:set>
                                    <p:animEffect transition="in" filter="fade">
                                      <p:cBhvr>
                                        <p:cTn id="15" dur="500"/>
                                        <p:tgtEl>
                                          <p:spTgt spid="224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54"/>
                                        </p:tgtEl>
                                        <p:attrNameLst>
                                          <p:attrName>style.visibility</p:attrName>
                                        </p:attrNameLst>
                                      </p:cBhvr>
                                      <p:to>
                                        <p:strVal val="visible"/>
                                      </p:to>
                                    </p:set>
                                    <p:animEffect transition="in" filter="fade">
                                      <p:cBhvr>
                                        <p:cTn id="20" dur="500"/>
                                        <p:tgtEl>
                                          <p:spTgt spid="225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58"/>
                                        </p:tgtEl>
                                        <p:attrNameLst>
                                          <p:attrName>style.visibility</p:attrName>
                                        </p:attrNameLst>
                                      </p:cBhvr>
                                      <p:to>
                                        <p:strVal val="visible"/>
                                      </p:to>
                                    </p:set>
                                    <p:animEffect transition="in" filter="fade">
                                      <p:cBhvr>
                                        <p:cTn id="25" dur="500"/>
                                        <p:tgtEl>
                                          <p:spTgt spid="225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262"/>
                                        </p:tgtEl>
                                        <p:attrNameLst>
                                          <p:attrName>style.visibility</p:attrName>
                                        </p:attrNameLst>
                                      </p:cBhvr>
                                      <p:to>
                                        <p:strVal val="visible"/>
                                      </p:to>
                                    </p:set>
                                    <p:animEffect transition="in" filter="fade">
                                      <p:cBhvr>
                                        <p:cTn id="30" dur="500"/>
                                        <p:tgtEl>
                                          <p:spTgt spid="2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267" name="Shape 2267"/>
        <p:cNvGrpSpPr/>
        <p:nvPr/>
      </p:nvGrpSpPr>
      <p:grpSpPr>
        <a:xfrm>
          <a:off x="0" y="0"/>
          <a:ext cx="0" cy="0"/>
          <a:chOff x="0" y="0"/>
          <a:chExt cx="0" cy="0"/>
        </a:xfrm>
      </p:grpSpPr>
      <p:sp>
        <p:nvSpPr>
          <p:cNvPr id="2268" name="Shape 2268"/>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269" name="Shape 2269"/>
          <p:cNvGrpSpPr/>
          <p:nvPr/>
        </p:nvGrpSpPr>
        <p:grpSpPr>
          <a:xfrm>
            <a:off x="741399" y="2628100"/>
            <a:ext cx="6237254" cy="539025"/>
            <a:chOff x="1379527" y="2485173"/>
            <a:chExt cx="6140843" cy="539025"/>
          </a:xfrm>
        </p:grpSpPr>
        <p:sp>
          <p:nvSpPr>
            <p:cNvPr id="2270" name="Shape 2270"/>
            <p:cNvSpPr/>
            <p:nvPr/>
          </p:nvSpPr>
          <p:spPr>
            <a:xfrm>
              <a:off x="1379527" y="2490798"/>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1" name="Shape 2271"/>
            <p:cNvSpPr/>
            <p:nvPr/>
          </p:nvSpPr>
          <p:spPr>
            <a:xfrm>
              <a:off x="2207850" y="2490798"/>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2" name="Shape 2272"/>
            <p:cNvSpPr/>
            <p:nvPr/>
          </p:nvSpPr>
          <p:spPr>
            <a:xfrm>
              <a:off x="3093495" y="2485173"/>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3" name="Shape 2273"/>
            <p:cNvSpPr/>
            <p:nvPr/>
          </p:nvSpPr>
          <p:spPr>
            <a:xfrm>
              <a:off x="4138612" y="2486025"/>
              <a:ext cx="53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4" name="Shape 2274"/>
            <p:cNvSpPr/>
            <p:nvPr/>
          </p:nvSpPr>
          <p:spPr>
            <a:xfrm>
              <a:off x="5065704" y="2486023"/>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5" name="Shape 2275"/>
            <p:cNvSpPr/>
            <p:nvPr/>
          </p:nvSpPr>
          <p:spPr>
            <a:xfrm>
              <a:off x="5988049" y="2486023"/>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76" name="Shape 2276"/>
            <p:cNvSpPr/>
            <p:nvPr/>
          </p:nvSpPr>
          <p:spPr>
            <a:xfrm>
              <a:off x="6900869" y="2486023"/>
              <a:ext cx="6195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77" name="Shape 2277"/>
          <p:cNvGrpSpPr/>
          <p:nvPr/>
        </p:nvGrpSpPr>
        <p:grpSpPr>
          <a:xfrm>
            <a:off x="935037" y="3167062"/>
            <a:ext cx="1219200" cy="990600"/>
            <a:chOff x="1474787" y="3024187"/>
            <a:chExt cx="1219200" cy="990600"/>
          </a:xfrm>
        </p:grpSpPr>
        <p:cxnSp>
          <p:nvCxnSpPr>
            <p:cNvPr id="2278" name="Shape 2278"/>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79" name="Shape 2279"/>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80" name="Shape 2280"/>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81" name="Shape 2281"/>
          <p:cNvGrpSpPr/>
          <p:nvPr/>
        </p:nvGrpSpPr>
        <p:grpSpPr>
          <a:xfrm>
            <a:off x="2728912" y="3167062"/>
            <a:ext cx="1219200" cy="990600"/>
            <a:chOff x="3268662" y="3024187"/>
            <a:chExt cx="1219200" cy="990600"/>
          </a:xfrm>
        </p:grpSpPr>
        <p:cxnSp>
          <p:nvCxnSpPr>
            <p:cNvPr id="2282" name="Shape 2282"/>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83" name="Shape 2283"/>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84" name="Shape 2284"/>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85" name="Shape 2285"/>
          <p:cNvGrpSpPr/>
          <p:nvPr/>
        </p:nvGrpSpPr>
        <p:grpSpPr>
          <a:xfrm>
            <a:off x="4605337" y="3160712"/>
            <a:ext cx="1219200" cy="990600"/>
            <a:chOff x="5145087" y="3017837"/>
            <a:chExt cx="1219200" cy="990600"/>
          </a:xfrm>
        </p:grpSpPr>
        <p:cxnSp>
          <p:nvCxnSpPr>
            <p:cNvPr id="2286" name="Shape 2286"/>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287" name="Shape 2287"/>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288" name="Shape 2288"/>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89" name="Shape 2289"/>
          <p:cNvGrpSpPr/>
          <p:nvPr/>
        </p:nvGrpSpPr>
        <p:grpSpPr>
          <a:xfrm>
            <a:off x="6348398" y="3167062"/>
            <a:ext cx="630300" cy="990588"/>
            <a:chOff x="6888148" y="3024187"/>
            <a:chExt cx="630300" cy="990588"/>
          </a:xfrm>
        </p:grpSpPr>
        <p:cxnSp>
          <p:nvCxnSpPr>
            <p:cNvPr id="2290" name="Shape 2290"/>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291" name="Shape 2291"/>
            <p:cNvSpPr/>
            <p:nvPr/>
          </p:nvSpPr>
          <p:spPr>
            <a:xfrm>
              <a:off x="6888148" y="3481375"/>
              <a:ext cx="6303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292" name="Shape 2292"/>
          <p:cNvSpPr/>
          <p:nvPr/>
        </p:nvSpPr>
        <p:spPr>
          <a:xfrm>
            <a:off x="1284287" y="4832350"/>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93" name="Shape 2293"/>
          <p:cNvSpPr/>
          <p:nvPr/>
        </p:nvSpPr>
        <p:spPr>
          <a:xfrm>
            <a:off x="927100" y="1862137"/>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294" name="Shape 2294"/>
          <p:cNvGrpSpPr/>
          <p:nvPr/>
        </p:nvGrpSpPr>
        <p:grpSpPr>
          <a:xfrm>
            <a:off x="1022350" y="4157662"/>
            <a:ext cx="219075" cy="454025"/>
            <a:chOff x="1562100" y="4014787"/>
            <a:chExt cx="219075" cy="454025"/>
          </a:xfrm>
        </p:grpSpPr>
        <p:cxnSp>
          <p:nvCxnSpPr>
            <p:cNvPr id="2295" name="Shape 2295"/>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96" name="Shape 2296"/>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297" name="Shape 2297"/>
          <p:cNvGrpSpPr/>
          <p:nvPr/>
        </p:nvGrpSpPr>
        <p:grpSpPr>
          <a:xfrm>
            <a:off x="2978150" y="4157662"/>
            <a:ext cx="277812" cy="454025"/>
            <a:chOff x="3517900" y="4014787"/>
            <a:chExt cx="277812" cy="454025"/>
          </a:xfrm>
        </p:grpSpPr>
        <p:cxnSp>
          <p:nvCxnSpPr>
            <p:cNvPr id="2298" name="Shape 2298"/>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299" name="Shape 2299"/>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00" name="Shape 2300"/>
          <p:cNvSpPr txBox="1"/>
          <p:nvPr/>
        </p:nvSpPr>
        <p:spPr>
          <a:xfrm>
            <a:off x="1439862" y="4938712"/>
            <a:ext cx="2968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01" name="Shape 2301"/>
          <p:cNvGrpSpPr/>
          <p:nvPr/>
        </p:nvGrpSpPr>
        <p:grpSpPr>
          <a:xfrm>
            <a:off x="1527175" y="5359400"/>
            <a:ext cx="277812" cy="454025"/>
            <a:chOff x="3517900" y="4014787"/>
            <a:chExt cx="277812" cy="454025"/>
          </a:xfrm>
        </p:grpSpPr>
        <p:cxnSp>
          <p:nvCxnSpPr>
            <p:cNvPr id="2302" name="Shape 2302"/>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03" name="Shape 2303"/>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04" name="Shape 2304"/>
          <p:cNvGrpSpPr/>
          <p:nvPr/>
        </p:nvGrpSpPr>
        <p:grpSpPr>
          <a:xfrm>
            <a:off x="3524250" y="4141787"/>
            <a:ext cx="277812" cy="454025"/>
            <a:chOff x="3517900" y="4014787"/>
            <a:chExt cx="277812" cy="454025"/>
          </a:xfrm>
        </p:grpSpPr>
        <p:cxnSp>
          <p:nvCxnSpPr>
            <p:cNvPr id="2305" name="Shape 2305"/>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06" name="Shape 2306"/>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07" name="Shape 2307"/>
          <p:cNvSpPr txBox="1"/>
          <p:nvPr/>
        </p:nvSpPr>
        <p:spPr>
          <a:xfrm>
            <a:off x="189071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08" name="Shape 2308"/>
          <p:cNvGrpSpPr/>
          <p:nvPr/>
        </p:nvGrpSpPr>
        <p:grpSpPr>
          <a:xfrm>
            <a:off x="1582737" y="4159250"/>
            <a:ext cx="219075" cy="454025"/>
            <a:chOff x="1562100" y="4014787"/>
            <a:chExt cx="219075" cy="454025"/>
          </a:xfrm>
        </p:grpSpPr>
        <p:cxnSp>
          <p:nvCxnSpPr>
            <p:cNvPr id="2309" name="Shape 2309"/>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10" name="Shape 2310"/>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11" name="Shape 2311"/>
          <p:cNvSpPr txBox="1"/>
          <p:nvPr/>
        </p:nvSpPr>
        <p:spPr>
          <a:xfrm>
            <a:off x="243046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12" name="Shape 2312"/>
          <p:cNvGrpSpPr/>
          <p:nvPr/>
        </p:nvGrpSpPr>
        <p:grpSpPr>
          <a:xfrm>
            <a:off x="4032250" y="4130675"/>
            <a:ext cx="277812" cy="454025"/>
            <a:chOff x="3517900" y="4014787"/>
            <a:chExt cx="277812" cy="454025"/>
          </a:xfrm>
        </p:grpSpPr>
        <p:cxnSp>
          <p:nvCxnSpPr>
            <p:cNvPr id="2313" name="Shape 2313"/>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14" name="Shape 2314"/>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15" name="Shape 2315"/>
          <p:cNvSpPr txBox="1"/>
          <p:nvPr/>
        </p:nvSpPr>
        <p:spPr>
          <a:xfrm>
            <a:off x="2968625" y="4954587"/>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16" name="Shape 2316"/>
          <p:cNvGrpSpPr/>
          <p:nvPr/>
        </p:nvGrpSpPr>
        <p:grpSpPr>
          <a:xfrm>
            <a:off x="4257675" y="4857750"/>
            <a:ext cx="4454525" cy="542925"/>
            <a:chOff x="4257675" y="4824412"/>
            <a:chExt cx="4454525" cy="542925"/>
          </a:xfrm>
        </p:grpSpPr>
        <p:sp>
          <p:nvSpPr>
            <p:cNvPr id="2317" name="Shape 2317"/>
            <p:cNvSpPr txBox="1"/>
            <p:nvPr/>
          </p:nvSpPr>
          <p:spPr>
            <a:xfrm>
              <a:off x="4841875" y="4824412"/>
              <a:ext cx="3870325"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归并可以就地进行吗?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318" name="Shape 2318"/>
            <p:cNvPicPr preferRelativeResize="0"/>
            <p:nvPr/>
          </p:nvPicPr>
          <p:blipFill rotWithShape="1">
            <a:blip r:embed="rId1"/>
            <a:srcRect/>
            <a:stretch>
              <a:fillRect/>
            </a:stretch>
          </p:blipFill>
          <p:spPr>
            <a:xfrm>
              <a:off x="4257675" y="4824412"/>
              <a:ext cx="584200" cy="542925"/>
            </a:xfrm>
            <a:prstGeom prst="rect">
              <a:avLst/>
            </a:prstGeom>
            <a:noFill/>
            <a:ln>
              <a:noFill/>
            </a:ln>
          </p:spPr>
        </p:pic>
      </p:grpSp>
      <p:sp>
        <p:nvSpPr>
          <p:cNvPr id="2319" name="Shape 2319"/>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323" name="Shape 2323"/>
        <p:cNvGrpSpPr/>
        <p:nvPr/>
      </p:nvGrpSpPr>
      <p:grpSpPr>
        <a:xfrm>
          <a:off x="0" y="0"/>
          <a:ext cx="0" cy="0"/>
          <a:chOff x="0" y="0"/>
          <a:chExt cx="0" cy="0"/>
        </a:xfrm>
      </p:grpSpPr>
      <p:sp>
        <p:nvSpPr>
          <p:cNvPr id="2324" name="Shape 2324"/>
          <p:cNvSpPr txBox="1"/>
          <p:nvPr/>
        </p:nvSpPr>
        <p:spPr>
          <a:xfrm>
            <a:off x="4032250" y="4708525"/>
            <a:ext cx="4841875" cy="1382712"/>
          </a:xfrm>
          <a:prstGeom prst="rect">
            <a:avLst/>
          </a:prstGeom>
          <a:noFill/>
          <a:ln w="28575" cap="flat" cmpd="sng">
            <a:solidFill>
              <a:schemeClr val="accent1"/>
            </a:solidFill>
            <a:prstDash val="solid"/>
            <a:miter lim="800000"/>
            <a:headEnd type="none" w="sm" len="sm"/>
            <a:tailEnd type="none" w="sm" len="sm"/>
          </a:ln>
        </p:spPr>
        <p:txBody>
          <a:bodyPr spcFirstLastPara="1" wrap="square" lIns="54000" tIns="36000" rIns="18000" bIns="36000" anchor="ctr"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在归并过程中，可能会破坏原来的有序序列，所以，将归并的结果存入另外一个数组中。 </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325" name="Shape 2325"/>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326" name="Shape 2326"/>
          <p:cNvGrpSpPr/>
          <p:nvPr/>
        </p:nvGrpSpPr>
        <p:grpSpPr>
          <a:xfrm>
            <a:off x="778999" y="2628900"/>
            <a:ext cx="6258298" cy="538150"/>
            <a:chOff x="1318749" y="2486025"/>
            <a:chExt cx="6258298" cy="538150"/>
          </a:xfrm>
        </p:grpSpPr>
        <p:sp>
          <p:nvSpPr>
            <p:cNvPr id="2327" name="Shape 2327"/>
            <p:cNvSpPr/>
            <p:nvPr/>
          </p:nvSpPr>
          <p:spPr>
            <a:xfrm>
              <a:off x="1318749" y="2490775"/>
              <a:ext cx="5943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28" name="Shape 2328"/>
            <p:cNvSpPr/>
            <p:nvPr/>
          </p:nvSpPr>
          <p:spPr>
            <a:xfrm>
              <a:off x="2293922" y="2490775"/>
              <a:ext cx="676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29" name="Shape 2329"/>
            <p:cNvSpPr/>
            <p:nvPr/>
          </p:nvSpPr>
          <p:spPr>
            <a:xfrm>
              <a:off x="3208322" y="2490775"/>
              <a:ext cx="676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0" name="Shape 2330"/>
            <p:cNvSpPr/>
            <p:nvPr/>
          </p:nvSpPr>
          <p:spPr>
            <a:xfrm>
              <a:off x="4138612" y="2486025"/>
              <a:ext cx="53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1" name="Shape 2331"/>
            <p:cNvSpPr/>
            <p:nvPr/>
          </p:nvSpPr>
          <p:spPr>
            <a:xfrm>
              <a:off x="5065698" y="2486025"/>
              <a:ext cx="5943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2" name="Shape 2332"/>
            <p:cNvSpPr/>
            <p:nvPr/>
          </p:nvSpPr>
          <p:spPr>
            <a:xfrm>
              <a:off x="5988050" y="2486025"/>
              <a:ext cx="676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33" name="Shape 2333"/>
            <p:cNvSpPr/>
            <p:nvPr/>
          </p:nvSpPr>
          <p:spPr>
            <a:xfrm>
              <a:off x="6900847" y="2486025"/>
              <a:ext cx="676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34" name="Shape 2334"/>
          <p:cNvGrpSpPr/>
          <p:nvPr/>
        </p:nvGrpSpPr>
        <p:grpSpPr>
          <a:xfrm>
            <a:off x="935037" y="3167062"/>
            <a:ext cx="1219200" cy="990600"/>
            <a:chOff x="1474787" y="3024187"/>
            <a:chExt cx="1219200" cy="990600"/>
          </a:xfrm>
        </p:grpSpPr>
        <p:cxnSp>
          <p:nvCxnSpPr>
            <p:cNvPr id="2335" name="Shape 2335"/>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36" name="Shape 2336"/>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37" name="Shape 2337"/>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38" name="Shape 2338"/>
          <p:cNvGrpSpPr/>
          <p:nvPr/>
        </p:nvGrpSpPr>
        <p:grpSpPr>
          <a:xfrm>
            <a:off x="2728912" y="3167062"/>
            <a:ext cx="1219200" cy="990600"/>
            <a:chOff x="3268662" y="3024187"/>
            <a:chExt cx="1219200" cy="990600"/>
          </a:xfrm>
        </p:grpSpPr>
        <p:cxnSp>
          <p:nvCxnSpPr>
            <p:cNvPr id="2339" name="Shape 2339"/>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40" name="Shape 2340"/>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41" name="Shape 2341"/>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42" name="Shape 2342"/>
          <p:cNvGrpSpPr/>
          <p:nvPr/>
        </p:nvGrpSpPr>
        <p:grpSpPr>
          <a:xfrm>
            <a:off x="4605337" y="3160712"/>
            <a:ext cx="1219200" cy="990600"/>
            <a:chOff x="5145087" y="3017837"/>
            <a:chExt cx="1219200" cy="990600"/>
          </a:xfrm>
        </p:grpSpPr>
        <p:cxnSp>
          <p:nvCxnSpPr>
            <p:cNvPr id="2343" name="Shape 2343"/>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44" name="Shape 2344"/>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45" name="Shape 2345"/>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46" name="Shape 2346"/>
          <p:cNvGrpSpPr/>
          <p:nvPr/>
        </p:nvGrpSpPr>
        <p:grpSpPr>
          <a:xfrm>
            <a:off x="6348398" y="3167062"/>
            <a:ext cx="606900" cy="990588"/>
            <a:chOff x="6888148" y="3024187"/>
            <a:chExt cx="606900" cy="990588"/>
          </a:xfrm>
        </p:grpSpPr>
        <p:cxnSp>
          <p:nvCxnSpPr>
            <p:cNvPr id="2347" name="Shape 2347"/>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348" name="Shape 2348"/>
            <p:cNvSpPr/>
            <p:nvPr/>
          </p:nvSpPr>
          <p:spPr>
            <a:xfrm>
              <a:off x="6888148" y="3481375"/>
              <a:ext cx="606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49" name="Shape 2349"/>
          <p:cNvSpPr/>
          <p:nvPr/>
        </p:nvSpPr>
        <p:spPr>
          <a:xfrm>
            <a:off x="1284287" y="4832350"/>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50" name="Shape 2350"/>
          <p:cNvSpPr/>
          <p:nvPr/>
        </p:nvSpPr>
        <p:spPr>
          <a:xfrm>
            <a:off x="927100" y="1862137"/>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51" name="Shape 2351"/>
          <p:cNvGrpSpPr/>
          <p:nvPr/>
        </p:nvGrpSpPr>
        <p:grpSpPr>
          <a:xfrm>
            <a:off x="1022350" y="4157662"/>
            <a:ext cx="219075" cy="454025"/>
            <a:chOff x="1562100" y="4014787"/>
            <a:chExt cx="219075" cy="454025"/>
          </a:xfrm>
        </p:grpSpPr>
        <p:cxnSp>
          <p:nvCxnSpPr>
            <p:cNvPr id="2352" name="Shape 2352"/>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53" name="Shape 2353"/>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54" name="Shape 2354"/>
          <p:cNvGrpSpPr/>
          <p:nvPr/>
        </p:nvGrpSpPr>
        <p:grpSpPr>
          <a:xfrm>
            <a:off x="2978150" y="4157662"/>
            <a:ext cx="277812" cy="454025"/>
            <a:chOff x="3517900" y="4014787"/>
            <a:chExt cx="277812" cy="454025"/>
          </a:xfrm>
        </p:grpSpPr>
        <p:cxnSp>
          <p:nvCxnSpPr>
            <p:cNvPr id="2355" name="Shape 2355"/>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56" name="Shape 2356"/>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57" name="Shape 2357"/>
          <p:cNvSpPr txBox="1"/>
          <p:nvPr/>
        </p:nvSpPr>
        <p:spPr>
          <a:xfrm>
            <a:off x="1439862" y="4938712"/>
            <a:ext cx="2968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58" name="Shape 2358"/>
          <p:cNvGrpSpPr/>
          <p:nvPr/>
        </p:nvGrpSpPr>
        <p:grpSpPr>
          <a:xfrm>
            <a:off x="1527175" y="5359400"/>
            <a:ext cx="277812" cy="454025"/>
            <a:chOff x="3517900" y="4014787"/>
            <a:chExt cx="277812" cy="454025"/>
          </a:xfrm>
        </p:grpSpPr>
        <p:cxnSp>
          <p:nvCxnSpPr>
            <p:cNvPr id="2359" name="Shape 2359"/>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60" name="Shape 2360"/>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61" name="Shape 2361"/>
          <p:cNvGrpSpPr/>
          <p:nvPr/>
        </p:nvGrpSpPr>
        <p:grpSpPr>
          <a:xfrm>
            <a:off x="3524250" y="4141787"/>
            <a:ext cx="277812" cy="454025"/>
            <a:chOff x="3517900" y="4014787"/>
            <a:chExt cx="277812" cy="454025"/>
          </a:xfrm>
        </p:grpSpPr>
        <p:cxnSp>
          <p:nvCxnSpPr>
            <p:cNvPr id="2362" name="Shape 2362"/>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63" name="Shape 2363"/>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64" name="Shape 2364"/>
          <p:cNvSpPr txBox="1"/>
          <p:nvPr/>
        </p:nvSpPr>
        <p:spPr>
          <a:xfrm>
            <a:off x="189071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65" name="Shape 2365"/>
          <p:cNvGrpSpPr/>
          <p:nvPr/>
        </p:nvGrpSpPr>
        <p:grpSpPr>
          <a:xfrm>
            <a:off x="1582737" y="4159250"/>
            <a:ext cx="219075" cy="454025"/>
            <a:chOff x="1562100" y="4014787"/>
            <a:chExt cx="219075" cy="454025"/>
          </a:xfrm>
        </p:grpSpPr>
        <p:cxnSp>
          <p:nvCxnSpPr>
            <p:cNvPr id="2366" name="Shape 2366"/>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67" name="Shape 2367"/>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68" name="Shape 2368"/>
          <p:cNvSpPr txBox="1"/>
          <p:nvPr/>
        </p:nvSpPr>
        <p:spPr>
          <a:xfrm>
            <a:off x="243046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69" name="Shape 2369"/>
          <p:cNvGrpSpPr/>
          <p:nvPr/>
        </p:nvGrpSpPr>
        <p:grpSpPr>
          <a:xfrm>
            <a:off x="4032250" y="4130675"/>
            <a:ext cx="277812" cy="454025"/>
            <a:chOff x="3517900" y="4014787"/>
            <a:chExt cx="277812" cy="454025"/>
          </a:xfrm>
        </p:grpSpPr>
        <p:cxnSp>
          <p:nvCxnSpPr>
            <p:cNvPr id="2370" name="Shape 2370"/>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371" name="Shape 2371"/>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372" name="Shape 2372"/>
          <p:cNvSpPr txBox="1"/>
          <p:nvPr/>
        </p:nvSpPr>
        <p:spPr>
          <a:xfrm>
            <a:off x="2968625" y="4954587"/>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73" name="Shape 2373"/>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377" name="Shape 2377"/>
        <p:cNvGrpSpPr/>
        <p:nvPr/>
      </p:nvGrpSpPr>
      <p:grpSpPr>
        <a:xfrm>
          <a:off x="0" y="0"/>
          <a:ext cx="0" cy="0"/>
          <a:chOff x="0" y="0"/>
          <a:chExt cx="0" cy="0"/>
        </a:xfrm>
      </p:grpSpPr>
      <p:sp>
        <p:nvSpPr>
          <p:cNvPr id="2378" name="Shape 2378"/>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379" name="Shape 2379"/>
          <p:cNvGrpSpPr/>
          <p:nvPr/>
        </p:nvGrpSpPr>
        <p:grpSpPr>
          <a:xfrm>
            <a:off x="751175" y="2628900"/>
            <a:ext cx="6143323" cy="538150"/>
            <a:chOff x="1290925" y="2486025"/>
            <a:chExt cx="6143323" cy="538150"/>
          </a:xfrm>
        </p:grpSpPr>
        <p:sp>
          <p:nvSpPr>
            <p:cNvPr id="2380" name="Shape 2380"/>
            <p:cNvSpPr/>
            <p:nvPr/>
          </p:nvSpPr>
          <p:spPr>
            <a:xfrm>
              <a:off x="1290925" y="249077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1" name="Shape 2381"/>
            <p:cNvSpPr/>
            <p:nvPr/>
          </p:nvSpPr>
          <p:spPr>
            <a:xfrm>
              <a:off x="2205423" y="249077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2" name="Shape 2382"/>
            <p:cNvSpPr/>
            <p:nvPr/>
          </p:nvSpPr>
          <p:spPr>
            <a:xfrm>
              <a:off x="3208323" y="249077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3" name="Shape 2383"/>
            <p:cNvSpPr/>
            <p:nvPr/>
          </p:nvSpPr>
          <p:spPr>
            <a:xfrm>
              <a:off x="4138612" y="2486025"/>
              <a:ext cx="53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4" name="Shape 2384"/>
            <p:cNvSpPr/>
            <p:nvPr/>
          </p:nvSpPr>
          <p:spPr>
            <a:xfrm>
              <a:off x="5065698" y="248602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5" name="Shape 2385"/>
            <p:cNvSpPr/>
            <p:nvPr/>
          </p:nvSpPr>
          <p:spPr>
            <a:xfrm>
              <a:off x="5899550" y="248602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6" name="Shape 2386"/>
            <p:cNvSpPr/>
            <p:nvPr/>
          </p:nvSpPr>
          <p:spPr>
            <a:xfrm>
              <a:off x="6812348" y="2486025"/>
              <a:ext cx="6219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87" name="Shape 2387"/>
          <p:cNvGrpSpPr/>
          <p:nvPr/>
        </p:nvGrpSpPr>
        <p:grpSpPr>
          <a:xfrm>
            <a:off x="935037" y="3167062"/>
            <a:ext cx="1219200" cy="990600"/>
            <a:chOff x="1474787" y="3024187"/>
            <a:chExt cx="1219200" cy="990600"/>
          </a:xfrm>
        </p:grpSpPr>
        <p:cxnSp>
          <p:nvCxnSpPr>
            <p:cNvPr id="2388" name="Shape 2388"/>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89" name="Shape 2389"/>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90" name="Shape 2390"/>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91" name="Shape 2391"/>
          <p:cNvGrpSpPr/>
          <p:nvPr/>
        </p:nvGrpSpPr>
        <p:grpSpPr>
          <a:xfrm>
            <a:off x="2728912" y="3167062"/>
            <a:ext cx="1219200" cy="990600"/>
            <a:chOff x="3268662" y="3024187"/>
            <a:chExt cx="1219200" cy="990600"/>
          </a:xfrm>
        </p:grpSpPr>
        <p:cxnSp>
          <p:nvCxnSpPr>
            <p:cNvPr id="2392" name="Shape 2392"/>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93" name="Shape 2393"/>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94" name="Shape 2394"/>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95" name="Shape 2395"/>
          <p:cNvGrpSpPr/>
          <p:nvPr/>
        </p:nvGrpSpPr>
        <p:grpSpPr>
          <a:xfrm>
            <a:off x="4605337" y="3160712"/>
            <a:ext cx="1219200" cy="990600"/>
            <a:chOff x="5145087" y="3017837"/>
            <a:chExt cx="1219200" cy="990600"/>
          </a:xfrm>
        </p:grpSpPr>
        <p:cxnSp>
          <p:nvCxnSpPr>
            <p:cNvPr id="2396" name="Shape 2396"/>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397" name="Shape 2397"/>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398" name="Shape 2398"/>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399" name="Shape 2399"/>
          <p:cNvGrpSpPr/>
          <p:nvPr/>
        </p:nvGrpSpPr>
        <p:grpSpPr>
          <a:xfrm>
            <a:off x="6287650" y="3167062"/>
            <a:ext cx="594300" cy="990588"/>
            <a:chOff x="6827400" y="3024187"/>
            <a:chExt cx="594300" cy="990588"/>
          </a:xfrm>
        </p:grpSpPr>
        <p:cxnSp>
          <p:nvCxnSpPr>
            <p:cNvPr id="2400" name="Shape 2400"/>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401" name="Shape 2401"/>
            <p:cNvSpPr/>
            <p:nvPr/>
          </p:nvSpPr>
          <p:spPr>
            <a:xfrm>
              <a:off x="6827400" y="3481375"/>
              <a:ext cx="5943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02" name="Shape 2402"/>
          <p:cNvSpPr/>
          <p:nvPr/>
        </p:nvSpPr>
        <p:spPr>
          <a:xfrm>
            <a:off x="1284287" y="4832350"/>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03" name="Shape 2403"/>
          <p:cNvSpPr/>
          <p:nvPr/>
        </p:nvSpPr>
        <p:spPr>
          <a:xfrm>
            <a:off x="927100" y="1862137"/>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04" name="Shape 2404"/>
          <p:cNvGrpSpPr/>
          <p:nvPr/>
        </p:nvGrpSpPr>
        <p:grpSpPr>
          <a:xfrm>
            <a:off x="1022350" y="4157662"/>
            <a:ext cx="219075" cy="454025"/>
            <a:chOff x="1562100" y="4014787"/>
            <a:chExt cx="219075" cy="454025"/>
          </a:xfrm>
        </p:grpSpPr>
        <p:cxnSp>
          <p:nvCxnSpPr>
            <p:cNvPr id="2405" name="Shape 2405"/>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06" name="Shape 2406"/>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07" name="Shape 2407"/>
          <p:cNvGrpSpPr/>
          <p:nvPr/>
        </p:nvGrpSpPr>
        <p:grpSpPr>
          <a:xfrm>
            <a:off x="2978150" y="4157662"/>
            <a:ext cx="277812" cy="454025"/>
            <a:chOff x="3517900" y="4014787"/>
            <a:chExt cx="277812" cy="454025"/>
          </a:xfrm>
        </p:grpSpPr>
        <p:cxnSp>
          <p:nvCxnSpPr>
            <p:cNvPr id="2408" name="Shape 2408"/>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09" name="Shape 2409"/>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10" name="Shape 2410"/>
          <p:cNvSpPr txBox="1"/>
          <p:nvPr/>
        </p:nvSpPr>
        <p:spPr>
          <a:xfrm>
            <a:off x="1439862" y="4938712"/>
            <a:ext cx="2968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11" name="Shape 2411"/>
          <p:cNvGrpSpPr/>
          <p:nvPr/>
        </p:nvGrpSpPr>
        <p:grpSpPr>
          <a:xfrm>
            <a:off x="1527175" y="5359400"/>
            <a:ext cx="277812" cy="454025"/>
            <a:chOff x="3517900" y="4014787"/>
            <a:chExt cx="277812" cy="454025"/>
          </a:xfrm>
        </p:grpSpPr>
        <p:cxnSp>
          <p:nvCxnSpPr>
            <p:cNvPr id="2412" name="Shape 2412"/>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13" name="Shape 2413"/>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14" name="Shape 2414"/>
          <p:cNvGrpSpPr/>
          <p:nvPr/>
        </p:nvGrpSpPr>
        <p:grpSpPr>
          <a:xfrm>
            <a:off x="3524250" y="4141787"/>
            <a:ext cx="277812" cy="454025"/>
            <a:chOff x="3517900" y="4014787"/>
            <a:chExt cx="277812" cy="454025"/>
          </a:xfrm>
        </p:grpSpPr>
        <p:cxnSp>
          <p:nvCxnSpPr>
            <p:cNvPr id="2415" name="Shape 2415"/>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16" name="Shape 2416"/>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17" name="Shape 2417"/>
          <p:cNvSpPr txBox="1"/>
          <p:nvPr/>
        </p:nvSpPr>
        <p:spPr>
          <a:xfrm>
            <a:off x="189071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18" name="Shape 2418"/>
          <p:cNvGrpSpPr/>
          <p:nvPr/>
        </p:nvGrpSpPr>
        <p:grpSpPr>
          <a:xfrm>
            <a:off x="1582737" y="4159250"/>
            <a:ext cx="219075" cy="454025"/>
            <a:chOff x="1562100" y="4014787"/>
            <a:chExt cx="219075" cy="454025"/>
          </a:xfrm>
        </p:grpSpPr>
        <p:cxnSp>
          <p:nvCxnSpPr>
            <p:cNvPr id="2419" name="Shape 2419"/>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20" name="Shape 2420"/>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21" name="Shape 2421"/>
          <p:cNvSpPr txBox="1"/>
          <p:nvPr/>
        </p:nvSpPr>
        <p:spPr>
          <a:xfrm>
            <a:off x="243046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22" name="Shape 2422"/>
          <p:cNvGrpSpPr/>
          <p:nvPr/>
        </p:nvGrpSpPr>
        <p:grpSpPr>
          <a:xfrm>
            <a:off x="4032250" y="4130675"/>
            <a:ext cx="277812" cy="454025"/>
            <a:chOff x="3517900" y="4014787"/>
            <a:chExt cx="277812" cy="454025"/>
          </a:xfrm>
        </p:grpSpPr>
        <p:cxnSp>
          <p:nvCxnSpPr>
            <p:cNvPr id="2423" name="Shape 2423"/>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24" name="Shape 2424"/>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25" name="Shape 2425"/>
          <p:cNvSpPr txBox="1"/>
          <p:nvPr/>
        </p:nvSpPr>
        <p:spPr>
          <a:xfrm>
            <a:off x="2968625" y="4954587"/>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26" name="Shape 2426"/>
          <p:cNvGrpSpPr/>
          <p:nvPr/>
        </p:nvGrpSpPr>
        <p:grpSpPr>
          <a:xfrm>
            <a:off x="4130675" y="4857750"/>
            <a:ext cx="5175250" cy="542925"/>
            <a:chOff x="4257675" y="4778375"/>
            <a:chExt cx="5175250" cy="542925"/>
          </a:xfrm>
        </p:grpSpPr>
        <p:sp>
          <p:nvSpPr>
            <p:cNvPr id="2427" name="Shape 2427"/>
            <p:cNvSpPr txBox="1"/>
            <p:nvPr/>
          </p:nvSpPr>
          <p:spPr>
            <a:xfrm>
              <a:off x="4841875" y="4778375"/>
              <a:ext cx="459105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子序列的长度一定相等吗?</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28" name="Shape 2428"/>
            <p:cNvPicPr preferRelativeResize="0"/>
            <p:nvPr/>
          </p:nvPicPr>
          <p:blipFill rotWithShape="1">
            <a:blip r:embed="rId1"/>
            <a:srcRect/>
            <a:stretch>
              <a:fillRect/>
            </a:stretch>
          </p:blipFill>
          <p:spPr>
            <a:xfrm>
              <a:off x="4257675" y="4778375"/>
              <a:ext cx="584200" cy="542925"/>
            </a:xfrm>
            <a:prstGeom prst="rect">
              <a:avLst/>
            </a:prstGeom>
            <a:noFill/>
            <a:ln>
              <a:noFill/>
            </a:ln>
          </p:spPr>
        </p:pic>
      </p:grpSp>
      <p:sp>
        <p:nvSpPr>
          <p:cNvPr id="2429" name="Shape 2429"/>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433" name="Shape 2433"/>
        <p:cNvGrpSpPr/>
        <p:nvPr/>
      </p:nvGrpSpPr>
      <p:grpSpPr>
        <a:xfrm>
          <a:off x="0" y="0"/>
          <a:ext cx="0" cy="0"/>
          <a:chOff x="0" y="0"/>
          <a:chExt cx="0" cy="0"/>
        </a:xfrm>
      </p:grpSpPr>
      <p:sp>
        <p:nvSpPr>
          <p:cNvPr id="2434" name="Shape 2434"/>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435" name="Shape 2435"/>
          <p:cNvGrpSpPr/>
          <p:nvPr/>
        </p:nvGrpSpPr>
        <p:grpSpPr>
          <a:xfrm>
            <a:off x="839773" y="2628900"/>
            <a:ext cx="6054726" cy="538150"/>
            <a:chOff x="1379523" y="2486025"/>
            <a:chExt cx="6054726" cy="538150"/>
          </a:xfrm>
        </p:grpSpPr>
        <p:sp>
          <p:nvSpPr>
            <p:cNvPr id="2436" name="Shape 2436"/>
            <p:cNvSpPr/>
            <p:nvPr/>
          </p:nvSpPr>
          <p:spPr>
            <a:xfrm>
              <a:off x="1379523" y="249077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37" name="Shape 2437"/>
            <p:cNvSpPr/>
            <p:nvPr/>
          </p:nvSpPr>
          <p:spPr>
            <a:xfrm>
              <a:off x="2293923" y="249077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38" name="Shape 2438"/>
            <p:cNvSpPr/>
            <p:nvPr/>
          </p:nvSpPr>
          <p:spPr>
            <a:xfrm>
              <a:off x="3208323" y="249077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39" name="Shape 2439"/>
            <p:cNvSpPr/>
            <p:nvPr/>
          </p:nvSpPr>
          <p:spPr>
            <a:xfrm>
              <a:off x="4138612" y="2486025"/>
              <a:ext cx="53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40" name="Shape 2440"/>
            <p:cNvSpPr/>
            <p:nvPr/>
          </p:nvSpPr>
          <p:spPr>
            <a:xfrm>
              <a:off x="5065698" y="248602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41" name="Shape 2441"/>
            <p:cNvSpPr/>
            <p:nvPr/>
          </p:nvSpPr>
          <p:spPr>
            <a:xfrm>
              <a:off x="5988050" y="248602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42" name="Shape 2442"/>
            <p:cNvSpPr/>
            <p:nvPr/>
          </p:nvSpPr>
          <p:spPr>
            <a:xfrm>
              <a:off x="6834249" y="2486025"/>
              <a:ext cx="600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43" name="Shape 2443"/>
          <p:cNvGrpSpPr/>
          <p:nvPr/>
        </p:nvGrpSpPr>
        <p:grpSpPr>
          <a:xfrm>
            <a:off x="935037" y="3167062"/>
            <a:ext cx="1219200" cy="990600"/>
            <a:chOff x="1474787" y="3024187"/>
            <a:chExt cx="1219200" cy="990600"/>
          </a:xfrm>
        </p:grpSpPr>
        <p:cxnSp>
          <p:nvCxnSpPr>
            <p:cNvPr id="2444" name="Shape 2444"/>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445" name="Shape 2445"/>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446" name="Shape 2446"/>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47" name="Shape 2447"/>
          <p:cNvGrpSpPr/>
          <p:nvPr/>
        </p:nvGrpSpPr>
        <p:grpSpPr>
          <a:xfrm>
            <a:off x="2728912" y="3167062"/>
            <a:ext cx="1219200" cy="990600"/>
            <a:chOff x="3268662" y="3024187"/>
            <a:chExt cx="1219200" cy="990600"/>
          </a:xfrm>
        </p:grpSpPr>
        <p:cxnSp>
          <p:nvCxnSpPr>
            <p:cNvPr id="2448" name="Shape 2448"/>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449" name="Shape 2449"/>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450" name="Shape 2450"/>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51" name="Shape 2451"/>
          <p:cNvGrpSpPr/>
          <p:nvPr/>
        </p:nvGrpSpPr>
        <p:grpSpPr>
          <a:xfrm>
            <a:off x="4605337" y="3160712"/>
            <a:ext cx="1219200" cy="990600"/>
            <a:chOff x="5145087" y="3017837"/>
            <a:chExt cx="1219200" cy="990600"/>
          </a:xfrm>
        </p:grpSpPr>
        <p:cxnSp>
          <p:nvCxnSpPr>
            <p:cNvPr id="2452" name="Shape 2452"/>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453" name="Shape 2453"/>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454" name="Shape 2454"/>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55" name="Shape 2455"/>
          <p:cNvGrpSpPr/>
          <p:nvPr/>
        </p:nvGrpSpPr>
        <p:grpSpPr>
          <a:xfrm>
            <a:off x="6227748" y="3167062"/>
            <a:ext cx="654000" cy="990588"/>
            <a:chOff x="6767498" y="3024187"/>
            <a:chExt cx="654000" cy="990588"/>
          </a:xfrm>
        </p:grpSpPr>
        <p:cxnSp>
          <p:nvCxnSpPr>
            <p:cNvPr id="2456" name="Shape 2456"/>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457" name="Shape 2457"/>
            <p:cNvSpPr/>
            <p:nvPr/>
          </p:nvSpPr>
          <p:spPr>
            <a:xfrm>
              <a:off x="6767498" y="3481375"/>
              <a:ext cx="6540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58" name="Shape 2458"/>
          <p:cNvSpPr/>
          <p:nvPr/>
        </p:nvSpPr>
        <p:spPr>
          <a:xfrm>
            <a:off x="1284287" y="4832350"/>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59" name="Shape 2459"/>
          <p:cNvSpPr/>
          <p:nvPr/>
        </p:nvSpPr>
        <p:spPr>
          <a:xfrm>
            <a:off x="927100" y="1862137"/>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60" name="Shape 2460"/>
          <p:cNvGrpSpPr/>
          <p:nvPr/>
        </p:nvGrpSpPr>
        <p:grpSpPr>
          <a:xfrm>
            <a:off x="1022350" y="4157662"/>
            <a:ext cx="219075" cy="454025"/>
            <a:chOff x="1562100" y="4014787"/>
            <a:chExt cx="219075" cy="454025"/>
          </a:xfrm>
        </p:grpSpPr>
        <p:cxnSp>
          <p:nvCxnSpPr>
            <p:cNvPr id="2461" name="Shape 2461"/>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62" name="Shape 2462"/>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63" name="Shape 2463"/>
          <p:cNvGrpSpPr/>
          <p:nvPr/>
        </p:nvGrpSpPr>
        <p:grpSpPr>
          <a:xfrm>
            <a:off x="2978150" y="4157662"/>
            <a:ext cx="277812" cy="454025"/>
            <a:chOff x="3517900" y="4014787"/>
            <a:chExt cx="277812" cy="454025"/>
          </a:xfrm>
        </p:grpSpPr>
        <p:cxnSp>
          <p:nvCxnSpPr>
            <p:cNvPr id="2464" name="Shape 2464"/>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65" name="Shape 2465"/>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66" name="Shape 2466"/>
          <p:cNvSpPr txBox="1"/>
          <p:nvPr/>
        </p:nvSpPr>
        <p:spPr>
          <a:xfrm>
            <a:off x="1439862" y="4938712"/>
            <a:ext cx="2968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67" name="Shape 2467"/>
          <p:cNvGrpSpPr/>
          <p:nvPr/>
        </p:nvGrpSpPr>
        <p:grpSpPr>
          <a:xfrm>
            <a:off x="1527175" y="5359400"/>
            <a:ext cx="277812" cy="454025"/>
            <a:chOff x="3517900" y="4014787"/>
            <a:chExt cx="277812" cy="454025"/>
          </a:xfrm>
        </p:grpSpPr>
        <p:cxnSp>
          <p:nvCxnSpPr>
            <p:cNvPr id="2468" name="Shape 2468"/>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69" name="Shape 2469"/>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470" name="Shape 2470"/>
          <p:cNvGrpSpPr/>
          <p:nvPr/>
        </p:nvGrpSpPr>
        <p:grpSpPr>
          <a:xfrm>
            <a:off x="3524250" y="4141787"/>
            <a:ext cx="277812" cy="454025"/>
            <a:chOff x="3517900" y="4014787"/>
            <a:chExt cx="277812" cy="454025"/>
          </a:xfrm>
        </p:grpSpPr>
        <p:cxnSp>
          <p:nvCxnSpPr>
            <p:cNvPr id="2471" name="Shape 2471"/>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72" name="Shape 2472"/>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73" name="Shape 2473"/>
          <p:cNvSpPr txBox="1"/>
          <p:nvPr/>
        </p:nvSpPr>
        <p:spPr>
          <a:xfrm>
            <a:off x="189071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74" name="Shape 2474"/>
          <p:cNvGrpSpPr/>
          <p:nvPr/>
        </p:nvGrpSpPr>
        <p:grpSpPr>
          <a:xfrm>
            <a:off x="1582737" y="4159250"/>
            <a:ext cx="219075" cy="454025"/>
            <a:chOff x="1562100" y="4014787"/>
            <a:chExt cx="219075" cy="454025"/>
          </a:xfrm>
        </p:grpSpPr>
        <p:cxnSp>
          <p:nvCxnSpPr>
            <p:cNvPr id="2475" name="Shape 2475"/>
            <p:cNvCxnSpPr/>
            <p:nvPr/>
          </p:nvCxnSpPr>
          <p:spPr>
            <a:xfrm rot="10800000">
              <a:off x="1781175"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76" name="Shape 2476"/>
            <p:cNvSpPr txBox="1"/>
            <p:nvPr/>
          </p:nvSpPr>
          <p:spPr>
            <a:xfrm>
              <a:off x="1562100"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77" name="Shape 2477"/>
          <p:cNvSpPr txBox="1"/>
          <p:nvPr/>
        </p:nvSpPr>
        <p:spPr>
          <a:xfrm>
            <a:off x="2430462" y="4938712"/>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78" name="Shape 2478"/>
          <p:cNvGrpSpPr/>
          <p:nvPr/>
        </p:nvGrpSpPr>
        <p:grpSpPr>
          <a:xfrm>
            <a:off x="4032250" y="4130675"/>
            <a:ext cx="277812" cy="454025"/>
            <a:chOff x="3517900" y="4014787"/>
            <a:chExt cx="277812" cy="454025"/>
          </a:xfrm>
        </p:grpSpPr>
        <p:cxnSp>
          <p:nvCxnSpPr>
            <p:cNvPr id="2479" name="Shape 2479"/>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480" name="Shape 2480"/>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481" name="Shape 2481"/>
          <p:cNvSpPr txBox="1"/>
          <p:nvPr/>
        </p:nvSpPr>
        <p:spPr>
          <a:xfrm>
            <a:off x="2968625" y="4954587"/>
            <a:ext cx="3857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82" name="Shape 2482"/>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486" name="Shape 2486"/>
        <p:cNvGrpSpPr/>
        <p:nvPr/>
      </p:nvGrpSpPr>
      <p:grpSpPr>
        <a:xfrm>
          <a:off x="0" y="0"/>
          <a:ext cx="0" cy="0"/>
          <a:chOff x="0" y="0"/>
          <a:chExt cx="0" cy="0"/>
        </a:xfrm>
      </p:grpSpPr>
      <p:sp>
        <p:nvSpPr>
          <p:cNvPr id="2487" name="Shape 2487"/>
          <p:cNvSpPr txBox="1"/>
          <p:nvPr/>
        </p:nvSpPr>
        <p:spPr>
          <a:xfrm>
            <a:off x="103175" y="1112825"/>
            <a:ext cx="89109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488" name="Shape 2488"/>
          <p:cNvSpPr txBox="1"/>
          <p:nvPr/>
        </p:nvSpPr>
        <p:spPr>
          <a:xfrm>
            <a:off x="293687" y="1719262"/>
            <a:ext cx="83978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设相邻的有序序列为r[s] ~ r[m]和r[m+1] ~ r[t]，归并成一个有序序列r1[s] ~ r1[t]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489" name="Shape 2489"/>
          <p:cNvGrpSpPr/>
          <p:nvPr/>
        </p:nvGrpSpPr>
        <p:grpSpPr>
          <a:xfrm>
            <a:off x="792162" y="2979737"/>
            <a:ext cx="5708650" cy="3068638"/>
            <a:chOff x="719137" y="3182937"/>
            <a:chExt cx="5708650" cy="3068638"/>
          </a:xfrm>
        </p:grpSpPr>
        <p:sp>
          <p:nvSpPr>
            <p:cNvPr id="2490" name="Shape 2490"/>
            <p:cNvSpPr/>
            <p:nvPr/>
          </p:nvSpPr>
          <p:spPr>
            <a:xfrm>
              <a:off x="1601787" y="3654425"/>
              <a:ext cx="292417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1" name="Shape 2491"/>
            <p:cNvSpPr/>
            <p:nvPr/>
          </p:nvSpPr>
          <p:spPr>
            <a:xfrm>
              <a:off x="4751387" y="3654425"/>
              <a:ext cx="1665287"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2" name="Shape 2492"/>
            <p:cNvSpPr txBox="1"/>
            <p:nvPr/>
          </p:nvSpPr>
          <p:spPr>
            <a:xfrm>
              <a:off x="1736725" y="3203575"/>
              <a:ext cx="179387"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3" name="Shape 2493"/>
            <p:cNvSpPr txBox="1"/>
            <p:nvPr/>
          </p:nvSpPr>
          <p:spPr>
            <a:xfrm>
              <a:off x="4206875" y="3182937"/>
              <a:ext cx="36036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4" name="Shape 2494"/>
            <p:cNvSpPr txBox="1"/>
            <p:nvPr/>
          </p:nvSpPr>
          <p:spPr>
            <a:xfrm>
              <a:off x="4797425" y="3186112"/>
              <a:ext cx="765175"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m+1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5" name="Shape 2495"/>
            <p:cNvSpPr txBox="1"/>
            <p:nvPr/>
          </p:nvSpPr>
          <p:spPr>
            <a:xfrm>
              <a:off x="6202362" y="3182937"/>
              <a:ext cx="225425"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6" name="Shape 2496"/>
            <p:cNvSpPr txBox="1"/>
            <p:nvPr/>
          </p:nvSpPr>
          <p:spPr>
            <a:xfrm>
              <a:off x="746125" y="3741737"/>
              <a:ext cx="539750"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7" name="Shape 2497"/>
            <p:cNvSpPr/>
            <p:nvPr/>
          </p:nvSpPr>
          <p:spPr>
            <a:xfrm>
              <a:off x="1606550" y="5184775"/>
              <a:ext cx="292417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8" name="Shape 2498"/>
            <p:cNvSpPr/>
            <p:nvPr/>
          </p:nvSpPr>
          <p:spPr>
            <a:xfrm>
              <a:off x="4454525" y="5184775"/>
              <a:ext cx="1665287"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99" name="Shape 2499"/>
            <p:cNvSpPr txBox="1"/>
            <p:nvPr/>
          </p:nvSpPr>
          <p:spPr>
            <a:xfrm>
              <a:off x="1744662" y="4768850"/>
              <a:ext cx="179387"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00" name="Shape 2500"/>
            <p:cNvSpPr txBox="1"/>
            <p:nvPr/>
          </p:nvSpPr>
          <p:spPr>
            <a:xfrm>
              <a:off x="5892800" y="4748212"/>
              <a:ext cx="225425"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01" name="Shape 2501"/>
            <p:cNvSpPr txBox="1"/>
            <p:nvPr/>
          </p:nvSpPr>
          <p:spPr>
            <a:xfrm>
              <a:off x="719137" y="5272087"/>
              <a:ext cx="671512" cy="42703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r1[ ]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502" name="Shape 2502"/>
            <p:cNvCxnSpPr/>
            <p:nvPr/>
          </p:nvCxnSpPr>
          <p:spPr>
            <a:xfrm>
              <a:off x="1617662" y="4254500"/>
              <a:ext cx="0" cy="1035050"/>
            </a:xfrm>
            <a:prstGeom prst="straightConnector1">
              <a:avLst/>
            </a:prstGeom>
            <a:noFill/>
            <a:ln w="28575" cap="flat" cmpd="sng">
              <a:solidFill>
                <a:srgbClr val="CC3300"/>
              </a:solidFill>
              <a:prstDash val="solid"/>
              <a:miter lim="800000"/>
              <a:headEnd type="none" w="med" len="med"/>
              <a:tailEnd type="none" w="med" len="med"/>
            </a:ln>
          </p:spPr>
        </p:cxnSp>
        <p:sp>
          <p:nvSpPr>
            <p:cNvPr id="2503" name="Shape 2503"/>
            <p:cNvSpPr/>
            <p:nvPr/>
          </p:nvSpPr>
          <p:spPr>
            <a:xfrm>
              <a:off x="6035675" y="4238625"/>
              <a:ext cx="293687" cy="1049337"/>
            </a:xfrm>
            <a:custGeom>
              <a:avLst/>
              <a:gdLst/>
              <a:ahLst/>
              <a:cxnLst/>
              <a:pathLst>
                <a:path w="185" h="661" extrusionOk="0">
                  <a:moveTo>
                    <a:pt x="185" y="0"/>
                  </a:moveTo>
                  <a:lnTo>
                    <a:pt x="0" y="661"/>
                  </a:lnTo>
                </a:path>
              </a:pathLst>
            </a:custGeom>
            <a:noFill/>
            <a:ln w="28575" cap="flat" cmpd="sng">
              <a:solidFill>
                <a:srgbClr val="CC3300"/>
              </a:solidFill>
              <a:prstDash val="solid"/>
              <a:miter lim="524288"/>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504" name="Shape 2504"/>
            <p:cNvGrpSpPr/>
            <p:nvPr/>
          </p:nvGrpSpPr>
          <p:grpSpPr>
            <a:xfrm>
              <a:off x="1717675" y="4294187"/>
              <a:ext cx="293687" cy="454025"/>
              <a:chOff x="1892300" y="4294187"/>
              <a:chExt cx="293687" cy="454025"/>
            </a:xfrm>
          </p:grpSpPr>
          <p:cxnSp>
            <p:nvCxnSpPr>
              <p:cNvPr id="2505" name="Shape 2505"/>
              <p:cNvCxnSpPr/>
              <p:nvPr/>
            </p:nvCxnSpPr>
            <p:spPr>
              <a:xfrm rot="10800000">
                <a:off x="1892300" y="42941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506" name="Shape 2506"/>
              <p:cNvSpPr txBox="1"/>
              <p:nvPr/>
            </p:nvSpPr>
            <p:spPr>
              <a:xfrm>
                <a:off x="2006600" y="43830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07" name="Shape 2507"/>
            <p:cNvGrpSpPr/>
            <p:nvPr/>
          </p:nvGrpSpPr>
          <p:grpSpPr>
            <a:xfrm>
              <a:off x="4883150" y="4294187"/>
              <a:ext cx="277812" cy="454025"/>
              <a:chOff x="3517900" y="4014787"/>
              <a:chExt cx="277812" cy="454025"/>
            </a:xfrm>
          </p:grpSpPr>
          <p:cxnSp>
            <p:nvCxnSpPr>
              <p:cNvPr id="2508" name="Shape 2508"/>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509" name="Shape 2509"/>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j</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10" name="Shape 2510"/>
            <p:cNvGrpSpPr/>
            <p:nvPr/>
          </p:nvGrpSpPr>
          <p:grpSpPr>
            <a:xfrm>
              <a:off x="1733550" y="5797550"/>
              <a:ext cx="277812" cy="454025"/>
              <a:chOff x="3517900" y="4014787"/>
              <a:chExt cx="277812" cy="454025"/>
            </a:xfrm>
          </p:grpSpPr>
          <p:cxnSp>
            <p:nvCxnSpPr>
              <p:cNvPr id="2511" name="Shape 2511"/>
              <p:cNvCxnSpPr/>
              <p:nvPr/>
            </p:nvCxnSpPr>
            <p:spPr>
              <a:xfrm rot="10800000">
                <a:off x="3517900" y="4014787"/>
                <a:ext cx="0" cy="358775"/>
              </a:xfrm>
              <a:prstGeom prst="straightConnector1">
                <a:avLst/>
              </a:prstGeom>
              <a:noFill/>
              <a:ln w="28575" cap="flat" cmpd="sng">
                <a:solidFill>
                  <a:schemeClr val="dk1"/>
                </a:solidFill>
                <a:prstDash val="solid"/>
                <a:miter lim="800000"/>
                <a:headEnd type="none" w="med" len="med"/>
                <a:tailEnd type="triangle" w="med" len="med"/>
              </a:ln>
            </p:spPr>
          </p:cxnSp>
          <p:sp>
            <p:nvSpPr>
              <p:cNvPr id="2512" name="Shape 2512"/>
              <p:cNvSpPr txBox="1"/>
              <p:nvPr/>
            </p:nvSpPr>
            <p:spPr>
              <a:xfrm>
                <a:off x="3616325" y="4103687"/>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2513" name="Shape 2513"/>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17" name="Shape 2517"/>
        <p:cNvGrpSpPr/>
        <p:nvPr/>
      </p:nvGrpSpPr>
      <p:grpSpPr>
        <a:xfrm>
          <a:off x="0" y="0"/>
          <a:ext cx="0" cy="0"/>
          <a:chOff x="0" y="0"/>
          <a:chExt cx="0" cy="0"/>
        </a:xfrm>
      </p:grpSpPr>
      <p:sp>
        <p:nvSpPr>
          <p:cNvPr id="2518" name="Shape 2518"/>
          <p:cNvSpPr txBox="1"/>
          <p:nvPr/>
        </p:nvSpPr>
        <p:spPr>
          <a:xfrm>
            <a:off x="476250" y="2058987"/>
            <a:ext cx="7924800" cy="4735512"/>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Merge (int r[ ], int r1[ ], int s, int m, int 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i=s;   j=m+1;   k=s;</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(i&lt;=m &amp;&amp; j&lt;=t)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(r[i]&lt;=r[j])  r1[k++]=r[i++];</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r1[k++]=r[j++];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(i&lt;=m)  while (i&lt;=m)              //收尾处理</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r1[k++]=r[i++];    //前一个子序列</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while (j&lt;=t)</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r1[k++]=r[j++];             //后一个子序列</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600"/>
              <a:buFont typeface="Times New Roman" panose="02020603050405020304"/>
              <a:buNone/>
            </a:pPr>
            <a:r>
              <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6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19" name="Shape 2519"/>
          <p:cNvSpPr txBox="1"/>
          <p:nvPr/>
        </p:nvSpPr>
        <p:spPr>
          <a:xfrm>
            <a:off x="103175" y="1112825"/>
            <a:ext cx="8938800" cy="519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关键问题⑴：如何将两个有序序列合成一个有序序列？</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520" name="Shape 2520"/>
          <p:cNvSpPr txBox="1"/>
          <p:nvPr/>
        </p:nvSpPr>
        <p:spPr>
          <a:xfrm>
            <a:off x="341312" y="1584325"/>
            <a:ext cx="219233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算法描述：</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p:txBody>
      </p:sp>
      <p:sp>
        <p:nvSpPr>
          <p:cNvPr id="2521" name="Shape 2521"/>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25" name="Shape 2525"/>
        <p:cNvGrpSpPr/>
        <p:nvPr/>
      </p:nvGrpSpPr>
      <p:grpSpPr>
        <a:xfrm>
          <a:off x="0" y="0"/>
          <a:ext cx="0" cy="0"/>
          <a:chOff x="0" y="0"/>
          <a:chExt cx="0" cy="0"/>
        </a:xfrm>
      </p:grpSpPr>
      <p:sp>
        <p:nvSpPr>
          <p:cNvPr id="2526" name="Shape 2526"/>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2527" name="Shape 2527"/>
          <p:cNvGrpSpPr/>
          <p:nvPr/>
        </p:nvGrpSpPr>
        <p:grpSpPr>
          <a:xfrm>
            <a:off x="1019175" y="2728900"/>
            <a:ext cx="6054725" cy="538175"/>
            <a:chOff x="1379537" y="2486013"/>
            <a:chExt cx="6054725" cy="538175"/>
          </a:xfrm>
        </p:grpSpPr>
        <p:sp>
          <p:nvSpPr>
            <p:cNvPr id="2528" name="Shape 2528"/>
            <p:cNvSpPr/>
            <p:nvPr/>
          </p:nvSpPr>
          <p:spPr>
            <a:xfrm>
              <a:off x="1379537" y="2490788"/>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29" name="Shape 2529"/>
            <p:cNvSpPr/>
            <p:nvPr/>
          </p:nvSpPr>
          <p:spPr>
            <a:xfrm>
              <a:off x="2293937" y="2490788"/>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0" name="Shape 2530"/>
            <p:cNvSpPr/>
            <p:nvPr/>
          </p:nvSpPr>
          <p:spPr>
            <a:xfrm>
              <a:off x="3208337" y="2490788"/>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1" name="Shape 2531"/>
            <p:cNvSpPr/>
            <p:nvPr/>
          </p:nvSpPr>
          <p:spPr>
            <a:xfrm>
              <a:off x="4138612" y="2486025"/>
              <a:ext cx="53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2" name="Shape 2532"/>
            <p:cNvSpPr/>
            <p:nvPr/>
          </p:nvSpPr>
          <p:spPr>
            <a:xfrm>
              <a:off x="4976912" y="2486013"/>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3" name="Shape 2533"/>
            <p:cNvSpPr/>
            <p:nvPr/>
          </p:nvSpPr>
          <p:spPr>
            <a:xfrm>
              <a:off x="5899264" y="2486013"/>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4" name="Shape 2534"/>
            <p:cNvSpPr/>
            <p:nvPr/>
          </p:nvSpPr>
          <p:spPr>
            <a:xfrm>
              <a:off x="6812062" y="2486013"/>
              <a:ext cx="622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35" name="Shape 2535"/>
          <p:cNvGrpSpPr/>
          <p:nvPr/>
        </p:nvGrpSpPr>
        <p:grpSpPr>
          <a:xfrm>
            <a:off x="1114425" y="3267075"/>
            <a:ext cx="1219200" cy="990600"/>
            <a:chOff x="1474787" y="3024187"/>
            <a:chExt cx="1219200" cy="990600"/>
          </a:xfrm>
        </p:grpSpPr>
        <p:cxnSp>
          <p:nvCxnSpPr>
            <p:cNvPr id="2536" name="Shape 2536"/>
            <p:cNvCxnSpPr/>
            <p:nvPr/>
          </p:nvCxnSpPr>
          <p:spPr>
            <a:xfrm>
              <a:off x="15636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537" name="Shape 2537"/>
            <p:cNvCxnSpPr/>
            <p:nvPr/>
          </p:nvCxnSpPr>
          <p:spPr>
            <a:xfrm flipH="1">
              <a:off x="22494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538" name="Shape 2538"/>
            <p:cNvSpPr/>
            <p:nvPr/>
          </p:nvSpPr>
          <p:spPr>
            <a:xfrm>
              <a:off x="1474787"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39" name="Shape 2539"/>
          <p:cNvGrpSpPr/>
          <p:nvPr/>
        </p:nvGrpSpPr>
        <p:grpSpPr>
          <a:xfrm>
            <a:off x="2908300" y="3267075"/>
            <a:ext cx="1219200" cy="990600"/>
            <a:chOff x="3268662" y="3024187"/>
            <a:chExt cx="1219200" cy="990600"/>
          </a:xfrm>
        </p:grpSpPr>
        <p:cxnSp>
          <p:nvCxnSpPr>
            <p:cNvPr id="2540" name="Shape 2540"/>
            <p:cNvCxnSpPr/>
            <p:nvPr/>
          </p:nvCxnSpPr>
          <p:spPr>
            <a:xfrm>
              <a:off x="34051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541" name="Shape 2541"/>
            <p:cNvCxnSpPr/>
            <p:nvPr/>
          </p:nvCxnSpPr>
          <p:spPr>
            <a:xfrm flipH="1">
              <a:off x="4090987" y="302418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542" name="Shape 2542"/>
            <p:cNvSpPr/>
            <p:nvPr/>
          </p:nvSpPr>
          <p:spPr>
            <a:xfrm>
              <a:off x="3268662" y="348138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43" name="Shape 2543"/>
          <p:cNvGrpSpPr/>
          <p:nvPr/>
        </p:nvGrpSpPr>
        <p:grpSpPr>
          <a:xfrm>
            <a:off x="4784725" y="3260725"/>
            <a:ext cx="1219200" cy="990600"/>
            <a:chOff x="5145087" y="3017837"/>
            <a:chExt cx="1219200" cy="990600"/>
          </a:xfrm>
        </p:grpSpPr>
        <p:cxnSp>
          <p:nvCxnSpPr>
            <p:cNvPr id="2544" name="Shape 2544"/>
            <p:cNvCxnSpPr/>
            <p:nvPr/>
          </p:nvCxnSpPr>
          <p:spPr>
            <a:xfrm>
              <a:off x="52498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cxnSp>
          <p:nvCxnSpPr>
            <p:cNvPr id="2545" name="Shape 2545"/>
            <p:cNvCxnSpPr/>
            <p:nvPr/>
          </p:nvCxnSpPr>
          <p:spPr>
            <a:xfrm flipH="1">
              <a:off x="5935662" y="3017837"/>
              <a:ext cx="304800" cy="457200"/>
            </a:xfrm>
            <a:prstGeom prst="straightConnector1">
              <a:avLst/>
            </a:prstGeom>
            <a:noFill/>
            <a:ln w="28575" cap="flat" cmpd="sng">
              <a:solidFill>
                <a:srgbClr val="008080"/>
              </a:solidFill>
              <a:prstDash val="solid"/>
              <a:miter lim="800000"/>
              <a:headEnd type="none" w="med" len="med"/>
              <a:tailEnd type="none" w="med" len="med"/>
            </a:ln>
          </p:spPr>
        </p:cxnSp>
        <p:sp>
          <p:nvSpPr>
            <p:cNvPr id="2546" name="Shape 2546"/>
            <p:cNvSpPr/>
            <p:nvPr/>
          </p:nvSpPr>
          <p:spPr>
            <a:xfrm>
              <a:off x="5145087" y="3475037"/>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47" name="Shape 2547"/>
          <p:cNvGrpSpPr/>
          <p:nvPr/>
        </p:nvGrpSpPr>
        <p:grpSpPr>
          <a:xfrm>
            <a:off x="6454600" y="3267075"/>
            <a:ext cx="606600" cy="990600"/>
            <a:chOff x="6814962" y="3024187"/>
            <a:chExt cx="606600" cy="990600"/>
          </a:xfrm>
        </p:grpSpPr>
        <p:cxnSp>
          <p:nvCxnSpPr>
            <p:cNvPr id="2548" name="Shape 2548"/>
            <p:cNvCxnSpPr/>
            <p:nvPr/>
          </p:nvCxnSpPr>
          <p:spPr>
            <a:xfrm>
              <a:off x="7177087" y="3024187"/>
              <a:ext cx="0" cy="457200"/>
            </a:xfrm>
            <a:prstGeom prst="straightConnector1">
              <a:avLst/>
            </a:prstGeom>
            <a:noFill/>
            <a:ln w="28575" cap="flat" cmpd="sng">
              <a:solidFill>
                <a:srgbClr val="008080"/>
              </a:solidFill>
              <a:prstDash val="solid"/>
              <a:miter lim="800000"/>
              <a:headEnd type="none" w="med" len="med"/>
              <a:tailEnd type="none" w="med" len="med"/>
            </a:ln>
          </p:spPr>
        </p:cxnSp>
        <p:sp>
          <p:nvSpPr>
            <p:cNvPr id="2549" name="Shape 2549"/>
            <p:cNvSpPr/>
            <p:nvPr/>
          </p:nvSpPr>
          <p:spPr>
            <a:xfrm>
              <a:off x="6814962" y="3481387"/>
              <a:ext cx="6066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550" name="Shape 2550"/>
          <p:cNvSpPr/>
          <p:nvPr/>
        </p:nvSpPr>
        <p:spPr>
          <a:xfrm>
            <a:off x="1106487" y="1962150"/>
            <a:ext cx="5940425" cy="600075"/>
          </a:xfrm>
          <a:prstGeom prst="cube">
            <a:avLst>
              <a:gd name="adj" fmla="val 3094"/>
            </a:avLst>
          </a:prstGeom>
          <a:gradFill>
            <a:gsLst>
              <a:gs pos="0">
                <a:srgbClr val="CDEDDF"/>
              </a:gs>
              <a:gs pos="100000">
                <a:schemeClr val="accent1"/>
              </a:gs>
            </a:gsLst>
            <a:path path="circle">
              <a:fillToRect l="50000" t="50000" r="50000" b="50000"/>
            </a:path>
            <a:tileRect/>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60      20      31       5      44      55      65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551" name="Shape 2551"/>
          <p:cNvGrpSpPr/>
          <p:nvPr/>
        </p:nvGrpSpPr>
        <p:grpSpPr>
          <a:xfrm>
            <a:off x="1463675" y="4238625"/>
            <a:ext cx="2208212" cy="1227137"/>
            <a:chOff x="1463675" y="4238625"/>
            <a:chExt cx="2208212" cy="1227137"/>
          </a:xfrm>
        </p:grpSpPr>
        <p:sp>
          <p:nvSpPr>
            <p:cNvPr id="2552" name="Shape 2552"/>
            <p:cNvSpPr/>
            <p:nvPr/>
          </p:nvSpPr>
          <p:spPr>
            <a:xfrm>
              <a:off x="1463675" y="4932362"/>
              <a:ext cx="2208212"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5  20  31  60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553" name="Shape 2553"/>
            <p:cNvCxnSpPr/>
            <p:nvPr/>
          </p:nvCxnSpPr>
          <p:spPr>
            <a:xfrm>
              <a:off x="1692275" y="4238625"/>
              <a:ext cx="539750" cy="720725"/>
            </a:xfrm>
            <a:prstGeom prst="straightConnector1">
              <a:avLst/>
            </a:prstGeom>
            <a:noFill/>
            <a:ln w="28575" cap="flat" cmpd="sng">
              <a:solidFill>
                <a:srgbClr val="008080"/>
              </a:solidFill>
              <a:prstDash val="solid"/>
              <a:miter lim="800000"/>
              <a:headEnd type="none" w="med" len="med"/>
              <a:tailEnd type="none" w="med" len="med"/>
            </a:ln>
          </p:spPr>
        </p:cxnSp>
        <p:cxnSp>
          <p:nvCxnSpPr>
            <p:cNvPr id="2554" name="Shape 2554"/>
            <p:cNvCxnSpPr/>
            <p:nvPr/>
          </p:nvCxnSpPr>
          <p:spPr>
            <a:xfrm flipH="1">
              <a:off x="2906712" y="4238625"/>
              <a:ext cx="539750" cy="720725"/>
            </a:xfrm>
            <a:prstGeom prst="straightConnector1">
              <a:avLst/>
            </a:prstGeom>
            <a:noFill/>
            <a:ln w="28575" cap="flat" cmpd="sng">
              <a:solidFill>
                <a:srgbClr val="008080"/>
              </a:solidFill>
              <a:prstDash val="solid"/>
              <a:miter lim="800000"/>
              <a:headEnd type="none" w="med" len="med"/>
              <a:tailEnd type="none" w="med" len="med"/>
            </a:ln>
          </p:spPr>
        </p:cxnSp>
      </p:grpSp>
      <p:grpSp>
        <p:nvGrpSpPr>
          <p:cNvPr id="2555" name="Shape 2555"/>
          <p:cNvGrpSpPr/>
          <p:nvPr/>
        </p:nvGrpSpPr>
        <p:grpSpPr>
          <a:xfrm>
            <a:off x="5072062" y="4238625"/>
            <a:ext cx="1803400" cy="1227137"/>
            <a:chOff x="5072062" y="4238625"/>
            <a:chExt cx="1803400" cy="1227137"/>
          </a:xfrm>
        </p:grpSpPr>
        <p:sp>
          <p:nvSpPr>
            <p:cNvPr id="2556" name="Shape 2556"/>
            <p:cNvSpPr/>
            <p:nvPr/>
          </p:nvSpPr>
          <p:spPr>
            <a:xfrm>
              <a:off x="5072062" y="4932362"/>
              <a:ext cx="18034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 44  55  65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557" name="Shape 2557"/>
            <p:cNvCxnSpPr/>
            <p:nvPr/>
          </p:nvCxnSpPr>
          <p:spPr>
            <a:xfrm>
              <a:off x="5173662" y="4238625"/>
              <a:ext cx="592137" cy="720725"/>
            </a:xfrm>
            <a:prstGeom prst="straightConnector1">
              <a:avLst/>
            </a:prstGeom>
            <a:noFill/>
            <a:ln w="28575" cap="flat" cmpd="sng">
              <a:solidFill>
                <a:srgbClr val="008080"/>
              </a:solidFill>
              <a:prstDash val="solid"/>
              <a:miter lim="800000"/>
              <a:headEnd type="none" w="med" len="med"/>
              <a:tailEnd type="none" w="med" len="med"/>
            </a:ln>
          </p:spPr>
        </p:cxnSp>
        <p:cxnSp>
          <p:nvCxnSpPr>
            <p:cNvPr id="2558" name="Shape 2558"/>
            <p:cNvCxnSpPr/>
            <p:nvPr/>
          </p:nvCxnSpPr>
          <p:spPr>
            <a:xfrm flipH="1">
              <a:off x="6237287" y="4252912"/>
              <a:ext cx="539750" cy="706437"/>
            </a:xfrm>
            <a:prstGeom prst="straightConnector1">
              <a:avLst/>
            </a:prstGeom>
            <a:noFill/>
            <a:ln w="28575" cap="flat" cmpd="sng">
              <a:solidFill>
                <a:srgbClr val="008080"/>
              </a:solidFill>
              <a:prstDash val="solid"/>
              <a:miter lim="800000"/>
              <a:headEnd type="none" w="med" len="med"/>
              <a:tailEnd type="none" w="med" len="med"/>
            </a:ln>
          </p:spPr>
        </p:cxnSp>
      </p:grpSp>
      <p:sp>
        <p:nvSpPr>
          <p:cNvPr id="2559" name="Shape 2559"/>
          <p:cNvSpPr txBox="1"/>
          <p:nvPr/>
        </p:nvSpPr>
        <p:spPr>
          <a:xfrm>
            <a:off x="431800" y="5678487"/>
            <a:ext cx="8145462" cy="974725"/>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在一趟归并中，除最后一个有序序列外，其它有序序列中记录的个数相同，用长度</a:t>
            </a:r>
            <a:r>
              <a:rPr lang="en-US" sz="2800" b="1" i="1" u="none">
                <a:solidFill>
                  <a:srgbClr val="F62044"/>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表示。</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0" name="Shape 2560"/>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9"/>
                                        </p:tgtEl>
                                        <p:attrNameLst>
                                          <p:attrName>style.visibility</p:attrName>
                                        </p:attrNameLst>
                                      </p:cBhvr>
                                      <p:to>
                                        <p:strVal val="visible"/>
                                      </p:to>
                                    </p:set>
                                    <p:animEffect transition="in" filter="fade">
                                      <p:cBhvr>
                                        <p:cTn id="7" dur="500"/>
                                        <p:tgtEl>
                                          <p:spTgt spid="2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64" name="Shape 2564"/>
        <p:cNvGrpSpPr/>
        <p:nvPr/>
      </p:nvGrpSpPr>
      <p:grpSpPr>
        <a:xfrm>
          <a:off x="0" y="0"/>
          <a:ext cx="0" cy="0"/>
          <a:chOff x="0" y="0"/>
          <a:chExt cx="0" cy="0"/>
        </a:xfrm>
      </p:grpSpPr>
      <p:sp>
        <p:nvSpPr>
          <p:cNvPr id="2565" name="Shape 2565"/>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566" name="Shape 2566"/>
          <p:cNvSpPr txBox="1"/>
          <p:nvPr/>
        </p:nvSpPr>
        <p:spPr>
          <a:xfrm>
            <a:off x="79375" y="1719250"/>
            <a:ext cx="9366000" cy="9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67" name="Shape 2567"/>
          <p:cNvSpPr txBox="1"/>
          <p:nvPr/>
        </p:nvSpPr>
        <p:spPr>
          <a:xfrm>
            <a:off x="190500" y="2798762"/>
            <a:ext cx="8567737"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①若</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+1，则相邻两个有序表的长度均为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，执行一次归并，完成后</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加2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，准备进行下一次归并；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568" name="Shape 2568"/>
          <p:cNvGrpSpPr/>
          <p:nvPr/>
        </p:nvGrpSpPr>
        <p:grpSpPr>
          <a:xfrm>
            <a:off x="752475" y="4689475"/>
            <a:ext cx="6022075" cy="539750"/>
            <a:chOff x="752475" y="4689475"/>
            <a:chExt cx="6022075" cy="539750"/>
          </a:xfrm>
        </p:grpSpPr>
        <p:sp>
          <p:nvSpPr>
            <p:cNvPr id="2569" name="Shape 2569"/>
            <p:cNvSpPr/>
            <p:nvPr/>
          </p:nvSpPr>
          <p:spPr>
            <a:xfrm>
              <a:off x="752475" y="469582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0" name="Shape 2570"/>
            <p:cNvSpPr/>
            <p:nvPr/>
          </p:nvSpPr>
          <p:spPr>
            <a:xfrm>
              <a:off x="2546350" y="469582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1" name="Shape 2571"/>
            <p:cNvSpPr/>
            <p:nvPr/>
          </p:nvSpPr>
          <p:spPr>
            <a:xfrm>
              <a:off x="4422775" y="468947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2" name="Shape 2572"/>
            <p:cNvSpPr/>
            <p:nvPr/>
          </p:nvSpPr>
          <p:spPr>
            <a:xfrm>
              <a:off x="6165850" y="4695825"/>
              <a:ext cx="6087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73" name="Shape 2573"/>
          <p:cNvGrpSpPr/>
          <p:nvPr/>
        </p:nvGrpSpPr>
        <p:grpSpPr>
          <a:xfrm>
            <a:off x="952500" y="5241925"/>
            <a:ext cx="179387" cy="812800"/>
            <a:chOff x="952500" y="5241925"/>
            <a:chExt cx="179387" cy="812800"/>
          </a:xfrm>
        </p:grpSpPr>
        <p:cxnSp>
          <p:nvCxnSpPr>
            <p:cNvPr id="2574" name="Shape 2574"/>
            <p:cNvCxnSpPr/>
            <p:nvPr/>
          </p:nvCxnSpPr>
          <p:spPr>
            <a:xfrm rot="10800000">
              <a:off x="1038225" y="5241925"/>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575" name="Shape 2575"/>
            <p:cNvSpPr txBox="1"/>
            <p:nvPr/>
          </p:nvSpPr>
          <p:spPr>
            <a:xfrm>
              <a:off x="952500" y="5689600"/>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576" name="Shape 2576"/>
          <p:cNvGrpSpPr/>
          <p:nvPr/>
        </p:nvGrpSpPr>
        <p:grpSpPr>
          <a:xfrm>
            <a:off x="796925" y="4068762"/>
            <a:ext cx="1125537" cy="677862"/>
            <a:chOff x="796925" y="4068762"/>
            <a:chExt cx="1125537" cy="677862"/>
          </a:xfrm>
        </p:grpSpPr>
        <p:sp>
          <p:nvSpPr>
            <p:cNvPr id="2577" name="Shape 2577"/>
            <p:cNvSpPr/>
            <p:nvPr/>
          </p:nvSpPr>
          <p:spPr>
            <a:xfrm rot="5400000">
              <a:off x="1202531" y="4026693"/>
              <a:ext cx="314325" cy="1125537"/>
            </a:xfrm>
            <a:prstGeom prst="leftBrace">
              <a:avLst>
                <a:gd name="adj1" fmla="val 8333"/>
                <a:gd name="adj2" fmla="val 50000"/>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8" name="Shape 2578"/>
            <p:cNvSpPr txBox="1"/>
            <p:nvPr/>
          </p:nvSpPr>
          <p:spPr>
            <a:xfrm>
              <a:off x="1295400" y="4068762"/>
              <a:ext cx="269875"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579" name="Shape 2579"/>
          <p:cNvSpPr txBox="1"/>
          <p:nvPr/>
        </p:nvSpPr>
        <p:spPr>
          <a:xfrm>
            <a:off x="7037387" y="4508500"/>
            <a:ext cx="1709737" cy="8540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+1=4</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580" name="Shape 2580"/>
          <p:cNvGrpSpPr/>
          <p:nvPr/>
        </p:nvGrpSpPr>
        <p:grpSpPr>
          <a:xfrm>
            <a:off x="2981325" y="5226050"/>
            <a:ext cx="1035050" cy="828675"/>
            <a:chOff x="2981325" y="5226050"/>
            <a:chExt cx="1035050" cy="828675"/>
          </a:xfrm>
        </p:grpSpPr>
        <p:cxnSp>
          <p:nvCxnSpPr>
            <p:cNvPr id="2581" name="Shape 2581"/>
            <p:cNvCxnSpPr/>
            <p:nvPr/>
          </p:nvCxnSpPr>
          <p:spPr>
            <a:xfrm rot="10800000">
              <a:off x="3367087" y="5226050"/>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582" name="Shape 2582"/>
            <p:cNvSpPr txBox="1"/>
            <p:nvPr/>
          </p:nvSpPr>
          <p:spPr>
            <a:xfrm>
              <a:off x="2981325" y="5689600"/>
              <a:ext cx="10350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583" name="Shape 2583"/>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87" name="Shape 2587"/>
        <p:cNvGrpSpPr/>
        <p:nvPr/>
      </p:nvGrpSpPr>
      <p:grpSpPr>
        <a:xfrm>
          <a:off x="0" y="0"/>
          <a:ext cx="0" cy="0"/>
          <a:chOff x="0" y="0"/>
          <a:chExt cx="0" cy="0"/>
        </a:xfrm>
      </p:grpSpPr>
      <p:sp>
        <p:nvSpPr>
          <p:cNvPr id="2588" name="Shape 2588"/>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589" name="Shape 2589"/>
          <p:cNvSpPr txBox="1"/>
          <p:nvPr/>
        </p:nvSpPr>
        <p:spPr>
          <a:xfrm>
            <a:off x="190500" y="1719262"/>
            <a:ext cx="87026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0" name="Shape 2590"/>
          <p:cNvSpPr txBox="1"/>
          <p:nvPr/>
        </p:nvSpPr>
        <p:spPr>
          <a:xfrm>
            <a:off x="301625" y="2798762"/>
            <a:ext cx="8567737"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①若</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+1，则相邻两个有序表的长度均为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，执行一次归并，完成后</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加2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，准备进行下一次归并；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1" name="Shape 2591"/>
          <p:cNvSpPr txBox="1"/>
          <p:nvPr/>
        </p:nvSpPr>
        <p:spPr>
          <a:xfrm>
            <a:off x="250825" y="3743325"/>
            <a:ext cx="7291387" cy="28686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while (i≤n-2h+1)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 (r, r1, i, i+h-1, i+2*h-1);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i+=2*h;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2" name="Shape 2592"/>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596" name="Shape 2596"/>
        <p:cNvGrpSpPr/>
        <p:nvPr/>
      </p:nvGrpSpPr>
      <p:grpSpPr>
        <a:xfrm>
          <a:off x="0" y="0"/>
          <a:ext cx="0" cy="0"/>
          <a:chOff x="0" y="0"/>
          <a:chExt cx="0" cy="0"/>
        </a:xfrm>
      </p:grpSpPr>
      <p:sp>
        <p:nvSpPr>
          <p:cNvPr id="2597" name="Shape 2597"/>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598" name="Shape 2598"/>
          <p:cNvSpPr txBox="1"/>
          <p:nvPr/>
        </p:nvSpPr>
        <p:spPr>
          <a:xfrm>
            <a:off x="190500" y="1719262"/>
            <a:ext cx="87026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99" name="Shape 2599"/>
          <p:cNvSpPr txBox="1"/>
          <p:nvPr/>
        </p:nvSpPr>
        <p:spPr>
          <a:xfrm>
            <a:off x="301625" y="2798762"/>
            <a:ext cx="8567737"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②若</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+1，则表示仍有两个相邻有序表，一个长度为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，另一个长度小于</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，则执行两个有序表的归并，完成后退出一趟归并。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00" name="Shape 2600"/>
          <p:cNvGrpSpPr/>
          <p:nvPr/>
        </p:nvGrpSpPr>
        <p:grpSpPr>
          <a:xfrm>
            <a:off x="752475" y="4689475"/>
            <a:ext cx="5981575" cy="539750"/>
            <a:chOff x="752475" y="4689475"/>
            <a:chExt cx="5981575" cy="539750"/>
          </a:xfrm>
        </p:grpSpPr>
        <p:sp>
          <p:nvSpPr>
            <p:cNvPr id="2601" name="Shape 2601"/>
            <p:cNvSpPr/>
            <p:nvPr/>
          </p:nvSpPr>
          <p:spPr>
            <a:xfrm>
              <a:off x="752475" y="469582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2" name="Shape 2602"/>
            <p:cNvSpPr/>
            <p:nvPr/>
          </p:nvSpPr>
          <p:spPr>
            <a:xfrm>
              <a:off x="2546350" y="469582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3" name="Shape 2603"/>
            <p:cNvSpPr/>
            <p:nvPr/>
          </p:nvSpPr>
          <p:spPr>
            <a:xfrm>
              <a:off x="4422775" y="4689475"/>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4" name="Shape 2604"/>
            <p:cNvSpPr/>
            <p:nvPr/>
          </p:nvSpPr>
          <p:spPr>
            <a:xfrm>
              <a:off x="6165850" y="4695825"/>
              <a:ext cx="568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05" name="Shape 2605"/>
          <p:cNvGrpSpPr/>
          <p:nvPr/>
        </p:nvGrpSpPr>
        <p:grpSpPr>
          <a:xfrm>
            <a:off x="4667250" y="5210175"/>
            <a:ext cx="179387" cy="812800"/>
            <a:chOff x="952500" y="5241925"/>
            <a:chExt cx="179387" cy="812800"/>
          </a:xfrm>
        </p:grpSpPr>
        <p:cxnSp>
          <p:nvCxnSpPr>
            <p:cNvPr id="2606" name="Shape 2606"/>
            <p:cNvCxnSpPr/>
            <p:nvPr/>
          </p:nvCxnSpPr>
          <p:spPr>
            <a:xfrm rot="10800000">
              <a:off x="1038225" y="5241925"/>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607" name="Shape 2607"/>
            <p:cNvSpPr txBox="1"/>
            <p:nvPr/>
          </p:nvSpPr>
          <p:spPr>
            <a:xfrm>
              <a:off x="952500" y="5689600"/>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08" name="Shape 2608"/>
          <p:cNvGrpSpPr/>
          <p:nvPr/>
        </p:nvGrpSpPr>
        <p:grpSpPr>
          <a:xfrm>
            <a:off x="4464050" y="4068762"/>
            <a:ext cx="1125537" cy="677862"/>
            <a:chOff x="796925" y="4068762"/>
            <a:chExt cx="1125537" cy="677862"/>
          </a:xfrm>
        </p:grpSpPr>
        <p:sp>
          <p:nvSpPr>
            <p:cNvPr id="2609" name="Shape 2609"/>
            <p:cNvSpPr/>
            <p:nvPr/>
          </p:nvSpPr>
          <p:spPr>
            <a:xfrm rot="5400000">
              <a:off x="1202531" y="4026693"/>
              <a:ext cx="314325" cy="1125537"/>
            </a:xfrm>
            <a:prstGeom prst="leftBrace">
              <a:avLst>
                <a:gd name="adj1" fmla="val 8333"/>
                <a:gd name="adj2" fmla="val 50000"/>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10" name="Shape 2610"/>
            <p:cNvSpPr txBox="1"/>
            <p:nvPr/>
          </p:nvSpPr>
          <p:spPr>
            <a:xfrm>
              <a:off x="1295400" y="4068762"/>
              <a:ext cx="269875"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611" name="Shape 2611"/>
          <p:cNvSpPr txBox="1"/>
          <p:nvPr/>
        </p:nvSpPr>
        <p:spPr>
          <a:xfrm>
            <a:off x="7037387" y="4508500"/>
            <a:ext cx="1709737" cy="128111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=4</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+1=4</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+1=6</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12" name="Shape 2612"/>
          <p:cNvGrpSpPr/>
          <p:nvPr/>
        </p:nvGrpSpPr>
        <p:grpSpPr>
          <a:xfrm>
            <a:off x="2981325" y="5226050"/>
            <a:ext cx="1035050" cy="828675"/>
            <a:chOff x="2981325" y="5226050"/>
            <a:chExt cx="1035050" cy="828675"/>
          </a:xfrm>
        </p:grpSpPr>
        <p:cxnSp>
          <p:nvCxnSpPr>
            <p:cNvPr id="2613" name="Shape 2613"/>
            <p:cNvCxnSpPr/>
            <p:nvPr/>
          </p:nvCxnSpPr>
          <p:spPr>
            <a:xfrm rot="10800000">
              <a:off x="3367087" y="5226050"/>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614" name="Shape 2614"/>
            <p:cNvSpPr txBox="1"/>
            <p:nvPr/>
          </p:nvSpPr>
          <p:spPr>
            <a:xfrm>
              <a:off x="2981325" y="5689600"/>
              <a:ext cx="10350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15" name="Shape 2615"/>
          <p:cNvGrpSpPr/>
          <p:nvPr/>
        </p:nvGrpSpPr>
        <p:grpSpPr>
          <a:xfrm>
            <a:off x="4948237" y="5213350"/>
            <a:ext cx="1035050" cy="828675"/>
            <a:chOff x="2981325" y="5226050"/>
            <a:chExt cx="1035050" cy="828675"/>
          </a:xfrm>
        </p:grpSpPr>
        <p:cxnSp>
          <p:nvCxnSpPr>
            <p:cNvPr id="2616" name="Shape 2616"/>
            <p:cNvCxnSpPr/>
            <p:nvPr/>
          </p:nvCxnSpPr>
          <p:spPr>
            <a:xfrm rot="10800000">
              <a:off x="3367087" y="5226050"/>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617" name="Shape 2617"/>
            <p:cNvSpPr txBox="1"/>
            <p:nvPr/>
          </p:nvSpPr>
          <p:spPr>
            <a:xfrm>
              <a:off x="2981325" y="5689600"/>
              <a:ext cx="10350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18" name="Shape 2618"/>
          <p:cNvGrpSpPr/>
          <p:nvPr/>
        </p:nvGrpSpPr>
        <p:grpSpPr>
          <a:xfrm>
            <a:off x="6205537" y="4103687"/>
            <a:ext cx="568325" cy="630237"/>
            <a:chOff x="6205537" y="4103687"/>
            <a:chExt cx="568325" cy="630237"/>
          </a:xfrm>
        </p:grpSpPr>
        <p:sp>
          <p:nvSpPr>
            <p:cNvPr id="2619" name="Shape 2619"/>
            <p:cNvSpPr/>
            <p:nvPr/>
          </p:nvSpPr>
          <p:spPr>
            <a:xfrm rot="5400000">
              <a:off x="6314281" y="4355306"/>
              <a:ext cx="269875" cy="487362"/>
            </a:xfrm>
            <a:prstGeom prst="leftBrace">
              <a:avLst>
                <a:gd name="adj1" fmla="val 8333"/>
                <a:gd name="adj2" fmla="val 50000"/>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0" name="Shape 2620"/>
            <p:cNvSpPr txBox="1"/>
            <p:nvPr/>
          </p:nvSpPr>
          <p:spPr>
            <a:xfrm>
              <a:off x="6324600" y="4103687"/>
              <a:ext cx="449262"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621" name="Shape 2621"/>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25" name="Shape 2625"/>
        <p:cNvGrpSpPr/>
        <p:nvPr/>
      </p:nvGrpSpPr>
      <p:grpSpPr>
        <a:xfrm>
          <a:off x="0" y="0"/>
          <a:ext cx="0" cy="0"/>
          <a:chOff x="0" y="0"/>
          <a:chExt cx="0" cy="0"/>
        </a:xfrm>
      </p:grpSpPr>
      <p:sp>
        <p:nvSpPr>
          <p:cNvPr id="2626" name="Shape 2626"/>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27" name="Shape 2627"/>
          <p:cNvSpPr txBox="1"/>
          <p:nvPr/>
        </p:nvSpPr>
        <p:spPr>
          <a:xfrm>
            <a:off x="190500" y="1719262"/>
            <a:ext cx="87026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8" name="Shape 2628"/>
          <p:cNvSpPr txBox="1"/>
          <p:nvPr/>
        </p:nvSpPr>
        <p:spPr>
          <a:xfrm>
            <a:off x="301625" y="2798762"/>
            <a:ext cx="8567737" cy="13731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②若</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+1，则表示仍有两个相邻有序表，一个长度为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，另一个长度小于</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，则执行两个有序表的归并，完成后退出一趟归并。</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29" name="Shape 2629"/>
          <p:cNvSpPr txBox="1"/>
          <p:nvPr/>
        </p:nvSpPr>
        <p:spPr>
          <a:xfrm>
            <a:off x="341312" y="4284662"/>
            <a:ext cx="7291387" cy="11604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if (i＜n-h+1) Merge (r, r1, i, i+h-1, n);</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30" name="Shape 2630"/>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34" name="Shape 2634"/>
        <p:cNvGrpSpPr/>
        <p:nvPr/>
      </p:nvGrpSpPr>
      <p:grpSpPr>
        <a:xfrm>
          <a:off x="0" y="0"/>
          <a:ext cx="0" cy="0"/>
          <a:chOff x="0" y="0"/>
          <a:chExt cx="0" cy="0"/>
        </a:xfrm>
      </p:grpSpPr>
      <p:sp>
        <p:nvSpPr>
          <p:cNvPr id="2635" name="Shape 2635"/>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36" name="Shape 2636"/>
          <p:cNvSpPr txBox="1"/>
          <p:nvPr/>
        </p:nvSpPr>
        <p:spPr>
          <a:xfrm>
            <a:off x="190500" y="1719262"/>
            <a:ext cx="87026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37" name="Shape 2637"/>
          <p:cNvSpPr txBox="1"/>
          <p:nvPr/>
        </p:nvSpPr>
        <p:spPr>
          <a:xfrm>
            <a:off x="250825" y="2708275"/>
            <a:ext cx="8416925" cy="94615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③</a:t>
            </a:r>
            <a:r>
              <a:rPr lang="en-US" sz="2800" b="1" i="0" u="none">
                <a:solidFill>
                  <a:schemeClr val="dk1"/>
                </a:solidFill>
                <a:latin typeface="Arial" panose="020B0604020202020204"/>
                <a:ea typeface="Arial" panose="020B0604020202020204"/>
                <a:cs typeface="Arial" panose="020B0604020202020204"/>
                <a:sym typeface="Arial" panose="020B0604020202020204"/>
              </a:rPr>
              <a:t>若</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n-h+1</a:t>
            </a:r>
            <a:r>
              <a:rPr lang="en-US" sz="2800" b="1" i="0" u="none">
                <a:solidFill>
                  <a:schemeClr val="dk1"/>
                </a:solidFill>
                <a:latin typeface="Arial" panose="020B0604020202020204"/>
                <a:ea typeface="Arial" panose="020B0604020202020204"/>
                <a:cs typeface="Arial" panose="020B0604020202020204"/>
                <a:sym typeface="Arial" panose="020B0604020202020204"/>
              </a:rPr>
              <a:t>，则表明只剩下一个有序表，直接将该有序表送到</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r1</a:t>
            </a:r>
            <a:r>
              <a:rPr lang="en-US" sz="2800" b="1" i="0" u="none">
                <a:solidFill>
                  <a:schemeClr val="dk1"/>
                </a:solidFill>
                <a:latin typeface="Arial" panose="020B0604020202020204"/>
                <a:ea typeface="Arial" panose="020B0604020202020204"/>
                <a:cs typeface="Arial" panose="020B0604020202020204"/>
                <a:sym typeface="Arial" panose="020B0604020202020204"/>
              </a:rPr>
              <a:t>的相应位置，完成后退出一趟归并。</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38" name="Shape 2638"/>
          <p:cNvGrpSpPr/>
          <p:nvPr/>
        </p:nvGrpSpPr>
        <p:grpSpPr>
          <a:xfrm>
            <a:off x="6403975" y="5149850"/>
            <a:ext cx="179387" cy="812800"/>
            <a:chOff x="952500" y="5241925"/>
            <a:chExt cx="179387" cy="812800"/>
          </a:xfrm>
        </p:grpSpPr>
        <p:cxnSp>
          <p:nvCxnSpPr>
            <p:cNvPr id="2639" name="Shape 2639"/>
            <p:cNvCxnSpPr/>
            <p:nvPr/>
          </p:nvCxnSpPr>
          <p:spPr>
            <a:xfrm rot="10800000">
              <a:off x="1038225" y="5241925"/>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640" name="Shape 2640"/>
            <p:cNvSpPr txBox="1"/>
            <p:nvPr/>
          </p:nvSpPr>
          <p:spPr>
            <a:xfrm>
              <a:off x="952500" y="5689600"/>
              <a:ext cx="179387"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641" name="Shape 2641"/>
          <p:cNvSpPr txBox="1"/>
          <p:nvPr/>
        </p:nvSpPr>
        <p:spPr>
          <a:xfrm>
            <a:off x="7085012" y="4429125"/>
            <a:ext cx="1709737" cy="8540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=9</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+1=8</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642" name="Shape 2642"/>
          <p:cNvGrpSpPr/>
          <p:nvPr/>
        </p:nvGrpSpPr>
        <p:grpSpPr>
          <a:xfrm>
            <a:off x="5221287" y="5149850"/>
            <a:ext cx="1035050" cy="828675"/>
            <a:chOff x="2981325" y="5226050"/>
            <a:chExt cx="1035050" cy="828675"/>
          </a:xfrm>
        </p:grpSpPr>
        <p:cxnSp>
          <p:nvCxnSpPr>
            <p:cNvPr id="2643" name="Shape 2643"/>
            <p:cNvCxnSpPr/>
            <p:nvPr/>
          </p:nvCxnSpPr>
          <p:spPr>
            <a:xfrm rot="10800000">
              <a:off x="3367087" y="5226050"/>
              <a:ext cx="0" cy="404812"/>
            </a:xfrm>
            <a:prstGeom prst="straightConnector1">
              <a:avLst/>
            </a:prstGeom>
            <a:noFill/>
            <a:ln w="28575" cap="flat" cmpd="sng">
              <a:solidFill>
                <a:schemeClr val="dk1"/>
              </a:solidFill>
              <a:prstDash val="solid"/>
              <a:miter lim="800000"/>
              <a:headEnd type="none" w="med" len="med"/>
              <a:tailEnd type="stealth" w="lg" len="lg"/>
            </a:ln>
          </p:spPr>
        </p:cxnSp>
        <p:sp>
          <p:nvSpPr>
            <p:cNvPr id="2644" name="Shape 2644"/>
            <p:cNvSpPr txBox="1"/>
            <p:nvPr/>
          </p:nvSpPr>
          <p:spPr>
            <a:xfrm>
              <a:off x="2981325" y="5689600"/>
              <a:ext cx="1035050"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45" name="Shape 2645"/>
          <p:cNvGrpSpPr/>
          <p:nvPr/>
        </p:nvGrpSpPr>
        <p:grpSpPr>
          <a:xfrm>
            <a:off x="292100" y="3979862"/>
            <a:ext cx="6544475" cy="1169988"/>
            <a:chOff x="292100" y="3979862"/>
            <a:chExt cx="6544475" cy="1169988"/>
          </a:xfrm>
        </p:grpSpPr>
        <p:grpSp>
          <p:nvGrpSpPr>
            <p:cNvPr id="2646" name="Shape 2646"/>
            <p:cNvGrpSpPr/>
            <p:nvPr/>
          </p:nvGrpSpPr>
          <p:grpSpPr>
            <a:xfrm>
              <a:off x="344487" y="3979862"/>
              <a:ext cx="1125537" cy="677862"/>
              <a:chOff x="796925" y="4068762"/>
              <a:chExt cx="1125537" cy="677862"/>
            </a:xfrm>
          </p:grpSpPr>
          <p:sp>
            <p:nvSpPr>
              <p:cNvPr id="2647" name="Shape 2647"/>
              <p:cNvSpPr/>
              <p:nvPr/>
            </p:nvSpPr>
            <p:spPr>
              <a:xfrm rot="5400000">
                <a:off x="1202531" y="4026693"/>
                <a:ext cx="314325" cy="1125537"/>
              </a:xfrm>
              <a:prstGeom prst="leftBrace">
                <a:avLst>
                  <a:gd name="adj1" fmla="val 8333"/>
                  <a:gd name="adj2" fmla="val 50000"/>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48" name="Shape 2648"/>
              <p:cNvSpPr txBox="1"/>
              <p:nvPr/>
            </p:nvSpPr>
            <p:spPr>
              <a:xfrm>
                <a:off x="1295400" y="4068762"/>
                <a:ext cx="269875" cy="3651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endPar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649" name="Shape 2649"/>
            <p:cNvGrpSpPr/>
            <p:nvPr/>
          </p:nvGrpSpPr>
          <p:grpSpPr>
            <a:xfrm>
              <a:off x="292100" y="4610100"/>
              <a:ext cx="6544475" cy="539750"/>
              <a:chOff x="292100" y="4610100"/>
              <a:chExt cx="6544475" cy="539750"/>
            </a:xfrm>
          </p:grpSpPr>
          <p:sp>
            <p:nvSpPr>
              <p:cNvPr id="2650" name="Shape 2650"/>
              <p:cNvSpPr/>
              <p:nvPr/>
            </p:nvSpPr>
            <p:spPr>
              <a:xfrm>
                <a:off x="292100" y="4616450"/>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20  60</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1" name="Shape 2651"/>
              <p:cNvSpPr/>
              <p:nvPr/>
            </p:nvSpPr>
            <p:spPr>
              <a:xfrm>
                <a:off x="1768475" y="4616450"/>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5   31</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2" name="Shape 2652"/>
              <p:cNvSpPr/>
              <p:nvPr/>
            </p:nvSpPr>
            <p:spPr>
              <a:xfrm>
                <a:off x="4724400" y="4610100"/>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44   55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3" name="Shape 2653"/>
              <p:cNvSpPr/>
              <p:nvPr/>
            </p:nvSpPr>
            <p:spPr>
              <a:xfrm>
                <a:off x="6213475" y="4616450"/>
                <a:ext cx="6231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65</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4" name="Shape 2654"/>
              <p:cNvSpPr/>
              <p:nvPr/>
            </p:nvSpPr>
            <p:spPr>
              <a:xfrm>
                <a:off x="3246437" y="4610100"/>
                <a:ext cx="1219200" cy="533400"/>
              </a:xfrm>
              <a:prstGeom prst="cube">
                <a:avLst>
                  <a:gd name="adj" fmla="val 3729"/>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97"/>
                  </a:buClr>
                  <a:buSzPts val="2800"/>
                  <a:buFont typeface="Times New Roman" panose="02020603050405020304"/>
                  <a:buNone/>
                </a:pPr>
                <a:r>
                  <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rPr>
                  <a:t>15   28</a:t>
                </a:r>
                <a:endParaRPr lang="en-US" sz="2800" b="1" i="0" u="none">
                  <a:solidFill>
                    <a:srgbClr val="FFFF97"/>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2655" name="Shape 2655"/>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59" name="Shape 2659"/>
        <p:cNvGrpSpPr/>
        <p:nvPr/>
      </p:nvGrpSpPr>
      <p:grpSpPr>
        <a:xfrm>
          <a:off x="0" y="0"/>
          <a:ext cx="0" cy="0"/>
          <a:chOff x="0" y="0"/>
          <a:chExt cx="0" cy="0"/>
        </a:xfrm>
      </p:grpSpPr>
      <p:sp>
        <p:nvSpPr>
          <p:cNvPr id="2660" name="Shape 2660"/>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关键问题⑵：怎样完成一趟归并？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61" name="Shape 2661"/>
          <p:cNvSpPr txBox="1"/>
          <p:nvPr/>
        </p:nvSpPr>
        <p:spPr>
          <a:xfrm>
            <a:off x="190500" y="1719262"/>
            <a:ext cx="8702675"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设参数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指向待归并序列的第一个记录，归并的步长是2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，在归并过程中，有以下三种情况：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2" name="Shape 2662"/>
          <p:cNvSpPr txBox="1"/>
          <p:nvPr/>
        </p:nvSpPr>
        <p:spPr>
          <a:xfrm>
            <a:off x="250825" y="2708275"/>
            <a:ext cx="8416925" cy="94615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③</a:t>
            </a:r>
            <a:r>
              <a:rPr lang="en-US" sz="2800" b="1" i="0" u="none">
                <a:solidFill>
                  <a:schemeClr val="dk1"/>
                </a:solidFill>
                <a:latin typeface="Arial" panose="020B0604020202020204"/>
                <a:ea typeface="Arial" panose="020B0604020202020204"/>
                <a:cs typeface="Arial" panose="020B0604020202020204"/>
                <a:sym typeface="Arial" panose="020B0604020202020204"/>
              </a:rPr>
              <a:t>若</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n-h+1</a:t>
            </a:r>
            <a:r>
              <a:rPr lang="en-US" sz="2800" b="1" i="0" u="none">
                <a:solidFill>
                  <a:schemeClr val="dk1"/>
                </a:solidFill>
                <a:latin typeface="Arial" panose="020B0604020202020204"/>
                <a:ea typeface="Arial" panose="020B0604020202020204"/>
                <a:cs typeface="Arial" panose="020B0604020202020204"/>
                <a:sym typeface="Arial" panose="020B0604020202020204"/>
              </a:rPr>
              <a:t>，则表明只剩下一个有序表，直接将该有序表送到</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r1</a:t>
            </a:r>
            <a:r>
              <a:rPr lang="en-US" sz="2800" b="1" i="0" u="none">
                <a:solidFill>
                  <a:schemeClr val="dk1"/>
                </a:solidFill>
                <a:latin typeface="Arial" panose="020B0604020202020204"/>
                <a:ea typeface="Arial" panose="020B0604020202020204"/>
                <a:cs typeface="Arial" panose="020B0604020202020204"/>
                <a:sym typeface="Arial" panose="020B0604020202020204"/>
              </a:rPr>
              <a:t>的相应位置，完成后退出一趟归并。</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3" name="Shape 2663"/>
          <p:cNvSpPr txBox="1"/>
          <p:nvPr/>
        </p:nvSpPr>
        <p:spPr>
          <a:xfrm>
            <a:off x="261937" y="3924300"/>
            <a:ext cx="7291387" cy="20145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if (i&gt;=n-h+1)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for (k=i; k&lt;=n; k++)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r1[k]=r[k];</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64" name="Shape 2664"/>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68" name="Shape 2668"/>
        <p:cNvGrpSpPr/>
        <p:nvPr/>
      </p:nvGrpSpPr>
      <p:grpSpPr>
        <a:xfrm>
          <a:off x="0" y="0"/>
          <a:ext cx="0" cy="0"/>
          <a:chOff x="0" y="0"/>
          <a:chExt cx="0" cy="0"/>
        </a:xfrm>
      </p:grpSpPr>
      <p:sp>
        <p:nvSpPr>
          <p:cNvPr id="2669" name="Shape 2669"/>
          <p:cNvSpPr txBox="1"/>
          <p:nvPr/>
        </p:nvSpPr>
        <p:spPr>
          <a:xfrm>
            <a:off x="476250" y="1763712"/>
            <a:ext cx="8281987" cy="4702175"/>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MergePass (int  r[ ], int  r1[ ], int  n, int  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(i</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2h+1)                          //情况1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 (r, r1, i, i+h-1, i+2*h</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i+=2*h;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(i＜n</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h+1) Merge (r, r1, i, i+h</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 n);   //情况2</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for (k=i; k&lt;=n; k++)           //情况3</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r1[k]=r[k];</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70" name="Shape 2670"/>
          <p:cNvSpPr txBox="1"/>
          <p:nvPr/>
        </p:nvSpPr>
        <p:spPr>
          <a:xfrm>
            <a:off x="385762" y="1133475"/>
            <a:ext cx="5638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一趟归并排序算法</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71" name="Shape 2671"/>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75" name="Shape 2675"/>
        <p:cNvGrpSpPr/>
        <p:nvPr/>
      </p:nvGrpSpPr>
      <p:grpSpPr>
        <a:xfrm>
          <a:off x="0" y="0"/>
          <a:ext cx="0" cy="0"/>
          <a:chOff x="0" y="0"/>
          <a:chExt cx="0" cy="0"/>
        </a:xfrm>
      </p:grpSpPr>
      <p:sp>
        <p:nvSpPr>
          <p:cNvPr id="2676" name="Shape 2676"/>
          <p:cNvSpPr txBox="1"/>
          <p:nvPr/>
        </p:nvSpPr>
        <p:spPr>
          <a:xfrm>
            <a:off x="206375" y="1719262"/>
            <a:ext cx="8415337" cy="154463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3300"/>
              </a:buClr>
              <a:buSzPts val="2800"/>
              <a:buFont typeface="Arial" panose="020B0604020202020204"/>
              <a:buNone/>
            </a:pPr>
            <a:r>
              <a:rPr lang="en-US" sz="2800" b="1" i="0" u="none">
                <a:solidFill>
                  <a:srgbClr val="FF3300"/>
                </a:solidFill>
                <a:latin typeface="Arial" panose="020B0604020202020204"/>
                <a:ea typeface="Arial" panose="020B0604020202020204"/>
                <a:cs typeface="Arial" panose="020B0604020202020204"/>
                <a:sym typeface="Arial" panose="020B0604020202020204"/>
              </a:rPr>
              <a:t>解决方法：</a:t>
            </a:r>
            <a:endParaRPr lang="en-US" sz="2800" b="1" i="0" u="none">
              <a:solidFill>
                <a:srgbClr val="FF33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40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开始时，有序序列的长度</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h=1</a:t>
            </a:r>
            <a:r>
              <a:rPr lang="en-US" sz="2800" b="1" i="0" u="none">
                <a:solidFill>
                  <a:schemeClr val="dk1"/>
                </a:solidFill>
                <a:latin typeface="Arial" panose="020B0604020202020204"/>
                <a:ea typeface="Arial" panose="020B0604020202020204"/>
                <a:cs typeface="Arial" panose="020B0604020202020204"/>
                <a:sym typeface="Arial" panose="020B0604020202020204"/>
              </a:rPr>
              <a:t>，结束时，有序序列的长度</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h=n</a:t>
            </a:r>
            <a:r>
              <a:rPr lang="en-US" sz="2800" b="1" i="0" u="none">
                <a:solidFill>
                  <a:schemeClr val="dk1"/>
                </a:solidFill>
                <a:latin typeface="Arial" panose="020B0604020202020204"/>
                <a:ea typeface="Arial" panose="020B0604020202020204"/>
                <a:cs typeface="Arial" panose="020B0604020202020204"/>
                <a:sym typeface="Arial" panose="020B0604020202020204"/>
              </a:rPr>
              <a:t>，用有序序列的长度来控制排序的结束。</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677" name="Shape 2677"/>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关键问题⑶：如何控制二路归并的结束？</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78" name="Shape 2678"/>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82" name="Shape 2682"/>
        <p:cNvGrpSpPr/>
        <p:nvPr/>
      </p:nvGrpSpPr>
      <p:grpSpPr>
        <a:xfrm>
          <a:off x="0" y="0"/>
          <a:ext cx="0" cy="0"/>
          <a:chOff x="0" y="0"/>
          <a:chExt cx="0" cy="0"/>
        </a:xfrm>
      </p:grpSpPr>
      <p:sp>
        <p:nvSpPr>
          <p:cNvPr id="2683" name="Shape 2683"/>
          <p:cNvSpPr txBox="1"/>
          <p:nvPr/>
        </p:nvSpPr>
        <p:spPr>
          <a:xfrm>
            <a:off x="296862" y="1673225"/>
            <a:ext cx="8189912" cy="4959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3300"/>
              </a:buClr>
              <a:buSzPts val="2800"/>
              <a:buFont typeface="Times New Roman" panose="02020603050405020304"/>
              <a:buNone/>
            </a:pP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算法描述：</a:t>
            </a:r>
            <a:endPar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140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MergeSort (int r[ ], int r1[ ], int n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h=1;</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(h&lt;n)</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MergePass (r, r1, n, 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h=2*h;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MergePass (r1, r, n, 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h=2*h;</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84" name="Shape 2684"/>
          <p:cNvSpPr txBox="1"/>
          <p:nvPr/>
        </p:nvSpPr>
        <p:spPr>
          <a:xfrm>
            <a:off x="103187" y="1112837"/>
            <a:ext cx="87899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关键问题⑶：如何控制二路归并的结束？</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85" name="Shape 2685"/>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89" name="Shape 2689"/>
        <p:cNvGrpSpPr/>
        <p:nvPr/>
      </p:nvGrpSpPr>
      <p:grpSpPr>
        <a:xfrm>
          <a:off x="0" y="0"/>
          <a:ext cx="0" cy="0"/>
          <a:chOff x="0" y="0"/>
          <a:chExt cx="0" cy="0"/>
        </a:xfrm>
      </p:grpSpPr>
      <p:sp>
        <p:nvSpPr>
          <p:cNvPr id="2690" name="Shape 2690"/>
          <p:cNvSpPr txBox="1"/>
          <p:nvPr/>
        </p:nvSpPr>
        <p:spPr>
          <a:xfrm>
            <a:off x="354012" y="1089025"/>
            <a:ext cx="601821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二路归并的递归实现</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pic>
        <p:nvPicPr>
          <p:cNvPr id="2691" name="Shape 2691"/>
          <p:cNvPicPr preferRelativeResize="0"/>
          <p:nvPr/>
        </p:nvPicPr>
        <p:blipFill rotWithShape="1">
          <a:blip r:embed="rId1"/>
          <a:srcRect/>
          <a:stretch>
            <a:fillRect/>
          </a:stretch>
        </p:blipFill>
        <p:spPr>
          <a:xfrm>
            <a:off x="611187" y="1854200"/>
            <a:ext cx="7875587" cy="4110037"/>
          </a:xfrm>
          <a:prstGeom prst="rect">
            <a:avLst/>
          </a:prstGeom>
          <a:noFill/>
          <a:ln w="28575" cap="flat" cmpd="sng">
            <a:solidFill>
              <a:schemeClr val="accent2"/>
            </a:solidFill>
            <a:prstDash val="solid"/>
            <a:miter lim="800000"/>
            <a:headEnd type="none" w="sm" len="sm"/>
            <a:tailEnd type="none" w="sm" len="sm"/>
          </a:ln>
        </p:spPr>
      </p:pic>
      <p:sp>
        <p:nvSpPr>
          <p:cNvPr id="2692" name="Shape 2692"/>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696" name="Shape 2696"/>
        <p:cNvGrpSpPr/>
        <p:nvPr/>
      </p:nvGrpSpPr>
      <p:grpSpPr>
        <a:xfrm>
          <a:off x="0" y="0"/>
          <a:ext cx="0" cy="0"/>
          <a:chOff x="0" y="0"/>
          <a:chExt cx="0" cy="0"/>
        </a:xfrm>
      </p:grpSpPr>
      <p:sp>
        <p:nvSpPr>
          <p:cNvPr id="2697" name="Shape 2697"/>
          <p:cNvSpPr txBox="1"/>
          <p:nvPr/>
        </p:nvSpPr>
        <p:spPr>
          <a:xfrm>
            <a:off x="458787" y="1943100"/>
            <a:ext cx="8299450" cy="37433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MergeSort2(int r[ ], int r1[ ], int s, int 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(s==t) r1[s]=r[s];                        //递归出口</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m=(s+t)/2;</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Mergesort2(r, r1, s, m);           //归并排序前半个子序列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Mergesort2(r, r1, m+1, t);       //归并排序后半个子序列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Merge(r1, r, s, m, t);           将两个已排序的子序列归并</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98" name="Shape 2698"/>
          <p:cNvSpPr txBox="1"/>
          <p:nvPr/>
        </p:nvSpPr>
        <p:spPr>
          <a:xfrm>
            <a:off x="354012" y="1089025"/>
            <a:ext cx="6018212"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二路归并的递归实现</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699" name="Shape 2699"/>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03" name="Shape 2703"/>
        <p:cNvGrpSpPr/>
        <p:nvPr/>
      </p:nvGrpSpPr>
      <p:grpSpPr>
        <a:xfrm>
          <a:off x="0" y="0"/>
          <a:ext cx="0" cy="0"/>
          <a:chOff x="0" y="0"/>
          <a:chExt cx="0" cy="0"/>
        </a:xfrm>
      </p:grpSpPr>
      <p:sp>
        <p:nvSpPr>
          <p:cNvPr id="2704" name="Shape 2704"/>
          <p:cNvSpPr txBox="1"/>
          <p:nvPr/>
        </p:nvSpPr>
        <p:spPr>
          <a:xfrm>
            <a:off x="341312" y="1089025"/>
            <a:ext cx="6931025"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二路归并排序算法的性能分析</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grpSp>
        <p:nvGrpSpPr>
          <p:cNvPr id="2705" name="Shape 2705"/>
          <p:cNvGrpSpPr/>
          <p:nvPr/>
        </p:nvGrpSpPr>
        <p:grpSpPr>
          <a:xfrm>
            <a:off x="296862" y="1763712"/>
            <a:ext cx="8370887" cy="4192587"/>
            <a:chOff x="296862" y="1763712"/>
            <a:chExt cx="8370887" cy="4192587"/>
          </a:xfrm>
        </p:grpSpPr>
        <p:sp>
          <p:nvSpPr>
            <p:cNvPr id="2706" name="Shape 2706"/>
            <p:cNvSpPr txBox="1"/>
            <p:nvPr/>
          </p:nvSpPr>
          <p:spPr>
            <a:xfrm>
              <a:off x="296862" y="1763712"/>
              <a:ext cx="8370887" cy="4192587"/>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时间性能：</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一趟归并操作是将r[1]~r[n]中相邻的长度为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h</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的有序序列进行两两归并，并把结果存放到r1[1]~r1[n]中，这需要</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)时间。整个归并排序需要进行        趟，因此，总的时间代价是</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)。这是归并排序算法的</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最好</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最坏</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0" u="none">
                  <a:solidFill>
                    <a:srgbClr val="FF3300"/>
                  </a:solidFill>
                  <a:latin typeface="Times New Roman" panose="02020603050405020304"/>
                  <a:ea typeface="Times New Roman" panose="02020603050405020304"/>
                  <a:cs typeface="Times New Roman" panose="02020603050405020304"/>
                  <a:sym typeface="Times New Roman" panose="02020603050405020304"/>
                </a:rPr>
                <a:t>平均</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的时间性能。</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空间性能：</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算法在执行时，需要占用与原始记录序列同样数量的存储空间，因此空间复杂度为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707" name="Shape 2707"/>
            <p:cNvGrpSpPr/>
            <p:nvPr/>
          </p:nvGrpSpPr>
          <p:grpSpPr>
            <a:xfrm>
              <a:off x="6831012" y="3209925"/>
              <a:ext cx="963613" cy="442912"/>
              <a:chOff x="6831012" y="3209925"/>
              <a:chExt cx="963613" cy="442912"/>
            </a:xfrm>
          </p:grpSpPr>
          <p:sp>
            <p:nvSpPr>
              <p:cNvPr id="2708" name="Shape 2708"/>
              <p:cNvSpPr txBox="1"/>
              <p:nvPr/>
            </p:nvSpPr>
            <p:spPr>
              <a:xfrm>
                <a:off x="6831012" y="3230562"/>
                <a:ext cx="49212"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2709" name="Shape 2709"/>
              <p:cNvSpPr txBox="1"/>
              <p:nvPr/>
            </p:nvSpPr>
            <p:spPr>
              <a:xfrm>
                <a:off x="7677150" y="3246437"/>
                <a:ext cx="117475" cy="3651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0" u="none">
                    <a:solidFill>
                      <a:srgbClr val="000000"/>
                    </a:solidFill>
                    <a:latin typeface="Noto Sans Symbols"/>
                    <a:ea typeface="Noto Sans Symbols"/>
                    <a:cs typeface="Noto Sans Symbols"/>
                    <a:sym typeface="Noto Sans Symbols"/>
                  </a:rPr>
                  <a:t>⎤</a:t>
                </a:r>
                <a:endParaRPr lang="en-US" sz="2400" b="1" i="0" u="none">
                  <a:solidFill>
                    <a:srgbClr val="000000"/>
                  </a:solidFill>
                  <a:latin typeface="Noto Sans Symbols"/>
                  <a:ea typeface="Noto Sans Symbols"/>
                  <a:cs typeface="Noto Sans Symbols"/>
                  <a:sym typeface="Noto Sans Symbols"/>
                </a:endParaRPr>
              </a:p>
            </p:txBody>
          </p:sp>
          <p:sp>
            <p:nvSpPr>
              <p:cNvPr id="2710" name="Shape 2710"/>
              <p:cNvSpPr txBox="1"/>
              <p:nvPr/>
            </p:nvSpPr>
            <p:spPr>
              <a:xfrm>
                <a:off x="7516812" y="3209925"/>
                <a:ext cx="176212" cy="381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00"/>
                  <a:buFont typeface="Times New Roman" panose="02020603050405020304"/>
                  <a:buNone/>
                </a:pPr>
                <a:r>
                  <a:rPr lang="en-US" sz="25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endParaRPr lang="en-US" sz="2500" b="1" i="1"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1" name="Shape 2711"/>
              <p:cNvSpPr txBox="1"/>
              <p:nvPr/>
            </p:nvSpPr>
            <p:spPr>
              <a:xfrm>
                <a:off x="7373937" y="3408362"/>
                <a:ext cx="101600" cy="24447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Times New Roman" panose="02020603050405020304"/>
                  <a:buNone/>
                </a:pPr>
                <a:r>
                  <a:rPr lang="en-US" sz="16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endParaRPr lang="en-US" sz="16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2" name="Shape 2712"/>
              <p:cNvSpPr txBox="1"/>
              <p:nvPr/>
            </p:nvSpPr>
            <p:spPr>
              <a:xfrm>
                <a:off x="6940550" y="3209925"/>
                <a:ext cx="406400" cy="381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500"/>
                  <a:buFont typeface="Times New Roman" panose="02020603050405020304"/>
                  <a:buNone/>
                </a:pPr>
                <a:r>
                  <a:rPr lang="en-US" sz="25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rPr>
                  <a:t>log</a:t>
                </a:r>
                <a:endParaRPr lang="en-US" sz="2500" b="1" i="0"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2713" name="Shape 2713"/>
          <p:cNvSpPr txBox="1"/>
          <p:nvPr/>
        </p:nvSpPr>
        <p:spPr>
          <a:xfrm>
            <a:off x="2582862" y="279400"/>
            <a:ext cx="3644900"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4000"/>
              <a:buFont typeface="Times New Roman" panose="02020603050405020304"/>
              <a:buNone/>
            </a:pPr>
            <a:r>
              <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8.5  归并排序</a:t>
            </a:r>
            <a:endParaRPr lang="en-US" sz="40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17" name="Shape 2717"/>
        <p:cNvGrpSpPr/>
        <p:nvPr/>
      </p:nvGrpSpPr>
      <p:grpSpPr>
        <a:xfrm>
          <a:off x="0" y="0"/>
          <a:ext cx="0" cy="0"/>
          <a:chOff x="0" y="0"/>
          <a:chExt cx="0" cy="0"/>
        </a:xfrm>
      </p:grpSpPr>
      <p:sp>
        <p:nvSpPr>
          <p:cNvPr id="2718" name="Shape 2718"/>
          <p:cNvSpPr txBox="1"/>
          <p:nvPr/>
        </p:nvSpPr>
        <p:spPr>
          <a:xfrm>
            <a:off x="341312" y="1089025"/>
            <a:ext cx="6931025"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Arial" panose="020B0604020202020204"/>
              <a:buNone/>
            </a:pPr>
            <a:r>
              <a:rPr lang="en-US" sz="3200" b="1" i="0" u="none">
                <a:solidFill>
                  <a:srgbClr val="171CEF"/>
                </a:solidFill>
                <a:latin typeface="Arial" panose="020B0604020202020204"/>
                <a:ea typeface="Arial" panose="020B0604020202020204"/>
                <a:cs typeface="Arial" panose="020B0604020202020204"/>
                <a:sym typeface="Arial" panose="020B0604020202020204"/>
              </a:rPr>
              <a:t>分配排序的基本思想</a:t>
            </a:r>
            <a:endParaRPr lang="en-US" sz="3200" b="1" i="0" u="none">
              <a:solidFill>
                <a:srgbClr val="171CEF"/>
              </a:solidFill>
              <a:latin typeface="Arial" panose="020B0604020202020204"/>
              <a:ea typeface="Arial" panose="020B0604020202020204"/>
              <a:cs typeface="Arial" panose="020B0604020202020204"/>
              <a:sym typeface="Arial" panose="020B0604020202020204"/>
            </a:endParaRPr>
          </a:p>
        </p:txBody>
      </p:sp>
      <p:sp>
        <p:nvSpPr>
          <p:cNvPr id="2719" name="Shape 2719"/>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20" name="Shape 2720"/>
          <p:cNvSpPr txBox="1"/>
          <p:nvPr/>
        </p:nvSpPr>
        <p:spPr>
          <a:xfrm>
            <a:off x="385762" y="2214562"/>
            <a:ext cx="8370887" cy="1630362"/>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分配排序是基于分配和收集的排序方法，其基本思想是：先将待排序记录序列</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分配</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到不同的桶里，然后再把各桶中的记录依次</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收集</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到一起。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24" name="Shape 2724"/>
        <p:cNvGrpSpPr/>
        <p:nvPr/>
      </p:nvGrpSpPr>
      <p:grpSpPr>
        <a:xfrm>
          <a:off x="0" y="0"/>
          <a:ext cx="0" cy="0"/>
          <a:chOff x="0" y="0"/>
          <a:chExt cx="0" cy="0"/>
        </a:xfrm>
      </p:grpSpPr>
      <p:sp>
        <p:nvSpPr>
          <p:cNvPr id="2725" name="Shape 2725"/>
          <p:cNvSpPr txBox="1"/>
          <p:nvPr/>
        </p:nvSpPr>
        <p:spPr>
          <a:xfrm>
            <a:off x="341312" y="1089025"/>
            <a:ext cx="6931025"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a:solidFill>
                  <a:schemeClr val="accent2"/>
                </a:solidFill>
                <a:latin typeface="Arial" panose="020B0604020202020204"/>
                <a:ea typeface="Arial" panose="020B0604020202020204"/>
                <a:cs typeface="Arial" panose="020B0604020202020204"/>
                <a:sym typeface="Arial" panose="020B0604020202020204"/>
              </a:rPr>
              <a:t>桶式排序</a:t>
            </a:r>
            <a:r>
              <a:rPr lang="en-US" sz="32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32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726" name="Shape 2726"/>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27" name="Shape 2727"/>
          <p:cNvSpPr txBox="1"/>
          <p:nvPr/>
        </p:nvSpPr>
        <p:spPr>
          <a:xfrm>
            <a:off x="522287" y="1763712"/>
            <a:ext cx="8370887" cy="1187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桶式排序的基本思想是：假设待排序记录的值都在0～m-1之间，设置m个桶，首先将值为i的记录分配到第i个桶中，然后再将各个桶中的记录依次收集起来。</a:t>
            </a:r>
            <a:r>
              <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28" name="Shape 2728"/>
          <p:cNvPicPr preferRelativeResize="0"/>
          <p:nvPr/>
        </p:nvPicPr>
        <p:blipFill rotWithShape="1">
          <a:blip r:embed="rId1"/>
          <a:srcRect/>
          <a:stretch>
            <a:fillRect/>
          </a:stretch>
        </p:blipFill>
        <p:spPr>
          <a:xfrm>
            <a:off x="1692275" y="3024187"/>
            <a:ext cx="5040312" cy="3624262"/>
          </a:xfrm>
          <a:prstGeom prst="rect">
            <a:avLst/>
          </a:prstGeom>
          <a:noFill/>
          <a:ln w="28575" cap="flat" cmpd="sng">
            <a:solidFill>
              <a:schemeClr val="accent2"/>
            </a:solidFill>
            <a:prstDash val="solid"/>
            <a:miter lim="800000"/>
            <a:headEnd type="none" w="sm" len="sm"/>
            <a:tailEnd type="none" w="sm" len="sm"/>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32" name="Shape 2732"/>
        <p:cNvGrpSpPr/>
        <p:nvPr/>
      </p:nvGrpSpPr>
      <p:grpSpPr>
        <a:xfrm>
          <a:off x="0" y="0"/>
          <a:ext cx="0" cy="0"/>
          <a:chOff x="0" y="0"/>
          <a:chExt cx="0" cy="0"/>
        </a:xfrm>
      </p:grpSpPr>
      <p:sp>
        <p:nvSpPr>
          <p:cNvPr id="2733" name="Shape 2733"/>
          <p:cNvSpPr txBox="1"/>
          <p:nvPr/>
        </p:nvSpPr>
        <p:spPr>
          <a:xfrm>
            <a:off x="341312" y="1089025"/>
            <a:ext cx="6931025" cy="579437"/>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3200"/>
              <a:buFont typeface="Arial" panose="020B0604020202020204"/>
              <a:buNone/>
            </a:pPr>
            <a:r>
              <a:rPr lang="en-US" sz="3200" b="1" i="0" u="none">
                <a:solidFill>
                  <a:schemeClr val="accent2"/>
                </a:solidFill>
                <a:latin typeface="Arial" panose="020B0604020202020204"/>
                <a:ea typeface="Arial" panose="020B0604020202020204"/>
                <a:cs typeface="Arial" panose="020B0604020202020204"/>
                <a:sym typeface="Arial" panose="020B0604020202020204"/>
              </a:rPr>
              <a:t>桶式排序</a:t>
            </a:r>
            <a:r>
              <a:rPr lang="en-US" sz="3200" b="0" i="0" u="none">
                <a:solidFill>
                  <a:schemeClr val="accent2"/>
                </a:solidFill>
                <a:latin typeface="Arial" panose="020B0604020202020204"/>
                <a:ea typeface="Arial" panose="020B0604020202020204"/>
                <a:cs typeface="Arial" panose="020B0604020202020204"/>
                <a:sym typeface="Arial" panose="020B0604020202020204"/>
              </a:rPr>
              <a:t> </a:t>
            </a:r>
            <a:endParaRPr lang="en-US" sz="3200" b="0"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734" name="Shape 2734"/>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35" name="Shape 2735"/>
          <p:cNvPicPr preferRelativeResize="0"/>
          <p:nvPr/>
        </p:nvPicPr>
        <p:blipFill rotWithShape="1">
          <a:blip r:embed="rId1"/>
          <a:srcRect/>
          <a:stretch>
            <a:fillRect/>
          </a:stretch>
        </p:blipFill>
        <p:spPr>
          <a:xfrm>
            <a:off x="4103687" y="3024187"/>
            <a:ext cx="5040312" cy="3624262"/>
          </a:xfrm>
          <a:prstGeom prst="rect">
            <a:avLst/>
          </a:prstGeom>
          <a:noFill/>
          <a:ln w="28575" cap="flat" cmpd="sng">
            <a:solidFill>
              <a:schemeClr val="accent2"/>
            </a:solidFill>
            <a:prstDash val="solid"/>
            <a:miter lim="800000"/>
            <a:headEnd type="none" w="sm" len="sm"/>
            <a:tailEnd type="none" w="sm" len="sm"/>
          </a:ln>
        </p:spPr>
      </p:pic>
      <p:grpSp>
        <p:nvGrpSpPr>
          <p:cNvPr id="2736" name="Shape 2736"/>
          <p:cNvGrpSpPr/>
          <p:nvPr/>
        </p:nvGrpSpPr>
        <p:grpSpPr>
          <a:xfrm>
            <a:off x="476250" y="1763712"/>
            <a:ext cx="6604000" cy="542925"/>
            <a:chOff x="522287" y="3249612"/>
            <a:chExt cx="6604000" cy="542925"/>
          </a:xfrm>
        </p:grpSpPr>
        <p:sp>
          <p:nvSpPr>
            <p:cNvPr id="2737" name="Shape 2737"/>
            <p:cNvSpPr txBox="1"/>
            <p:nvPr/>
          </p:nvSpPr>
          <p:spPr>
            <a:xfrm>
              <a:off x="1106487" y="3249612"/>
              <a:ext cx="6019800"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需解决的关键问题?</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38" name="Shape 2738"/>
            <p:cNvPicPr preferRelativeResize="0"/>
            <p:nvPr/>
          </p:nvPicPr>
          <p:blipFill rotWithShape="1">
            <a:blip r:embed="rId2"/>
            <a:srcRect/>
            <a:stretch>
              <a:fillRect/>
            </a:stretch>
          </p:blipFill>
          <p:spPr>
            <a:xfrm>
              <a:off x="522287" y="3249612"/>
              <a:ext cx="584200" cy="542925"/>
            </a:xfrm>
            <a:prstGeom prst="rect">
              <a:avLst/>
            </a:prstGeom>
            <a:noFill/>
            <a:ln>
              <a:noFill/>
            </a:ln>
          </p:spPr>
        </p:pic>
      </p:grpSp>
      <p:sp>
        <p:nvSpPr>
          <p:cNvPr id="2739" name="Shape 2739"/>
          <p:cNvSpPr txBox="1"/>
          <p:nvPr/>
        </p:nvSpPr>
        <p:spPr>
          <a:xfrm>
            <a:off x="341312" y="2365375"/>
            <a:ext cx="7346950" cy="1333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（1）如何表示桶？即如何存储具有相同键值的记录？</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（2）如何进行分配操作？</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（3）如何进行收集操作？</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43" name="Shape 2743"/>
        <p:cNvGrpSpPr/>
        <p:nvPr/>
      </p:nvGrpSpPr>
      <p:grpSpPr>
        <a:xfrm>
          <a:off x="0" y="0"/>
          <a:ext cx="0" cy="0"/>
          <a:chOff x="0" y="0"/>
          <a:chExt cx="0" cy="0"/>
        </a:xfrm>
      </p:grpSpPr>
      <p:sp>
        <p:nvSpPr>
          <p:cNvPr id="2744" name="Shape 2744"/>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问题</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accent2"/>
                </a:solidFill>
                <a:latin typeface="Arial" panose="020B0604020202020204"/>
                <a:ea typeface="Arial" panose="020B0604020202020204"/>
                <a:cs typeface="Arial" panose="020B0604020202020204"/>
                <a:sym typeface="Arial" panose="020B0604020202020204"/>
              </a:rPr>
              <a:t>——如何表示桶？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745" name="Shape 2745"/>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46" name="Shape 2746"/>
          <p:cNvSpPr txBox="1"/>
          <p:nvPr/>
        </p:nvSpPr>
        <p:spPr>
          <a:xfrm>
            <a:off x="431800" y="1673225"/>
            <a:ext cx="8410800" cy="155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由于具有相同键值的记录可能会有多个，所以，应采用链接存储，为保证排序的稳定性，可以设m个链队列作为桶的存储结构。为避免在分配和收集的过程中移动元素，采用静态链表作为链队列和待排序记录序列的存储结构，定义如下：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47" name="Shape 2747"/>
          <p:cNvSpPr txBox="1"/>
          <p:nvPr/>
        </p:nvSpPr>
        <p:spPr>
          <a:xfrm>
            <a:off x="385750" y="3282950"/>
            <a:ext cx="8758200" cy="34068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struct Node              //定义静态链表存储待排序记录序列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int key;                //记录的键值</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int next;              //游标，下一个键值在数组中的下标</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struct QueueNode         //定义静态链队列存储桶</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int front;            //队头指针，指向队头元素在数组中的下标</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int rear;             //队尾指针，指向队尾元素在数组中的下标</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277495"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51" name="Shape 2751"/>
        <p:cNvGrpSpPr/>
        <p:nvPr/>
      </p:nvGrpSpPr>
      <p:grpSpPr>
        <a:xfrm>
          <a:off x="0" y="0"/>
          <a:ext cx="0" cy="0"/>
          <a:chOff x="0" y="0"/>
          <a:chExt cx="0" cy="0"/>
        </a:xfrm>
      </p:grpSpPr>
      <p:sp>
        <p:nvSpPr>
          <p:cNvPr id="2752" name="Shape 2752"/>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Arial" panose="020B0604020202020204"/>
              <a:buNone/>
            </a:pPr>
            <a:r>
              <a:rPr lang="en-US" sz="2800" b="1" i="0" u="none">
                <a:solidFill>
                  <a:schemeClr val="accent2"/>
                </a:solidFill>
                <a:latin typeface="Arial" panose="020B0604020202020204"/>
                <a:ea typeface="Arial" panose="020B0604020202020204"/>
                <a:cs typeface="Arial" panose="020B0604020202020204"/>
                <a:sym typeface="Arial" panose="020B0604020202020204"/>
              </a:rPr>
              <a:t>问题</a:t>
            </a: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1</a:t>
            </a:r>
            <a:r>
              <a:rPr lang="en-US" sz="2800" b="1" i="0" u="none">
                <a:solidFill>
                  <a:schemeClr val="accent2"/>
                </a:solidFill>
                <a:latin typeface="Arial" panose="020B0604020202020204"/>
                <a:ea typeface="Arial" panose="020B0604020202020204"/>
                <a:cs typeface="Arial" panose="020B0604020202020204"/>
                <a:sym typeface="Arial" panose="020B0604020202020204"/>
              </a:rPr>
              <a:t>——如何表示桶？</a:t>
            </a:r>
            <a:endParaRPr lang="en-US" sz="2800" b="1" i="0" u="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2753" name="Shape 2753"/>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54" name="Shape 2754"/>
          <p:cNvSpPr txBox="1"/>
          <p:nvPr/>
        </p:nvSpPr>
        <p:spPr>
          <a:xfrm>
            <a:off x="431800" y="1673225"/>
            <a:ext cx="8191500" cy="15525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由于具有相同键值的记录可能会有多个，所以，应采用链接存储，为保证排序的稳定性，可以设m个链队列作为桶的存储结构。为避免在分配和收集的过程中移动元素，采用静态链表作为链队列和待排序记录序列的存储结构。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55" name="Shape 2755"/>
          <p:cNvPicPr preferRelativeResize="0"/>
          <p:nvPr/>
        </p:nvPicPr>
        <p:blipFill rotWithShape="1">
          <a:blip r:embed="rId1"/>
          <a:srcRect/>
          <a:stretch>
            <a:fillRect/>
          </a:stretch>
        </p:blipFill>
        <p:spPr>
          <a:xfrm>
            <a:off x="1376362" y="3249612"/>
            <a:ext cx="2517775" cy="3608387"/>
          </a:xfrm>
          <a:prstGeom prst="rect">
            <a:avLst/>
          </a:prstGeom>
          <a:noFill/>
          <a:ln w="28575" cap="flat" cmpd="sng">
            <a:solidFill>
              <a:schemeClr val="accent2"/>
            </a:solidFill>
            <a:prstDash val="solid"/>
            <a:miter lim="800000"/>
            <a:headEnd type="none" w="sm" len="sm"/>
            <a:tailEnd type="none" w="sm" len="sm"/>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59" name="Shape 2759"/>
        <p:cNvGrpSpPr/>
        <p:nvPr/>
      </p:nvGrpSpPr>
      <p:grpSpPr>
        <a:xfrm>
          <a:off x="0" y="0"/>
          <a:ext cx="0" cy="0"/>
          <a:chOff x="0" y="0"/>
          <a:chExt cx="0" cy="0"/>
        </a:xfrm>
      </p:grpSpPr>
      <p:sp>
        <p:nvSpPr>
          <p:cNvPr id="2760" name="Shape 2760"/>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问题2——如何进行分配操作？</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1" name="Shape 2761"/>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2" name="Shape 2762"/>
          <p:cNvSpPr txBox="1"/>
          <p:nvPr/>
        </p:nvSpPr>
        <p:spPr>
          <a:xfrm>
            <a:off x="385762" y="1722437"/>
            <a:ext cx="8191500" cy="8223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分配操作即是将记录插入到相应的队列中，入队在静态链表上实现，并修改相应队列的队头指针和队尾指针。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763" name="Shape 2763"/>
          <p:cNvPicPr preferRelativeResize="0"/>
          <p:nvPr/>
        </p:nvPicPr>
        <p:blipFill rotWithShape="1">
          <a:blip r:embed="rId1"/>
          <a:srcRect/>
          <a:stretch>
            <a:fillRect/>
          </a:stretch>
        </p:blipFill>
        <p:spPr>
          <a:xfrm>
            <a:off x="2141537" y="2663825"/>
            <a:ext cx="3541712" cy="4194175"/>
          </a:xfrm>
          <a:prstGeom prst="rect">
            <a:avLst/>
          </a:prstGeom>
          <a:noFill/>
          <a:ln w="28575" cap="flat" cmpd="sng">
            <a:solidFill>
              <a:schemeClr val="accent2"/>
            </a:solidFill>
            <a:prstDash val="solid"/>
            <a:miter lim="800000"/>
            <a:headEnd type="none" w="sm" len="sm"/>
            <a:tailEnd type="none" w="sm" len="sm"/>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67" name="Shape 2767"/>
        <p:cNvGrpSpPr/>
        <p:nvPr/>
      </p:nvGrpSpPr>
      <p:grpSpPr>
        <a:xfrm>
          <a:off x="0" y="0"/>
          <a:ext cx="0" cy="0"/>
          <a:chOff x="0" y="0"/>
          <a:chExt cx="0" cy="0"/>
        </a:xfrm>
      </p:grpSpPr>
      <p:sp>
        <p:nvSpPr>
          <p:cNvPr id="2768" name="Shape 2768"/>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问题2——如何进行分配操作？</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69" name="Shape 2769"/>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70" name="Shape 2770"/>
          <p:cNvSpPr txBox="1"/>
          <p:nvPr/>
        </p:nvSpPr>
        <p:spPr>
          <a:xfrm>
            <a:off x="385762" y="1720850"/>
            <a:ext cx="8191500" cy="8223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分配操作即是将记录插入到相应的队列中，入队在静态链表上实现，并修改相应队列的队头指针和队尾指针。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71" name="Shape 2771"/>
          <p:cNvSpPr txBox="1"/>
          <p:nvPr/>
        </p:nvSpPr>
        <p:spPr>
          <a:xfrm>
            <a:off x="341300" y="2573325"/>
            <a:ext cx="8802600" cy="40641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Distribute(Node r[ ], int n, QueueNode q[ ], int m, int first)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//first为静态链表的头指针，从下标0开始存放待排序序列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 = first;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(r[i].next != -1)                 //依次分配每一个待排序记录</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k = r[i].key;</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(q[k].front == -1) q[k].front = i;     //处理队列为空的情况</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else r[q[k].rear].next = i; //在静态链表中实现插在队列尾部</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q[k].rear = i;                                       //修改队尾指针</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 = r[i].next;                                     //i后移，处理下一个记录</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9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75" name="Shape 2775"/>
        <p:cNvGrpSpPr/>
        <p:nvPr/>
      </p:nvGrpSpPr>
      <p:grpSpPr>
        <a:xfrm>
          <a:off x="0" y="0"/>
          <a:ext cx="0" cy="0"/>
          <a:chOff x="0" y="0"/>
          <a:chExt cx="0" cy="0"/>
        </a:xfrm>
      </p:grpSpPr>
      <p:sp>
        <p:nvSpPr>
          <p:cNvPr id="2776" name="Shape 2776"/>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问题3——如何进行收集操作？</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77" name="Shape 2777"/>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78" name="Shape 2778"/>
          <p:cNvSpPr txBox="1"/>
          <p:nvPr/>
        </p:nvSpPr>
        <p:spPr>
          <a:xfrm>
            <a:off x="385762" y="1719262"/>
            <a:ext cx="8191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收集操作即是将所有队列收尾相接。</a:t>
            </a:r>
            <a:r>
              <a:rPr lang="en-US" sz="2400" b="0" i="0" u="none">
                <a:solidFill>
                  <a:schemeClr val="dk1"/>
                </a:solidFill>
                <a:latin typeface="Arial" panose="020B0604020202020204"/>
                <a:ea typeface="Arial" panose="020B0604020202020204"/>
                <a:cs typeface="Arial" panose="020B0604020202020204"/>
                <a:sym typeface="Arial" panose="020B0604020202020204"/>
              </a:rPr>
              <a:t> </a:t>
            </a:r>
            <a:endParaRPr lang="en-US" sz="2400" b="0" i="0" u="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779" name="Shape 2779"/>
          <p:cNvPicPr preferRelativeResize="0"/>
          <p:nvPr/>
        </p:nvPicPr>
        <p:blipFill rotWithShape="1">
          <a:blip r:embed="rId1"/>
          <a:srcRect/>
          <a:stretch>
            <a:fillRect/>
          </a:stretch>
        </p:blipFill>
        <p:spPr>
          <a:xfrm>
            <a:off x="1331912" y="2303462"/>
            <a:ext cx="6840537" cy="4186237"/>
          </a:xfrm>
          <a:prstGeom prst="rect">
            <a:avLst/>
          </a:prstGeom>
          <a:noFill/>
          <a:ln w="28575" cap="flat" cmpd="sng">
            <a:solidFill>
              <a:schemeClr val="accent2"/>
            </a:solidFill>
            <a:prstDash val="solid"/>
            <a:miter lim="800000"/>
            <a:headEnd type="none" w="sm" len="sm"/>
            <a:tailEnd type="none" w="sm" len="sm"/>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83" name="Shape 2783"/>
        <p:cNvGrpSpPr/>
        <p:nvPr/>
      </p:nvGrpSpPr>
      <p:grpSpPr>
        <a:xfrm>
          <a:off x="0" y="0"/>
          <a:ext cx="0" cy="0"/>
          <a:chOff x="0" y="0"/>
          <a:chExt cx="0" cy="0"/>
        </a:xfrm>
      </p:grpSpPr>
      <p:sp>
        <p:nvSpPr>
          <p:cNvPr id="2784" name="Shape 2784"/>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问题3——如何进行收集操作？</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85" name="Shape 2785"/>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86" name="Shape 2786"/>
          <p:cNvSpPr txBox="1"/>
          <p:nvPr/>
        </p:nvSpPr>
        <p:spPr>
          <a:xfrm>
            <a:off x="385762" y="1590675"/>
            <a:ext cx="81915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r>
              <a:rPr lang="en-US" sz="2400" b="1" i="0" u="none">
                <a:solidFill>
                  <a:schemeClr val="dk1"/>
                </a:solidFill>
                <a:latin typeface="Arial" panose="020B0604020202020204"/>
                <a:ea typeface="Arial" panose="020B0604020202020204"/>
                <a:cs typeface="Arial" panose="020B0604020202020204"/>
                <a:sym typeface="Arial" panose="020B0604020202020204"/>
              </a:rPr>
              <a:t>收集操作即是将所有队列收尾相接。</a:t>
            </a:r>
            <a:r>
              <a:rPr lang="en-US" sz="2400" b="0" i="0" u="none">
                <a:solidFill>
                  <a:schemeClr val="dk1"/>
                </a:solidFill>
                <a:latin typeface="Arial" panose="020B0604020202020204"/>
                <a:ea typeface="Arial" panose="020B0604020202020204"/>
                <a:cs typeface="Arial" panose="020B0604020202020204"/>
                <a:sym typeface="Arial" panose="020B0604020202020204"/>
              </a:rPr>
              <a:t> </a:t>
            </a:r>
            <a:endParaRPr lang="en-US" sz="2400" b="0"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787" name="Shape 2787"/>
          <p:cNvSpPr txBox="1"/>
          <p:nvPr/>
        </p:nvSpPr>
        <p:spPr>
          <a:xfrm>
            <a:off x="450850" y="2255475"/>
            <a:ext cx="8396400" cy="4929000"/>
          </a:xfrm>
          <a:prstGeom prst="rect">
            <a:avLst/>
          </a:prstGeom>
          <a:no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void Collect(Node r[ ], int n, QueueNode q[ ], int m, int first)</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//first为静态链表的头指针从下标0开始存放待排序序列</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k = 0;</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(q[k].front != -1)                      //找到第一个非空队列</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k++;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first = q[k].front;                              //first为第一个记录，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last = q[k].rear;                                //last为队列k的最后一个记录</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while (k &lt; m)                                    //处理每一个静态链队列</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k++;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if (q[k].front != -1)                      //第k个队列非空</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r[last].next = q[k].front;   //将队列k的队头和前一个队列的队尾相接</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last = q[k].rear;                      //last为当前收集后最后一个记录</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r[last].next = -1;                            //在静态链表中置尾标志</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85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91" name="Shape 2791"/>
        <p:cNvGrpSpPr/>
        <p:nvPr/>
      </p:nvGrpSpPr>
      <p:grpSpPr>
        <a:xfrm>
          <a:off x="0" y="0"/>
          <a:ext cx="0" cy="0"/>
          <a:chOff x="0" y="0"/>
          <a:chExt cx="0" cy="0"/>
        </a:xfrm>
      </p:grpSpPr>
      <p:sp>
        <p:nvSpPr>
          <p:cNvPr id="2792" name="Shape 2792"/>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桶式排序的复杂度分析</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93" name="Shape 2793"/>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94" name="Shape 2794"/>
          <p:cNvSpPr txBox="1"/>
          <p:nvPr/>
        </p:nvSpPr>
        <p:spPr>
          <a:xfrm>
            <a:off x="341312" y="1954212"/>
            <a:ext cx="8191500" cy="3159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桶式排序第一个循环初始化静态链表，时间性能为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)，第二个循环初始化静态链队列，时间性能为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)，进行分配需要遍历静态链表，时间性能为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)，进行收集需要遍历静态链表和静态链队列，时间性能为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 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)，因此，桶式排序的时间复杂度为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 </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桶式排序的空间复杂度是</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)，用来存储</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个静态队列表示的桶。</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由于桶采用队列作为存储结构，因此，桶式排序是稳定的。</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798" name="Shape 2798"/>
        <p:cNvGrpSpPr/>
        <p:nvPr/>
      </p:nvGrpSpPr>
      <p:grpSpPr>
        <a:xfrm>
          <a:off x="0" y="0"/>
          <a:ext cx="0" cy="0"/>
          <a:chOff x="0" y="0"/>
          <a:chExt cx="0" cy="0"/>
        </a:xfrm>
      </p:grpSpPr>
      <p:sp>
        <p:nvSpPr>
          <p:cNvPr id="2799" name="Shape 2799"/>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0" name="Shape 2800"/>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1" name="Shape 2801"/>
          <p:cNvSpPr txBox="1"/>
          <p:nvPr/>
        </p:nvSpPr>
        <p:spPr>
          <a:xfrm>
            <a:off x="341312" y="1954212"/>
            <a:ext cx="8191500" cy="3159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CC3300"/>
              </a:buClr>
              <a:buSzPts val="2400"/>
              <a:buFont typeface="Times New Roman" panose="02020603050405020304"/>
              <a:buNone/>
            </a:pPr>
            <a:r>
              <a:rPr lang="en-US" sz="2400" b="1" i="0" u="none">
                <a:solidFill>
                  <a:srgbClr val="CC3300"/>
                </a:solidFill>
                <a:latin typeface="Times New Roman" panose="02020603050405020304"/>
                <a:ea typeface="Times New Roman" panose="02020603050405020304"/>
                <a:cs typeface="Times New Roman" panose="02020603050405020304"/>
                <a:sym typeface="Times New Roman" panose="02020603050405020304"/>
              </a:rPr>
              <a:t>基数排序的基本思想</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是：将关键码看成由若干个子关键码复合而成，然后借助分配和收集操作。具体过程如下：</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（1）第1趟排序按最次位关键码</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4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将具有相同码值的记录分配到一个队列中，然后再依次收集起来，得到一个按关键码</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400" b="1" i="1"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有序的序列；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48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（2）一般情况下，第i趟排序按关键码</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4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将具有相同码值的记录分配到一个队列中，然后再依次收集起来，得到一个按关键码</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k</a:t>
            </a:r>
            <a:r>
              <a:rPr lang="en-US" sz="24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i</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有序的序列。</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05" name="Shape 2805"/>
        <p:cNvGrpSpPr/>
        <p:nvPr/>
      </p:nvGrpSpPr>
      <p:grpSpPr>
        <a:xfrm>
          <a:off x="0" y="0"/>
          <a:ext cx="0" cy="0"/>
          <a:chOff x="0" y="0"/>
          <a:chExt cx="0" cy="0"/>
        </a:xfrm>
      </p:grpSpPr>
      <p:sp>
        <p:nvSpPr>
          <p:cNvPr id="2806" name="Shape 2806"/>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7" name="Shape 2807"/>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808" name="Shape 2808"/>
          <p:cNvPicPr preferRelativeResize="0"/>
          <p:nvPr/>
        </p:nvPicPr>
        <p:blipFill rotWithShape="1">
          <a:blip r:embed="rId1"/>
          <a:srcRect/>
          <a:stretch>
            <a:fillRect/>
          </a:stretch>
        </p:blipFill>
        <p:spPr>
          <a:xfrm>
            <a:off x="246062" y="2079625"/>
            <a:ext cx="8783637" cy="3779837"/>
          </a:xfrm>
          <a:prstGeom prst="rect">
            <a:avLst/>
          </a:prstGeom>
          <a:noFill/>
          <a:ln w="28575" cap="flat" cmpd="sng">
            <a:solidFill>
              <a:schemeClr val="accent2"/>
            </a:solidFill>
            <a:prstDash val="solid"/>
            <a:miter lim="800000"/>
            <a:headEnd type="none" w="sm" len="sm"/>
            <a:tailEnd type="none" w="sm" len="sm"/>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12" name="Shape 2812"/>
        <p:cNvGrpSpPr/>
        <p:nvPr/>
      </p:nvGrpSpPr>
      <p:grpSpPr>
        <a:xfrm>
          <a:off x="0" y="0"/>
          <a:ext cx="0" cy="0"/>
          <a:chOff x="0" y="0"/>
          <a:chExt cx="0" cy="0"/>
        </a:xfrm>
      </p:grpSpPr>
      <p:sp>
        <p:nvSpPr>
          <p:cNvPr id="2813" name="Shape 2813"/>
          <p:cNvSpPr txBox="1"/>
          <p:nvPr/>
        </p:nvSpPr>
        <p:spPr>
          <a:xfrm>
            <a:off x="341312" y="1089025"/>
            <a:ext cx="6931025" cy="519112"/>
          </a:xfrm>
          <a:prstGeom prst="rect">
            <a:avLst/>
          </a:prstGeom>
          <a:noFill/>
          <a:ln>
            <a:noFill/>
          </a:ln>
          <a:effectLst>
            <a:outerShdw blurRad="63500" dist="28398" dir="1593903">
              <a:srgbClr val="80808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2800"/>
              <a:buFont typeface="Times New Roman" panose="02020603050405020304"/>
              <a:buNone/>
            </a:pPr>
            <a:r>
              <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28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4" name="Shape 2814"/>
          <p:cNvSpPr txBox="1"/>
          <p:nvPr/>
        </p:nvSpPr>
        <p:spPr>
          <a:xfrm>
            <a:off x="2468562" y="279400"/>
            <a:ext cx="3465512" cy="701675"/>
          </a:xfrm>
          <a:prstGeom prst="rect">
            <a:avLst/>
          </a:prstGeom>
          <a:noFill/>
          <a:ln>
            <a:noFill/>
          </a:ln>
          <a:effectLst>
            <a:outerShdw blurRad="63500" dist="28398" dir="1593903">
              <a:schemeClr val="lt2"/>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4000"/>
              <a:buFont typeface="Times New Roman" panose="02020603050405020304"/>
              <a:buNone/>
            </a:pPr>
            <a:r>
              <a:rPr lang="en-US" sz="4000" b="1"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8.6  分配排序</a:t>
            </a:r>
            <a:r>
              <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rPr>
              <a:t> </a:t>
            </a:r>
            <a:endParaRPr lang="en-US" sz="4000" b="0" i="0" u="none">
              <a:solidFill>
                <a:schemeClr val="accent2"/>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5" name="Shape 2815"/>
          <p:cNvSpPr txBox="1"/>
          <p:nvPr/>
        </p:nvSpPr>
        <p:spPr>
          <a:xfrm>
            <a:off x="522275" y="1724025"/>
            <a:ext cx="8010600" cy="3714600"/>
          </a:xfrm>
          <a:prstGeom prst="rect">
            <a:avLst/>
          </a:prstGeom>
          <a:noFill/>
          <a:ln>
            <a:noFill/>
          </a:ln>
        </p:spPr>
        <p:txBody>
          <a:bodyPr spcFirstLastPara="1" wrap="square" lIns="91425" tIns="45700" rIns="91425" bIns="45700" anchor="ctr" anchorCtr="0">
            <a:noAutofit/>
          </a:bodyPr>
          <a:lstStyle/>
          <a:p>
            <a:pPr marL="276225" marR="0" lvl="0" indent="-276225" algn="l" rtl="0">
              <a:lnSpc>
                <a:spcPct val="120000"/>
              </a:lnSpc>
              <a:spcBef>
                <a:spcPts val="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假设待排序记录的关键码由</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个子关键码复合而成，每个子关键码的取值范围为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个，则基数排序的时间复杂度为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))，其中每一趟分配的时间复杂度是</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)，每一趟收集的时间复杂度为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)，整个排序需要执行</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趟。</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76225" marR="0" lvl="0" indent="-276225" algn="l" rtl="0">
              <a:lnSpc>
                <a:spcPct val="120000"/>
              </a:lnSpc>
              <a:spcBef>
                <a:spcPts val="48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基数排序共需要</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个队列，因此空间复杂度为</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76225" marR="0" lvl="0" indent="-276225" algn="l" rtl="0">
              <a:lnSpc>
                <a:spcPct val="120000"/>
              </a:lnSpc>
              <a:spcBef>
                <a:spcPts val="480"/>
              </a:spcBef>
              <a:spcAft>
                <a:spcPts val="0"/>
              </a:spcAft>
              <a:buClr>
                <a:schemeClr val="dk1"/>
              </a:buClr>
              <a:buSzPts val="2400"/>
              <a:buFont typeface="Noto Sans Symbols"/>
              <a:buChar char="•"/>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由于桶采用队列作为存储结构，因此基数排序是稳定的。</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19" name="Shape 2819"/>
        <p:cNvGrpSpPr/>
        <p:nvPr/>
      </p:nvGrpSpPr>
      <p:grpSpPr>
        <a:xfrm>
          <a:off x="0" y="0"/>
          <a:ext cx="0" cy="0"/>
          <a:chOff x="0" y="0"/>
          <a:chExt cx="0" cy="0"/>
        </a:xfrm>
      </p:grpSpPr>
      <p:sp>
        <p:nvSpPr>
          <p:cNvPr id="2820" name="Shape 2820"/>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1" name="Shape 2821"/>
          <p:cNvSpPr txBox="1"/>
          <p:nvPr/>
        </p:nvSpPr>
        <p:spPr>
          <a:xfrm>
            <a:off x="758825" y="1524000"/>
            <a:ext cx="7772400" cy="410845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对排序算法应该从以下几个方面综合考虑：</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⑴时间复杂性；</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⑵空间复杂性；</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⑶稳定性；</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⑷算法简单性；</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⑸待排序记录个数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的大小；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⑹记录本身信息量的大小；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0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⑺关键码的分布情况。</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25" name="Shape 2825"/>
        <p:cNvGrpSpPr/>
        <p:nvPr/>
      </p:nvGrpSpPr>
      <p:grpSpPr>
        <a:xfrm>
          <a:off x="0" y="0"/>
          <a:ext cx="0" cy="0"/>
          <a:chOff x="0" y="0"/>
          <a:chExt cx="0" cy="0"/>
        </a:xfrm>
      </p:grpSpPr>
      <p:sp>
        <p:nvSpPr>
          <p:cNvPr id="2826" name="Shape 2826"/>
          <p:cNvSpPr txBox="1"/>
          <p:nvPr/>
        </p:nvSpPr>
        <p:spPr>
          <a:xfrm>
            <a:off x="296862" y="1042987"/>
            <a:ext cx="3781425"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时间复杂度比较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7" name="Shape 2827"/>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828" name="Shape 2828"/>
          <p:cNvGraphicFramePr/>
          <p:nvPr/>
        </p:nvGraphicFramePr>
        <p:xfrm>
          <a:off x="296862" y="1808162"/>
          <a:ext cx="8731225" cy="4306775"/>
        </p:xfrm>
        <a:graphic>
          <a:graphicData uri="http://schemas.openxmlformats.org/drawingml/2006/table">
            <a:tbl>
              <a:tblPr>
                <a:noFill/>
                <a:tableStyleId>{03A02845-0741-47A0-945E-AF802FB895F4}</a:tableStyleId>
              </a:tblPr>
              <a:tblGrid>
                <a:gridCol w="2559050"/>
                <a:gridCol w="2525700"/>
                <a:gridCol w="1846250"/>
                <a:gridCol w="1800225"/>
              </a:tblGrid>
              <a:tr h="455600">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排序方法</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平均情况</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最好情况</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最坏情况</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66197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1.3</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起泡排序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 </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快速排序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简单选择排序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堆排序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 </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归并排序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5560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32" name="Shape 2832"/>
        <p:cNvGrpSpPr/>
        <p:nvPr/>
      </p:nvGrpSpPr>
      <p:grpSpPr>
        <a:xfrm>
          <a:off x="0" y="0"/>
          <a:ext cx="0" cy="0"/>
          <a:chOff x="0" y="0"/>
          <a:chExt cx="0" cy="0"/>
        </a:xfrm>
      </p:grpSpPr>
      <p:sp>
        <p:nvSpPr>
          <p:cNvPr id="2833" name="Shape 2833"/>
          <p:cNvSpPr txBox="1"/>
          <p:nvPr/>
        </p:nvSpPr>
        <p:spPr>
          <a:xfrm>
            <a:off x="476250" y="1089025"/>
            <a:ext cx="35814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空间复杂度比较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34" name="Shape 2834"/>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835" name="Shape 2835"/>
          <p:cNvGraphicFramePr/>
          <p:nvPr/>
        </p:nvGraphicFramePr>
        <p:xfrm>
          <a:off x="1646237" y="1989137"/>
          <a:ext cx="5130775" cy="4410000"/>
        </p:xfrm>
        <a:graphic>
          <a:graphicData uri="http://schemas.openxmlformats.org/drawingml/2006/table">
            <a:tbl>
              <a:tblPr>
                <a:noFill/>
                <a:tableStyleId>{03A02845-0741-47A0-945E-AF802FB895F4}</a:tableStyleId>
              </a:tblPr>
              <a:tblGrid>
                <a:gridCol w="2506650"/>
                <a:gridCol w="2624125"/>
              </a:tblGrid>
              <a:tr h="490525">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排序方法</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辅助空间</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8895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9052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9052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起泡排序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8895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快速排序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400" b="1" i="0" u="none" strike="noStrike" cap="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9052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简单选择排序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9052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堆排序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88950">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归并排序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r h="490525">
                <a:tc>
                  <a:txBody>
                    <a:bodyPr>
                      <a:spAutoFit/>
                    </a:bodyPr>
                    <a:lstStyle/>
                    <a:p>
                      <a:pPr marL="0" marR="0" lvl="0" indent="0" algn="just" rtl="0">
                        <a:lnSpc>
                          <a:spcPct val="100000"/>
                        </a:lnSpc>
                        <a:spcBef>
                          <a:spcPts val="0"/>
                        </a:spcBef>
                        <a:spcAft>
                          <a:spcPts val="0"/>
                        </a:spcAft>
                        <a:buClr>
                          <a:schemeClr val="dk1"/>
                        </a:buClr>
                        <a:buSzPts val="2400"/>
                        <a:buFont typeface="Times New Roman" panose="02020603050405020304"/>
                        <a:buNone/>
                      </a:pPr>
                      <a:r>
                        <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sp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r>
                        <a:rPr lang="en-US" sz="2400" b="1"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t>
                      </a: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0" marR="0" marT="0" marB="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39" name="Shape 2839"/>
        <p:cNvGrpSpPr/>
        <p:nvPr/>
      </p:nvGrpSpPr>
      <p:grpSpPr>
        <a:xfrm>
          <a:off x="0" y="0"/>
          <a:ext cx="0" cy="0"/>
          <a:chOff x="0" y="0"/>
          <a:chExt cx="0" cy="0"/>
        </a:xfrm>
      </p:grpSpPr>
      <p:sp>
        <p:nvSpPr>
          <p:cNvPr id="2840" name="Shape 2840"/>
          <p:cNvSpPr txBox="1"/>
          <p:nvPr/>
        </p:nvSpPr>
        <p:spPr>
          <a:xfrm>
            <a:off x="315912" y="1089025"/>
            <a:ext cx="3352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稳定性比较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1" name="Shape 2841"/>
          <p:cNvSpPr txBox="1"/>
          <p:nvPr/>
        </p:nvSpPr>
        <p:spPr>
          <a:xfrm>
            <a:off x="431800" y="1989137"/>
            <a:ext cx="8280400" cy="2827337"/>
          </a:xfrm>
          <a:prstGeom prst="rect">
            <a:avLst/>
          </a:prstGeom>
          <a:noFill/>
          <a:ln>
            <a:noFill/>
          </a:ln>
        </p:spPr>
        <p:txBody>
          <a:bodyPr spcFirstLastPara="1" wrap="square" lIns="91425" tIns="45700" rIns="91425" bIns="45700" anchor="t" anchorCtr="0">
            <a:noAutofit/>
          </a:bodyPr>
          <a:lstStyle/>
          <a:p>
            <a:pPr marL="0" marR="0" lvl="0" indent="0" algn="just" rtl="0">
              <a:lnSpc>
                <a:spcPct val="12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所有排序方法可分为两类，</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（1）一类是稳定的，包括直接插入排序、起泡排序和归并排序；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（2）另一类是不稳定的，包括希尔排序、简单选择排序、快速排序和堆排序。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2" name="Shape 2842"/>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46" name="Shape 2846"/>
        <p:cNvGrpSpPr/>
        <p:nvPr/>
      </p:nvGrpSpPr>
      <p:grpSpPr>
        <a:xfrm>
          <a:off x="0" y="0"/>
          <a:ext cx="0" cy="0"/>
          <a:chOff x="0" y="0"/>
          <a:chExt cx="0" cy="0"/>
        </a:xfrm>
      </p:grpSpPr>
      <p:sp>
        <p:nvSpPr>
          <p:cNvPr id="2847" name="Shape 2847"/>
          <p:cNvSpPr txBox="1"/>
          <p:nvPr/>
        </p:nvSpPr>
        <p:spPr>
          <a:xfrm>
            <a:off x="431800" y="1042987"/>
            <a:ext cx="35052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算法简单性比较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8" name="Shape 2848"/>
          <p:cNvSpPr txBox="1"/>
          <p:nvPr/>
        </p:nvSpPr>
        <p:spPr>
          <a:xfrm>
            <a:off x="385762" y="1943100"/>
            <a:ext cx="8372475" cy="2827337"/>
          </a:xfrm>
          <a:prstGeom prst="rect">
            <a:avLst/>
          </a:prstGeom>
          <a:noFill/>
          <a:ln>
            <a:noFill/>
          </a:ln>
        </p:spPr>
        <p:txBody>
          <a:bodyPr spcFirstLastPara="1" wrap="square" lIns="91425" tIns="45700" rIns="91425" bIns="45700" anchor="t" anchorCtr="0">
            <a:noAutofit/>
          </a:bodyPr>
          <a:lstStyle/>
          <a:p>
            <a:pPr marL="0" marR="0" lvl="0" indent="0" algn="just" rtl="0">
              <a:lnSpc>
                <a:spcPct val="120000"/>
              </a:lnSpc>
              <a:spcBef>
                <a:spcPts val="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从算法简单性看，</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（1）一类是简单算法，包括直接插入排序、简单选择排序和起泡排序，</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20000"/>
              </a:lnSpc>
              <a:spcBef>
                <a:spcPts val="560"/>
              </a:spcBef>
              <a:spcAft>
                <a:spcPts val="0"/>
              </a:spcAft>
              <a:buClr>
                <a:schemeClr val="dk1"/>
              </a:buClr>
              <a:buSzPts val="2800"/>
              <a:buFont typeface="Times New Roman" panose="02020603050405020304"/>
              <a:buNone/>
            </a:pP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（2）另一类是改进后的算法，包括希尔排序、堆排序、快速排序和归并排序，这些算法都很复杂。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49" name="Shape 2849"/>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53" name="Shape 2853"/>
        <p:cNvGrpSpPr/>
        <p:nvPr/>
      </p:nvGrpSpPr>
      <p:grpSpPr>
        <a:xfrm>
          <a:off x="0" y="0"/>
          <a:ext cx="0" cy="0"/>
          <a:chOff x="0" y="0"/>
          <a:chExt cx="0" cy="0"/>
        </a:xfrm>
      </p:grpSpPr>
      <p:sp>
        <p:nvSpPr>
          <p:cNvPr id="2854" name="Shape 2854"/>
          <p:cNvSpPr txBox="1"/>
          <p:nvPr/>
        </p:nvSpPr>
        <p:spPr>
          <a:xfrm>
            <a:off x="431800" y="1133475"/>
            <a:ext cx="56388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待排序的记录个数比较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55" name="Shape 2855"/>
          <p:cNvSpPr txBox="1"/>
          <p:nvPr/>
        </p:nvSpPr>
        <p:spPr>
          <a:xfrm>
            <a:off x="385762" y="2303462"/>
            <a:ext cx="8235950" cy="2655887"/>
          </a:xfrm>
          <a:prstGeom prst="rect">
            <a:avLst/>
          </a:prstGeom>
          <a:noFill/>
          <a:ln>
            <a:noFill/>
          </a:ln>
        </p:spPr>
        <p:txBody>
          <a:bodyPr spcFirstLastPara="1" wrap="square" lIns="91425" tIns="45700" rIns="91425" bIns="45700" anchor="t" anchorCtr="0">
            <a:noAutofit/>
          </a:bodyPr>
          <a:lstStyle/>
          <a:p>
            <a:pPr marL="0" marR="0" lvl="0" indent="0" algn="just" rtl="0">
              <a:lnSpc>
                <a:spcPct val="12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从待排序的记录个数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的大小看，</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越小，采用简单排序方法越合适，</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越大，采用改进的排序方法越合适。因为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越小，</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Arial" panose="020B0604020202020204"/>
                <a:ea typeface="Arial" panose="020B0604020202020204"/>
                <a:cs typeface="Arial" panose="020B0604020202020204"/>
                <a:sym typeface="Arial" panose="020B0604020202020204"/>
              </a:rPr>
              <a:t>)同</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log</a:t>
            </a:r>
            <a:r>
              <a:rPr lang="en-US" sz="2800" b="1" i="0" u="none" baseline="-25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)的差距越小，并且输入和调试简单算法比输入和调试改进算法要少用许多时间。</a:t>
            </a:r>
            <a:r>
              <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endParaRPr lang="en-US" sz="2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56" name="Shape 2856"/>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860" name="Shape 2860"/>
        <p:cNvGrpSpPr/>
        <p:nvPr/>
      </p:nvGrpSpPr>
      <p:grpSpPr>
        <a:xfrm>
          <a:off x="0" y="0"/>
          <a:ext cx="0" cy="0"/>
          <a:chOff x="0" y="0"/>
          <a:chExt cx="0" cy="0"/>
        </a:xfrm>
      </p:grpSpPr>
      <p:sp>
        <p:nvSpPr>
          <p:cNvPr id="2861" name="Shape 2861"/>
          <p:cNvSpPr txBox="1"/>
          <p:nvPr/>
        </p:nvSpPr>
        <p:spPr>
          <a:xfrm>
            <a:off x="431800" y="1089025"/>
            <a:ext cx="5486400"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记录本身信息量比较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62" name="Shape 2862"/>
          <p:cNvSpPr txBox="1"/>
          <p:nvPr/>
        </p:nvSpPr>
        <p:spPr>
          <a:xfrm>
            <a:off x="249237" y="1898650"/>
            <a:ext cx="8847137" cy="9461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记录本身信息量越大，移动记录所花费的时间就越多，所以对记录的移动次数较多的算法不利。</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863" name="Shape 2863"/>
          <p:cNvGrpSpPr/>
          <p:nvPr/>
        </p:nvGrpSpPr>
        <p:grpSpPr>
          <a:xfrm>
            <a:off x="177800" y="3124200"/>
            <a:ext cx="8839201" cy="2447925"/>
            <a:chOff x="-4762" y="-4762"/>
            <a:chExt cx="4262437" cy="2447925"/>
          </a:xfrm>
        </p:grpSpPr>
        <p:grpSp>
          <p:nvGrpSpPr>
            <p:cNvPr id="2864" name="Shape 2864"/>
            <p:cNvGrpSpPr/>
            <p:nvPr/>
          </p:nvGrpSpPr>
          <p:grpSpPr>
            <a:xfrm>
              <a:off x="0" y="0"/>
              <a:ext cx="4252912" cy="2438400"/>
              <a:chOff x="0" y="0"/>
              <a:chExt cx="4252912" cy="2438400"/>
            </a:xfrm>
          </p:grpSpPr>
          <p:grpSp>
            <p:nvGrpSpPr>
              <p:cNvPr id="2865" name="Shape 2865"/>
              <p:cNvGrpSpPr/>
              <p:nvPr/>
            </p:nvGrpSpPr>
            <p:grpSpPr>
              <a:xfrm>
                <a:off x="0" y="0"/>
                <a:ext cx="1062037" cy="609600"/>
                <a:chOff x="0" y="0"/>
                <a:chExt cx="1062037" cy="609600"/>
              </a:xfrm>
            </p:grpSpPr>
            <p:sp>
              <p:nvSpPr>
                <p:cNvPr id="2866" name="Shape 2866"/>
                <p:cNvSpPr txBox="1"/>
                <p:nvPr/>
              </p:nvSpPr>
              <p:spPr>
                <a:xfrm>
                  <a:off x="68262" y="0"/>
                  <a:ext cx="925512"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排序方法</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67" name="Shape 2867"/>
                <p:cNvSpPr/>
                <p:nvPr/>
              </p:nvSpPr>
              <p:spPr>
                <a:xfrm>
                  <a:off x="0" y="0"/>
                  <a:ext cx="1062037"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68" name="Shape 2868"/>
              <p:cNvGrpSpPr/>
              <p:nvPr/>
            </p:nvGrpSpPr>
            <p:grpSpPr>
              <a:xfrm>
                <a:off x="1062037" y="0"/>
                <a:ext cx="1063625" cy="609600"/>
                <a:chOff x="1062037" y="0"/>
                <a:chExt cx="1063625" cy="609600"/>
              </a:xfrm>
            </p:grpSpPr>
            <p:sp>
              <p:nvSpPr>
                <p:cNvPr id="2869" name="Shape 2869"/>
                <p:cNvSpPr txBox="1"/>
                <p:nvPr/>
              </p:nvSpPr>
              <p:spPr>
                <a:xfrm>
                  <a:off x="1130300" y="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最好情况</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70" name="Shape 2870"/>
                <p:cNvSpPr/>
                <p:nvPr/>
              </p:nvSpPr>
              <p:spPr>
                <a:xfrm>
                  <a:off x="1062037" y="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71" name="Shape 2871"/>
              <p:cNvGrpSpPr/>
              <p:nvPr/>
            </p:nvGrpSpPr>
            <p:grpSpPr>
              <a:xfrm>
                <a:off x="2125662" y="0"/>
                <a:ext cx="1063625" cy="609600"/>
                <a:chOff x="2125662" y="0"/>
                <a:chExt cx="1063625" cy="609600"/>
              </a:xfrm>
            </p:grpSpPr>
            <p:sp>
              <p:nvSpPr>
                <p:cNvPr id="2872" name="Shape 2872"/>
                <p:cNvSpPr txBox="1"/>
                <p:nvPr/>
              </p:nvSpPr>
              <p:spPr>
                <a:xfrm>
                  <a:off x="2193925" y="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最坏情况</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73" name="Shape 2873"/>
                <p:cNvSpPr/>
                <p:nvPr/>
              </p:nvSpPr>
              <p:spPr>
                <a:xfrm>
                  <a:off x="2125662" y="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74" name="Shape 2874"/>
              <p:cNvGrpSpPr/>
              <p:nvPr/>
            </p:nvGrpSpPr>
            <p:grpSpPr>
              <a:xfrm>
                <a:off x="3189287" y="0"/>
                <a:ext cx="1063625" cy="609600"/>
                <a:chOff x="3189287" y="0"/>
                <a:chExt cx="1063625" cy="609600"/>
              </a:xfrm>
            </p:grpSpPr>
            <p:sp>
              <p:nvSpPr>
                <p:cNvPr id="2875" name="Shape 2875"/>
                <p:cNvSpPr txBox="1"/>
                <p:nvPr/>
              </p:nvSpPr>
              <p:spPr>
                <a:xfrm>
                  <a:off x="3257550" y="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平均情况</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76" name="Shape 2876"/>
                <p:cNvSpPr/>
                <p:nvPr/>
              </p:nvSpPr>
              <p:spPr>
                <a:xfrm>
                  <a:off x="3189287" y="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77" name="Shape 2877"/>
              <p:cNvGrpSpPr/>
              <p:nvPr/>
            </p:nvGrpSpPr>
            <p:grpSpPr>
              <a:xfrm>
                <a:off x="0" y="609600"/>
                <a:ext cx="1062037" cy="609600"/>
                <a:chOff x="0" y="609600"/>
                <a:chExt cx="1062037" cy="609600"/>
              </a:xfrm>
            </p:grpSpPr>
            <p:sp>
              <p:nvSpPr>
                <p:cNvPr id="2878" name="Shape 2878"/>
                <p:cNvSpPr txBox="1"/>
                <p:nvPr/>
              </p:nvSpPr>
              <p:spPr>
                <a:xfrm>
                  <a:off x="68262" y="609600"/>
                  <a:ext cx="925512"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79" name="Shape 2879"/>
                <p:cNvSpPr/>
                <p:nvPr/>
              </p:nvSpPr>
              <p:spPr>
                <a:xfrm>
                  <a:off x="0" y="609600"/>
                  <a:ext cx="1062037"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80" name="Shape 2880"/>
              <p:cNvGrpSpPr/>
              <p:nvPr/>
            </p:nvGrpSpPr>
            <p:grpSpPr>
              <a:xfrm>
                <a:off x="1062037" y="609600"/>
                <a:ext cx="1063625" cy="609600"/>
                <a:chOff x="1062037" y="609600"/>
                <a:chExt cx="1063625" cy="609600"/>
              </a:xfrm>
            </p:grpSpPr>
            <p:sp>
              <p:nvSpPr>
                <p:cNvPr id="2881" name="Shape 2881"/>
                <p:cNvSpPr txBox="1"/>
                <p:nvPr/>
              </p:nvSpPr>
              <p:spPr>
                <a:xfrm>
                  <a:off x="1130300" y="6096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82" name="Shape 2882"/>
                <p:cNvSpPr/>
                <p:nvPr/>
              </p:nvSpPr>
              <p:spPr>
                <a:xfrm>
                  <a:off x="1062037" y="6096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83" name="Shape 2883"/>
              <p:cNvGrpSpPr/>
              <p:nvPr/>
            </p:nvGrpSpPr>
            <p:grpSpPr>
              <a:xfrm>
                <a:off x="2125662" y="609600"/>
                <a:ext cx="1063625" cy="609600"/>
                <a:chOff x="2125662" y="609600"/>
                <a:chExt cx="1063625" cy="609600"/>
              </a:xfrm>
            </p:grpSpPr>
            <p:sp>
              <p:nvSpPr>
                <p:cNvPr id="2884" name="Shape 2884"/>
                <p:cNvSpPr txBox="1"/>
                <p:nvPr/>
              </p:nvSpPr>
              <p:spPr>
                <a:xfrm>
                  <a:off x="2193925" y="6096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85" name="Shape 2885"/>
                <p:cNvSpPr/>
                <p:nvPr/>
              </p:nvSpPr>
              <p:spPr>
                <a:xfrm>
                  <a:off x="2125662" y="6096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86" name="Shape 2886"/>
              <p:cNvGrpSpPr/>
              <p:nvPr/>
            </p:nvGrpSpPr>
            <p:grpSpPr>
              <a:xfrm>
                <a:off x="3189287" y="609600"/>
                <a:ext cx="1063625" cy="609600"/>
                <a:chOff x="3189287" y="609600"/>
                <a:chExt cx="1063625" cy="609600"/>
              </a:xfrm>
            </p:grpSpPr>
            <p:sp>
              <p:nvSpPr>
                <p:cNvPr id="2887" name="Shape 2887"/>
                <p:cNvSpPr txBox="1"/>
                <p:nvPr/>
              </p:nvSpPr>
              <p:spPr>
                <a:xfrm>
                  <a:off x="3257550" y="6096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88" name="Shape 2888"/>
                <p:cNvSpPr/>
                <p:nvPr/>
              </p:nvSpPr>
              <p:spPr>
                <a:xfrm>
                  <a:off x="3189287" y="6096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89" name="Shape 2889"/>
              <p:cNvGrpSpPr/>
              <p:nvPr/>
            </p:nvGrpSpPr>
            <p:grpSpPr>
              <a:xfrm>
                <a:off x="0" y="1219200"/>
                <a:ext cx="1062037" cy="609600"/>
                <a:chOff x="0" y="1219200"/>
                <a:chExt cx="1062037" cy="609600"/>
              </a:xfrm>
            </p:grpSpPr>
            <p:sp>
              <p:nvSpPr>
                <p:cNvPr id="2890" name="Shape 2890"/>
                <p:cNvSpPr txBox="1"/>
                <p:nvPr/>
              </p:nvSpPr>
              <p:spPr>
                <a:xfrm>
                  <a:off x="68262" y="1219200"/>
                  <a:ext cx="925512"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起泡排序</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91" name="Shape 2891"/>
                <p:cNvSpPr/>
                <p:nvPr/>
              </p:nvSpPr>
              <p:spPr>
                <a:xfrm>
                  <a:off x="0" y="1219200"/>
                  <a:ext cx="1062037"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92" name="Shape 2892"/>
              <p:cNvGrpSpPr/>
              <p:nvPr/>
            </p:nvGrpSpPr>
            <p:grpSpPr>
              <a:xfrm>
                <a:off x="1062037" y="1219200"/>
                <a:ext cx="1063625" cy="609600"/>
                <a:chOff x="1062037" y="1219200"/>
                <a:chExt cx="1063625" cy="609600"/>
              </a:xfrm>
            </p:grpSpPr>
            <p:sp>
              <p:nvSpPr>
                <p:cNvPr id="2893" name="Shape 2893"/>
                <p:cNvSpPr txBox="1"/>
                <p:nvPr/>
              </p:nvSpPr>
              <p:spPr>
                <a:xfrm>
                  <a:off x="1130300" y="12192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94" name="Shape 2894"/>
                <p:cNvSpPr/>
                <p:nvPr/>
              </p:nvSpPr>
              <p:spPr>
                <a:xfrm>
                  <a:off x="1062037" y="12192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95" name="Shape 2895"/>
              <p:cNvGrpSpPr/>
              <p:nvPr/>
            </p:nvGrpSpPr>
            <p:grpSpPr>
              <a:xfrm>
                <a:off x="2125662" y="1219200"/>
                <a:ext cx="1063625" cy="609600"/>
                <a:chOff x="2125662" y="1219200"/>
                <a:chExt cx="1063625" cy="609600"/>
              </a:xfrm>
            </p:grpSpPr>
            <p:sp>
              <p:nvSpPr>
                <p:cNvPr id="2896" name="Shape 2896"/>
                <p:cNvSpPr txBox="1"/>
                <p:nvPr/>
              </p:nvSpPr>
              <p:spPr>
                <a:xfrm>
                  <a:off x="2193925" y="12192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97" name="Shape 2897"/>
                <p:cNvSpPr/>
                <p:nvPr/>
              </p:nvSpPr>
              <p:spPr>
                <a:xfrm>
                  <a:off x="2125662" y="12192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898" name="Shape 2898"/>
              <p:cNvGrpSpPr/>
              <p:nvPr/>
            </p:nvGrpSpPr>
            <p:grpSpPr>
              <a:xfrm>
                <a:off x="3189287" y="1219200"/>
                <a:ext cx="1063625" cy="609600"/>
                <a:chOff x="3189287" y="1219200"/>
                <a:chExt cx="1063625" cy="609600"/>
              </a:xfrm>
            </p:grpSpPr>
            <p:sp>
              <p:nvSpPr>
                <p:cNvPr id="2899" name="Shape 2899"/>
                <p:cNvSpPr txBox="1"/>
                <p:nvPr/>
              </p:nvSpPr>
              <p:spPr>
                <a:xfrm>
                  <a:off x="3257550" y="12192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00" name="Shape 2900"/>
                <p:cNvSpPr/>
                <p:nvPr/>
              </p:nvSpPr>
              <p:spPr>
                <a:xfrm>
                  <a:off x="3189287" y="12192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01" name="Shape 2901"/>
              <p:cNvGrpSpPr/>
              <p:nvPr/>
            </p:nvGrpSpPr>
            <p:grpSpPr>
              <a:xfrm>
                <a:off x="0" y="1828800"/>
                <a:ext cx="1062037" cy="609600"/>
                <a:chOff x="0" y="1828800"/>
                <a:chExt cx="1062037" cy="609600"/>
              </a:xfrm>
            </p:grpSpPr>
            <p:sp>
              <p:nvSpPr>
                <p:cNvPr id="2902" name="Shape 2902"/>
                <p:cNvSpPr txBox="1"/>
                <p:nvPr/>
              </p:nvSpPr>
              <p:spPr>
                <a:xfrm>
                  <a:off x="68262" y="1828800"/>
                  <a:ext cx="925512"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简单选择排序</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03" name="Shape 2903"/>
                <p:cNvSpPr/>
                <p:nvPr/>
              </p:nvSpPr>
              <p:spPr>
                <a:xfrm>
                  <a:off x="0" y="1828800"/>
                  <a:ext cx="1062037"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04" name="Shape 2904"/>
              <p:cNvGrpSpPr/>
              <p:nvPr/>
            </p:nvGrpSpPr>
            <p:grpSpPr>
              <a:xfrm>
                <a:off x="1062037" y="1828800"/>
                <a:ext cx="1063625" cy="609600"/>
                <a:chOff x="1062037" y="1828800"/>
                <a:chExt cx="1063625" cy="609600"/>
              </a:xfrm>
            </p:grpSpPr>
            <p:sp>
              <p:nvSpPr>
                <p:cNvPr id="2905" name="Shape 2905"/>
                <p:cNvSpPr txBox="1"/>
                <p:nvPr/>
              </p:nvSpPr>
              <p:spPr>
                <a:xfrm>
                  <a:off x="1130300" y="18288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0</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06" name="Shape 2906"/>
                <p:cNvSpPr/>
                <p:nvPr/>
              </p:nvSpPr>
              <p:spPr>
                <a:xfrm>
                  <a:off x="1062037" y="18288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07" name="Shape 2907"/>
              <p:cNvGrpSpPr/>
              <p:nvPr/>
            </p:nvGrpSpPr>
            <p:grpSpPr>
              <a:xfrm>
                <a:off x="2125662" y="1828800"/>
                <a:ext cx="1063625" cy="609600"/>
                <a:chOff x="2125662" y="1828800"/>
                <a:chExt cx="1063625" cy="609600"/>
              </a:xfrm>
            </p:grpSpPr>
            <p:sp>
              <p:nvSpPr>
                <p:cNvPr id="2908" name="Shape 2908"/>
                <p:cNvSpPr txBox="1"/>
                <p:nvPr/>
              </p:nvSpPr>
              <p:spPr>
                <a:xfrm>
                  <a:off x="2193925" y="18288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09" name="Shape 2909"/>
                <p:cNvSpPr/>
                <p:nvPr/>
              </p:nvSpPr>
              <p:spPr>
                <a:xfrm>
                  <a:off x="2125662" y="18288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10" name="Shape 2910"/>
              <p:cNvGrpSpPr/>
              <p:nvPr/>
            </p:nvGrpSpPr>
            <p:grpSpPr>
              <a:xfrm>
                <a:off x="3189287" y="1828800"/>
                <a:ext cx="1063625" cy="609600"/>
                <a:chOff x="3189287" y="1828800"/>
                <a:chExt cx="1063625" cy="609600"/>
              </a:xfrm>
            </p:grpSpPr>
            <p:sp>
              <p:nvSpPr>
                <p:cNvPr id="2911" name="Shape 2911"/>
                <p:cNvSpPr txBox="1"/>
                <p:nvPr/>
              </p:nvSpPr>
              <p:spPr>
                <a:xfrm>
                  <a:off x="3257550" y="1828800"/>
                  <a:ext cx="927100" cy="609600"/>
                </a:xfrm>
                <a:prstGeom prst="rect">
                  <a:avLst/>
                </a:prstGeom>
                <a:noFill/>
                <a:ln>
                  <a:noFill/>
                </a:ln>
              </p:spPr>
              <p:txBody>
                <a:bodyPr spcFirstLastPara="1" wrap="square" lIns="0" tIns="262800" rIns="0" bIns="45700" anchor="ctr" anchorCtr="0">
                  <a:noAutofit/>
                </a:bodyPr>
                <a:lstStyle/>
                <a:p>
                  <a:pPr marL="0" marR="0" lvl="0" indent="0" algn="ctr" rtl="0">
                    <a:lnSpc>
                      <a:spcPct val="100000"/>
                    </a:lnSpc>
                    <a:spcBef>
                      <a:spcPts val="0"/>
                    </a:spcBef>
                    <a:spcAft>
                      <a:spcPts val="0"/>
                    </a:spcAft>
                    <a:buClr>
                      <a:schemeClr val="dk1"/>
                    </a:buClr>
                    <a:buSzPts val="2400"/>
                    <a:buFont typeface="Times New Roman" panose="02020603050405020304"/>
                    <a:buNone/>
                  </a:pP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r>
                    <a:rPr lang="en-US" sz="24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lang="en-US"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None/>
                  </a:pPr>
                  <a:endParaRPr sz="24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12" name="Shape 2912"/>
                <p:cNvSpPr/>
                <p:nvPr/>
              </p:nvSpPr>
              <p:spPr>
                <a:xfrm>
                  <a:off x="3189287" y="1828800"/>
                  <a:ext cx="1063625" cy="609600"/>
                </a:xfrm>
                <a:prstGeom prst="rect">
                  <a:avLst/>
                </a:prstGeom>
                <a:noFill/>
                <a:ln w="9525"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sp>
          <p:nvSpPr>
            <p:cNvPr id="2913" name="Shape 2913"/>
            <p:cNvSpPr/>
            <p:nvPr/>
          </p:nvSpPr>
          <p:spPr>
            <a:xfrm>
              <a:off x="-4762" y="-4762"/>
              <a:ext cx="4262437" cy="2447925"/>
            </a:xfrm>
            <a:prstGeom prst="rect">
              <a:avLst/>
            </a:prstGeom>
            <a:noFill/>
            <a:ln w="11100" cap="flat" cmpd="sng">
              <a:solidFill>
                <a:srgbClr val="A0A0A0"/>
              </a:solidFill>
              <a:prstDash val="solid"/>
              <a:miter lim="800000"/>
              <a:headEnd type="none" w="sm" len="sm"/>
              <a:tailEnd type="none" w="sm" len="sm"/>
            </a:ln>
          </p:spPr>
          <p:txBody>
            <a:bodyPr spcFirstLastPara="1" wrap="square" lIns="0" tIns="262800" rIns="0"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914" name="Shape 2914"/>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918" name="Shape 2918"/>
        <p:cNvGrpSpPr/>
        <p:nvPr/>
      </p:nvGrpSpPr>
      <p:grpSpPr>
        <a:xfrm>
          <a:off x="0" y="0"/>
          <a:ext cx="0" cy="0"/>
          <a:chOff x="0" y="0"/>
          <a:chExt cx="0" cy="0"/>
        </a:xfrm>
      </p:grpSpPr>
      <p:sp>
        <p:nvSpPr>
          <p:cNvPr id="2919" name="Shape 2919"/>
          <p:cNvSpPr txBox="1"/>
          <p:nvPr/>
        </p:nvSpPr>
        <p:spPr>
          <a:xfrm>
            <a:off x="2951162" y="323850"/>
            <a:ext cx="29670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本章总结</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920" name="Shape 2920"/>
          <p:cNvGrpSpPr/>
          <p:nvPr/>
        </p:nvGrpSpPr>
        <p:grpSpPr>
          <a:xfrm>
            <a:off x="250825" y="1223962"/>
            <a:ext cx="8551862" cy="5543550"/>
            <a:chOff x="476250" y="1223962"/>
            <a:chExt cx="8326437" cy="5543550"/>
          </a:xfrm>
        </p:grpSpPr>
        <p:sp>
          <p:nvSpPr>
            <p:cNvPr id="2921" name="Shape 2921"/>
            <p:cNvSpPr/>
            <p:nvPr/>
          </p:nvSpPr>
          <p:spPr>
            <a:xfrm>
              <a:off x="3729037" y="1223962"/>
              <a:ext cx="1770062"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45700" anchor="t" anchorCtr="0">
              <a:noAutofit/>
            </a:bodyPr>
            <a:lstStyle/>
            <a:p>
              <a:pPr marL="0" marR="0" lvl="0" indent="0" algn="ctr" rtl="0">
                <a:lnSpc>
                  <a:spcPct val="100000"/>
                </a:lnSpc>
                <a:spcBef>
                  <a:spcPts val="0"/>
                </a:spcBef>
                <a:spcAft>
                  <a:spcPts val="0"/>
                </a:spcAft>
                <a:buClr>
                  <a:schemeClr val="dk1"/>
                </a:buClr>
                <a:buSzPts val="2000"/>
                <a:buFont typeface="Times New Roman" panose="02020603050405020304"/>
                <a:buNone/>
              </a:pPr>
              <a:r>
                <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排序技术</a:t>
              </a:r>
              <a:endParaRPr lang="en-US" sz="20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2" name="Shape 2922"/>
            <p:cNvSpPr/>
            <p:nvPr/>
          </p:nvSpPr>
          <p:spPr>
            <a:xfrm>
              <a:off x="476250" y="2273300"/>
              <a:ext cx="1549400"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插入排序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3" name="Shape 2923"/>
            <p:cNvSpPr/>
            <p:nvPr/>
          </p:nvSpPr>
          <p:spPr>
            <a:xfrm>
              <a:off x="2165350" y="2273300"/>
              <a:ext cx="1549400"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交换排序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4" name="Shape 2924"/>
            <p:cNvSpPr/>
            <p:nvPr/>
          </p:nvSpPr>
          <p:spPr>
            <a:xfrm>
              <a:off x="3849687" y="2273300"/>
              <a:ext cx="1549400"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选择排序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5" name="Shape 2925"/>
            <p:cNvSpPr/>
            <p:nvPr/>
          </p:nvSpPr>
          <p:spPr>
            <a:xfrm>
              <a:off x="5564187" y="2273300"/>
              <a:ext cx="1547812"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归并排序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6" name="Shape 2926"/>
            <p:cNvSpPr txBox="1"/>
            <p:nvPr/>
          </p:nvSpPr>
          <p:spPr>
            <a:xfrm>
              <a:off x="508000" y="3275012"/>
              <a:ext cx="354012"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直接插入排序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7" name="Shape 2927"/>
            <p:cNvSpPr txBox="1"/>
            <p:nvPr/>
          </p:nvSpPr>
          <p:spPr>
            <a:xfrm>
              <a:off x="1557337" y="3270250"/>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希尔排序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8" name="Shape 2928"/>
            <p:cNvSpPr txBox="1"/>
            <p:nvPr/>
          </p:nvSpPr>
          <p:spPr>
            <a:xfrm>
              <a:off x="2222500" y="3270250"/>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起泡排序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29" name="Shape 2929"/>
            <p:cNvSpPr txBox="1"/>
            <p:nvPr/>
          </p:nvSpPr>
          <p:spPr>
            <a:xfrm>
              <a:off x="3278187" y="3270250"/>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快速排序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0" name="Shape 2930"/>
            <p:cNvSpPr txBox="1"/>
            <p:nvPr/>
          </p:nvSpPr>
          <p:spPr>
            <a:xfrm>
              <a:off x="3924300" y="3275012"/>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简单选择排序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1" name="Shape 2931"/>
            <p:cNvSpPr txBox="1"/>
            <p:nvPr/>
          </p:nvSpPr>
          <p:spPr>
            <a:xfrm>
              <a:off x="4979987" y="3275012"/>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堆排序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2" name="Shape 2932"/>
            <p:cNvSpPr txBox="1"/>
            <p:nvPr/>
          </p:nvSpPr>
          <p:spPr>
            <a:xfrm>
              <a:off x="5651500" y="3268662"/>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二路归并排序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3" name="Shape 2933"/>
            <p:cNvSpPr txBox="1"/>
            <p:nvPr/>
          </p:nvSpPr>
          <p:spPr>
            <a:xfrm>
              <a:off x="3659187" y="5657850"/>
              <a:ext cx="1841500" cy="1109662"/>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just"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⑴ 排序过程</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⑵ 算法设计过程</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⑶ 时间复杂度</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⑷ 空间复杂度</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4" name="Shape 2934"/>
            <p:cNvSpPr/>
            <p:nvPr/>
          </p:nvSpPr>
          <p:spPr>
            <a:xfrm>
              <a:off x="877887" y="3836987"/>
              <a:ext cx="655637" cy="457200"/>
            </a:xfrm>
            <a:prstGeom prst="rightArrow">
              <a:avLst>
                <a:gd name="adj1" fmla="val 50000"/>
                <a:gd name="adj2" fmla="val 3853"/>
              </a:avLst>
            </a:prstGeom>
            <a:solidFill>
              <a:srgbClr val="FFFFFF"/>
            </a:solidFill>
            <a:ln w="28575" cap="flat" cmpd="sng">
              <a:solidFill>
                <a:srgbClr val="000000"/>
              </a:solidFill>
              <a:prstDash val="solid"/>
              <a:miter lim="800000"/>
              <a:headEnd type="none" w="sm" len="sm"/>
              <a:tailEnd type="none" w="sm" len="sm"/>
            </a:ln>
          </p:spPr>
          <p:txBody>
            <a:bodyPr spcFirstLastPara="1" wrap="square" lIns="36000" tIns="0" rIns="0" bIns="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改进</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5" name="Shape 2935"/>
            <p:cNvSpPr/>
            <p:nvPr/>
          </p:nvSpPr>
          <p:spPr>
            <a:xfrm>
              <a:off x="701675" y="4883150"/>
              <a:ext cx="3030537" cy="762000"/>
            </a:xfrm>
            <a:custGeom>
              <a:avLst/>
              <a:gdLst/>
              <a:ahLst/>
              <a:cxnLst/>
              <a:pathLst>
                <a:path w="2259" h="712" extrusionOk="0">
                  <a:moveTo>
                    <a:pt x="0" y="0"/>
                  </a:moveTo>
                  <a:lnTo>
                    <a:pt x="2259" y="712"/>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6" name="Shape 2936"/>
            <p:cNvSpPr/>
            <p:nvPr/>
          </p:nvSpPr>
          <p:spPr>
            <a:xfrm>
              <a:off x="2390775" y="4873625"/>
              <a:ext cx="1781175" cy="779462"/>
            </a:xfrm>
            <a:custGeom>
              <a:avLst/>
              <a:gdLst/>
              <a:ahLst/>
              <a:cxnLst/>
              <a:pathLst>
                <a:path w="1434" h="697" extrusionOk="0">
                  <a:moveTo>
                    <a:pt x="0" y="0"/>
                  </a:moveTo>
                  <a:lnTo>
                    <a:pt x="1434"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7" name="Shape 2937"/>
            <p:cNvSpPr/>
            <p:nvPr/>
          </p:nvSpPr>
          <p:spPr>
            <a:xfrm>
              <a:off x="3438525" y="4883150"/>
              <a:ext cx="881062" cy="765175"/>
            </a:xfrm>
            <a:custGeom>
              <a:avLst/>
              <a:gdLst/>
              <a:ahLst/>
              <a:cxnLst/>
              <a:pathLst>
                <a:path w="820" h="697" extrusionOk="0">
                  <a:moveTo>
                    <a:pt x="0" y="0"/>
                  </a:moveTo>
                  <a:lnTo>
                    <a:pt x="820"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38" name="Shape 2938"/>
            <p:cNvSpPr/>
            <p:nvPr/>
          </p:nvSpPr>
          <p:spPr>
            <a:xfrm>
              <a:off x="4090987" y="4876800"/>
              <a:ext cx="388937" cy="771525"/>
            </a:xfrm>
            <a:custGeom>
              <a:avLst/>
              <a:gdLst/>
              <a:ahLst/>
              <a:cxnLst/>
              <a:pathLst>
                <a:path w="2" h="680" extrusionOk="0">
                  <a:moveTo>
                    <a:pt x="0" y="0"/>
                  </a:moveTo>
                  <a:lnTo>
                    <a:pt x="2" y="680"/>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939" name="Shape 2939"/>
            <p:cNvCxnSpPr/>
            <p:nvPr/>
          </p:nvCxnSpPr>
          <p:spPr>
            <a:xfrm flipH="1">
              <a:off x="1746250" y="1625600"/>
              <a:ext cx="2190750" cy="708025"/>
            </a:xfrm>
            <a:prstGeom prst="straightConnector1">
              <a:avLst/>
            </a:prstGeom>
            <a:noFill/>
            <a:ln w="28575" cap="flat" cmpd="sng">
              <a:solidFill>
                <a:srgbClr val="000000"/>
              </a:solidFill>
              <a:prstDash val="solid"/>
              <a:miter lim="800000"/>
              <a:headEnd type="none" w="med" len="med"/>
              <a:tailEnd type="triangle" w="med" len="med"/>
            </a:ln>
          </p:spPr>
        </p:cxnSp>
        <p:sp>
          <p:nvSpPr>
            <p:cNvPr id="2940" name="Shape 2940"/>
            <p:cNvSpPr/>
            <p:nvPr/>
          </p:nvSpPr>
          <p:spPr>
            <a:xfrm>
              <a:off x="3425825" y="1681162"/>
              <a:ext cx="733425" cy="642937"/>
            </a:xfrm>
            <a:custGeom>
              <a:avLst/>
              <a:gdLst/>
              <a:ahLst/>
              <a:cxnLst/>
              <a:pathLst>
                <a:path w="540" h="480" extrusionOk="0">
                  <a:moveTo>
                    <a:pt x="540" y="0"/>
                  </a:moveTo>
                  <a:lnTo>
                    <a:pt x="0" y="48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1" name="Shape 2941"/>
            <p:cNvSpPr/>
            <p:nvPr/>
          </p:nvSpPr>
          <p:spPr>
            <a:xfrm>
              <a:off x="7253287" y="2273300"/>
              <a:ext cx="1549400" cy="487362"/>
            </a:xfrm>
            <a:prstGeom prst="ellipse">
              <a:avLst/>
            </a:prstGeom>
            <a:solidFill>
              <a:srgbClr val="FFFFFF"/>
            </a:solidFill>
            <a:ln w="28575" cap="flat" cmpd="sng">
              <a:solidFill>
                <a:srgbClr val="000000"/>
              </a:solidFill>
              <a:prstDash val="solid"/>
              <a:miter lim="800000"/>
              <a:headEnd type="none" w="sm" len="sm"/>
              <a:tailEnd type="none" w="sm" len="sm"/>
            </a:ln>
            <a:effectLst>
              <a:outerShdw blurRad="63500" dist="38100" dir="5400000">
                <a:srgbClr val="808080"/>
              </a:outerShdw>
            </a:effectLst>
          </p:spPr>
          <p:txBody>
            <a:bodyPr spcFirstLastPara="1" wrap="square" lIns="54000" tIns="10800" rIns="54000" bIns="1080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分配排序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2" name="Shape 2942"/>
            <p:cNvSpPr txBox="1"/>
            <p:nvPr/>
          </p:nvSpPr>
          <p:spPr>
            <a:xfrm>
              <a:off x="7353300" y="3270250"/>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桶式排序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3" name="Shape 2943"/>
            <p:cNvSpPr txBox="1"/>
            <p:nvPr/>
          </p:nvSpPr>
          <p:spPr>
            <a:xfrm>
              <a:off x="8396287" y="3270250"/>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基数排序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4" name="Shape 2944"/>
            <p:cNvSpPr/>
            <p:nvPr/>
          </p:nvSpPr>
          <p:spPr>
            <a:xfrm>
              <a:off x="4633912" y="1728787"/>
              <a:ext cx="1587" cy="539750"/>
            </a:xfrm>
            <a:custGeom>
              <a:avLst/>
              <a:gdLst/>
              <a:ahLst/>
              <a:cxnLst/>
              <a:pathLst>
                <a:path w="540" h="465" extrusionOk="0">
                  <a:moveTo>
                    <a:pt x="0" y="0"/>
                  </a:moveTo>
                  <a:lnTo>
                    <a:pt x="540" y="465"/>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5" name="Shape 2945"/>
            <p:cNvSpPr/>
            <p:nvPr/>
          </p:nvSpPr>
          <p:spPr>
            <a:xfrm flipH="1">
              <a:off x="5089525" y="1681162"/>
              <a:ext cx="733425" cy="642937"/>
            </a:xfrm>
            <a:custGeom>
              <a:avLst/>
              <a:gdLst/>
              <a:ahLst/>
              <a:cxnLst/>
              <a:pathLst>
                <a:path w="540" h="480" extrusionOk="0">
                  <a:moveTo>
                    <a:pt x="540" y="0"/>
                  </a:moveTo>
                  <a:lnTo>
                    <a:pt x="0" y="48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946" name="Shape 2946"/>
            <p:cNvCxnSpPr/>
            <p:nvPr/>
          </p:nvCxnSpPr>
          <p:spPr>
            <a:xfrm>
              <a:off x="5335587" y="1614487"/>
              <a:ext cx="2192337" cy="708025"/>
            </a:xfrm>
            <a:prstGeom prst="straightConnector1">
              <a:avLst/>
            </a:prstGeom>
            <a:noFill/>
            <a:ln w="28575" cap="flat" cmpd="sng">
              <a:solidFill>
                <a:srgbClr val="000000"/>
              </a:solidFill>
              <a:prstDash val="solid"/>
              <a:miter lim="800000"/>
              <a:headEnd type="none" w="med" len="med"/>
              <a:tailEnd type="triangle" w="med" len="med"/>
            </a:ln>
          </p:spPr>
        </p:cxnSp>
        <p:grpSp>
          <p:nvGrpSpPr>
            <p:cNvPr id="2947" name="Shape 2947"/>
            <p:cNvGrpSpPr/>
            <p:nvPr/>
          </p:nvGrpSpPr>
          <p:grpSpPr>
            <a:xfrm>
              <a:off x="693737" y="2754312"/>
              <a:ext cx="1123950" cy="523875"/>
              <a:chOff x="3602037" y="11285537"/>
              <a:chExt cx="1436687" cy="952500"/>
            </a:xfrm>
          </p:grpSpPr>
          <p:sp>
            <p:nvSpPr>
              <p:cNvPr id="2948" name="Shape 2948"/>
              <p:cNvSpPr/>
              <p:nvPr/>
            </p:nvSpPr>
            <p:spPr>
              <a:xfrm>
                <a:off x="3602037" y="11285537"/>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49" name="Shape 2949"/>
              <p:cNvSpPr/>
              <p:nvPr/>
            </p:nvSpPr>
            <p:spPr>
              <a:xfrm flipH="1">
                <a:off x="4570412" y="11299825"/>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950" name="Shape 2950"/>
            <p:cNvSpPr/>
            <p:nvPr/>
          </p:nvSpPr>
          <p:spPr>
            <a:xfrm>
              <a:off x="2593975" y="3836987"/>
              <a:ext cx="654050" cy="455612"/>
            </a:xfrm>
            <a:prstGeom prst="rightArrow">
              <a:avLst>
                <a:gd name="adj1" fmla="val 50000"/>
                <a:gd name="adj2" fmla="val 3853"/>
              </a:avLst>
            </a:prstGeom>
            <a:solidFill>
              <a:srgbClr val="FFFFFF"/>
            </a:solidFill>
            <a:ln w="28575" cap="flat" cmpd="sng">
              <a:solidFill>
                <a:srgbClr val="000000"/>
              </a:solidFill>
              <a:prstDash val="solid"/>
              <a:miter lim="800000"/>
              <a:headEnd type="none" w="sm" len="sm"/>
              <a:tailEnd type="none" w="sm" len="sm"/>
            </a:ln>
          </p:spPr>
          <p:txBody>
            <a:bodyPr spcFirstLastPara="1" wrap="square" lIns="36000" tIns="0" rIns="0" bIns="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改进</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51" name="Shape 2951"/>
            <p:cNvSpPr/>
            <p:nvPr/>
          </p:nvSpPr>
          <p:spPr>
            <a:xfrm>
              <a:off x="7723187" y="3836987"/>
              <a:ext cx="654050" cy="455612"/>
            </a:xfrm>
            <a:prstGeom prst="rightArrow">
              <a:avLst>
                <a:gd name="adj1" fmla="val 50000"/>
                <a:gd name="adj2" fmla="val 3853"/>
              </a:avLst>
            </a:prstGeom>
            <a:solidFill>
              <a:srgbClr val="FFFFFF"/>
            </a:solidFill>
            <a:ln w="28575" cap="flat" cmpd="sng">
              <a:solidFill>
                <a:srgbClr val="000000"/>
              </a:solidFill>
              <a:prstDash val="solid"/>
              <a:miter lim="800000"/>
              <a:headEnd type="none" w="sm" len="sm"/>
              <a:tailEnd type="none" w="sm" len="sm"/>
            </a:ln>
          </p:spPr>
          <p:txBody>
            <a:bodyPr spcFirstLastPara="1" wrap="square" lIns="36000" tIns="0" rIns="0" bIns="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改进</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52" name="Shape 2952"/>
            <p:cNvSpPr/>
            <p:nvPr/>
          </p:nvSpPr>
          <p:spPr>
            <a:xfrm>
              <a:off x="4295775" y="3836987"/>
              <a:ext cx="654050" cy="457200"/>
            </a:xfrm>
            <a:prstGeom prst="rightArrow">
              <a:avLst>
                <a:gd name="adj1" fmla="val 50000"/>
                <a:gd name="adj2" fmla="val 3853"/>
              </a:avLst>
            </a:prstGeom>
            <a:solidFill>
              <a:srgbClr val="FFFFFF"/>
            </a:solidFill>
            <a:ln w="28575" cap="flat" cmpd="sng">
              <a:solidFill>
                <a:srgbClr val="000000"/>
              </a:solidFill>
              <a:prstDash val="solid"/>
              <a:miter lim="800000"/>
              <a:headEnd type="none" w="sm" len="sm"/>
              <a:tailEnd type="none" w="sm" len="sm"/>
            </a:ln>
          </p:spPr>
          <p:txBody>
            <a:bodyPr spcFirstLastPara="1" wrap="square" lIns="36000" tIns="0" rIns="0" bIns="0" anchor="t" anchorCtr="0">
              <a:noAutofit/>
            </a:bodyPr>
            <a:lstStyle/>
            <a:p>
              <a:pPr marL="0" marR="0" lvl="0" indent="0" algn="ctr" rtl="0">
                <a:lnSpc>
                  <a:spcPct val="100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改进</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953" name="Shape 2953"/>
            <p:cNvGrpSpPr/>
            <p:nvPr/>
          </p:nvGrpSpPr>
          <p:grpSpPr>
            <a:xfrm>
              <a:off x="2370137" y="2757487"/>
              <a:ext cx="1123950" cy="523875"/>
              <a:chOff x="3602037" y="11285537"/>
              <a:chExt cx="1436687" cy="952500"/>
            </a:xfrm>
          </p:grpSpPr>
          <p:sp>
            <p:nvSpPr>
              <p:cNvPr id="2954" name="Shape 2954"/>
              <p:cNvSpPr/>
              <p:nvPr/>
            </p:nvSpPr>
            <p:spPr>
              <a:xfrm>
                <a:off x="3602037" y="11285537"/>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55" name="Shape 2955"/>
              <p:cNvSpPr/>
              <p:nvPr/>
            </p:nvSpPr>
            <p:spPr>
              <a:xfrm flipH="1">
                <a:off x="4570412" y="11299825"/>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56" name="Shape 2956"/>
            <p:cNvGrpSpPr/>
            <p:nvPr/>
          </p:nvGrpSpPr>
          <p:grpSpPr>
            <a:xfrm>
              <a:off x="4071937" y="2767012"/>
              <a:ext cx="1123950" cy="523875"/>
              <a:chOff x="3602037" y="11285537"/>
              <a:chExt cx="1436687" cy="952500"/>
            </a:xfrm>
          </p:grpSpPr>
          <p:sp>
            <p:nvSpPr>
              <p:cNvPr id="2957" name="Shape 2957"/>
              <p:cNvSpPr/>
              <p:nvPr/>
            </p:nvSpPr>
            <p:spPr>
              <a:xfrm>
                <a:off x="3602037" y="11285537"/>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58" name="Shape 2958"/>
              <p:cNvSpPr/>
              <p:nvPr/>
            </p:nvSpPr>
            <p:spPr>
              <a:xfrm flipH="1">
                <a:off x="4570412" y="11299825"/>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59" name="Shape 2959"/>
            <p:cNvGrpSpPr/>
            <p:nvPr/>
          </p:nvGrpSpPr>
          <p:grpSpPr>
            <a:xfrm>
              <a:off x="5835650" y="2767012"/>
              <a:ext cx="1123950" cy="525462"/>
              <a:chOff x="3602037" y="11285537"/>
              <a:chExt cx="1436687" cy="952500"/>
            </a:xfrm>
          </p:grpSpPr>
          <p:sp>
            <p:nvSpPr>
              <p:cNvPr id="2960" name="Shape 2960"/>
              <p:cNvSpPr/>
              <p:nvPr/>
            </p:nvSpPr>
            <p:spPr>
              <a:xfrm>
                <a:off x="3602037" y="11285537"/>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1" name="Shape 2961"/>
              <p:cNvSpPr/>
              <p:nvPr/>
            </p:nvSpPr>
            <p:spPr>
              <a:xfrm flipH="1">
                <a:off x="4570412" y="11299825"/>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grpSp>
          <p:nvGrpSpPr>
            <p:cNvPr id="2962" name="Shape 2962"/>
            <p:cNvGrpSpPr/>
            <p:nvPr/>
          </p:nvGrpSpPr>
          <p:grpSpPr>
            <a:xfrm>
              <a:off x="7524750" y="2757487"/>
              <a:ext cx="1123950" cy="525462"/>
              <a:chOff x="3602037" y="11285537"/>
              <a:chExt cx="1436687" cy="952500"/>
            </a:xfrm>
          </p:grpSpPr>
          <p:sp>
            <p:nvSpPr>
              <p:cNvPr id="2963" name="Shape 2963"/>
              <p:cNvSpPr/>
              <p:nvPr/>
            </p:nvSpPr>
            <p:spPr>
              <a:xfrm>
                <a:off x="3602037" y="11285537"/>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4" name="Shape 2964"/>
              <p:cNvSpPr/>
              <p:nvPr/>
            </p:nvSpPr>
            <p:spPr>
              <a:xfrm flipH="1">
                <a:off x="4570412" y="11299825"/>
                <a:ext cx="468312" cy="938212"/>
              </a:xfrm>
              <a:custGeom>
                <a:avLst/>
                <a:gdLst/>
                <a:ahLst/>
                <a:cxnLst/>
                <a:pathLst>
                  <a:path w="285" h="630" extrusionOk="0">
                    <a:moveTo>
                      <a:pt x="285" y="0"/>
                    </a:moveTo>
                    <a:lnTo>
                      <a:pt x="0" y="630"/>
                    </a:lnTo>
                  </a:path>
                </a:pathLst>
              </a:custGeom>
              <a:noFill/>
              <a:ln w="28575" cap="flat" cmpd="sng">
                <a:solidFill>
                  <a:srgbClr val="000000"/>
                </a:solidFill>
                <a:prstDash val="solid"/>
                <a:miter lim="800000"/>
                <a:headEnd type="none" w="sm" len="sm"/>
                <a:tailEnd type="triangl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
          <p:nvSpPr>
            <p:cNvPr id="2965" name="Shape 2965"/>
            <p:cNvSpPr txBox="1"/>
            <p:nvPr/>
          </p:nvSpPr>
          <p:spPr>
            <a:xfrm>
              <a:off x="6719887" y="3278187"/>
              <a:ext cx="352425" cy="1608137"/>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18000" tIns="10800" rIns="18000" bIns="10800" anchor="t" anchorCtr="0">
              <a:noAutofit/>
            </a:bodyPr>
            <a:lstStyle/>
            <a:p>
              <a:pPr marL="0" marR="0" lvl="0" indent="0" algn="ctr" rtl="0">
                <a:lnSpc>
                  <a:spcPct val="96000"/>
                </a:lnSpc>
                <a:spcBef>
                  <a:spcPts val="0"/>
                </a:spcBef>
                <a:spcAft>
                  <a:spcPts val="0"/>
                </a:spcAft>
                <a:buClr>
                  <a:schemeClr val="dk1"/>
                </a:buClr>
                <a:buSzPts val="1800"/>
                <a:buFont typeface="Times New Roman" panose="02020603050405020304"/>
                <a:buNone/>
              </a:pPr>
              <a:r>
                <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rPr>
                <a:t>多路归并排序</a:t>
              </a:r>
              <a:endParaRPr lang="en-US" sz="1800" b="1"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6" name="Shape 2966"/>
            <p:cNvSpPr/>
            <p:nvPr/>
          </p:nvSpPr>
          <p:spPr>
            <a:xfrm>
              <a:off x="1744662" y="4873625"/>
              <a:ext cx="2216150" cy="779462"/>
            </a:xfrm>
            <a:custGeom>
              <a:avLst/>
              <a:gdLst/>
              <a:ahLst/>
              <a:cxnLst/>
              <a:pathLst>
                <a:path w="1434" h="697" extrusionOk="0">
                  <a:moveTo>
                    <a:pt x="0" y="0"/>
                  </a:moveTo>
                  <a:lnTo>
                    <a:pt x="1434"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7" name="Shape 2967"/>
            <p:cNvSpPr/>
            <p:nvPr/>
          </p:nvSpPr>
          <p:spPr>
            <a:xfrm flipH="1">
              <a:off x="4737100" y="4883150"/>
              <a:ext cx="387350" cy="773112"/>
            </a:xfrm>
            <a:custGeom>
              <a:avLst/>
              <a:gdLst/>
              <a:ahLst/>
              <a:cxnLst/>
              <a:pathLst>
                <a:path w="2" h="680" extrusionOk="0">
                  <a:moveTo>
                    <a:pt x="0" y="0"/>
                  </a:moveTo>
                  <a:lnTo>
                    <a:pt x="2" y="680"/>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8" name="Shape 2968"/>
            <p:cNvSpPr/>
            <p:nvPr/>
          </p:nvSpPr>
          <p:spPr>
            <a:xfrm flipH="1">
              <a:off x="4903787" y="4886325"/>
              <a:ext cx="882650" cy="766762"/>
            </a:xfrm>
            <a:custGeom>
              <a:avLst/>
              <a:gdLst/>
              <a:ahLst/>
              <a:cxnLst/>
              <a:pathLst>
                <a:path w="820" h="697" extrusionOk="0">
                  <a:moveTo>
                    <a:pt x="0" y="0"/>
                  </a:moveTo>
                  <a:lnTo>
                    <a:pt x="820"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69" name="Shape 2969"/>
            <p:cNvSpPr/>
            <p:nvPr/>
          </p:nvSpPr>
          <p:spPr>
            <a:xfrm flipH="1">
              <a:off x="5060950" y="4872037"/>
              <a:ext cx="1781175" cy="777875"/>
            </a:xfrm>
            <a:custGeom>
              <a:avLst/>
              <a:gdLst/>
              <a:ahLst/>
              <a:cxnLst/>
              <a:pathLst>
                <a:path w="1434" h="697" extrusionOk="0">
                  <a:moveTo>
                    <a:pt x="0" y="0"/>
                  </a:moveTo>
                  <a:lnTo>
                    <a:pt x="1434"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70" name="Shape 2970"/>
            <p:cNvSpPr/>
            <p:nvPr/>
          </p:nvSpPr>
          <p:spPr>
            <a:xfrm flipH="1">
              <a:off x="5272087" y="4873625"/>
              <a:ext cx="2214562" cy="779462"/>
            </a:xfrm>
            <a:custGeom>
              <a:avLst/>
              <a:gdLst/>
              <a:ahLst/>
              <a:cxnLst/>
              <a:pathLst>
                <a:path w="1434" h="697" extrusionOk="0">
                  <a:moveTo>
                    <a:pt x="0" y="0"/>
                  </a:moveTo>
                  <a:lnTo>
                    <a:pt x="1434" y="697"/>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71" name="Shape 2971"/>
            <p:cNvSpPr/>
            <p:nvPr/>
          </p:nvSpPr>
          <p:spPr>
            <a:xfrm flipH="1">
              <a:off x="5445125" y="4883150"/>
              <a:ext cx="3030537" cy="762000"/>
            </a:xfrm>
            <a:custGeom>
              <a:avLst/>
              <a:gdLst/>
              <a:ahLst/>
              <a:cxnLst/>
              <a:pathLst>
                <a:path w="2259" h="712" extrusionOk="0">
                  <a:moveTo>
                    <a:pt x="0" y="0"/>
                  </a:moveTo>
                  <a:lnTo>
                    <a:pt x="2259" y="712"/>
                  </a:lnTo>
                </a:path>
              </a:pathLst>
            </a:custGeom>
            <a:noFill/>
            <a:ln w="28575" cap="flat" cmpd="sng">
              <a:solidFill>
                <a:srgbClr val="000000"/>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gradFill>
          <a:gsLst>
            <a:gs pos="0">
              <a:schemeClr val="hlink"/>
            </a:gs>
            <a:gs pos="100000">
              <a:srgbClr val="FFFFFF"/>
            </a:gs>
          </a:gsLst>
          <a:lin ang="5400000" scaled="0"/>
        </a:gradFill>
        <a:effectLst/>
      </p:bgPr>
    </p:bg>
    <p:spTree>
      <p:nvGrpSpPr>
        <p:cNvPr id="2975" name="Shape 2975"/>
        <p:cNvGrpSpPr/>
        <p:nvPr/>
      </p:nvGrpSpPr>
      <p:grpSpPr>
        <a:xfrm>
          <a:off x="0" y="0"/>
          <a:ext cx="0" cy="0"/>
          <a:chOff x="0" y="0"/>
          <a:chExt cx="0" cy="0"/>
        </a:xfrm>
      </p:grpSpPr>
      <p:sp>
        <p:nvSpPr>
          <p:cNvPr id="2976" name="Shape 2976"/>
          <p:cNvSpPr txBox="1"/>
          <p:nvPr/>
        </p:nvSpPr>
        <p:spPr>
          <a:xfrm>
            <a:off x="442912" y="1050925"/>
            <a:ext cx="4264025" cy="5794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200"/>
              <a:buFont typeface="Times New Roman" panose="02020603050405020304"/>
              <a:buNone/>
            </a:pPr>
            <a:r>
              <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关键码的分布情况比较</a:t>
            </a:r>
            <a:endParaRPr lang="en-US" sz="32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77" name="Shape 2977"/>
          <p:cNvSpPr txBox="1"/>
          <p:nvPr/>
        </p:nvSpPr>
        <p:spPr>
          <a:xfrm>
            <a:off x="385762" y="2168525"/>
            <a:ext cx="8281987" cy="2655887"/>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chemeClr val="dk1"/>
              </a:buClr>
              <a:buSzPts val="2800"/>
              <a:buFont typeface="Arial" panose="020B0604020202020204"/>
              <a:buNone/>
            </a:pPr>
            <a:r>
              <a:rPr lang="en-US" sz="2800" b="1" i="0" u="none">
                <a:solidFill>
                  <a:schemeClr val="dk1"/>
                </a:solidFill>
                <a:latin typeface="Arial" panose="020B0604020202020204"/>
                <a:ea typeface="Arial" panose="020B0604020202020204"/>
                <a:cs typeface="Arial" panose="020B0604020202020204"/>
                <a:sym typeface="Arial" panose="020B0604020202020204"/>
              </a:rPr>
              <a:t>当待排序记录按关键码有序时，插入排序和起泡排序能达到</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a:solidFill>
                  <a:schemeClr val="dk1"/>
                </a:solidFill>
                <a:latin typeface="Arial" panose="020B0604020202020204"/>
                <a:ea typeface="Arial" panose="020B0604020202020204"/>
                <a:cs typeface="Arial" panose="020B0604020202020204"/>
                <a:sym typeface="Arial" panose="020B0604020202020204"/>
              </a:rPr>
              <a:t>)的时间复杂度；对于快速排序而言，这是最坏的情况，此时的时间性能蜕化为</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O</a:t>
            </a:r>
            <a:r>
              <a:rPr lang="en-US" sz="2800" b="1" i="0" u="none">
                <a:solidFill>
                  <a:schemeClr val="dk1"/>
                </a:solidFill>
                <a:latin typeface="Arial" panose="020B0604020202020204"/>
                <a:ea typeface="Arial" panose="020B0604020202020204"/>
                <a:cs typeface="Arial" panose="020B0604020202020204"/>
                <a:sym typeface="Arial" panose="020B0604020202020204"/>
              </a:rPr>
              <a:t>(</a:t>
            </a:r>
            <a:r>
              <a:rPr lang="en-US" sz="2800" b="1" i="1" u="none">
                <a:solidFill>
                  <a:schemeClr val="dk1"/>
                </a:solidFill>
                <a:latin typeface="Times New Roman" panose="02020603050405020304"/>
                <a:ea typeface="Times New Roman" panose="02020603050405020304"/>
                <a:cs typeface="Times New Roman" panose="02020603050405020304"/>
                <a:sym typeface="Times New Roman" panose="02020603050405020304"/>
              </a:rPr>
              <a:t>n</a:t>
            </a:r>
            <a:r>
              <a:rPr lang="en-US" sz="2800" b="1" i="0" u="none" baseline="30000">
                <a:solidFill>
                  <a:schemeClr val="dk1"/>
                </a:solidFill>
                <a:latin typeface="Times New Roman" panose="02020603050405020304"/>
                <a:ea typeface="Times New Roman" panose="02020603050405020304"/>
                <a:cs typeface="Times New Roman" panose="02020603050405020304"/>
                <a:sym typeface="Times New Roman" panose="02020603050405020304"/>
              </a:rPr>
              <a:t>2</a:t>
            </a:r>
            <a:r>
              <a:rPr lang="en-US" sz="2800" b="1" i="0" u="none">
                <a:solidFill>
                  <a:schemeClr val="dk1"/>
                </a:solidFill>
                <a:latin typeface="Arial" panose="020B0604020202020204"/>
                <a:ea typeface="Arial" panose="020B0604020202020204"/>
                <a:cs typeface="Arial" panose="020B0604020202020204"/>
                <a:sym typeface="Arial" panose="020B0604020202020204"/>
              </a:rPr>
              <a:t>)；选择排序、堆排序和归并排序的时间性能不随记录序列中关键字的分布而改变。</a:t>
            </a:r>
            <a:endParaRPr lang="en-US" sz="2800" b="1" i="0" u="none">
              <a:solidFill>
                <a:schemeClr val="dk1"/>
              </a:solidFill>
              <a:latin typeface="Arial" panose="020B0604020202020204"/>
              <a:ea typeface="Arial" panose="020B0604020202020204"/>
              <a:cs typeface="Arial" panose="020B0604020202020204"/>
              <a:sym typeface="Arial" panose="020B0604020202020204"/>
            </a:endParaRPr>
          </a:p>
        </p:txBody>
      </p:sp>
      <p:sp>
        <p:nvSpPr>
          <p:cNvPr id="2978" name="Shape 2978"/>
          <p:cNvSpPr txBox="1"/>
          <p:nvPr/>
        </p:nvSpPr>
        <p:spPr>
          <a:xfrm>
            <a:off x="1784350" y="323850"/>
            <a:ext cx="5265737" cy="641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1CEF"/>
              </a:buClr>
              <a:buSzPts val="3600"/>
              <a:buFont typeface="Times New Roman" panose="02020603050405020304"/>
              <a:buNone/>
            </a:pPr>
            <a:r>
              <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rPr>
              <a:t>8.7  各种排序方法的比较</a:t>
            </a:r>
            <a:endParaRPr lang="en-US" sz="3600" b="1" i="0" u="none">
              <a:solidFill>
                <a:srgbClr val="171CEF"/>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清华版教材展示">
  <a:themeElements>
    <a:clrScheme name="清华版教材展示">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20706</Words>
  <Application>WPS 演示</Application>
  <PresentationFormat/>
  <Paragraphs>3675</Paragraphs>
  <Slides>128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128</vt:i4>
      </vt:variant>
    </vt:vector>
  </HeadingPairs>
  <TitlesOfParts>
    <vt:vector size="138" baseType="lpstr">
      <vt:lpstr>Arial</vt:lpstr>
      <vt:lpstr>宋体</vt:lpstr>
      <vt:lpstr>Wingdings</vt:lpstr>
      <vt:lpstr>Arial</vt:lpstr>
      <vt:lpstr>Times New Roman</vt:lpstr>
      <vt:lpstr>Noto Sans Symbols</vt:lpstr>
      <vt:lpstr>Segoe Print</vt:lpstr>
      <vt:lpstr>微软雅黑</vt:lpstr>
      <vt:lpstr>Arial Unicode MS</vt:lpstr>
      <vt:lpstr>清华版教材展示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直接插入排序过程示例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希尔插入排序过程示例 </vt:lpstr>
      <vt:lpstr>PowerPoint 演示文稿</vt:lpstr>
      <vt:lpstr>PowerPoint 演示文稿</vt:lpstr>
      <vt:lpstr>希尔插入排序过程示例 </vt:lpstr>
      <vt:lpstr>希尔插入排序过程示例 </vt:lpstr>
      <vt:lpstr>希尔插入排序过程示例 </vt:lpstr>
      <vt:lpstr>PowerPoint 演示文稿</vt:lpstr>
      <vt:lpstr>PowerPoint 演示文稿</vt:lpstr>
      <vt:lpstr>PowerPoint 演示文稿</vt:lpstr>
      <vt:lpstr>PowerPoint 演示文稿</vt:lpstr>
      <vt:lpstr>起泡排序过程示例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SYSU</cp:lastModifiedBy>
  <cp:revision>2</cp:revision>
  <dcterms:created xsi:type="dcterms:W3CDTF">2025-12-15T08:26:19Z</dcterms:created>
  <dcterms:modified xsi:type="dcterms:W3CDTF">2025-12-15T08:27:10Z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D6EE694A115749B092439D49E5469706_12</vt:lpwstr>
  </property>
  <property fmtid="{D5CDD505-2E9C-101B-9397-08002B2CF9AE}" pid="3" name="KSOProductBuildVer">
    <vt:lpwstr>2052-12.1.0.20784</vt:lpwstr>
  </property>
</Properties>
</file>