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21.xml.rels" ContentType="application/vnd.openxmlformats-package.relationships+xml"/>
  <Override PartName="/ppt/slides/_rels/slide5.xml.rels" ContentType="application/vnd.openxmlformats-package.relationships+xml"/>
  <Override PartName="/ppt/slides/_rels/slide39.xml.rels" ContentType="application/vnd.openxmlformats-package.relationships+xml"/>
  <Override PartName="/ppt/slides/_rels/slide6.xml.rels" ContentType="application/vnd.openxmlformats-package.relationships+xml"/>
  <Override PartName="/ppt/slides/_rels/slide50.xml.rels" ContentType="application/vnd.openxmlformats-package.relationships+xml"/>
  <Override PartName="/ppt/slides/_rels/slide23.xml.rels" ContentType="application/vnd.openxmlformats-package.relationships+xml"/>
  <Override PartName="/ppt/slides/_rels/slide7.xml.rels" ContentType="application/vnd.openxmlformats-package.relationships+xml"/>
  <Override PartName="/ppt/slides/_rels/slide5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52.xml.rels" ContentType="application/vnd.openxmlformats-package.relationships+xml"/>
  <Override PartName="/ppt/slides/_rels/slide25.xml.rels" ContentType="application/vnd.openxmlformats-package.relationships+xml"/>
  <Override PartName="/ppt/slides/_rels/slide9.xml.rels" ContentType="application/vnd.openxmlformats-package.relationships+xml"/>
  <Override PartName="/ppt/slides/_rels/slide53.xml.rels" ContentType="application/vnd.openxmlformats-package.relationships+xml"/>
  <Override PartName="/ppt/slides/_rels/slide26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47.xml.rels" ContentType="application/vnd.openxmlformats-package.relationships+xml"/>
  <Override PartName="/ppt/slides/_rels/slide48.xml.rels" ContentType="application/vnd.openxmlformats-package.relationships+xml"/>
  <Override PartName="/ppt/slides/_rels/slide49.xml.rels" ContentType="application/vnd.openxmlformats-package.relationships+xml"/>
  <Override PartName="/ppt/slides/_rels/slide54.xml.rels" ContentType="application/vnd.openxmlformats-package.relationships+xml"/>
  <Override PartName="/ppt/slides/_rels/slide55.xml.rels" ContentType="application/vnd.openxmlformats-package.relationships+xml"/>
  <Override PartName="/ppt/slides/_rels/slide56.xml.rels" ContentType="application/vnd.openxmlformats-package.relationships+xml"/>
  <Override PartName="/ppt/slides/_rels/slide57.xml.rels" ContentType="application/vnd.openxmlformats-package.relationships+xml"/>
  <Override PartName="/ppt/slides/_rels/slide58.xml.rels" ContentType="application/vnd.openxmlformats-package.relationships+xml"/>
  <Override PartName="/ppt/slides/_rels/slide59.xml.rels" ContentType="application/vnd.openxmlformats-package.relationships+xml"/>
  <Override PartName="/ppt/slides/_rels/slide60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4.xml.rels" ContentType="application/vnd.openxmlformats-package.relationships+xml"/>
  <Override PartName="/ppt/slides/_rels/slide65.xml.rels" ContentType="application/vnd.openxmlformats-package.relationships+xml"/>
  <Override PartName="/ppt/slides/_rels/slide66.xml.rels" ContentType="application/vnd.openxmlformats-package.relationships+xml"/>
  <Override PartName="/ppt/slides/_rels/slide67.xml.rels" ContentType="application/vnd.openxmlformats-package.relationships+xml"/>
  <Override PartName="/ppt/slides/_rels/slide68.xml.rels" ContentType="application/vnd.openxmlformats-package.relationships+xml"/>
  <Override PartName="/ppt/slides/_rels/slide69.xml.rels" ContentType="application/vnd.openxmlformats-package.relationships+xml"/>
  <Override PartName="/ppt/slides/_rels/slide70.xml.rels" ContentType="application/vnd.openxmlformats-package.relationships+xml"/>
  <Override PartName="/ppt/slides/_rels/slide71.xml.rels" ContentType="application/vnd.openxmlformats-package.relationships+xml"/>
  <Override PartName="/ppt/slides/_rels/slide72.xml.rels" ContentType="application/vnd.openxmlformats-package.relationships+xml"/>
  <Override PartName="/ppt/slides/_rels/slide73.xml.rels" ContentType="application/vnd.openxmlformats-package.relationships+xml"/>
  <Override PartName="/ppt/slides/_rels/slide74.xml.rels" ContentType="application/vnd.openxmlformats-package.relationships+xml"/>
  <Override PartName="/ppt/slides/_rels/slide75.xml.rels" ContentType="application/vnd.openxmlformats-package.relationships+xml"/>
  <Override PartName="/ppt/slides/_rels/slide76.xml.rels" ContentType="application/vnd.openxmlformats-package.relationships+xml"/>
  <Override PartName="/ppt/slides/_rels/slide77.xml.rels" ContentType="application/vnd.openxmlformats-package.relationships+xml"/>
  <Override PartName="/ppt/slides/_rels/slide78.xml.rels" ContentType="application/vnd.openxmlformats-package.relationships+xml"/>
  <Override PartName="/ppt/slides/_rels/slide79.xml.rels" ContentType="application/vnd.openxmlformats-package.relationships+xml"/>
  <Override PartName="/ppt/slides/_rels/slide80.xml.rels" ContentType="application/vnd.openxmlformats-package.relationships+xml"/>
  <Override PartName="/ppt/slides/_rels/slide81.xml.rels" ContentType="application/vnd.openxmlformats-package.relationships+xml"/>
  <Override PartName="/ppt/slides/_rels/slide82.xml.rels" ContentType="application/vnd.openxmlformats-package.relationships+xml"/>
  <Override PartName="/ppt/slides/_rels/slide83.xml.rels" ContentType="application/vnd.openxmlformats-package.relationships+xml"/>
  <Override PartName="/ppt/slides/_rels/slide84.xml.rels" ContentType="application/vnd.openxmlformats-package.relationships+xml"/>
  <Override PartName="/ppt/slides/_rels/slide85.xml.rels" ContentType="application/vnd.openxmlformats-package.relationships+xml"/>
  <Override PartName="/ppt/slides/_rels/slide86.xml.rels" ContentType="application/vnd.openxmlformats-package.relationships+xml"/>
  <Override PartName="/ppt/slides/_rels/slide87.xml.rels" ContentType="application/vnd.openxmlformats-package.relationships+xml"/>
  <Override PartName="/ppt/slides/_rels/slide88.xml.rels" ContentType="application/vnd.openxmlformats-package.relationships+xml"/>
  <Override PartName="/ppt/slides/_rels/slide89.xml.rels" ContentType="application/vnd.openxmlformats-package.relationships+xml"/>
  <Override PartName="/ppt/slides/_rels/slide90.xml.rels" ContentType="application/vnd.openxmlformats-package.relationships+xml"/>
  <Override PartName="/ppt/slides/_rels/slide91.xml.rels" ContentType="application/vnd.openxmlformats-package.relationships+xml"/>
  <Override PartName="/ppt/slides/_rels/slide92.xml.rels" ContentType="application/vnd.openxmlformats-package.relationships+xml"/>
  <Override PartName="/ppt/slides/_rels/slide93.xml.rels" ContentType="application/vnd.openxmlformats-package.relationships+xml"/>
  <Override PartName="/ppt/slides/_rels/slide94.xml.rels" ContentType="application/vnd.openxmlformats-package.relationships+xml"/>
  <Override PartName="/ppt/slides/_rels/slide95.xml.rels" ContentType="application/vnd.openxmlformats-package.relationships+xml"/>
  <Override PartName="/ppt/slides/_rels/slide96.xml.rels" ContentType="application/vnd.openxmlformats-package.relationships+xml"/>
  <Override PartName="/ppt/slides/_rels/slide97.xml.rels" ContentType="application/vnd.openxmlformats-package.relationships+xml"/>
  <Override PartName="/ppt/slides/_rels/slide98.xml.rels" ContentType="application/vnd.openxmlformats-package.relationships+xml"/>
  <Override PartName="/ppt/slides/_rels/slide99.xml.rels" ContentType="application/vnd.openxmlformats-package.relationships+xml"/>
  <Override PartName="/ppt/slides/_rels/slide100.xml.rels" ContentType="application/vnd.openxmlformats-package.relationships+xml"/>
  <Override PartName="/ppt/slides/_rels/slide101.xml.rels" ContentType="application/vnd.openxmlformats-package.relationships+xml"/>
  <Override PartName="/ppt/slides/_rels/slide102.xml.rels" ContentType="application/vnd.openxmlformats-package.relationships+xml"/>
  <Override PartName="/ppt/slides/_rels/slide103.xml.rels" ContentType="application/vnd.openxmlformats-package.relationships+xml"/>
  <Override PartName="/ppt/slides/_rels/slide104.xml.rels" ContentType="application/vnd.openxmlformats-package.relationships+xml"/>
  <Override PartName="/ppt/slides/_rels/slide105.xml.rels" ContentType="application/vnd.openxmlformats-package.relationships+xml"/>
  <Override PartName="/ppt/slides/_rels/slide106.xml.rels" ContentType="application/vnd.openxmlformats-package.relationships+xml"/>
  <Override PartName="/ppt/slides/_rels/slide107.xml.rels" ContentType="application/vnd.openxmlformats-package.relationships+xml"/>
  <Override PartName="/ppt/slides/_rels/slide108.xml.rels" ContentType="application/vnd.openxmlformats-package.relationships+xml"/>
  <Override PartName="/ppt/slides/_rels/slide109.xml.rels" ContentType="application/vnd.openxmlformats-package.relationships+xml"/>
  <Override PartName="/ppt/slides/_rels/slide110.xml.rels" ContentType="application/vnd.openxmlformats-package.relationships+xml"/>
  <Override PartName="/ppt/slides/_rels/slide111.xml.rels" ContentType="application/vnd.openxmlformats-package.relationships+xml"/>
  <Override PartName="/ppt/slides/_rels/slide112.xml.rels" ContentType="application/vnd.openxmlformats-package.relationships+xml"/>
  <Override PartName="/ppt/slides/_rels/slide113.xml.rels" ContentType="application/vnd.openxmlformats-package.relationships+xml"/>
  <Override PartName="/ppt/slides/_rels/slide114.xml.rels" ContentType="application/vnd.openxmlformats-package.relationships+xml"/>
  <Override PartName="/ppt/slides/_rels/slide115.xml.rels" ContentType="application/vnd.openxmlformats-package.relationships+xml"/>
  <Override PartName="/ppt/slides/_rels/slide116.xml.rels" ContentType="application/vnd.openxmlformats-package.relationships+xml"/>
  <Override PartName="/ppt/slides/_rels/slide117.xml.rels" ContentType="application/vnd.openxmlformats-package.relationships+xml"/>
  <Override PartName="/ppt/slides/_rels/slide118.xml.rels" ContentType="application/vnd.openxmlformats-package.relationships+xml"/>
  <Override PartName="/ppt/slides/_rels/slide119.xml.rels" ContentType="application/vnd.openxmlformats-package.relationships+xml"/>
  <Override PartName="/ppt/slides/_rels/slide120.xml.rels" ContentType="application/vnd.openxmlformats-package.relationships+xml"/>
  <Override PartName="/ppt/slides/_rels/slide121.xml.rels" ContentType="application/vnd.openxmlformats-package.relationships+xml"/>
  <Override PartName="/ppt/slides/_rels/slide122.xml.rels" ContentType="application/vnd.openxmlformats-package.relationships+xml"/>
  <Override PartName="/ppt/slides/_rels/slide123.xml.rels" ContentType="application/vnd.openxmlformats-package.relationships+xml"/>
  <Override PartName="/ppt/slides/_rels/slide124.xml.rels" ContentType="application/vnd.openxmlformats-package.relationships+xml"/>
  <Override PartName="/ppt/slides/_rels/slide125.xml.rels" ContentType="application/vnd.openxmlformats-package.relationships+xml"/>
  <Override PartName="/ppt/slides/_rels/slide126.xml.rels" ContentType="application/vnd.openxmlformats-package.relationships+xml"/>
  <Override PartName="/ppt/slides/_rels/slide127.xml.rels" ContentType="application/vnd.openxmlformats-package.relationships+xml"/>
  <Override PartName="/ppt/slides/_rels/slide128.xml.rels" ContentType="application/vnd.openxmlformats-package.relationships+xml"/>
  <Override PartName="/ppt/slides/_rels/slide129.xml.rels" ContentType="application/vnd.openxmlformats-package.relationships+xml"/>
  <Override PartName="/ppt/slides/_rels/slide130.xml.rels" ContentType="application/vnd.openxmlformats-package.relationships+xml"/>
  <Override PartName="/ppt/slides/_rels/slide131.xml.rels" ContentType="application/vnd.openxmlformats-package.relationships+xml"/>
  <Override PartName="/ppt/slides/_rels/slide132.xml.rels" ContentType="application/vnd.openxmlformats-package.relationships+xml"/>
  <Override PartName="/ppt/slides/_rels/slide133.xml.rels" ContentType="application/vnd.openxmlformats-package.relationships+xml"/>
  <Override PartName="/ppt/slides/_rels/slide134.xml.rels" ContentType="application/vnd.openxmlformats-package.relationships+xml"/>
  <Override PartName="/ppt/slides/_rels/slide135.xml.rels" ContentType="application/vnd.openxmlformats-package.relationships+xml"/>
  <Override PartName="/ppt/slides/_rels/slide136.xml.rels" ContentType="application/vnd.openxmlformats-package.relationships+xml"/>
  <Override PartName="/ppt/slides/_rels/slide137.xml.rels" ContentType="application/vnd.openxmlformats-package.relationships+xml"/>
  <Override PartName="/ppt/slides/_rels/slide138.xml.rels" ContentType="application/vnd.openxmlformats-package.relationships+xml"/>
  <Override PartName="/ppt/slides/_rels/slide139.xml.rels" ContentType="application/vnd.openxmlformats-package.relationships+xml"/>
  <Override PartName="/ppt/slides/_rels/slide140.xml.rels" ContentType="application/vnd.openxmlformats-package.relationships+xml"/>
  <Override PartName="/ppt/slides/_rels/slide141.xml.rels" ContentType="application/vnd.openxmlformats-package.relationships+xml"/>
  <Override PartName="/ppt/slides/_rels/slide142.xml.rels" ContentType="application/vnd.openxmlformats-package.relationships+xml"/>
  <Override PartName="/ppt/slides/_rels/slide143.xml.rels" ContentType="application/vnd.openxmlformats-package.relationships+xml"/>
  <Override PartName="/ppt/slides/_rels/slide144.xml.rels" ContentType="application/vnd.openxmlformats-package.relationships+xml"/>
  <Override PartName="/ppt/slides/_rels/slide145.xml.rels" ContentType="application/vnd.openxmlformats-package.relationships+xml"/>
  <Override PartName="/ppt/slides/_rels/slide146.xml.rels" ContentType="application/vnd.openxmlformats-package.relationships+xml"/>
  <Override PartName="/ppt/slides/_rels/slide147.xml.rels" ContentType="application/vnd.openxmlformats-package.relationships+xml"/>
  <Override PartName="/ppt/slides/_rels/slide148.xml.rels" ContentType="application/vnd.openxmlformats-package.relationships+xml"/>
  <Override PartName="/ppt/slides/_rels/slide149.xml.rels" ContentType="application/vnd.openxmlformats-package.relationships+xml"/>
  <Override PartName="/ppt/slides/_rels/slide150.xml.rels" ContentType="application/vnd.openxmlformats-package.relationships+xml"/>
  <Override PartName="/ppt/slides/_rels/slide151.xml.rels" ContentType="application/vnd.openxmlformats-package.relationships+xml"/>
  <Override PartName="/ppt/slides/_rels/slide152.xml.rels" ContentType="application/vnd.openxmlformats-package.relationships+xml"/>
  <Override PartName="/ppt/slides/_rels/slide153.xml.rels" ContentType="application/vnd.openxmlformats-package.relationships+xml"/>
  <Override PartName="/ppt/slides/_rels/slide154.xml.rels" ContentType="application/vnd.openxmlformats-package.relationships+xml"/>
  <Override PartName="/ppt/slides/_rels/slide155.xml.rels" ContentType="application/vnd.openxmlformats-package.relationships+xml"/>
  <Override PartName="/ppt/slides/_rels/slide156.xml.rels" ContentType="application/vnd.openxmlformats-package.relationships+xml"/>
  <Override PartName="/ppt/slides/_rels/slide157.xml.rels" ContentType="application/vnd.openxmlformats-package.relationships+xml"/>
  <Override PartName="/ppt/slides/_rels/slide158.xml.rels" ContentType="application/vnd.openxmlformats-package.relationships+xml"/>
  <Override PartName="/ppt/slides/_rels/slide159.xml.rels" ContentType="application/vnd.openxmlformats-package.relationships+xml"/>
  <Override PartName="/ppt/slides/_rels/slide160.xml.rels" ContentType="application/vnd.openxmlformats-package.relationships+xml"/>
  <Override PartName="/ppt/slides/_rels/slide161.xml.rels" ContentType="application/vnd.openxmlformats-package.relationships+xml"/>
  <Override PartName="/ppt/slides/_rels/slide162.xml.rels" ContentType="application/vnd.openxmlformats-package.relationships+xml"/>
  <Override PartName="/ppt/slides/_rels/slide163.xml.rels" ContentType="application/vnd.openxmlformats-package.relationships+xml"/>
  <Override PartName="/ppt/slides/_rels/slide164.xml.rels" ContentType="application/vnd.openxmlformats-package.relationships+xml"/>
  <Override PartName="/ppt/slides/_rels/slide165.xml.rels" ContentType="application/vnd.openxmlformats-package.relationships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presProps.xml" ContentType="application/vnd.openxmlformats-officedocument.presentationml.presProps+xml"/>
  <Override PartName="/ppt/media/image57.png" ContentType="image/png"/>
  <Override PartName="/ppt/media/image1.png" ContentType="image/png"/>
  <Override PartName="/ppt/media/image58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51.jpeg" ContentType="image/jpe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52.jpeg" ContentType="image/jpe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media/image50.jpeg" ContentType="image/jpeg"/>
  <Override PartName="/ppt/media/image53.png" ContentType="image/png"/>
  <Override PartName="/ppt/media/image54.png" ContentType="image/png"/>
  <Override PartName="/ppt/media/image55.png" ContentType="image/png"/>
  <Override PartName="/ppt/media/image5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  <p:sldId id="375" r:id="rId124"/>
    <p:sldId id="376" r:id="rId125"/>
    <p:sldId id="377" r:id="rId126"/>
    <p:sldId id="378" r:id="rId127"/>
    <p:sldId id="379" r:id="rId128"/>
    <p:sldId id="380" r:id="rId129"/>
    <p:sldId id="381" r:id="rId130"/>
    <p:sldId id="382" r:id="rId131"/>
    <p:sldId id="383" r:id="rId132"/>
    <p:sldId id="384" r:id="rId133"/>
    <p:sldId id="385" r:id="rId134"/>
    <p:sldId id="386" r:id="rId135"/>
    <p:sldId id="387" r:id="rId136"/>
    <p:sldId id="388" r:id="rId137"/>
    <p:sldId id="389" r:id="rId138"/>
    <p:sldId id="390" r:id="rId139"/>
    <p:sldId id="391" r:id="rId140"/>
    <p:sldId id="392" r:id="rId141"/>
    <p:sldId id="393" r:id="rId142"/>
    <p:sldId id="394" r:id="rId143"/>
    <p:sldId id="395" r:id="rId144"/>
    <p:sldId id="396" r:id="rId145"/>
    <p:sldId id="397" r:id="rId146"/>
    <p:sldId id="398" r:id="rId147"/>
    <p:sldId id="399" r:id="rId148"/>
    <p:sldId id="400" r:id="rId149"/>
    <p:sldId id="401" r:id="rId150"/>
    <p:sldId id="402" r:id="rId151"/>
    <p:sldId id="403" r:id="rId152"/>
    <p:sldId id="404" r:id="rId153"/>
    <p:sldId id="405" r:id="rId154"/>
    <p:sldId id="406" r:id="rId155"/>
    <p:sldId id="407" r:id="rId156"/>
    <p:sldId id="408" r:id="rId157"/>
    <p:sldId id="409" r:id="rId158"/>
    <p:sldId id="410" r:id="rId159"/>
    <p:sldId id="411" r:id="rId160"/>
    <p:sldId id="412" r:id="rId161"/>
    <p:sldId id="413" r:id="rId162"/>
    <p:sldId id="414" r:id="rId163"/>
    <p:sldId id="415" r:id="rId164"/>
    <p:sldId id="416" r:id="rId165"/>
    <p:sldId id="417" r:id="rId166"/>
    <p:sldId id="418" r:id="rId167"/>
    <p:sldId id="419" r:id="rId168"/>
    <p:sldId id="420" r:id="rId16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76.xml"/><Relationship Id="rId81" Type="http://schemas.openxmlformats.org/officeDocument/2006/relationships/slide" Target="slides/slide77.xml"/><Relationship Id="rId82" Type="http://schemas.openxmlformats.org/officeDocument/2006/relationships/slide" Target="slides/slide78.xml"/><Relationship Id="rId83" Type="http://schemas.openxmlformats.org/officeDocument/2006/relationships/slide" Target="slides/slide79.xml"/><Relationship Id="rId84" Type="http://schemas.openxmlformats.org/officeDocument/2006/relationships/slide" Target="slides/slide80.xml"/><Relationship Id="rId85" Type="http://schemas.openxmlformats.org/officeDocument/2006/relationships/slide" Target="slides/slide81.xml"/><Relationship Id="rId86" Type="http://schemas.openxmlformats.org/officeDocument/2006/relationships/slide" Target="slides/slide82.xml"/><Relationship Id="rId87" Type="http://schemas.openxmlformats.org/officeDocument/2006/relationships/slide" Target="slides/slide83.xml"/><Relationship Id="rId88" Type="http://schemas.openxmlformats.org/officeDocument/2006/relationships/slide" Target="slides/slide84.xml"/><Relationship Id="rId89" Type="http://schemas.openxmlformats.org/officeDocument/2006/relationships/slide" Target="slides/slide85.xml"/><Relationship Id="rId90" Type="http://schemas.openxmlformats.org/officeDocument/2006/relationships/slide" Target="slides/slide86.xml"/><Relationship Id="rId91" Type="http://schemas.openxmlformats.org/officeDocument/2006/relationships/slide" Target="slides/slide87.xml"/><Relationship Id="rId92" Type="http://schemas.openxmlformats.org/officeDocument/2006/relationships/slide" Target="slides/slide88.xml"/><Relationship Id="rId93" Type="http://schemas.openxmlformats.org/officeDocument/2006/relationships/slide" Target="slides/slide89.xml"/><Relationship Id="rId94" Type="http://schemas.openxmlformats.org/officeDocument/2006/relationships/slide" Target="slides/slide90.xml"/><Relationship Id="rId95" Type="http://schemas.openxmlformats.org/officeDocument/2006/relationships/slide" Target="slides/slide91.xml"/><Relationship Id="rId96" Type="http://schemas.openxmlformats.org/officeDocument/2006/relationships/slide" Target="slides/slide92.xml"/><Relationship Id="rId97" Type="http://schemas.openxmlformats.org/officeDocument/2006/relationships/slide" Target="slides/slide93.xml"/><Relationship Id="rId98" Type="http://schemas.openxmlformats.org/officeDocument/2006/relationships/slide" Target="slides/slide94.xml"/><Relationship Id="rId99" Type="http://schemas.openxmlformats.org/officeDocument/2006/relationships/slide" Target="slides/slide95.xml"/><Relationship Id="rId100" Type="http://schemas.openxmlformats.org/officeDocument/2006/relationships/slide" Target="slides/slide96.xml"/><Relationship Id="rId101" Type="http://schemas.openxmlformats.org/officeDocument/2006/relationships/slide" Target="slides/slide97.xml"/><Relationship Id="rId102" Type="http://schemas.openxmlformats.org/officeDocument/2006/relationships/slide" Target="slides/slide98.xml"/><Relationship Id="rId103" Type="http://schemas.openxmlformats.org/officeDocument/2006/relationships/slide" Target="slides/slide99.xml"/><Relationship Id="rId104" Type="http://schemas.openxmlformats.org/officeDocument/2006/relationships/slide" Target="slides/slide100.xml"/><Relationship Id="rId105" Type="http://schemas.openxmlformats.org/officeDocument/2006/relationships/slide" Target="slides/slide101.xml"/><Relationship Id="rId106" Type="http://schemas.openxmlformats.org/officeDocument/2006/relationships/slide" Target="slides/slide102.xml"/><Relationship Id="rId107" Type="http://schemas.openxmlformats.org/officeDocument/2006/relationships/slide" Target="slides/slide103.xml"/><Relationship Id="rId108" Type="http://schemas.openxmlformats.org/officeDocument/2006/relationships/slide" Target="slides/slide104.xml"/><Relationship Id="rId109" Type="http://schemas.openxmlformats.org/officeDocument/2006/relationships/slide" Target="slides/slide105.xml"/><Relationship Id="rId110" Type="http://schemas.openxmlformats.org/officeDocument/2006/relationships/slide" Target="slides/slide106.xml"/><Relationship Id="rId111" Type="http://schemas.openxmlformats.org/officeDocument/2006/relationships/slide" Target="slides/slide107.xml"/><Relationship Id="rId112" Type="http://schemas.openxmlformats.org/officeDocument/2006/relationships/slide" Target="slides/slide108.xml"/><Relationship Id="rId113" Type="http://schemas.openxmlformats.org/officeDocument/2006/relationships/slide" Target="slides/slide109.xml"/><Relationship Id="rId114" Type="http://schemas.openxmlformats.org/officeDocument/2006/relationships/slide" Target="slides/slide110.xml"/><Relationship Id="rId115" Type="http://schemas.openxmlformats.org/officeDocument/2006/relationships/slide" Target="slides/slide111.xml"/><Relationship Id="rId116" Type="http://schemas.openxmlformats.org/officeDocument/2006/relationships/slide" Target="slides/slide112.xml"/><Relationship Id="rId117" Type="http://schemas.openxmlformats.org/officeDocument/2006/relationships/slide" Target="slides/slide113.xml"/><Relationship Id="rId118" Type="http://schemas.openxmlformats.org/officeDocument/2006/relationships/slide" Target="slides/slide114.xml"/><Relationship Id="rId119" Type="http://schemas.openxmlformats.org/officeDocument/2006/relationships/slide" Target="slides/slide115.xml"/><Relationship Id="rId120" Type="http://schemas.openxmlformats.org/officeDocument/2006/relationships/slide" Target="slides/slide116.xml"/><Relationship Id="rId121" Type="http://schemas.openxmlformats.org/officeDocument/2006/relationships/slide" Target="slides/slide117.xml"/><Relationship Id="rId122" Type="http://schemas.openxmlformats.org/officeDocument/2006/relationships/slide" Target="slides/slide118.xml"/><Relationship Id="rId123" Type="http://schemas.openxmlformats.org/officeDocument/2006/relationships/slide" Target="slides/slide119.xml"/><Relationship Id="rId124" Type="http://schemas.openxmlformats.org/officeDocument/2006/relationships/slide" Target="slides/slide120.xml"/><Relationship Id="rId125" Type="http://schemas.openxmlformats.org/officeDocument/2006/relationships/slide" Target="slides/slide121.xml"/><Relationship Id="rId126" Type="http://schemas.openxmlformats.org/officeDocument/2006/relationships/slide" Target="slides/slide122.xml"/><Relationship Id="rId127" Type="http://schemas.openxmlformats.org/officeDocument/2006/relationships/slide" Target="slides/slide123.xml"/><Relationship Id="rId128" Type="http://schemas.openxmlformats.org/officeDocument/2006/relationships/slide" Target="slides/slide124.xml"/><Relationship Id="rId129" Type="http://schemas.openxmlformats.org/officeDocument/2006/relationships/slide" Target="slides/slide125.xml"/><Relationship Id="rId130" Type="http://schemas.openxmlformats.org/officeDocument/2006/relationships/slide" Target="slides/slide126.xml"/><Relationship Id="rId131" Type="http://schemas.openxmlformats.org/officeDocument/2006/relationships/slide" Target="slides/slide127.xml"/><Relationship Id="rId132" Type="http://schemas.openxmlformats.org/officeDocument/2006/relationships/slide" Target="slides/slide128.xml"/><Relationship Id="rId133" Type="http://schemas.openxmlformats.org/officeDocument/2006/relationships/slide" Target="slides/slide129.xml"/><Relationship Id="rId134" Type="http://schemas.openxmlformats.org/officeDocument/2006/relationships/slide" Target="slides/slide130.xml"/><Relationship Id="rId135" Type="http://schemas.openxmlformats.org/officeDocument/2006/relationships/slide" Target="slides/slide131.xml"/><Relationship Id="rId136" Type="http://schemas.openxmlformats.org/officeDocument/2006/relationships/slide" Target="slides/slide132.xml"/><Relationship Id="rId137" Type="http://schemas.openxmlformats.org/officeDocument/2006/relationships/slide" Target="slides/slide133.xml"/><Relationship Id="rId138" Type="http://schemas.openxmlformats.org/officeDocument/2006/relationships/slide" Target="slides/slide134.xml"/><Relationship Id="rId139" Type="http://schemas.openxmlformats.org/officeDocument/2006/relationships/slide" Target="slides/slide135.xml"/><Relationship Id="rId140" Type="http://schemas.openxmlformats.org/officeDocument/2006/relationships/slide" Target="slides/slide136.xml"/><Relationship Id="rId141" Type="http://schemas.openxmlformats.org/officeDocument/2006/relationships/slide" Target="slides/slide137.xml"/><Relationship Id="rId142" Type="http://schemas.openxmlformats.org/officeDocument/2006/relationships/slide" Target="slides/slide138.xml"/><Relationship Id="rId143" Type="http://schemas.openxmlformats.org/officeDocument/2006/relationships/slide" Target="slides/slide139.xml"/><Relationship Id="rId144" Type="http://schemas.openxmlformats.org/officeDocument/2006/relationships/slide" Target="slides/slide140.xml"/><Relationship Id="rId145" Type="http://schemas.openxmlformats.org/officeDocument/2006/relationships/slide" Target="slides/slide141.xml"/><Relationship Id="rId146" Type="http://schemas.openxmlformats.org/officeDocument/2006/relationships/slide" Target="slides/slide142.xml"/><Relationship Id="rId147" Type="http://schemas.openxmlformats.org/officeDocument/2006/relationships/slide" Target="slides/slide143.xml"/><Relationship Id="rId148" Type="http://schemas.openxmlformats.org/officeDocument/2006/relationships/slide" Target="slides/slide144.xml"/><Relationship Id="rId149" Type="http://schemas.openxmlformats.org/officeDocument/2006/relationships/slide" Target="slides/slide145.xml"/><Relationship Id="rId150" Type="http://schemas.openxmlformats.org/officeDocument/2006/relationships/slide" Target="slides/slide146.xml"/><Relationship Id="rId151" Type="http://schemas.openxmlformats.org/officeDocument/2006/relationships/slide" Target="slides/slide147.xml"/><Relationship Id="rId152" Type="http://schemas.openxmlformats.org/officeDocument/2006/relationships/slide" Target="slides/slide148.xml"/><Relationship Id="rId153" Type="http://schemas.openxmlformats.org/officeDocument/2006/relationships/slide" Target="slides/slide149.xml"/><Relationship Id="rId154" Type="http://schemas.openxmlformats.org/officeDocument/2006/relationships/slide" Target="slides/slide150.xml"/><Relationship Id="rId155" Type="http://schemas.openxmlformats.org/officeDocument/2006/relationships/slide" Target="slides/slide151.xml"/><Relationship Id="rId156" Type="http://schemas.openxmlformats.org/officeDocument/2006/relationships/slide" Target="slides/slide152.xml"/><Relationship Id="rId157" Type="http://schemas.openxmlformats.org/officeDocument/2006/relationships/slide" Target="slides/slide153.xml"/><Relationship Id="rId158" Type="http://schemas.openxmlformats.org/officeDocument/2006/relationships/slide" Target="slides/slide154.xml"/><Relationship Id="rId159" Type="http://schemas.openxmlformats.org/officeDocument/2006/relationships/slide" Target="slides/slide155.xml"/><Relationship Id="rId160" Type="http://schemas.openxmlformats.org/officeDocument/2006/relationships/slide" Target="slides/slide156.xml"/><Relationship Id="rId161" Type="http://schemas.openxmlformats.org/officeDocument/2006/relationships/slide" Target="slides/slide157.xml"/><Relationship Id="rId162" Type="http://schemas.openxmlformats.org/officeDocument/2006/relationships/slide" Target="slides/slide158.xml"/><Relationship Id="rId163" Type="http://schemas.openxmlformats.org/officeDocument/2006/relationships/slide" Target="slides/slide159.xml"/><Relationship Id="rId164" Type="http://schemas.openxmlformats.org/officeDocument/2006/relationships/slide" Target="slides/slide160.xml"/><Relationship Id="rId165" Type="http://schemas.openxmlformats.org/officeDocument/2006/relationships/slide" Target="slides/slide161.xml"/><Relationship Id="rId166" Type="http://schemas.openxmlformats.org/officeDocument/2006/relationships/slide" Target="slides/slide162.xml"/><Relationship Id="rId167" Type="http://schemas.openxmlformats.org/officeDocument/2006/relationships/slide" Target="slides/slide163.xml"/><Relationship Id="rId168" Type="http://schemas.openxmlformats.org/officeDocument/2006/relationships/slide" Target="slides/slide164.xml"/><Relationship Id="rId169" Type="http://schemas.openxmlformats.org/officeDocument/2006/relationships/slide" Target="slides/slide165.xml"/><Relationship Id="rId17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C441CB-6BE9-4F05-AC6A-4E9847D0C1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28A2CB-4337-4C4D-94AA-1A8471398C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765059-C840-43A7-91BD-7EDFB8B97D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17E783-80D8-4B55-8C8E-E0333911A3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8B64F6-505B-4DCA-B893-CB5BC8A427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2D2D6E-B119-4EB5-864A-DE4C8F5AB6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C38583-8A95-49FE-805A-FD620C99FE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FFABD1-34EC-405D-B001-2B1D80773B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6665D1-3FF0-4F03-90FE-DF962709CC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04E646-AC1D-455E-AC4E-2B8D3DA5D6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0AE792-F039-4B53-8FBB-3DB44E05529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423C9C-730F-447E-9E37-755896732A3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99085A-D8A6-403D-BAB5-591DB35BCD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47E045-F363-4670-8B86-D1158C1B88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195E35-C6FC-44B4-B7D5-986E7FD1F4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027447-5150-44DD-BAD3-6B11B93AC4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BF4F73-DCEF-418B-840D-1732FC59D3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0247AC-87AC-47F2-B959-38A9F14A6E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0D84C3-7F11-445A-91DC-7B4EB21058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500A88-C270-406B-8AB7-4B68A59CB0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F5C971-187D-4D1A-A9B9-72158DE905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2C6C9A-1226-491D-810C-FEFDE7A2C1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D1E50F-EF8C-4CCE-85E5-56E946ED8BA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3F7C21-164B-40C6-99AA-35303F92E33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5090781-F2AE-4F9D-883B-9494CCF184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9A99745-0A0F-4ADD-9A08-6CBD7D8D9B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A83DB56-99CF-4F54-9277-F4730471A7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BE28BB5-42B6-4ADE-B4F5-A4B38833E0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B203FFD-5202-4DFC-9938-C71D893BB3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FF59C75-E40B-4808-A820-C942BB6B68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14F9F93-1EDA-4B03-A20B-9FB08854BC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BB5D798-B76C-4E50-A6A6-11265DF620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3362531-49A1-4D9B-AA11-1C5B0F3D9B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E1CEA35-7446-4769-9786-7026ACC5BC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898A686-76D2-41BE-83E1-8478FF349F3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82D28C1-0ED3-47EA-A6AA-78D49EC14E4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9"/>
          <p:cNvSpPr/>
          <p:nvPr/>
        </p:nvSpPr>
        <p:spPr>
          <a:xfrm>
            <a:off x="6399360" y="0"/>
            <a:ext cx="2763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000" spc="-1" strike="noStrike">
                <a:solidFill>
                  <a:srgbClr val="ffffff"/>
                </a:solidFill>
                <a:latin typeface="Arial"/>
                <a:ea typeface="Arial"/>
              </a:rPr>
              <a:t>数据结构（</a:t>
            </a: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C</a:t>
            </a:r>
            <a:r>
              <a:rPr b="1" lang="ja-JP" sz="2000" spc="-1" strike="noStrike">
                <a:solidFill>
                  <a:srgbClr val="ffffff"/>
                </a:solidFill>
                <a:latin typeface="Arial"/>
                <a:ea typeface="Arial"/>
              </a:rPr>
              <a:t>＋＋版）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" name="Shape 10"/>
          <p:cNvSpPr/>
          <p:nvPr/>
        </p:nvSpPr>
        <p:spPr>
          <a:xfrm>
            <a:off x="0" y="0"/>
            <a:ext cx="24746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000" spc="-1" strike="noStrike">
                <a:solidFill>
                  <a:srgbClr val="ffffff"/>
                </a:solidFill>
                <a:latin typeface="Arial"/>
                <a:ea typeface="Arial"/>
              </a:rPr>
              <a:t>清华大学出版社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Shape 11"/>
          <p:cNvSpPr/>
          <p:nvPr/>
        </p:nvSpPr>
        <p:spPr>
          <a:xfrm>
            <a:off x="304920" y="1066680"/>
            <a:ext cx="8610120" cy="10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&lt;日期/时间&gt;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2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&lt;页脚&gt;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4760" cy="456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D01033D-6A50-4955-B601-92A29E019EB8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&lt;编号&gt;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ja-JP" sz="14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4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4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4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4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9"/>
          <p:cNvSpPr/>
          <p:nvPr/>
        </p:nvSpPr>
        <p:spPr>
          <a:xfrm>
            <a:off x="6399360" y="0"/>
            <a:ext cx="2763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000" spc="-1" strike="noStrike">
                <a:solidFill>
                  <a:srgbClr val="ffffff"/>
                </a:solidFill>
                <a:latin typeface="Arial"/>
                <a:ea typeface="Arial"/>
              </a:rPr>
              <a:t>数据结构（</a:t>
            </a: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C</a:t>
            </a:r>
            <a:r>
              <a:rPr b="1" lang="ja-JP" sz="2000" spc="-1" strike="noStrike">
                <a:solidFill>
                  <a:srgbClr val="ffffff"/>
                </a:solidFill>
                <a:latin typeface="Arial"/>
                <a:ea typeface="Arial"/>
              </a:rPr>
              <a:t>＋＋版）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5" name="Shape 10"/>
          <p:cNvSpPr/>
          <p:nvPr/>
        </p:nvSpPr>
        <p:spPr>
          <a:xfrm>
            <a:off x="0" y="0"/>
            <a:ext cx="24746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000" spc="-1" strike="noStrike">
                <a:solidFill>
                  <a:srgbClr val="ffffff"/>
                </a:solidFill>
                <a:latin typeface="Arial"/>
                <a:ea typeface="Arial"/>
              </a:rPr>
              <a:t>清华大学出版社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6" name="Shape 11"/>
          <p:cNvSpPr/>
          <p:nvPr/>
        </p:nvSpPr>
        <p:spPr>
          <a:xfrm>
            <a:off x="304920" y="1066680"/>
            <a:ext cx="8610120" cy="10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2040" cy="11426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r>
              <a:rPr b="0" lang="ja-JP" sz="44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040" cy="41144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32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32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32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32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32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32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32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4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&lt;日期/时间&gt;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5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&lt;页脚&gt;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6"/>
          </p:nvPr>
        </p:nvSpPr>
        <p:spPr>
          <a:xfrm>
            <a:off x="6553080" y="6248520"/>
            <a:ext cx="1904760" cy="456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33E7BCF-3FDF-4A8D-A1FA-2FB3F04B101A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&lt;编号&gt;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9"/>
          <p:cNvSpPr/>
          <p:nvPr/>
        </p:nvSpPr>
        <p:spPr>
          <a:xfrm>
            <a:off x="6399360" y="0"/>
            <a:ext cx="2763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000" spc="-1" strike="noStrike">
                <a:solidFill>
                  <a:srgbClr val="ffffff"/>
                </a:solidFill>
                <a:latin typeface="Arial"/>
                <a:ea typeface="Arial"/>
              </a:rPr>
              <a:t>数据结构（</a:t>
            </a: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C</a:t>
            </a:r>
            <a:r>
              <a:rPr b="1" lang="ja-JP" sz="2000" spc="-1" strike="noStrike">
                <a:solidFill>
                  <a:srgbClr val="ffffff"/>
                </a:solidFill>
                <a:latin typeface="Arial"/>
                <a:ea typeface="Arial"/>
              </a:rPr>
              <a:t>＋＋版）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9" name="Shape 10"/>
          <p:cNvSpPr/>
          <p:nvPr/>
        </p:nvSpPr>
        <p:spPr>
          <a:xfrm>
            <a:off x="0" y="0"/>
            <a:ext cx="247464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000" spc="-1" strike="noStrike">
                <a:solidFill>
                  <a:srgbClr val="ffffff"/>
                </a:solidFill>
                <a:latin typeface="Arial"/>
                <a:ea typeface="Arial"/>
              </a:rPr>
              <a:t>清华大学出版社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0" name="Shape 11"/>
          <p:cNvSpPr/>
          <p:nvPr/>
        </p:nvSpPr>
        <p:spPr>
          <a:xfrm>
            <a:off x="304920" y="1066680"/>
            <a:ext cx="8610120" cy="10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PlaceHolder 1"/>
          <p:cNvSpPr>
            <a:spLocks noGrp="1"/>
          </p:cNvSpPr>
          <p:nvPr>
            <p:ph type="dt" idx="7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&lt;日期/时间&gt;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ftr" idx="8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&lt;页脚&gt;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9"/>
          </p:nvPr>
        </p:nvSpPr>
        <p:spPr>
          <a:xfrm>
            <a:off x="6553080" y="6248520"/>
            <a:ext cx="1904760" cy="456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4EF3EA6-6071-439B-BEE2-DC69573A9EA5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&lt;编号&gt;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ja-JP" sz="14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4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4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4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4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5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5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5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5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5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5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5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5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5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5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5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5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5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5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5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5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5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5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5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5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5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5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5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5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5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15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15.xml"/>
</Relationships>
</file>

<file path=ppt/slides/_rels/slide116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5.xml"/>
</Relationships>
</file>

<file path=ppt/slides/_rels/slide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7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slideLayout" Target="../slideLayouts/slideLayout1.xml"/>
</Relationships>
</file>

<file path=ppt/slides/_rels/slide138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15.xml"/>
</Relationships>
</file>

<file path=ppt/slides/_rels/slide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1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.xml"/>
</Relationships>
</file>

<file path=ppt/slides/_rels/slide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44.xml.rels><?xml version="1.0" encoding="UTF-8"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image" Target="../media/image51.jpeg"/><Relationship Id="rId3" Type="http://schemas.openxmlformats.org/officeDocument/2006/relationships/image" Target="../media/image52.jpeg"/><Relationship Id="rId4" Type="http://schemas.openxmlformats.org/officeDocument/2006/relationships/slideLayout" Target="../slideLayouts/slideLayout1.xml"/>
</Relationships>
</file>

<file path=ppt/slides/_rels/slide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4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slideLayout" Target="../slideLayouts/slideLayout15.xml"/>
</Relationships>
</file>

<file path=ppt/slides/_rels/slide155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15.xml"/>
</Relationships>
</file>

<file path=ppt/slides/_rels/slide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9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15.xml"/>
</Relationships>
</file>

<file path=ppt/slides/_rels/slide1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61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slideLayout" Target="../slideLayouts/slideLayout15.xml"/>
</Relationships>
</file>

<file path=ppt/slides/_rels/slide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63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slideLayout" Target="../slideLayouts/slideLayout15.xml"/>
</Relationships>
</file>

<file path=ppt/slides/_rels/slide164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slideLayout" Target="../slideLayouts/slideLayout15.xml"/>
</Relationships>
</file>

<file path=ppt/slides/_rels/slide1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752480" y="228600"/>
            <a:ext cx="5257440" cy="685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4800" spc="-1" strike="noStrike">
                <a:solidFill>
                  <a:srgbClr val="003399"/>
                </a:solidFill>
                <a:latin typeface="Times New Roman"/>
                <a:ea typeface="Times New Roman"/>
              </a:rPr>
              <a:t>第六章      图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31"/>
          <p:cNvSpPr/>
          <p:nvPr/>
        </p:nvSpPr>
        <p:spPr>
          <a:xfrm>
            <a:off x="1601640" y="1224000"/>
            <a:ext cx="5806800" cy="7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4000" spc="-1" strike="noStrike">
                <a:solidFill>
                  <a:srgbClr val="003399"/>
                </a:solidFill>
                <a:latin typeface="Times New Roman"/>
                <a:ea typeface="Times New Roman"/>
              </a:rPr>
              <a:t>本章的主要内容是</a:t>
            </a:r>
            <a:r>
              <a:rPr b="1" lang="en-US" sz="4000" spc="-1" strike="noStrike">
                <a:solidFill>
                  <a:srgbClr val="003399"/>
                </a:solidFill>
                <a:latin typeface="Times New Roman"/>
                <a:ea typeface="Times New Roman"/>
              </a:rPr>
              <a:t>: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34" name="Shape 32"/>
          <p:cNvSpPr/>
          <p:nvPr/>
        </p:nvSpPr>
        <p:spPr>
          <a:xfrm>
            <a:off x="1936800" y="2079720"/>
            <a:ext cx="5806800" cy="39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Clr>
                <a:srgbClr val="000000"/>
              </a:buClr>
              <a:buFont typeface="Noto Sans Symbols"/>
              <a:buChar char="✓"/>
            </a:pPr>
            <a:r>
              <a:rPr b="1" lang="en-US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ja-JP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Noto Sans Symbols"/>
              <a:buChar char="✓"/>
            </a:pPr>
            <a:r>
              <a:rPr b="1" lang="en-US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ja-JP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Noto Sans Symbols"/>
              <a:buChar char="✓"/>
            </a:pPr>
            <a:r>
              <a:rPr b="1" lang="en-US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ja-JP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Noto Sans Symbols"/>
              <a:buChar char="✓"/>
            </a:pPr>
            <a:r>
              <a:rPr b="1" lang="en-US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ja-JP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Noto Sans Symbols"/>
              <a:buChar char="✓"/>
            </a:pPr>
            <a:r>
              <a:rPr b="1" lang="en-US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AOV</a:t>
            </a:r>
            <a:r>
              <a:rPr b="1" lang="ja-JP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网与拓扑排序</a:t>
            </a:r>
            <a:endParaRPr b="0" lang="en-US" sz="3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Noto Sans Symbols"/>
              <a:buChar char="✓"/>
            </a:pPr>
            <a:r>
              <a:rPr b="1" lang="en-US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AOE</a:t>
            </a:r>
            <a:r>
              <a:rPr b="1" lang="ja-JP" sz="36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网与关键路径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Shape 45"/>
          <p:cNvGrpSpPr/>
          <p:nvPr/>
        </p:nvGrpSpPr>
        <p:grpSpPr>
          <a:xfrm>
            <a:off x="380880" y="5334120"/>
            <a:ext cx="8000640" cy="945720"/>
            <a:chOff x="380880" y="5334120"/>
            <a:chExt cx="8000640" cy="945720"/>
          </a:xfrm>
        </p:grpSpPr>
        <p:sp>
          <p:nvSpPr>
            <p:cNvPr id="136" name="Shape 46"/>
            <p:cNvSpPr/>
            <p:nvPr/>
          </p:nvSpPr>
          <p:spPr>
            <a:xfrm>
              <a:off x="1143000" y="5334120"/>
              <a:ext cx="7238520" cy="94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能否从某个地方出发，穿过所有的桥仅一次后再回到出发点？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137" name="Shape 47" descr=""/>
            <p:cNvPicPr/>
            <p:nvPr/>
          </p:nvPicPr>
          <p:blipFill>
            <a:blip r:embed="rId1"/>
            <a:stretch/>
          </p:blipFill>
          <p:spPr>
            <a:xfrm>
              <a:off x="380880" y="5486400"/>
              <a:ext cx="609120" cy="5979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38" name="Shape 48"/>
          <p:cNvGrpSpPr/>
          <p:nvPr/>
        </p:nvGrpSpPr>
        <p:grpSpPr>
          <a:xfrm>
            <a:off x="971640" y="1268280"/>
            <a:ext cx="7467120" cy="3886200"/>
            <a:chOff x="971640" y="1268280"/>
            <a:chExt cx="7467120" cy="3886200"/>
          </a:xfrm>
        </p:grpSpPr>
        <p:sp>
          <p:nvSpPr>
            <p:cNvPr id="139" name="Shape 49"/>
            <p:cNvSpPr/>
            <p:nvPr/>
          </p:nvSpPr>
          <p:spPr>
            <a:xfrm>
              <a:off x="1563840" y="2333520"/>
              <a:ext cx="1949040" cy="1630080"/>
            </a:xfrm>
            <a:custGeom>
              <a:avLst/>
              <a:gdLst/>
              <a:ahLst/>
              <a:rect l="l" t="t" r="r" b="b"/>
              <a:pathLst>
                <a:path w="1228" h="1027">
                  <a:moveTo>
                    <a:pt x="25" y="289"/>
                  </a:moveTo>
                  <a:cubicBezTo>
                    <a:pt x="44" y="460"/>
                    <a:pt x="19" y="441"/>
                    <a:pt x="108" y="541"/>
                  </a:cubicBezTo>
                  <a:cubicBezTo>
                    <a:pt x="155" y="594"/>
                    <a:pt x="111" y="567"/>
                    <a:pt x="182" y="595"/>
                  </a:cubicBezTo>
                  <a:cubicBezTo>
                    <a:pt x="210" y="635"/>
                    <a:pt x="237" y="670"/>
                    <a:pt x="284" y="685"/>
                  </a:cubicBezTo>
                  <a:cubicBezTo>
                    <a:pt x="308" y="719"/>
                    <a:pt x="335" y="722"/>
                    <a:pt x="367" y="748"/>
                  </a:cubicBezTo>
                  <a:cubicBezTo>
                    <a:pt x="394" y="769"/>
                    <a:pt x="395" y="785"/>
                    <a:pt x="432" y="793"/>
                  </a:cubicBezTo>
                  <a:cubicBezTo>
                    <a:pt x="462" y="799"/>
                    <a:pt x="494" y="799"/>
                    <a:pt x="525" y="802"/>
                  </a:cubicBezTo>
                  <a:cubicBezTo>
                    <a:pt x="648" y="862"/>
                    <a:pt x="763" y="939"/>
                    <a:pt x="895" y="982"/>
                  </a:cubicBezTo>
                  <a:cubicBezTo>
                    <a:pt x="904" y="985"/>
                    <a:pt x="952" y="1006"/>
                    <a:pt x="969" y="1009"/>
                  </a:cubicBezTo>
                  <a:cubicBezTo>
                    <a:pt x="1006" y="1016"/>
                    <a:pt x="1080" y="1027"/>
                    <a:pt x="1080" y="1027"/>
                  </a:cubicBezTo>
                  <a:cubicBezTo>
                    <a:pt x="1101" y="1024"/>
                    <a:pt x="1125" y="1027"/>
                    <a:pt x="1145" y="1018"/>
                  </a:cubicBezTo>
                  <a:cubicBezTo>
                    <a:pt x="1178" y="1002"/>
                    <a:pt x="1181" y="948"/>
                    <a:pt x="1191" y="919"/>
                  </a:cubicBezTo>
                  <a:cubicBezTo>
                    <a:pt x="1185" y="769"/>
                    <a:pt x="1136" y="567"/>
                    <a:pt x="1228" y="433"/>
                  </a:cubicBezTo>
                  <a:cubicBezTo>
                    <a:pt x="1222" y="388"/>
                    <a:pt x="1220" y="342"/>
                    <a:pt x="1209" y="298"/>
                  </a:cubicBezTo>
                  <a:cubicBezTo>
                    <a:pt x="1192" y="222"/>
                    <a:pt x="996" y="228"/>
                    <a:pt x="969" y="226"/>
                  </a:cubicBezTo>
                  <a:cubicBezTo>
                    <a:pt x="903" y="205"/>
                    <a:pt x="856" y="211"/>
                    <a:pt x="793" y="226"/>
                  </a:cubicBezTo>
                  <a:cubicBezTo>
                    <a:pt x="698" y="208"/>
                    <a:pt x="604" y="186"/>
                    <a:pt x="534" y="118"/>
                  </a:cubicBezTo>
                  <a:cubicBezTo>
                    <a:pt x="457" y="94"/>
                    <a:pt x="400" y="0"/>
                    <a:pt x="357" y="1"/>
                  </a:cubicBezTo>
                  <a:cubicBezTo>
                    <a:pt x="340" y="18"/>
                    <a:pt x="258" y="22"/>
                    <a:pt x="241" y="39"/>
                  </a:cubicBezTo>
                  <a:cubicBezTo>
                    <a:pt x="216" y="63"/>
                    <a:pt x="202" y="123"/>
                    <a:pt x="165" y="135"/>
                  </a:cubicBezTo>
                  <a:cubicBezTo>
                    <a:pt x="110" y="153"/>
                    <a:pt x="101" y="212"/>
                    <a:pt x="52" y="244"/>
                  </a:cubicBezTo>
                  <a:cubicBezTo>
                    <a:pt x="13" y="302"/>
                    <a:pt x="0" y="313"/>
                    <a:pt x="25" y="289"/>
                  </a:cubicBezTo>
                  <a:close/>
                </a:path>
              </a:pathLst>
            </a:custGeom>
            <a:gradFill rotWithShape="0">
              <a:gsLst>
                <a:gs pos="0">
                  <a:srgbClr val="99ff66"/>
                </a:gs>
                <a:gs pos="100000">
                  <a:srgbClr val="33cc33"/>
                </a:gs>
              </a:gsLst>
              <a:path path="circle">
                <a:fillToRect l="50000" t="50000" r="50000" b="50000"/>
              </a:path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0" name="Shape 50"/>
            <p:cNvSpPr/>
            <p:nvPr/>
          </p:nvSpPr>
          <p:spPr>
            <a:xfrm>
              <a:off x="971640" y="1268280"/>
              <a:ext cx="6683040" cy="1409400"/>
            </a:xfrm>
            <a:custGeom>
              <a:avLst/>
              <a:gdLst/>
              <a:ahLst/>
              <a:rect l="l" t="t" r="r" b="b"/>
              <a:pathLst>
                <a:path w="3405" h="696">
                  <a:moveTo>
                    <a:pt x="0" y="696"/>
                  </a:moveTo>
                  <a:cubicBezTo>
                    <a:pt x="10" y="654"/>
                    <a:pt x="18" y="639"/>
                    <a:pt x="54" y="615"/>
                  </a:cubicBezTo>
                  <a:cubicBezTo>
                    <a:pt x="91" y="559"/>
                    <a:pt x="50" y="614"/>
                    <a:pt x="99" y="570"/>
                  </a:cubicBezTo>
                  <a:cubicBezTo>
                    <a:pt x="163" y="513"/>
                    <a:pt x="170" y="469"/>
                    <a:pt x="252" y="453"/>
                  </a:cubicBezTo>
                  <a:cubicBezTo>
                    <a:pt x="298" y="422"/>
                    <a:pt x="341" y="403"/>
                    <a:pt x="387" y="372"/>
                  </a:cubicBezTo>
                  <a:cubicBezTo>
                    <a:pt x="396" y="366"/>
                    <a:pt x="405" y="360"/>
                    <a:pt x="414" y="354"/>
                  </a:cubicBezTo>
                  <a:cubicBezTo>
                    <a:pt x="423" y="348"/>
                    <a:pt x="441" y="336"/>
                    <a:pt x="441" y="336"/>
                  </a:cubicBezTo>
                  <a:cubicBezTo>
                    <a:pt x="466" y="298"/>
                    <a:pt x="506" y="286"/>
                    <a:pt x="549" y="273"/>
                  </a:cubicBezTo>
                  <a:cubicBezTo>
                    <a:pt x="616" y="253"/>
                    <a:pt x="678" y="231"/>
                    <a:pt x="747" y="219"/>
                  </a:cubicBezTo>
                  <a:cubicBezTo>
                    <a:pt x="840" y="222"/>
                    <a:pt x="933" y="223"/>
                    <a:pt x="1026" y="228"/>
                  </a:cubicBezTo>
                  <a:cubicBezTo>
                    <a:pt x="1068" y="230"/>
                    <a:pt x="1112" y="257"/>
                    <a:pt x="1152" y="264"/>
                  </a:cubicBezTo>
                  <a:cubicBezTo>
                    <a:pt x="1271" y="284"/>
                    <a:pt x="1384" y="328"/>
                    <a:pt x="1503" y="345"/>
                  </a:cubicBezTo>
                  <a:cubicBezTo>
                    <a:pt x="1538" y="357"/>
                    <a:pt x="1590" y="361"/>
                    <a:pt x="1620" y="381"/>
                  </a:cubicBezTo>
                  <a:cubicBezTo>
                    <a:pt x="1629" y="387"/>
                    <a:pt x="1637" y="396"/>
                    <a:pt x="1647" y="399"/>
                  </a:cubicBezTo>
                  <a:cubicBezTo>
                    <a:pt x="1663" y="404"/>
                    <a:pt x="1764" y="416"/>
                    <a:pt x="1773" y="417"/>
                  </a:cubicBezTo>
                  <a:cubicBezTo>
                    <a:pt x="1844" y="428"/>
                    <a:pt x="1887" y="446"/>
                    <a:pt x="1962" y="453"/>
                  </a:cubicBezTo>
                  <a:cubicBezTo>
                    <a:pt x="2022" y="450"/>
                    <a:pt x="2082" y="451"/>
                    <a:pt x="2142" y="444"/>
                  </a:cubicBezTo>
                  <a:cubicBezTo>
                    <a:pt x="2174" y="440"/>
                    <a:pt x="2218" y="419"/>
                    <a:pt x="2250" y="408"/>
                  </a:cubicBezTo>
                  <a:cubicBezTo>
                    <a:pt x="2267" y="402"/>
                    <a:pt x="2286" y="403"/>
                    <a:pt x="2304" y="399"/>
                  </a:cubicBezTo>
                  <a:cubicBezTo>
                    <a:pt x="2335" y="392"/>
                    <a:pt x="2355" y="371"/>
                    <a:pt x="2385" y="363"/>
                  </a:cubicBezTo>
                  <a:cubicBezTo>
                    <a:pt x="2437" y="349"/>
                    <a:pt x="2497" y="339"/>
                    <a:pt x="2547" y="318"/>
                  </a:cubicBezTo>
                  <a:cubicBezTo>
                    <a:pt x="2672" y="266"/>
                    <a:pt x="2574" y="293"/>
                    <a:pt x="2655" y="273"/>
                  </a:cubicBezTo>
                  <a:cubicBezTo>
                    <a:pt x="2684" y="253"/>
                    <a:pt x="2715" y="246"/>
                    <a:pt x="2745" y="228"/>
                  </a:cubicBezTo>
                  <a:cubicBezTo>
                    <a:pt x="2801" y="194"/>
                    <a:pt x="2856" y="156"/>
                    <a:pt x="2916" y="129"/>
                  </a:cubicBezTo>
                  <a:cubicBezTo>
                    <a:pt x="3015" y="85"/>
                    <a:pt x="3125" y="72"/>
                    <a:pt x="3231" y="66"/>
                  </a:cubicBezTo>
                  <a:cubicBezTo>
                    <a:pt x="3405" y="56"/>
                    <a:pt x="3402" y="0"/>
                    <a:pt x="3402" y="66"/>
                  </a:cubicBezTo>
                </a:path>
              </a:pathLst>
            </a:custGeom>
            <a:noFill/>
            <a:ln w="571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1" name="Shape 51"/>
            <p:cNvSpPr/>
            <p:nvPr/>
          </p:nvSpPr>
          <p:spPr>
            <a:xfrm>
              <a:off x="1119240" y="3807000"/>
              <a:ext cx="7319520" cy="956880"/>
            </a:xfrm>
            <a:custGeom>
              <a:avLst/>
              <a:gdLst/>
              <a:ahLst/>
              <a:rect l="l" t="t" r="r" b="b"/>
              <a:pathLst>
                <a:path w="3753" h="603">
                  <a:moveTo>
                    <a:pt x="0" y="189"/>
                  </a:moveTo>
                  <a:cubicBezTo>
                    <a:pt x="20" y="209"/>
                    <a:pt x="32" y="218"/>
                    <a:pt x="45" y="243"/>
                  </a:cubicBezTo>
                  <a:cubicBezTo>
                    <a:pt x="49" y="251"/>
                    <a:pt x="47" y="263"/>
                    <a:pt x="54" y="270"/>
                  </a:cubicBezTo>
                  <a:cubicBezTo>
                    <a:pt x="116" y="332"/>
                    <a:pt x="184" y="351"/>
                    <a:pt x="252" y="396"/>
                  </a:cubicBezTo>
                  <a:cubicBezTo>
                    <a:pt x="310" y="377"/>
                    <a:pt x="321" y="407"/>
                    <a:pt x="369" y="423"/>
                  </a:cubicBezTo>
                  <a:cubicBezTo>
                    <a:pt x="386" y="429"/>
                    <a:pt x="405" y="429"/>
                    <a:pt x="423" y="432"/>
                  </a:cubicBezTo>
                  <a:cubicBezTo>
                    <a:pt x="479" y="474"/>
                    <a:pt x="544" y="513"/>
                    <a:pt x="612" y="531"/>
                  </a:cubicBezTo>
                  <a:cubicBezTo>
                    <a:pt x="650" y="541"/>
                    <a:pt x="691" y="539"/>
                    <a:pt x="729" y="549"/>
                  </a:cubicBezTo>
                  <a:cubicBezTo>
                    <a:pt x="810" y="569"/>
                    <a:pt x="889" y="591"/>
                    <a:pt x="972" y="603"/>
                  </a:cubicBezTo>
                  <a:cubicBezTo>
                    <a:pt x="1098" y="600"/>
                    <a:pt x="1224" y="600"/>
                    <a:pt x="1350" y="594"/>
                  </a:cubicBezTo>
                  <a:cubicBezTo>
                    <a:pt x="1440" y="590"/>
                    <a:pt x="1532" y="537"/>
                    <a:pt x="1620" y="522"/>
                  </a:cubicBezTo>
                  <a:cubicBezTo>
                    <a:pt x="1670" y="489"/>
                    <a:pt x="1733" y="474"/>
                    <a:pt x="1791" y="459"/>
                  </a:cubicBezTo>
                  <a:cubicBezTo>
                    <a:pt x="1833" y="431"/>
                    <a:pt x="1884" y="442"/>
                    <a:pt x="1926" y="414"/>
                  </a:cubicBezTo>
                  <a:cubicBezTo>
                    <a:pt x="2007" y="360"/>
                    <a:pt x="2103" y="343"/>
                    <a:pt x="2196" y="315"/>
                  </a:cubicBezTo>
                  <a:cubicBezTo>
                    <a:pt x="2259" y="296"/>
                    <a:pt x="2310" y="263"/>
                    <a:pt x="2367" y="234"/>
                  </a:cubicBezTo>
                  <a:cubicBezTo>
                    <a:pt x="2421" y="207"/>
                    <a:pt x="2479" y="187"/>
                    <a:pt x="2529" y="153"/>
                  </a:cubicBezTo>
                  <a:cubicBezTo>
                    <a:pt x="2569" y="93"/>
                    <a:pt x="2522" y="152"/>
                    <a:pt x="2574" y="117"/>
                  </a:cubicBezTo>
                  <a:cubicBezTo>
                    <a:pt x="2585" y="110"/>
                    <a:pt x="2590" y="97"/>
                    <a:pt x="2601" y="90"/>
                  </a:cubicBezTo>
                  <a:cubicBezTo>
                    <a:pt x="2682" y="36"/>
                    <a:pt x="2570" y="134"/>
                    <a:pt x="2655" y="63"/>
                  </a:cubicBezTo>
                  <a:cubicBezTo>
                    <a:pt x="2665" y="55"/>
                    <a:pt x="2672" y="44"/>
                    <a:pt x="2682" y="36"/>
                  </a:cubicBezTo>
                  <a:cubicBezTo>
                    <a:pt x="2699" y="23"/>
                    <a:pt x="2736" y="0"/>
                    <a:pt x="2736" y="0"/>
                  </a:cubicBezTo>
                  <a:cubicBezTo>
                    <a:pt x="2787" y="3"/>
                    <a:pt x="2838" y="2"/>
                    <a:pt x="2889" y="9"/>
                  </a:cubicBezTo>
                  <a:cubicBezTo>
                    <a:pt x="2951" y="17"/>
                    <a:pt x="2997" y="57"/>
                    <a:pt x="3051" y="81"/>
                  </a:cubicBezTo>
                  <a:cubicBezTo>
                    <a:pt x="3108" y="106"/>
                    <a:pt x="3170" y="116"/>
                    <a:pt x="3231" y="126"/>
                  </a:cubicBezTo>
                  <a:cubicBezTo>
                    <a:pt x="3354" y="123"/>
                    <a:pt x="3477" y="125"/>
                    <a:pt x="3600" y="117"/>
                  </a:cubicBezTo>
                  <a:cubicBezTo>
                    <a:pt x="3652" y="114"/>
                    <a:pt x="3707" y="68"/>
                    <a:pt x="3753" y="45"/>
                  </a:cubicBezTo>
                </a:path>
              </a:pathLst>
            </a:custGeom>
            <a:noFill/>
            <a:ln w="5715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" name="Shape 52"/>
            <p:cNvSpPr/>
            <p:nvPr/>
          </p:nvSpPr>
          <p:spPr>
            <a:xfrm>
              <a:off x="5334120" y="2063880"/>
              <a:ext cx="2317320" cy="1485720"/>
            </a:xfrm>
            <a:custGeom>
              <a:avLst/>
              <a:gdLst/>
              <a:ahLst/>
              <a:rect l="l" t="t" r="r" b="b"/>
              <a:pathLst>
                <a:path w="1420" h="936">
                  <a:moveTo>
                    <a:pt x="495" y="72"/>
                  </a:moveTo>
                  <a:cubicBezTo>
                    <a:pt x="388" y="90"/>
                    <a:pt x="251" y="100"/>
                    <a:pt x="171" y="180"/>
                  </a:cubicBezTo>
                  <a:cubicBezTo>
                    <a:pt x="150" y="263"/>
                    <a:pt x="180" y="172"/>
                    <a:pt x="135" y="243"/>
                  </a:cubicBezTo>
                  <a:cubicBezTo>
                    <a:pt x="66" y="353"/>
                    <a:pt x="150" y="240"/>
                    <a:pt x="108" y="315"/>
                  </a:cubicBezTo>
                  <a:cubicBezTo>
                    <a:pt x="97" y="334"/>
                    <a:pt x="87" y="354"/>
                    <a:pt x="72" y="369"/>
                  </a:cubicBezTo>
                  <a:cubicBezTo>
                    <a:pt x="63" y="378"/>
                    <a:pt x="52" y="386"/>
                    <a:pt x="45" y="396"/>
                  </a:cubicBezTo>
                  <a:cubicBezTo>
                    <a:pt x="37" y="407"/>
                    <a:pt x="34" y="421"/>
                    <a:pt x="27" y="432"/>
                  </a:cubicBezTo>
                  <a:cubicBezTo>
                    <a:pt x="19" y="445"/>
                    <a:pt x="9" y="456"/>
                    <a:pt x="0" y="468"/>
                  </a:cubicBezTo>
                  <a:cubicBezTo>
                    <a:pt x="3" y="486"/>
                    <a:pt x="2" y="505"/>
                    <a:pt x="9" y="522"/>
                  </a:cubicBezTo>
                  <a:cubicBezTo>
                    <a:pt x="14" y="534"/>
                    <a:pt x="28" y="539"/>
                    <a:pt x="36" y="549"/>
                  </a:cubicBezTo>
                  <a:cubicBezTo>
                    <a:pt x="57" y="576"/>
                    <a:pt x="79" y="602"/>
                    <a:pt x="99" y="630"/>
                  </a:cubicBezTo>
                  <a:cubicBezTo>
                    <a:pt x="107" y="641"/>
                    <a:pt x="107" y="657"/>
                    <a:pt x="117" y="666"/>
                  </a:cubicBezTo>
                  <a:cubicBezTo>
                    <a:pt x="129" y="677"/>
                    <a:pt x="147" y="678"/>
                    <a:pt x="162" y="684"/>
                  </a:cubicBezTo>
                  <a:cubicBezTo>
                    <a:pt x="295" y="817"/>
                    <a:pt x="614" y="780"/>
                    <a:pt x="747" y="783"/>
                  </a:cubicBezTo>
                  <a:cubicBezTo>
                    <a:pt x="773" y="809"/>
                    <a:pt x="792" y="849"/>
                    <a:pt x="819" y="873"/>
                  </a:cubicBezTo>
                  <a:cubicBezTo>
                    <a:pt x="829" y="882"/>
                    <a:pt x="844" y="883"/>
                    <a:pt x="855" y="891"/>
                  </a:cubicBezTo>
                  <a:cubicBezTo>
                    <a:pt x="902" y="924"/>
                    <a:pt x="885" y="921"/>
                    <a:pt x="945" y="936"/>
                  </a:cubicBezTo>
                  <a:cubicBezTo>
                    <a:pt x="1055" y="914"/>
                    <a:pt x="1106" y="820"/>
                    <a:pt x="1179" y="747"/>
                  </a:cubicBezTo>
                  <a:cubicBezTo>
                    <a:pt x="1198" y="673"/>
                    <a:pt x="1240" y="611"/>
                    <a:pt x="1269" y="540"/>
                  </a:cubicBezTo>
                  <a:cubicBezTo>
                    <a:pt x="1289" y="491"/>
                    <a:pt x="1304" y="439"/>
                    <a:pt x="1314" y="387"/>
                  </a:cubicBezTo>
                  <a:cubicBezTo>
                    <a:pt x="1325" y="206"/>
                    <a:pt x="1298" y="259"/>
                    <a:pt x="1395" y="162"/>
                  </a:cubicBezTo>
                  <a:cubicBezTo>
                    <a:pt x="1420" y="87"/>
                    <a:pt x="1410" y="20"/>
                    <a:pt x="1332" y="0"/>
                  </a:cubicBezTo>
                  <a:cubicBezTo>
                    <a:pt x="1224" y="3"/>
                    <a:pt x="1116" y="4"/>
                    <a:pt x="1008" y="9"/>
                  </a:cubicBezTo>
                  <a:cubicBezTo>
                    <a:pt x="947" y="12"/>
                    <a:pt x="889" y="36"/>
                    <a:pt x="828" y="45"/>
                  </a:cubicBezTo>
                  <a:cubicBezTo>
                    <a:pt x="778" y="62"/>
                    <a:pt x="794" y="61"/>
                    <a:pt x="711" y="45"/>
                  </a:cubicBezTo>
                  <a:cubicBezTo>
                    <a:pt x="692" y="42"/>
                    <a:pt x="675" y="33"/>
                    <a:pt x="657" y="27"/>
                  </a:cubicBezTo>
                  <a:cubicBezTo>
                    <a:pt x="648" y="24"/>
                    <a:pt x="630" y="18"/>
                    <a:pt x="630" y="18"/>
                  </a:cubicBezTo>
                  <a:cubicBezTo>
                    <a:pt x="594" y="21"/>
                    <a:pt x="557" y="20"/>
                    <a:pt x="522" y="27"/>
                  </a:cubicBezTo>
                  <a:cubicBezTo>
                    <a:pt x="511" y="29"/>
                    <a:pt x="497" y="34"/>
                    <a:pt x="495" y="45"/>
                  </a:cubicBezTo>
                  <a:cubicBezTo>
                    <a:pt x="489" y="77"/>
                    <a:pt x="539" y="72"/>
                    <a:pt x="495" y="72"/>
                  </a:cubicBezTo>
                  <a:close/>
                </a:path>
              </a:pathLst>
            </a:custGeom>
            <a:gradFill rotWithShape="0">
              <a:gsLst>
                <a:gs pos="0">
                  <a:srgbClr val="66ff33"/>
                </a:gs>
                <a:gs pos="100000">
                  <a:srgbClr val="99ff33"/>
                </a:gs>
              </a:gsLst>
              <a:path path="circle">
                <a:fillToRect l="50000" t="50000" r="50000" b="50000"/>
              </a:path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" name="Shape 53"/>
            <p:cNvSpPr/>
            <p:nvPr/>
          </p:nvSpPr>
          <p:spPr>
            <a:xfrm>
              <a:off x="1962000" y="1496880"/>
              <a:ext cx="304560" cy="1371240"/>
            </a:xfrm>
            <a:prstGeom prst="rect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9999"/>
                </a:gs>
              </a:gsLst>
              <a:path path="circle">
                <a:fillToRect l="50000" t="50000" r="50000" b="50000"/>
              </a:path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" name="Shape 54"/>
            <p:cNvSpPr/>
            <p:nvPr/>
          </p:nvSpPr>
          <p:spPr>
            <a:xfrm>
              <a:off x="2800440" y="3478320"/>
              <a:ext cx="304560" cy="1676160"/>
            </a:xfrm>
            <a:prstGeom prst="rect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9999"/>
                </a:gs>
              </a:gsLst>
              <a:path path="circle">
                <a:fillToRect l="50000" t="50000" r="50000" b="50000"/>
              </a:path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" name="Shape 55"/>
            <p:cNvSpPr/>
            <p:nvPr/>
          </p:nvSpPr>
          <p:spPr>
            <a:xfrm>
              <a:off x="6083280" y="3059280"/>
              <a:ext cx="380520" cy="1630080"/>
            </a:xfrm>
            <a:prstGeom prst="parallelogram">
              <a:avLst>
                <a:gd name="adj" fmla="val 25000"/>
              </a:avLst>
            </a:prstGeom>
            <a:gradFill rotWithShape="0">
              <a:gsLst>
                <a:gs pos="0">
                  <a:srgbClr val="ffffcc"/>
                </a:gs>
                <a:gs pos="100000">
                  <a:srgbClr val="ff9999"/>
                </a:gs>
              </a:gsLst>
              <a:path path="circle">
                <a:fillToRect l="50000" t="50000" r="50000" b="50000"/>
              </a:path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6" name="Shape 56"/>
            <p:cNvSpPr/>
            <p:nvPr/>
          </p:nvSpPr>
          <p:spPr>
            <a:xfrm rot="21120000">
              <a:off x="3257280" y="2868480"/>
              <a:ext cx="2437920" cy="380520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ffffcc"/>
                </a:gs>
                <a:gs pos="100000">
                  <a:srgbClr val="ff9999"/>
                </a:gs>
              </a:gsLst>
              <a:path path="circle">
                <a:fillToRect l="50000" t="50000" r="50000" b="50000"/>
              </a:path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" name="Shape 57"/>
            <p:cNvSpPr/>
            <p:nvPr/>
          </p:nvSpPr>
          <p:spPr>
            <a:xfrm rot="1380000">
              <a:off x="1672920" y="3240000"/>
              <a:ext cx="360000" cy="1574280"/>
            </a:xfrm>
            <a:prstGeom prst="rect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9999"/>
                </a:gs>
              </a:gsLst>
              <a:path path="circle">
                <a:fillToRect l="50000" t="50000" r="50000" b="50000"/>
              </a:path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" name="Shape 58"/>
            <p:cNvSpPr/>
            <p:nvPr/>
          </p:nvSpPr>
          <p:spPr>
            <a:xfrm rot="1140000">
              <a:off x="2931840" y="1439640"/>
              <a:ext cx="360000" cy="1574280"/>
            </a:xfrm>
            <a:prstGeom prst="rect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9999"/>
                </a:gs>
              </a:gsLst>
              <a:path path="circle">
                <a:fillToRect l="50000" t="50000" r="50000" b="50000"/>
              </a:path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9" name="Shape 59"/>
            <p:cNvSpPr/>
            <p:nvPr/>
          </p:nvSpPr>
          <p:spPr>
            <a:xfrm rot="9600000">
              <a:off x="5902200" y="1349280"/>
              <a:ext cx="315720" cy="1180800"/>
            </a:xfrm>
            <a:prstGeom prst="rect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9999"/>
                </a:gs>
              </a:gsLst>
              <a:path path="circle">
                <a:fillToRect l="50000" t="50000" r="50000" b="50000"/>
              </a:path>
            </a:gra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50" name="Shape 60"/>
          <p:cNvSpPr/>
          <p:nvPr/>
        </p:nvSpPr>
        <p:spPr>
          <a:xfrm>
            <a:off x="1736640" y="279360"/>
            <a:ext cx="5257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44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哥尼斯堡七桥问题 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Shape 65"/>
          <p:cNvGrpSpPr/>
          <p:nvPr/>
        </p:nvGrpSpPr>
        <p:grpSpPr>
          <a:xfrm>
            <a:off x="611280" y="2259000"/>
            <a:ext cx="3404880" cy="3471480"/>
            <a:chOff x="611280" y="2259000"/>
            <a:chExt cx="3404880" cy="3471480"/>
          </a:xfrm>
        </p:grpSpPr>
        <p:sp>
          <p:nvSpPr>
            <p:cNvPr id="152" name="Shape 66"/>
            <p:cNvSpPr/>
            <p:nvPr/>
          </p:nvSpPr>
          <p:spPr>
            <a:xfrm>
              <a:off x="678960" y="2259000"/>
              <a:ext cx="498600" cy="49320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0" anchor="t">
              <a:noAutofit/>
            </a:bodyPr>
            <a:p>
              <a:pPr algn="just">
                <a:lnSpc>
                  <a:spcPct val="8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53" name="Shape 67"/>
            <p:cNvSpPr/>
            <p:nvPr/>
          </p:nvSpPr>
          <p:spPr>
            <a:xfrm>
              <a:off x="680400" y="3738240"/>
              <a:ext cx="498600" cy="49176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0" anchor="t">
              <a:noAutofit/>
            </a:bodyPr>
            <a:p>
              <a:pPr algn="just">
                <a:lnSpc>
                  <a:spcPct val="8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54" name="Shape 68"/>
            <p:cNvSpPr/>
            <p:nvPr/>
          </p:nvSpPr>
          <p:spPr>
            <a:xfrm>
              <a:off x="699120" y="5238720"/>
              <a:ext cx="497160" cy="49176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0" anchor="t">
              <a:noAutofit/>
            </a:bodyPr>
            <a:p>
              <a:pPr algn="just">
                <a:lnSpc>
                  <a:spcPct val="8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55" name="Shape 69"/>
            <p:cNvSpPr/>
            <p:nvPr/>
          </p:nvSpPr>
          <p:spPr>
            <a:xfrm>
              <a:off x="3517560" y="3738240"/>
              <a:ext cx="498600" cy="49176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0" anchor="t">
              <a:noAutofit/>
            </a:bodyPr>
            <a:p>
              <a:pPr algn="just">
                <a:lnSpc>
                  <a:spcPct val="8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56" name="Shape 70"/>
            <p:cNvSpPr/>
            <p:nvPr/>
          </p:nvSpPr>
          <p:spPr>
            <a:xfrm>
              <a:off x="1195200" y="2504880"/>
              <a:ext cx="2395800" cy="1289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7" name="Shape 71"/>
            <p:cNvSpPr/>
            <p:nvPr/>
          </p:nvSpPr>
          <p:spPr>
            <a:xfrm>
              <a:off x="1177920" y="4004280"/>
              <a:ext cx="23248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8" name="Shape 72"/>
            <p:cNvSpPr/>
            <p:nvPr/>
          </p:nvSpPr>
          <p:spPr>
            <a:xfrm flipH="1" rot="10800000">
              <a:off x="1177200" y="4191480"/>
              <a:ext cx="2430360" cy="1307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9" name="Shape 73"/>
            <p:cNvSpPr/>
            <p:nvPr/>
          </p:nvSpPr>
          <p:spPr>
            <a:xfrm>
              <a:off x="611280" y="2714040"/>
              <a:ext cx="198720" cy="1044000"/>
            </a:xfrm>
            <a:custGeom>
              <a:avLst/>
              <a:gdLst/>
              <a:ahLst/>
              <a:rect l="l" t="t" r="r" b="b"/>
              <a:pathLst>
                <a:path w="113" h="600">
                  <a:moveTo>
                    <a:pt x="93" y="0"/>
                  </a:moveTo>
                  <a:cubicBezTo>
                    <a:pt x="78" y="52"/>
                    <a:pt x="0" y="210"/>
                    <a:pt x="3" y="310"/>
                  </a:cubicBezTo>
                  <a:cubicBezTo>
                    <a:pt x="3" y="402"/>
                    <a:pt x="90" y="540"/>
                    <a:pt x="113" y="60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" name="Shape 74"/>
            <p:cNvSpPr/>
            <p:nvPr/>
          </p:nvSpPr>
          <p:spPr>
            <a:xfrm>
              <a:off x="1073880" y="2714040"/>
              <a:ext cx="175680" cy="1060920"/>
            </a:xfrm>
            <a:custGeom>
              <a:avLst/>
              <a:gdLst/>
              <a:ahLst/>
              <a:rect l="l" t="t" r="r" b="b"/>
              <a:pathLst>
                <a:path w="100" h="610">
                  <a:moveTo>
                    <a:pt x="1" y="0"/>
                  </a:moveTo>
                  <a:cubicBezTo>
                    <a:pt x="17" y="50"/>
                    <a:pt x="100" y="198"/>
                    <a:pt x="100" y="300"/>
                  </a:cubicBezTo>
                  <a:cubicBezTo>
                    <a:pt x="100" y="395"/>
                    <a:pt x="21" y="546"/>
                    <a:pt x="0" y="61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" name="Shape 75"/>
            <p:cNvSpPr/>
            <p:nvPr/>
          </p:nvSpPr>
          <p:spPr>
            <a:xfrm>
              <a:off x="630000" y="4211640"/>
              <a:ext cx="198720" cy="1044000"/>
            </a:xfrm>
            <a:custGeom>
              <a:avLst/>
              <a:gdLst/>
              <a:ahLst/>
              <a:rect l="l" t="t" r="r" b="b"/>
              <a:pathLst>
                <a:path w="113" h="600">
                  <a:moveTo>
                    <a:pt x="93" y="0"/>
                  </a:moveTo>
                  <a:cubicBezTo>
                    <a:pt x="78" y="52"/>
                    <a:pt x="0" y="210"/>
                    <a:pt x="3" y="310"/>
                  </a:cubicBezTo>
                  <a:cubicBezTo>
                    <a:pt x="3" y="402"/>
                    <a:pt x="90" y="540"/>
                    <a:pt x="113" y="60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" name="Shape 76"/>
            <p:cNvSpPr/>
            <p:nvPr/>
          </p:nvSpPr>
          <p:spPr>
            <a:xfrm>
              <a:off x="1092600" y="4211640"/>
              <a:ext cx="177120" cy="1060920"/>
            </a:xfrm>
            <a:custGeom>
              <a:avLst/>
              <a:gdLst/>
              <a:ahLst/>
              <a:rect l="l" t="t" r="r" b="b"/>
              <a:pathLst>
                <a:path w="100" h="610">
                  <a:moveTo>
                    <a:pt x="1" y="0"/>
                  </a:moveTo>
                  <a:cubicBezTo>
                    <a:pt x="17" y="50"/>
                    <a:pt x="100" y="198"/>
                    <a:pt x="100" y="300"/>
                  </a:cubicBezTo>
                  <a:cubicBezTo>
                    <a:pt x="100" y="395"/>
                    <a:pt x="21" y="546"/>
                    <a:pt x="0" y="61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63" name="Shape 77"/>
          <p:cNvSpPr/>
          <p:nvPr/>
        </p:nvSpPr>
        <p:spPr>
          <a:xfrm>
            <a:off x="476280" y="1314360"/>
            <a:ext cx="4438440" cy="5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0" tIns="5400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七桥问题的图模型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64" name="Shape 78"/>
          <p:cNvSpPr/>
          <p:nvPr/>
        </p:nvSpPr>
        <p:spPr>
          <a:xfrm>
            <a:off x="1736640" y="279360"/>
            <a:ext cx="5257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44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哥尼斯堡七桥问题 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65" name="Shape 79"/>
          <p:cNvSpPr/>
          <p:nvPr/>
        </p:nvSpPr>
        <p:spPr>
          <a:xfrm>
            <a:off x="4383000" y="1628640"/>
            <a:ext cx="4681080" cy="47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欧拉回路的判定规则：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如果通奇数桥的地方多于两个，则不存在欧拉回路；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如果只有两个地方通奇数桥，可以从这两个地方之一出发，找到欧拉回路；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如果没有一个地方是通奇数桥的，则无论从哪里出发，都能找到欧拉回路。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84"/>
          <p:cNvSpPr/>
          <p:nvPr/>
        </p:nvSpPr>
        <p:spPr>
          <a:xfrm>
            <a:off x="228600" y="1295280"/>
            <a:ext cx="5105160" cy="57924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图的定义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67" name="Shape 85"/>
          <p:cNvSpPr/>
          <p:nvPr/>
        </p:nvSpPr>
        <p:spPr>
          <a:xfrm>
            <a:off x="2411280" y="32400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8" name="Shape 86"/>
          <p:cNvSpPr/>
          <p:nvPr/>
        </p:nvSpPr>
        <p:spPr>
          <a:xfrm>
            <a:off x="550800" y="2036880"/>
            <a:ext cx="8138880" cy="265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图是由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顶点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有穷非空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集合和顶点之间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边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的集合组成，通常表示为：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               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其中：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表示一个图，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是图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中顶点的集合，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是图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中顶点之间边的集合。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9" name="Shape 87"/>
          <p:cNvSpPr/>
          <p:nvPr/>
        </p:nvSpPr>
        <p:spPr>
          <a:xfrm>
            <a:off x="2982960" y="3637080"/>
            <a:ext cx="1854000" cy="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33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Shape 88"/>
          <p:cNvSpPr/>
          <p:nvPr/>
        </p:nvSpPr>
        <p:spPr>
          <a:xfrm>
            <a:off x="542880" y="4780080"/>
            <a:ext cx="8007120" cy="15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在线性表中，元素个数可以为零，称为空表；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在树中，结点个数可以为零，称为空树；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在图中，顶点个数不能为零，但可以没有边。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" dur="indefinite" restart="never" nodeType="tmRoot">
          <p:childTnLst>
            <p:seq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93"/>
          <p:cNvSpPr/>
          <p:nvPr/>
        </p:nvSpPr>
        <p:spPr>
          <a:xfrm>
            <a:off x="2286000" y="22860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2" name="Shape 94"/>
          <p:cNvSpPr/>
          <p:nvPr/>
        </p:nvSpPr>
        <p:spPr>
          <a:xfrm>
            <a:off x="2968560" y="2606760"/>
            <a:ext cx="563832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如果图的任意两个顶点之间的边都是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无向边，则称该图为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无向图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73" name="Shape 95"/>
          <p:cNvSpPr/>
          <p:nvPr/>
        </p:nvSpPr>
        <p:spPr>
          <a:xfrm>
            <a:off x="3048120" y="1523880"/>
            <a:ext cx="556236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若顶点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之间的边没有方向，则称这条边为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无向边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，表示为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,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74" name="Shape 96"/>
          <p:cNvSpPr/>
          <p:nvPr/>
        </p:nvSpPr>
        <p:spPr>
          <a:xfrm>
            <a:off x="2901960" y="4114800"/>
            <a:ext cx="563832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若从顶点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到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的边有方向，则称这条边为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有向边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，表示为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,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。</a:t>
            </a:r>
            <a:r>
              <a:rPr b="1" lang="en-US" sz="2800" spc="-1" strike="noStrike">
                <a:solidFill>
                  <a:srgbClr val="ff0000"/>
                </a:solidFill>
                <a:latin typeface="Arial"/>
                <a:ea typeface="Arial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75" name="Shape 97"/>
          <p:cNvSpPr/>
          <p:nvPr/>
        </p:nvSpPr>
        <p:spPr>
          <a:xfrm>
            <a:off x="2975040" y="5257800"/>
            <a:ext cx="540972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如果图的任意两个顶点之间的边都是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有向边，则称该图为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有向图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。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176" name="Shape 98"/>
          <p:cNvGrpSpPr/>
          <p:nvPr/>
        </p:nvGrpSpPr>
        <p:grpSpPr>
          <a:xfrm>
            <a:off x="349200" y="1495440"/>
            <a:ext cx="2481120" cy="598320"/>
            <a:chOff x="349200" y="1495440"/>
            <a:chExt cx="2481120" cy="598320"/>
          </a:xfrm>
        </p:grpSpPr>
        <p:sp>
          <p:nvSpPr>
            <p:cNvPr id="177" name="Shape 99"/>
            <p:cNvSpPr/>
            <p:nvPr/>
          </p:nvSpPr>
          <p:spPr>
            <a:xfrm>
              <a:off x="349200" y="1547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" name="Shape 100"/>
            <p:cNvSpPr/>
            <p:nvPr/>
          </p:nvSpPr>
          <p:spPr>
            <a:xfrm>
              <a:off x="415800" y="14986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79" name="Shape 101"/>
            <p:cNvSpPr/>
            <p:nvPr/>
          </p:nvSpPr>
          <p:spPr>
            <a:xfrm>
              <a:off x="819000" y="175248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" name="Shape 102"/>
            <p:cNvSpPr/>
            <p:nvPr/>
          </p:nvSpPr>
          <p:spPr>
            <a:xfrm>
              <a:off x="2300400" y="1544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" name="Shape 103"/>
            <p:cNvSpPr/>
            <p:nvPr/>
          </p:nvSpPr>
          <p:spPr>
            <a:xfrm>
              <a:off x="2367000" y="1495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82" name="Shape 104"/>
          <p:cNvGrpSpPr/>
          <p:nvPr/>
        </p:nvGrpSpPr>
        <p:grpSpPr>
          <a:xfrm>
            <a:off x="274680" y="1878120"/>
            <a:ext cx="2555640" cy="1875960"/>
            <a:chOff x="274680" y="1878120"/>
            <a:chExt cx="2555640" cy="1875960"/>
          </a:xfrm>
        </p:grpSpPr>
        <p:sp>
          <p:nvSpPr>
            <p:cNvPr id="183" name="Shape 105"/>
            <p:cNvSpPr/>
            <p:nvPr/>
          </p:nvSpPr>
          <p:spPr>
            <a:xfrm>
              <a:off x="696960" y="2803680"/>
              <a:ext cx="571320" cy="563040"/>
            </a:xfrm>
            <a:custGeom>
              <a:avLst/>
              <a:gdLst/>
              <a:ahLst/>
              <a:rect l="l" t="t" r="r" b="b"/>
              <a:pathLst>
                <a:path w="300" h="300">
                  <a:moveTo>
                    <a:pt x="300" y="0"/>
                  </a:moveTo>
                  <a:lnTo>
                    <a:pt x="0" y="3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" name="Shape 106"/>
            <p:cNvSpPr/>
            <p:nvPr/>
          </p:nvSpPr>
          <p:spPr>
            <a:xfrm>
              <a:off x="2557440" y="2021040"/>
              <a:ext cx="360" cy="1234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" name="Shape 107"/>
            <p:cNvSpPr/>
            <p:nvPr/>
          </p:nvSpPr>
          <p:spPr>
            <a:xfrm>
              <a:off x="1695600" y="1878120"/>
              <a:ext cx="659880" cy="66492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" name="Shape 108"/>
            <p:cNvSpPr/>
            <p:nvPr/>
          </p:nvSpPr>
          <p:spPr>
            <a:xfrm>
              <a:off x="1736640" y="2819520"/>
              <a:ext cx="642600" cy="553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" name="Shape 109"/>
            <p:cNvSpPr/>
            <p:nvPr/>
          </p:nvSpPr>
          <p:spPr>
            <a:xfrm>
              <a:off x="492120" y="202716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" name="Shape 110"/>
            <p:cNvSpPr/>
            <p:nvPr/>
          </p:nvSpPr>
          <p:spPr>
            <a:xfrm>
              <a:off x="1270080" y="24652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" name="Shape 111"/>
            <p:cNvSpPr/>
            <p:nvPr/>
          </p:nvSpPr>
          <p:spPr>
            <a:xfrm>
              <a:off x="1336680" y="2416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90" name="Shape 112"/>
            <p:cNvSpPr/>
            <p:nvPr/>
          </p:nvSpPr>
          <p:spPr>
            <a:xfrm>
              <a:off x="274680" y="320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" name="Shape 113"/>
            <p:cNvSpPr/>
            <p:nvPr/>
          </p:nvSpPr>
          <p:spPr>
            <a:xfrm>
              <a:off x="341280" y="315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92" name="Shape 114"/>
            <p:cNvSpPr/>
            <p:nvPr/>
          </p:nvSpPr>
          <p:spPr>
            <a:xfrm>
              <a:off x="2300400" y="3205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" name="Shape 115"/>
            <p:cNvSpPr/>
            <p:nvPr/>
          </p:nvSpPr>
          <p:spPr>
            <a:xfrm>
              <a:off x="2367000" y="31561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94" name="Shape 116"/>
          <p:cNvGrpSpPr/>
          <p:nvPr/>
        </p:nvGrpSpPr>
        <p:grpSpPr>
          <a:xfrm>
            <a:off x="363600" y="4135320"/>
            <a:ext cx="2463480" cy="608040"/>
            <a:chOff x="363600" y="4135320"/>
            <a:chExt cx="2463480" cy="608040"/>
          </a:xfrm>
        </p:grpSpPr>
        <p:sp>
          <p:nvSpPr>
            <p:cNvPr id="195" name="Shape 117"/>
            <p:cNvSpPr/>
            <p:nvPr/>
          </p:nvSpPr>
          <p:spPr>
            <a:xfrm>
              <a:off x="861840" y="4422600"/>
              <a:ext cx="1431720" cy="1080"/>
            </a:xfrm>
            <a:custGeom>
              <a:avLst/>
              <a:gdLst/>
              <a:ahLst/>
              <a:rect l="l" t="t" r="r" b="b"/>
              <a:pathLst>
                <a:path w="901" h="7">
                  <a:moveTo>
                    <a:pt x="0" y="7"/>
                  </a:moveTo>
                  <a:lnTo>
                    <a:pt x="90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" name="Shape 118"/>
            <p:cNvSpPr/>
            <p:nvPr/>
          </p:nvSpPr>
          <p:spPr>
            <a:xfrm>
              <a:off x="363600" y="4184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" name="Shape 119"/>
            <p:cNvSpPr/>
            <p:nvPr/>
          </p:nvSpPr>
          <p:spPr>
            <a:xfrm>
              <a:off x="430200" y="4135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98" name="Shape 120"/>
            <p:cNvSpPr/>
            <p:nvPr/>
          </p:nvSpPr>
          <p:spPr>
            <a:xfrm>
              <a:off x="2297160" y="4197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" name="Shape 121"/>
            <p:cNvSpPr/>
            <p:nvPr/>
          </p:nvSpPr>
          <p:spPr>
            <a:xfrm>
              <a:off x="2363760" y="41482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00" name="Shape 122"/>
          <p:cNvGrpSpPr/>
          <p:nvPr/>
        </p:nvGrpSpPr>
        <p:grpSpPr>
          <a:xfrm>
            <a:off x="355680" y="4581720"/>
            <a:ext cx="2457000" cy="1888560"/>
            <a:chOff x="355680" y="4581720"/>
            <a:chExt cx="2457000" cy="1888560"/>
          </a:xfrm>
        </p:grpSpPr>
        <p:sp>
          <p:nvSpPr>
            <p:cNvPr id="201" name="Shape 123"/>
            <p:cNvSpPr/>
            <p:nvPr/>
          </p:nvSpPr>
          <p:spPr>
            <a:xfrm>
              <a:off x="612720" y="4684680"/>
              <a:ext cx="360" cy="1272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2" name="Shape 124"/>
            <p:cNvSpPr/>
            <p:nvPr/>
          </p:nvSpPr>
          <p:spPr>
            <a:xfrm>
              <a:off x="830160" y="6192720"/>
              <a:ext cx="1474560" cy="1080"/>
            </a:xfrm>
            <a:custGeom>
              <a:avLst/>
              <a:gdLst/>
              <a:ahLst/>
              <a:rect l="l" t="t" r="r" b="b"/>
              <a:pathLst>
                <a:path w="901" h="5">
                  <a:moveTo>
                    <a:pt x="0" y="0"/>
                  </a:moveTo>
                  <a:lnTo>
                    <a:pt x="901" y="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3" name="Shape 125"/>
            <p:cNvSpPr/>
            <p:nvPr/>
          </p:nvSpPr>
          <p:spPr>
            <a:xfrm rot="10800000">
              <a:off x="800640" y="4581720"/>
              <a:ext cx="1566360" cy="1393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" name="Shape 126"/>
            <p:cNvSpPr/>
            <p:nvPr/>
          </p:nvSpPr>
          <p:spPr>
            <a:xfrm>
              <a:off x="355680" y="59245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5" name="Shape 127"/>
            <p:cNvSpPr/>
            <p:nvPr/>
          </p:nvSpPr>
          <p:spPr>
            <a:xfrm>
              <a:off x="422280" y="58752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06" name="Shape 128"/>
            <p:cNvSpPr/>
            <p:nvPr/>
          </p:nvSpPr>
          <p:spPr>
            <a:xfrm>
              <a:off x="2282760" y="59212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7" name="Shape 129"/>
            <p:cNvSpPr/>
            <p:nvPr/>
          </p:nvSpPr>
          <p:spPr>
            <a:xfrm>
              <a:off x="2349360" y="5872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134"/>
          <p:cNvSpPr/>
          <p:nvPr/>
        </p:nvSpPr>
        <p:spPr>
          <a:xfrm>
            <a:off x="2286000" y="22860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9" name="Shape 135"/>
          <p:cNvSpPr/>
          <p:nvPr/>
        </p:nvSpPr>
        <p:spPr>
          <a:xfrm>
            <a:off x="228600" y="1371600"/>
            <a:ext cx="4876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图的基本术语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10" name="Shape 136"/>
          <p:cNvSpPr/>
          <p:nvPr/>
        </p:nvSpPr>
        <p:spPr>
          <a:xfrm>
            <a:off x="304920" y="1981080"/>
            <a:ext cx="853416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简单图：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在图中，若不存在顶点到其自身的边，且同一条边不重复出现。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11" name="Shape 137"/>
          <p:cNvSpPr/>
          <p:nvPr/>
        </p:nvSpPr>
        <p:spPr>
          <a:xfrm rot="18120000">
            <a:off x="250560" y="3024360"/>
            <a:ext cx="458280" cy="398160"/>
          </a:xfrm>
          <a:prstGeom prst="blockArc">
            <a:avLst>
              <a:gd name="adj1" fmla="val 9164415"/>
              <a:gd name="adj2" fmla="val 10800"/>
              <a:gd name="adj3" fmla="val 25000"/>
            </a:avLst>
          </a:prstGeom>
          <a:solidFill>
            <a:schemeClr val="dk1"/>
          </a:solidFill>
          <a:ln w="38100">
            <a:solidFill>
              <a:srgbClr val="ff33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Shape 138"/>
          <p:cNvSpPr/>
          <p:nvPr/>
        </p:nvSpPr>
        <p:spPr>
          <a:xfrm>
            <a:off x="3833640" y="3449520"/>
            <a:ext cx="1510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33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Shape 139"/>
          <p:cNvSpPr/>
          <p:nvPr/>
        </p:nvSpPr>
        <p:spPr>
          <a:xfrm>
            <a:off x="884160" y="5483160"/>
            <a:ext cx="791028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非简单图                非简单图                 简单图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14" name="Shape 140"/>
          <p:cNvSpPr/>
          <p:nvPr/>
        </p:nvSpPr>
        <p:spPr>
          <a:xfrm>
            <a:off x="320760" y="6111720"/>
            <a:ext cx="861012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Clr>
                <a:srgbClr val="3333cc"/>
              </a:buClr>
              <a:buFont typeface="Noto Sans Symbols"/>
              <a:buChar char="❖"/>
            </a:pPr>
            <a:r>
              <a:rPr b="1" lang="en-US" sz="2800" spc="-1" strike="noStrike">
                <a:solidFill>
                  <a:srgbClr val="3333cc"/>
                </a:solidFill>
                <a:latin typeface="Arial"/>
                <a:ea typeface="Arial"/>
              </a:rPr>
              <a:t> </a:t>
            </a: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数据结构中讨论的都是简单图。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215" name="Shape 141"/>
          <p:cNvGrpSpPr/>
          <p:nvPr/>
        </p:nvGrpSpPr>
        <p:grpSpPr>
          <a:xfrm>
            <a:off x="390600" y="3087720"/>
            <a:ext cx="2481120" cy="598320"/>
            <a:chOff x="390600" y="3087720"/>
            <a:chExt cx="2481120" cy="598320"/>
          </a:xfrm>
        </p:grpSpPr>
        <p:sp>
          <p:nvSpPr>
            <p:cNvPr id="216" name="Shape 142"/>
            <p:cNvSpPr/>
            <p:nvPr/>
          </p:nvSpPr>
          <p:spPr>
            <a:xfrm>
              <a:off x="390600" y="31399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" name="Shape 143"/>
            <p:cNvSpPr/>
            <p:nvPr/>
          </p:nvSpPr>
          <p:spPr>
            <a:xfrm>
              <a:off x="457200" y="30909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18" name="Shape 144"/>
            <p:cNvSpPr/>
            <p:nvPr/>
          </p:nvSpPr>
          <p:spPr>
            <a:xfrm>
              <a:off x="860400" y="334476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9" name="Shape 145"/>
            <p:cNvSpPr/>
            <p:nvPr/>
          </p:nvSpPr>
          <p:spPr>
            <a:xfrm>
              <a:off x="2341440" y="31370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0" name="Shape 146"/>
            <p:cNvSpPr/>
            <p:nvPr/>
          </p:nvSpPr>
          <p:spPr>
            <a:xfrm>
              <a:off x="2408400" y="3087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21" name="Shape 147"/>
          <p:cNvGrpSpPr/>
          <p:nvPr/>
        </p:nvGrpSpPr>
        <p:grpSpPr>
          <a:xfrm>
            <a:off x="316080" y="3470400"/>
            <a:ext cx="2555640" cy="1875960"/>
            <a:chOff x="316080" y="3470400"/>
            <a:chExt cx="2555640" cy="1875960"/>
          </a:xfrm>
        </p:grpSpPr>
        <p:sp>
          <p:nvSpPr>
            <p:cNvPr id="222" name="Shape 148"/>
            <p:cNvSpPr/>
            <p:nvPr/>
          </p:nvSpPr>
          <p:spPr>
            <a:xfrm>
              <a:off x="738360" y="4395960"/>
              <a:ext cx="571320" cy="563040"/>
            </a:xfrm>
            <a:custGeom>
              <a:avLst/>
              <a:gdLst/>
              <a:ahLst/>
              <a:rect l="l" t="t" r="r" b="b"/>
              <a:pathLst>
                <a:path w="300" h="300">
                  <a:moveTo>
                    <a:pt x="300" y="0"/>
                  </a:moveTo>
                  <a:lnTo>
                    <a:pt x="0" y="3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3" name="Shape 149"/>
            <p:cNvSpPr/>
            <p:nvPr/>
          </p:nvSpPr>
          <p:spPr>
            <a:xfrm>
              <a:off x="2598840" y="3613320"/>
              <a:ext cx="360" cy="1234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4" name="Shape 150"/>
            <p:cNvSpPr/>
            <p:nvPr/>
          </p:nvSpPr>
          <p:spPr>
            <a:xfrm>
              <a:off x="1736640" y="3470400"/>
              <a:ext cx="659880" cy="66492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5" name="Shape 151"/>
            <p:cNvSpPr/>
            <p:nvPr/>
          </p:nvSpPr>
          <p:spPr>
            <a:xfrm>
              <a:off x="1778040" y="4411800"/>
              <a:ext cx="642600" cy="553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6" name="Shape 152"/>
            <p:cNvSpPr/>
            <p:nvPr/>
          </p:nvSpPr>
          <p:spPr>
            <a:xfrm>
              <a:off x="533520" y="361944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7" name="Shape 153"/>
            <p:cNvSpPr/>
            <p:nvPr/>
          </p:nvSpPr>
          <p:spPr>
            <a:xfrm>
              <a:off x="1311120" y="4057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8" name="Shape 154"/>
            <p:cNvSpPr/>
            <p:nvPr/>
          </p:nvSpPr>
          <p:spPr>
            <a:xfrm>
              <a:off x="1378080" y="40086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29" name="Shape 155"/>
            <p:cNvSpPr/>
            <p:nvPr/>
          </p:nvSpPr>
          <p:spPr>
            <a:xfrm>
              <a:off x="316080" y="48006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0" name="Shape 156"/>
            <p:cNvSpPr/>
            <p:nvPr/>
          </p:nvSpPr>
          <p:spPr>
            <a:xfrm>
              <a:off x="382680" y="47512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31" name="Shape 157"/>
            <p:cNvSpPr/>
            <p:nvPr/>
          </p:nvSpPr>
          <p:spPr>
            <a:xfrm>
              <a:off x="2341440" y="47973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2" name="Shape 158"/>
            <p:cNvSpPr/>
            <p:nvPr/>
          </p:nvSpPr>
          <p:spPr>
            <a:xfrm>
              <a:off x="2408400" y="47480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33" name="Shape 159"/>
          <p:cNvGrpSpPr/>
          <p:nvPr/>
        </p:nvGrpSpPr>
        <p:grpSpPr>
          <a:xfrm>
            <a:off x="3368520" y="3100320"/>
            <a:ext cx="2481120" cy="598320"/>
            <a:chOff x="3368520" y="3100320"/>
            <a:chExt cx="2481120" cy="598320"/>
          </a:xfrm>
        </p:grpSpPr>
        <p:sp>
          <p:nvSpPr>
            <p:cNvPr id="234" name="Shape 160"/>
            <p:cNvSpPr/>
            <p:nvPr/>
          </p:nvSpPr>
          <p:spPr>
            <a:xfrm>
              <a:off x="3368520" y="31528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5" name="Shape 161"/>
            <p:cNvSpPr/>
            <p:nvPr/>
          </p:nvSpPr>
          <p:spPr>
            <a:xfrm>
              <a:off x="3435480" y="31035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36" name="Shape 162"/>
            <p:cNvSpPr/>
            <p:nvPr/>
          </p:nvSpPr>
          <p:spPr>
            <a:xfrm>
              <a:off x="3838680" y="335772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7" name="Shape 163"/>
            <p:cNvSpPr/>
            <p:nvPr/>
          </p:nvSpPr>
          <p:spPr>
            <a:xfrm>
              <a:off x="5319720" y="3149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8" name="Shape 164"/>
            <p:cNvSpPr/>
            <p:nvPr/>
          </p:nvSpPr>
          <p:spPr>
            <a:xfrm>
              <a:off x="5386320" y="3100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39" name="Shape 165"/>
          <p:cNvGrpSpPr/>
          <p:nvPr/>
        </p:nvGrpSpPr>
        <p:grpSpPr>
          <a:xfrm>
            <a:off x="3294000" y="3483000"/>
            <a:ext cx="2555640" cy="1876320"/>
            <a:chOff x="3294000" y="3483000"/>
            <a:chExt cx="2555640" cy="1876320"/>
          </a:xfrm>
        </p:grpSpPr>
        <p:sp>
          <p:nvSpPr>
            <p:cNvPr id="240" name="Shape 166"/>
            <p:cNvSpPr/>
            <p:nvPr/>
          </p:nvSpPr>
          <p:spPr>
            <a:xfrm>
              <a:off x="3716280" y="4408560"/>
              <a:ext cx="571320" cy="563040"/>
            </a:xfrm>
            <a:custGeom>
              <a:avLst/>
              <a:gdLst/>
              <a:ahLst/>
              <a:rect l="l" t="t" r="r" b="b"/>
              <a:pathLst>
                <a:path w="300" h="300">
                  <a:moveTo>
                    <a:pt x="300" y="0"/>
                  </a:moveTo>
                  <a:lnTo>
                    <a:pt x="0" y="3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1" name="Shape 167"/>
            <p:cNvSpPr/>
            <p:nvPr/>
          </p:nvSpPr>
          <p:spPr>
            <a:xfrm>
              <a:off x="5576760" y="3625920"/>
              <a:ext cx="360" cy="1234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" name="Shape 168"/>
            <p:cNvSpPr/>
            <p:nvPr/>
          </p:nvSpPr>
          <p:spPr>
            <a:xfrm>
              <a:off x="4714920" y="3483000"/>
              <a:ext cx="659880" cy="66492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" name="Shape 169"/>
            <p:cNvSpPr/>
            <p:nvPr/>
          </p:nvSpPr>
          <p:spPr>
            <a:xfrm>
              <a:off x="4756320" y="4424400"/>
              <a:ext cx="642600" cy="553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4" name="Shape 170"/>
            <p:cNvSpPr/>
            <p:nvPr/>
          </p:nvSpPr>
          <p:spPr>
            <a:xfrm>
              <a:off x="3511440" y="363204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5" name="Shape 171"/>
            <p:cNvSpPr/>
            <p:nvPr/>
          </p:nvSpPr>
          <p:spPr>
            <a:xfrm>
              <a:off x="4289400" y="40705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6" name="Shape 172"/>
            <p:cNvSpPr/>
            <p:nvPr/>
          </p:nvSpPr>
          <p:spPr>
            <a:xfrm>
              <a:off x="4356000" y="40212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47" name="Shape 173"/>
            <p:cNvSpPr/>
            <p:nvPr/>
          </p:nvSpPr>
          <p:spPr>
            <a:xfrm>
              <a:off x="3294000" y="48132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8" name="Shape 174"/>
            <p:cNvSpPr/>
            <p:nvPr/>
          </p:nvSpPr>
          <p:spPr>
            <a:xfrm>
              <a:off x="3360600" y="4764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49" name="Shape 175"/>
            <p:cNvSpPr/>
            <p:nvPr/>
          </p:nvSpPr>
          <p:spPr>
            <a:xfrm>
              <a:off x="5319720" y="48099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0" name="Shape 176"/>
            <p:cNvSpPr/>
            <p:nvPr/>
          </p:nvSpPr>
          <p:spPr>
            <a:xfrm>
              <a:off x="5386320" y="4761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51" name="Shape 177"/>
          <p:cNvGrpSpPr/>
          <p:nvPr/>
        </p:nvGrpSpPr>
        <p:grpSpPr>
          <a:xfrm>
            <a:off x="6237360" y="3105000"/>
            <a:ext cx="2481120" cy="598320"/>
            <a:chOff x="6237360" y="3105000"/>
            <a:chExt cx="2481120" cy="598320"/>
          </a:xfrm>
        </p:grpSpPr>
        <p:sp>
          <p:nvSpPr>
            <p:cNvPr id="252" name="Shape 178"/>
            <p:cNvSpPr/>
            <p:nvPr/>
          </p:nvSpPr>
          <p:spPr>
            <a:xfrm>
              <a:off x="6237360" y="3157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3" name="Shape 179"/>
            <p:cNvSpPr/>
            <p:nvPr/>
          </p:nvSpPr>
          <p:spPr>
            <a:xfrm>
              <a:off x="6303960" y="3108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54" name="Shape 180"/>
            <p:cNvSpPr/>
            <p:nvPr/>
          </p:nvSpPr>
          <p:spPr>
            <a:xfrm>
              <a:off x="6707160" y="336240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5" name="Shape 181"/>
            <p:cNvSpPr/>
            <p:nvPr/>
          </p:nvSpPr>
          <p:spPr>
            <a:xfrm>
              <a:off x="8188200" y="3154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6" name="Shape 182"/>
            <p:cNvSpPr/>
            <p:nvPr/>
          </p:nvSpPr>
          <p:spPr>
            <a:xfrm>
              <a:off x="8255160" y="3105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57" name="Shape 183"/>
          <p:cNvGrpSpPr/>
          <p:nvPr/>
        </p:nvGrpSpPr>
        <p:grpSpPr>
          <a:xfrm>
            <a:off x="6162840" y="3487680"/>
            <a:ext cx="2555640" cy="1876320"/>
            <a:chOff x="6162840" y="3487680"/>
            <a:chExt cx="2555640" cy="1876320"/>
          </a:xfrm>
        </p:grpSpPr>
        <p:sp>
          <p:nvSpPr>
            <p:cNvPr id="258" name="Shape 184"/>
            <p:cNvSpPr/>
            <p:nvPr/>
          </p:nvSpPr>
          <p:spPr>
            <a:xfrm>
              <a:off x="6585120" y="4413240"/>
              <a:ext cx="571320" cy="563040"/>
            </a:xfrm>
            <a:custGeom>
              <a:avLst/>
              <a:gdLst/>
              <a:ahLst/>
              <a:rect l="l" t="t" r="r" b="b"/>
              <a:pathLst>
                <a:path w="300" h="300">
                  <a:moveTo>
                    <a:pt x="300" y="0"/>
                  </a:moveTo>
                  <a:lnTo>
                    <a:pt x="0" y="3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9" name="Shape 185"/>
            <p:cNvSpPr/>
            <p:nvPr/>
          </p:nvSpPr>
          <p:spPr>
            <a:xfrm>
              <a:off x="8445600" y="3630600"/>
              <a:ext cx="360" cy="1234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0" name="Shape 186"/>
            <p:cNvSpPr/>
            <p:nvPr/>
          </p:nvSpPr>
          <p:spPr>
            <a:xfrm>
              <a:off x="7583400" y="3487680"/>
              <a:ext cx="659880" cy="66492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1" name="Shape 187"/>
            <p:cNvSpPr/>
            <p:nvPr/>
          </p:nvSpPr>
          <p:spPr>
            <a:xfrm>
              <a:off x="7624800" y="4429080"/>
              <a:ext cx="642600" cy="553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2" name="Shape 188"/>
            <p:cNvSpPr/>
            <p:nvPr/>
          </p:nvSpPr>
          <p:spPr>
            <a:xfrm>
              <a:off x="6380280" y="363708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3" name="Shape 189"/>
            <p:cNvSpPr/>
            <p:nvPr/>
          </p:nvSpPr>
          <p:spPr>
            <a:xfrm>
              <a:off x="7157880" y="40752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4" name="Shape 190"/>
            <p:cNvSpPr/>
            <p:nvPr/>
          </p:nvSpPr>
          <p:spPr>
            <a:xfrm>
              <a:off x="7224840" y="40258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65" name="Shape 191"/>
            <p:cNvSpPr/>
            <p:nvPr/>
          </p:nvSpPr>
          <p:spPr>
            <a:xfrm>
              <a:off x="6162840" y="4818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6" name="Shape 192"/>
            <p:cNvSpPr/>
            <p:nvPr/>
          </p:nvSpPr>
          <p:spPr>
            <a:xfrm>
              <a:off x="6229440" y="4768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67" name="Shape 193"/>
            <p:cNvSpPr/>
            <p:nvPr/>
          </p:nvSpPr>
          <p:spPr>
            <a:xfrm>
              <a:off x="8188200" y="48150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8" name="Shape 194"/>
            <p:cNvSpPr/>
            <p:nvPr/>
          </p:nvSpPr>
          <p:spPr>
            <a:xfrm>
              <a:off x="8255160" y="47656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199"/>
          <p:cNvSpPr/>
          <p:nvPr/>
        </p:nvSpPr>
        <p:spPr>
          <a:xfrm>
            <a:off x="2286000" y="22860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70" name="Shape 200"/>
          <p:cNvSpPr/>
          <p:nvPr/>
        </p:nvSpPr>
        <p:spPr>
          <a:xfrm>
            <a:off x="228600" y="1371600"/>
            <a:ext cx="4876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图的基本术语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71" name="Shape 201"/>
          <p:cNvSpPr/>
          <p:nvPr/>
        </p:nvSpPr>
        <p:spPr>
          <a:xfrm>
            <a:off x="239760" y="2085840"/>
            <a:ext cx="8321400" cy="21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邻接、依附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无向图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中，对于任意两个顶点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，若存在边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，则称顶点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互为邻接点，同时称边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依附于顶点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2" name="Shape 202"/>
          <p:cNvSpPr/>
          <p:nvPr/>
        </p:nvSpPr>
        <p:spPr>
          <a:xfrm>
            <a:off x="563400" y="4968720"/>
            <a:ext cx="34286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Shape 203"/>
          <p:cNvSpPr/>
          <p:nvPr/>
        </p:nvSpPr>
        <p:spPr>
          <a:xfrm>
            <a:off x="684360" y="4710240"/>
            <a:ext cx="4130280" cy="11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0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的邻接点：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1 </a:t>
            </a:r>
            <a:r>
              <a:rPr b="1" lang="ja-JP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、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1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的邻接点：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0 </a:t>
            </a:r>
            <a:r>
              <a:rPr b="1" lang="ja-JP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、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2 </a:t>
            </a:r>
            <a:r>
              <a:rPr b="1" lang="ja-JP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、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274" name="Shape 204"/>
          <p:cNvGrpSpPr/>
          <p:nvPr/>
        </p:nvGrpSpPr>
        <p:grpSpPr>
          <a:xfrm>
            <a:off x="5751360" y="4059360"/>
            <a:ext cx="2481120" cy="597960"/>
            <a:chOff x="5751360" y="4059360"/>
            <a:chExt cx="2481120" cy="597960"/>
          </a:xfrm>
        </p:grpSpPr>
        <p:sp>
          <p:nvSpPr>
            <p:cNvPr id="275" name="Shape 205"/>
            <p:cNvSpPr/>
            <p:nvPr/>
          </p:nvSpPr>
          <p:spPr>
            <a:xfrm>
              <a:off x="5751360" y="4111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6" name="Shape 206"/>
            <p:cNvSpPr/>
            <p:nvPr/>
          </p:nvSpPr>
          <p:spPr>
            <a:xfrm>
              <a:off x="5818320" y="4062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77" name="Shape 207"/>
            <p:cNvSpPr/>
            <p:nvPr/>
          </p:nvSpPr>
          <p:spPr>
            <a:xfrm>
              <a:off x="6221520" y="431640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8" name="Shape 208"/>
            <p:cNvSpPr/>
            <p:nvPr/>
          </p:nvSpPr>
          <p:spPr>
            <a:xfrm>
              <a:off x="7702560" y="410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9" name="Shape 209"/>
            <p:cNvSpPr/>
            <p:nvPr/>
          </p:nvSpPr>
          <p:spPr>
            <a:xfrm>
              <a:off x="7769160" y="40593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80" name="Shape 210"/>
          <p:cNvGrpSpPr/>
          <p:nvPr/>
        </p:nvGrpSpPr>
        <p:grpSpPr>
          <a:xfrm>
            <a:off x="5676840" y="4441680"/>
            <a:ext cx="2555640" cy="1876320"/>
            <a:chOff x="5676840" y="4441680"/>
            <a:chExt cx="2555640" cy="1876320"/>
          </a:xfrm>
        </p:grpSpPr>
        <p:sp>
          <p:nvSpPr>
            <p:cNvPr id="281" name="Shape 211"/>
            <p:cNvSpPr/>
            <p:nvPr/>
          </p:nvSpPr>
          <p:spPr>
            <a:xfrm>
              <a:off x="6099120" y="5367240"/>
              <a:ext cx="571320" cy="563040"/>
            </a:xfrm>
            <a:custGeom>
              <a:avLst/>
              <a:gdLst/>
              <a:ahLst/>
              <a:rect l="l" t="t" r="r" b="b"/>
              <a:pathLst>
                <a:path w="300" h="300">
                  <a:moveTo>
                    <a:pt x="300" y="0"/>
                  </a:moveTo>
                  <a:lnTo>
                    <a:pt x="0" y="3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2" name="Shape 212"/>
            <p:cNvSpPr/>
            <p:nvPr/>
          </p:nvSpPr>
          <p:spPr>
            <a:xfrm>
              <a:off x="7959600" y="4584600"/>
              <a:ext cx="360" cy="1234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3" name="Shape 213"/>
            <p:cNvSpPr/>
            <p:nvPr/>
          </p:nvSpPr>
          <p:spPr>
            <a:xfrm>
              <a:off x="7097760" y="4441680"/>
              <a:ext cx="659880" cy="66492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4" name="Shape 214"/>
            <p:cNvSpPr/>
            <p:nvPr/>
          </p:nvSpPr>
          <p:spPr>
            <a:xfrm>
              <a:off x="7139160" y="5383080"/>
              <a:ext cx="642600" cy="553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5" name="Shape 215"/>
            <p:cNvSpPr/>
            <p:nvPr/>
          </p:nvSpPr>
          <p:spPr>
            <a:xfrm>
              <a:off x="5894280" y="459108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6" name="Shape 216"/>
            <p:cNvSpPr/>
            <p:nvPr/>
          </p:nvSpPr>
          <p:spPr>
            <a:xfrm>
              <a:off x="6672240" y="50292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7" name="Shape 217"/>
            <p:cNvSpPr/>
            <p:nvPr/>
          </p:nvSpPr>
          <p:spPr>
            <a:xfrm>
              <a:off x="6738840" y="49798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88" name="Shape 218"/>
            <p:cNvSpPr/>
            <p:nvPr/>
          </p:nvSpPr>
          <p:spPr>
            <a:xfrm>
              <a:off x="5676840" y="5772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9" name="Shape 219"/>
            <p:cNvSpPr/>
            <p:nvPr/>
          </p:nvSpPr>
          <p:spPr>
            <a:xfrm>
              <a:off x="5743440" y="5722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90" name="Shape 220"/>
            <p:cNvSpPr/>
            <p:nvPr/>
          </p:nvSpPr>
          <p:spPr>
            <a:xfrm>
              <a:off x="7702560" y="57690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1" name="Shape 221"/>
            <p:cNvSpPr/>
            <p:nvPr/>
          </p:nvSpPr>
          <p:spPr>
            <a:xfrm>
              <a:off x="7769160" y="57196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26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93" name="Shape 227"/>
          <p:cNvSpPr/>
          <p:nvPr/>
        </p:nvSpPr>
        <p:spPr>
          <a:xfrm>
            <a:off x="228600" y="1371600"/>
            <a:ext cx="4876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图的基本术语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94" name="Shape 228"/>
          <p:cNvSpPr/>
          <p:nvPr/>
        </p:nvSpPr>
        <p:spPr>
          <a:xfrm>
            <a:off x="239760" y="2085840"/>
            <a:ext cx="8321400" cy="21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邻接、依附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有向图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中，对于任意两个顶点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，若存在弧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，则称顶点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邻接到顶点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邻接自顶点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同时称弧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依附于顶点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和顶点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295" name="Shape 229"/>
          <p:cNvGrpSpPr/>
          <p:nvPr/>
        </p:nvGrpSpPr>
        <p:grpSpPr>
          <a:xfrm>
            <a:off x="736560" y="4303800"/>
            <a:ext cx="2471400" cy="2334960"/>
            <a:chOff x="736560" y="4303800"/>
            <a:chExt cx="2471400" cy="2334960"/>
          </a:xfrm>
        </p:grpSpPr>
        <p:grpSp>
          <p:nvGrpSpPr>
            <p:cNvPr id="296" name="Shape 230"/>
            <p:cNvGrpSpPr/>
            <p:nvPr/>
          </p:nvGrpSpPr>
          <p:grpSpPr>
            <a:xfrm>
              <a:off x="744480" y="4303800"/>
              <a:ext cx="2463480" cy="607680"/>
              <a:chOff x="744480" y="4303800"/>
              <a:chExt cx="2463480" cy="607680"/>
            </a:xfrm>
          </p:grpSpPr>
          <p:sp>
            <p:nvSpPr>
              <p:cNvPr id="297" name="Shape 231"/>
              <p:cNvSpPr/>
              <p:nvPr/>
            </p:nvSpPr>
            <p:spPr>
              <a:xfrm>
                <a:off x="1243080" y="4591080"/>
                <a:ext cx="1431720" cy="1080"/>
              </a:xfrm>
              <a:custGeom>
                <a:avLst/>
                <a:gdLst/>
                <a:ahLst/>
                <a:rect l="l" t="t" r="r" b="b"/>
                <a:pathLst>
                  <a:path w="901" h="7">
                    <a:moveTo>
                      <a:pt x="0" y="7"/>
                    </a:moveTo>
                    <a:lnTo>
                      <a:pt x="90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8" name="Shape 232"/>
              <p:cNvSpPr/>
              <p:nvPr/>
            </p:nvSpPr>
            <p:spPr>
              <a:xfrm>
                <a:off x="744480" y="435276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9" name="Shape 233"/>
              <p:cNvSpPr/>
              <p:nvPr/>
            </p:nvSpPr>
            <p:spPr>
              <a:xfrm>
                <a:off x="811080" y="430380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0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300" name="Shape 234"/>
              <p:cNvSpPr/>
              <p:nvPr/>
            </p:nvSpPr>
            <p:spPr>
              <a:xfrm>
                <a:off x="2678040" y="436572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1" name="Shape 235"/>
              <p:cNvSpPr/>
              <p:nvPr/>
            </p:nvSpPr>
            <p:spPr>
              <a:xfrm>
                <a:off x="2744640" y="431640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1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302" name="Shape 236"/>
            <p:cNvGrpSpPr/>
            <p:nvPr/>
          </p:nvGrpSpPr>
          <p:grpSpPr>
            <a:xfrm>
              <a:off x="736560" y="4750200"/>
              <a:ext cx="2457360" cy="1888560"/>
              <a:chOff x="736560" y="4750200"/>
              <a:chExt cx="2457360" cy="1888560"/>
            </a:xfrm>
          </p:grpSpPr>
          <p:sp>
            <p:nvSpPr>
              <p:cNvPr id="303" name="Shape 237"/>
              <p:cNvSpPr/>
              <p:nvPr/>
            </p:nvSpPr>
            <p:spPr>
              <a:xfrm>
                <a:off x="993600" y="4853160"/>
                <a:ext cx="360" cy="1272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4" name="Shape 238"/>
              <p:cNvSpPr/>
              <p:nvPr/>
            </p:nvSpPr>
            <p:spPr>
              <a:xfrm>
                <a:off x="1211400" y="6361200"/>
                <a:ext cx="1474560" cy="1080"/>
              </a:xfrm>
              <a:custGeom>
                <a:avLst/>
                <a:gdLst/>
                <a:ahLst/>
                <a:rect l="l" t="t" r="r" b="b"/>
                <a:pathLst>
                  <a:path w="901" h="5">
                    <a:moveTo>
                      <a:pt x="0" y="0"/>
                    </a:moveTo>
                    <a:lnTo>
                      <a:pt x="901" y="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5" name="Shape 239"/>
              <p:cNvSpPr/>
              <p:nvPr/>
            </p:nvSpPr>
            <p:spPr>
              <a:xfrm rot="10800000">
                <a:off x="1181520" y="4750200"/>
                <a:ext cx="1566360" cy="13935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6" name="Shape 240"/>
              <p:cNvSpPr/>
              <p:nvPr/>
            </p:nvSpPr>
            <p:spPr>
              <a:xfrm>
                <a:off x="736560" y="60930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7" name="Shape 241"/>
              <p:cNvSpPr/>
              <p:nvPr/>
            </p:nvSpPr>
            <p:spPr>
              <a:xfrm>
                <a:off x="803160" y="60436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2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308" name="Shape 242"/>
              <p:cNvSpPr/>
              <p:nvPr/>
            </p:nvSpPr>
            <p:spPr>
              <a:xfrm>
                <a:off x="2664000" y="608976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09" name="Shape 243"/>
              <p:cNvSpPr/>
              <p:nvPr/>
            </p:nvSpPr>
            <p:spPr>
              <a:xfrm>
                <a:off x="2730600" y="604044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3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sp>
        <p:nvSpPr>
          <p:cNvPr id="310" name="Shape 244"/>
          <p:cNvSpPr/>
          <p:nvPr/>
        </p:nvSpPr>
        <p:spPr>
          <a:xfrm>
            <a:off x="4206960" y="4802040"/>
            <a:ext cx="3885840" cy="11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0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的邻接点：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1 </a:t>
            </a:r>
            <a:r>
              <a:rPr b="1" lang="ja-JP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、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2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2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的邻接点：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" dur="indefinite" restart="never" nodeType="tmRoot">
          <p:childTnLst>
            <p:seq>
              <p:cTn id="27" dur="indefinite" nodeType="mainSeq">
                <p:childTnLst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249"/>
          <p:cNvSpPr/>
          <p:nvPr/>
        </p:nvSpPr>
        <p:spPr>
          <a:xfrm>
            <a:off x="380880" y="5286240"/>
            <a:ext cx="8762760" cy="13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在线性结构中，数据元素之间仅具有线性关系；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在树结构中，结点之间具有层次关系；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在图结构中，任意两个顶点之间都可能有关系。 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312" name="Shape 250"/>
          <p:cNvGrpSpPr/>
          <p:nvPr/>
        </p:nvGrpSpPr>
        <p:grpSpPr>
          <a:xfrm>
            <a:off x="1305000" y="1270080"/>
            <a:ext cx="6487560" cy="1076040"/>
            <a:chOff x="1305000" y="1270080"/>
            <a:chExt cx="6487560" cy="1076040"/>
          </a:xfrm>
        </p:grpSpPr>
        <p:grpSp>
          <p:nvGrpSpPr>
            <p:cNvPr id="313" name="Shape 251"/>
            <p:cNvGrpSpPr/>
            <p:nvPr/>
          </p:nvGrpSpPr>
          <p:grpSpPr>
            <a:xfrm>
              <a:off x="1305000" y="1270080"/>
              <a:ext cx="6487560" cy="655200"/>
              <a:chOff x="1305000" y="1270080"/>
              <a:chExt cx="6487560" cy="655200"/>
            </a:xfrm>
          </p:grpSpPr>
          <p:sp>
            <p:nvSpPr>
              <p:cNvPr id="314" name="Shape 252"/>
              <p:cNvSpPr/>
              <p:nvPr/>
            </p:nvSpPr>
            <p:spPr>
              <a:xfrm>
                <a:off x="1305000" y="130968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3399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5" name="Shape 253"/>
              <p:cNvSpPr/>
              <p:nvPr/>
            </p:nvSpPr>
            <p:spPr>
              <a:xfrm>
                <a:off x="2490840" y="131112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3399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6" name="Shape 254"/>
              <p:cNvSpPr/>
              <p:nvPr/>
            </p:nvSpPr>
            <p:spPr>
              <a:xfrm>
                <a:off x="3697200" y="133992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3399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7" name="Shape 255"/>
              <p:cNvSpPr/>
              <p:nvPr/>
            </p:nvSpPr>
            <p:spPr>
              <a:xfrm>
                <a:off x="6105600" y="132408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3399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8" name="Shape 256"/>
              <p:cNvSpPr/>
              <p:nvPr/>
            </p:nvSpPr>
            <p:spPr>
              <a:xfrm>
                <a:off x="7324560" y="131904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3399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9" name="Shape 257"/>
              <p:cNvSpPr/>
              <p:nvPr/>
            </p:nvSpPr>
            <p:spPr>
              <a:xfrm>
                <a:off x="7375680" y="127944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F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320" name="Shape 258"/>
              <p:cNvSpPr/>
              <p:nvPr/>
            </p:nvSpPr>
            <p:spPr>
              <a:xfrm>
                <a:off x="6156360" y="128412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E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321" name="Shape 259"/>
              <p:cNvSpPr/>
              <p:nvPr/>
            </p:nvSpPr>
            <p:spPr>
              <a:xfrm>
                <a:off x="3747960" y="130032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C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322" name="Shape 260"/>
              <p:cNvSpPr/>
              <p:nvPr/>
            </p:nvSpPr>
            <p:spPr>
              <a:xfrm>
                <a:off x="2541600" y="127152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B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323" name="Shape 261"/>
              <p:cNvSpPr/>
              <p:nvPr/>
            </p:nvSpPr>
            <p:spPr>
              <a:xfrm>
                <a:off x="1355760" y="127008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A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324" name="Shape 262"/>
              <p:cNvSpPr/>
              <p:nvPr/>
            </p:nvSpPr>
            <p:spPr>
              <a:xfrm>
                <a:off x="4906800" y="133812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3399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5" name="Shape 263"/>
              <p:cNvSpPr/>
              <p:nvPr/>
            </p:nvSpPr>
            <p:spPr>
              <a:xfrm>
                <a:off x="4957920" y="131292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D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326" name="Shape 264"/>
              <p:cNvSpPr/>
              <p:nvPr/>
            </p:nvSpPr>
            <p:spPr>
              <a:xfrm>
                <a:off x="1752480" y="1552680"/>
                <a:ext cx="7459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7" name="Shape 265"/>
              <p:cNvSpPr/>
              <p:nvPr/>
            </p:nvSpPr>
            <p:spPr>
              <a:xfrm>
                <a:off x="2955960" y="1552680"/>
                <a:ext cx="7459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8" name="Shape 266"/>
              <p:cNvSpPr/>
              <p:nvPr/>
            </p:nvSpPr>
            <p:spPr>
              <a:xfrm>
                <a:off x="4175280" y="1550880"/>
                <a:ext cx="7459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9" name="Shape 267"/>
              <p:cNvSpPr/>
              <p:nvPr/>
            </p:nvSpPr>
            <p:spPr>
              <a:xfrm>
                <a:off x="5378400" y="1550880"/>
                <a:ext cx="7459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0" name="Shape 268"/>
              <p:cNvSpPr/>
              <p:nvPr/>
            </p:nvSpPr>
            <p:spPr>
              <a:xfrm>
                <a:off x="6567480" y="1550880"/>
                <a:ext cx="7459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331" name="Shape 269"/>
            <p:cNvSpPr/>
            <p:nvPr/>
          </p:nvSpPr>
          <p:spPr>
            <a:xfrm>
              <a:off x="3200400" y="1827360"/>
              <a:ext cx="253008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Arial"/>
                  <a:ea typeface="Arial"/>
                </a:rPr>
                <a:t>线性结构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32" name="Shape 270"/>
          <p:cNvGrpSpPr/>
          <p:nvPr/>
        </p:nvGrpSpPr>
        <p:grpSpPr>
          <a:xfrm>
            <a:off x="888840" y="2303640"/>
            <a:ext cx="3106440" cy="3011040"/>
            <a:chOff x="888840" y="2303640"/>
            <a:chExt cx="3106440" cy="3011040"/>
          </a:xfrm>
        </p:grpSpPr>
        <p:grpSp>
          <p:nvGrpSpPr>
            <p:cNvPr id="333" name="Shape 271"/>
            <p:cNvGrpSpPr/>
            <p:nvPr/>
          </p:nvGrpSpPr>
          <p:grpSpPr>
            <a:xfrm>
              <a:off x="888840" y="2303640"/>
              <a:ext cx="3106440" cy="2529720"/>
              <a:chOff x="888840" y="2303640"/>
              <a:chExt cx="3106440" cy="2529720"/>
            </a:xfrm>
          </p:grpSpPr>
          <p:sp>
            <p:nvSpPr>
              <p:cNvPr id="334" name="Shape 272"/>
              <p:cNvSpPr/>
              <p:nvPr/>
            </p:nvSpPr>
            <p:spPr>
              <a:xfrm flipH="1">
                <a:off x="1794600" y="2679840"/>
                <a:ext cx="510840" cy="5616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5" name="Shape 273"/>
              <p:cNvSpPr/>
              <p:nvPr/>
            </p:nvSpPr>
            <p:spPr>
              <a:xfrm>
                <a:off x="2679840" y="2709720"/>
                <a:ext cx="510840" cy="5616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6" name="Shape 274"/>
              <p:cNvSpPr/>
              <p:nvPr/>
            </p:nvSpPr>
            <p:spPr>
              <a:xfrm flipH="1">
                <a:off x="1172520" y="3591000"/>
                <a:ext cx="340920" cy="5616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7" name="Shape 275"/>
              <p:cNvSpPr/>
              <p:nvPr/>
            </p:nvSpPr>
            <p:spPr>
              <a:xfrm flipH="1">
                <a:off x="2888640" y="3662280"/>
                <a:ext cx="255240" cy="5616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8" name="Shape 276"/>
              <p:cNvSpPr/>
              <p:nvPr/>
            </p:nvSpPr>
            <p:spPr>
              <a:xfrm>
                <a:off x="3432240" y="3662280"/>
                <a:ext cx="264600" cy="6188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9" name="Shape 277"/>
              <p:cNvSpPr/>
              <p:nvPr/>
            </p:nvSpPr>
            <p:spPr>
              <a:xfrm>
                <a:off x="2271600" y="234324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b400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0" name="Shape 278"/>
              <p:cNvSpPr/>
              <p:nvPr/>
            </p:nvSpPr>
            <p:spPr>
              <a:xfrm>
                <a:off x="2322360" y="230364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A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341" name="Shape 279"/>
              <p:cNvSpPr/>
              <p:nvPr/>
            </p:nvSpPr>
            <p:spPr>
              <a:xfrm>
                <a:off x="1401840" y="317016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b400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2" name="Shape 280"/>
              <p:cNvSpPr/>
              <p:nvPr/>
            </p:nvSpPr>
            <p:spPr>
              <a:xfrm>
                <a:off x="1452600" y="313056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B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343" name="Shape 281"/>
              <p:cNvSpPr/>
              <p:nvPr/>
            </p:nvSpPr>
            <p:spPr>
              <a:xfrm>
                <a:off x="3052800" y="323064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b400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4" name="Shape 282"/>
              <p:cNvSpPr/>
              <p:nvPr/>
            </p:nvSpPr>
            <p:spPr>
              <a:xfrm>
                <a:off x="3103560" y="319104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C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345" name="Shape 283"/>
              <p:cNvSpPr/>
              <p:nvPr/>
            </p:nvSpPr>
            <p:spPr>
              <a:xfrm>
                <a:off x="888840" y="414324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b400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6" name="Shape 284"/>
              <p:cNvSpPr/>
              <p:nvPr/>
            </p:nvSpPr>
            <p:spPr>
              <a:xfrm>
                <a:off x="939960" y="411804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D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347" name="Shape 285"/>
              <p:cNvSpPr/>
              <p:nvPr/>
            </p:nvSpPr>
            <p:spPr>
              <a:xfrm>
                <a:off x="2657520" y="421812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b400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8" name="Shape 286"/>
              <p:cNvSpPr/>
              <p:nvPr/>
            </p:nvSpPr>
            <p:spPr>
              <a:xfrm>
                <a:off x="2708280" y="417816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E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349" name="Shape 287"/>
              <p:cNvSpPr/>
              <p:nvPr/>
            </p:nvSpPr>
            <p:spPr>
              <a:xfrm>
                <a:off x="3527280" y="426096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b400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0" name="Shape 288"/>
              <p:cNvSpPr/>
              <p:nvPr/>
            </p:nvSpPr>
            <p:spPr>
              <a:xfrm>
                <a:off x="3578400" y="422100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F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sp>
          <p:nvSpPr>
            <p:cNvPr id="351" name="Shape 289"/>
            <p:cNvSpPr/>
            <p:nvPr/>
          </p:nvSpPr>
          <p:spPr>
            <a:xfrm>
              <a:off x="1219320" y="4795920"/>
              <a:ext cx="253008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Arial"/>
                  <a:ea typeface="Arial"/>
                </a:rPr>
                <a:t>树结构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52" name="Shape 290"/>
          <p:cNvSpPr/>
          <p:nvPr/>
        </p:nvSpPr>
        <p:spPr>
          <a:xfrm>
            <a:off x="1682640" y="351000"/>
            <a:ext cx="5987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不同结构中逻辑关系的对比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353" name="Shape 291"/>
          <p:cNvGrpSpPr/>
          <p:nvPr/>
        </p:nvGrpSpPr>
        <p:grpSpPr>
          <a:xfrm>
            <a:off x="5291280" y="2549520"/>
            <a:ext cx="2555640" cy="2717280"/>
            <a:chOff x="5291280" y="2549520"/>
            <a:chExt cx="2555640" cy="2717280"/>
          </a:xfrm>
        </p:grpSpPr>
        <p:grpSp>
          <p:nvGrpSpPr>
            <p:cNvPr id="354" name="Shape 292"/>
            <p:cNvGrpSpPr/>
            <p:nvPr/>
          </p:nvGrpSpPr>
          <p:grpSpPr>
            <a:xfrm>
              <a:off x="5291280" y="2549520"/>
              <a:ext cx="2555640" cy="2258640"/>
              <a:chOff x="5291280" y="2549520"/>
              <a:chExt cx="2555640" cy="2258640"/>
            </a:xfrm>
          </p:grpSpPr>
          <p:grpSp>
            <p:nvGrpSpPr>
              <p:cNvPr id="355" name="Shape 293"/>
              <p:cNvGrpSpPr/>
              <p:nvPr/>
            </p:nvGrpSpPr>
            <p:grpSpPr>
              <a:xfrm>
                <a:off x="5365800" y="2549520"/>
                <a:ext cx="2481120" cy="598320"/>
                <a:chOff x="5365800" y="2549520"/>
                <a:chExt cx="2481120" cy="598320"/>
              </a:xfrm>
            </p:grpSpPr>
            <p:sp>
              <p:nvSpPr>
                <p:cNvPr id="356" name="Shape 294"/>
                <p:cNvSpPr/>
                <p:nvPr/>
              </p:nvSpPr>
              <p:spPr>
                <a:xfrm>
                  <a:off x="5365800" y="260208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57" name="Shape 295"/>
                <p:cNvSpPr/>
                <p:nvPr/>
              </p:nvSpPr>
              <p:spPr>
                <a:xfrm>
                  <a:off x="5432400" y="255276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0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  <p:sp>
              <p:nvSpPr>
                <p:cNvPr id="358" name="Shape 296"/>
                <p:cNvSpPr/>
                <p:nvPr/>
              </p:nvSpPr>
              <p:spPr>
                <a:xfrm>
                  <a:off x="5835600" y="2806560"/>
                  <a:ext cx="1510920" cy="3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2160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59" name="Shape 297"/>
                <p:cNvSpPr/>
                <p:nvPr/>
              </p:nvSpPr>
              <p:spPr>
                <a:xfrm>
                  <a:off x="7316640" y="259884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60" name="Shape 298"/>
                <p:cNvSpPr/>
                <p:nvPr/>
              </p:nvSpPr>
              <p:spPr>
                <a:xfrm>
                  <a:off x="7383600" y="254952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1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</p:grpSp>
          <p:grpSp>
            <p:nvGrpSpPr>
              <p:cNvPr id="361" name="Shape 299"/>
              <p:cNvGrpSpPr/>
              <p:nvPr/>
            </p:nvGrpSpPr>
            <p:grpSpPr>
              <a:xfrm>
                <a:off x="5291280" y="2932200"/>
                <a:ext cx="2555640" cy="1875960"/>
                <a:chOff x="5291280" y="2932200"/>
                <a:chExt cx="2555640" cy="1875960"/>
              </a:xfrm>
            </p:grpSpPr>
            <p:sp>
              <p:nvSpPr>
                <p:cNvPr id="362" name="Shape 300"/>
                <p:cNvSpPr/>
                <p:nvPr/>
              </p:nvSpPr>
              <p:spPr>
                <a:xfrm>
                  <a:off x="5713560" y="3857760"/>
                  <a:ext cx="571320" cy="563040"/>
                </a:xfrm>
                <a:custGeom>
                  <a:avLst/>
                  <a:gdLst/>
                  <a:ahLst/>
                  <a:rect l="l" t="t" r="r" b="b"/>
                  <a:pathLst>
                    <a:path w="300" h="300">
                      <a:moveTo>
                        <a:pt x="300" y="0"/>
                      </a:moveTo>
                      <a:lnTo>
                        <a:pt x="0" y="30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63" name="Shape 301"/>
                <p:cNvSpPr/>
                <p:nvPr/>
              </p:nvSpPr>
              <p:spPr>
                <a:xfrm>
                  <a:off x="7574040" y="3075120"/>
                  <a:ext cx="360" cy="123480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2160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64" name="Shape 302"/>
                <p:cNvSpPr/>
                <p:nvPr/>
              </p:nvSpPr>
              <p:spPr>
                <a:xfrm>
                  <a:off x="6711840" y="2932200"/>
                  <a:ext cx="659880" cy="664920"/>
                </a:xfrm>
                <a:custGeom>
                  <a:avLst/>
                  <a:gdLst/>
                  <a:ahLst/>
                  <a:rect l="l" t="t" r="r" b="b"/>
                  <a:pathLst>
                    <a:path w="375" h="375">
                      <a:moveTo>
                        <a:pt x="375" y="0"/>
                      </a:moveTo>
                      <a:lnTo>
                        <a:pt x="0" y="375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65" name="Shape 303"/>
                <p:cNvSpPr/>
                <p:nvPr/>
              </p:nvSpPr>
              <p:spPr>
                <a:xfrm>
                  <a:off x="6753240" y="3873600"/>
                  <a:ext cx="642600" cy="55368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2160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66" name="Shape 304"/>
                <p:cNvSpPr/>
                <p:nvPr/>
              </p:nvSpPr>
              <p:spPr>
                <a:xfrm>
                  <a:off x="5508720" y="3081240"/>
                  <a:ext cx="360" cy="120600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2160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67" name="Shape 305"/>
                <p:cNvSpPr/>
                <p:nvPr/>
              </p:nvSpPr>
              <p:spPr>
                <a:xfrm>
                  <a:off x="6286680" y="351936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68" name="Shape 306"/>
                <p:cNvSpPr/>
                <p:nvPr/>
              </p:nvSpPr>
              <p:spPr>
                <a:xfrm>
                  <a:off x="6353280" y="347040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2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  <p:sp>
              <p:nvSpPr>
                <p:cNvPr id="369" name="Shape 307"/>
                <p:cNvSpPr/>
                <p:nvPr/>
              </p:nvSpPr>
              <p:spPr>
                <a:xfrm>
                  <a:off x="5291280" y="426240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70" name="Shape 308"/>
                <p:cNvSpPr/>
                <p:nvPr/>
              </p:nvSpPr>
              <p:spPr>
                <a:xfrm>
                  <a:off x="5357880" y="421308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3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  <p:sp>
              <p:nvSpPr>
                <p:cNvPr id="371" name="Shape 309"/>
                <p:cNvSpPr/>
                <p:nvPr/>
              </p:nvSpPr>
              <p:spPr>
                <a:xfrm>
                  <a:off x="7316640" y="425916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72" name="Shape 310"/>
                <p:cNvSpPr/>
                <p:nvPr/>
              </p:nvSpPr>
              <p:spPr>
                <a:xfrm>
                  <a:off x="7383600" y="421020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4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</p:grpSp>
        </p:grpSp>
        <p:sp>
          <p:nvSpPr>
            <p:cNvPr id="373" name="Shape 311"/>
            <p:cNvSpPr/>
            <p:nvPr/>
          </p:nvSpPr>
          <p:spPr>
            <a:xfrm>
              <a:off x="5445000" y="4748040"/>
              <a:ext cx="2161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Arial"/>
                  <a:ea typeface="Arial"/>
                </a:rPr>
                <a:t>图结构</a:t>
              </a:r>
              <a:endParaRPr b="0" lang="en-US" sz="2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" dur="indefinite" restart="never" nodeType="tmRoot">
          <p:childTnLst>
            <p:seq>
              <p:cTn id="34" dur="indefinite" nodeType="mainSeq">
                <p:childTnLst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" dur="500"/>
                                        <p:tgtEl>
                                          <p:spTgt spid="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" dur="500"/>
                                        <p:tgtEl>
                                          <p:spTgt spid="3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" dur="500"/>
                                        <p:tgtEl>
                                          <p:spTgt spid="3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316"/>
          <p:cNvSpPr/>
          <p:nvPr/>
        </p:nvSpPr>
        <p:spPr>
          <a:xfrm>
            <a:off x="380880" y="5286240"/>
            <a:ext cx="8762760" cy="13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在线性结构中，元素之间的关系为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前驱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和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后继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；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在树结构中，结点之间的关系为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双亲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和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孩子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；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在图结构中，顶点之间的关系为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邻接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。 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375" name="Shape 317"/>
          <p:cNvGrpSpPr/>
          <p:nvPr/>
        </p:nvGrpSpPr>
        <p:grpSpPr>
          <a:xfrm>
            <a:off x="1305000" y="1270080"/>
            <a:ext cx="6487560" cy="1076040"/>
            <a:chOff x="1305000" y="1270080"/>
            <a:chExt cx="6487560" cy="1076040"/>
          </a:xfrm>
        </p:grpSpPr>
        <p:grpSp>
          <p:nvGrpSpPr>
            <p:cNvPr id="376" name="Shape 318"/>
            <p:cNvGrpSpPr/>
            <p:nvPr/>
          </p:nvGrpSpPr>
          <p:grpSpPr>
            <a:xfrm>
              <a:off x="1305000" y="1270080"/>
              <a:ext cx="6487560" cy="655200"/>
              <a:chOff x="1305000" y="1270080"/>
              <a:chExt cx="6487560" cy="655200"/>
            </a:xfrm>
          </p:grpSpPr>
          <p:sp>
            <p:nvSpPr>
              <p:cNvPr id="377" name="Shape 319"/>
              <p:cNvSpPr/>
              <p:nvPr/>
            </p:nvSpPr>
            <p:spPr>
              <a:xfrm>
                <a:off x="1305000" y="130968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3399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8" name="Shape 320"/>
              <p:cNvSpPr/>
              <p:nvPr/>
            </p:nvSpPr>
            <p:spPr>
              <a:xfrm>
                <a:off x="2490840" y="131112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3399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9" name="Shape 321"/>
              <p:cNvSpPr/>
              <p:nvPr/>
            </p:nvSpPr>
            <p:spPr>
              <a:xfrm>
                <a:off x="3697200" y="133992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3399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0" name="Shape 322"/>
              <p:cNvSpPr/>
              <p:nvPr/>
            </p:nvSpPr>
            <p:spPr>
              <a:xfrm>
                <a:off x="6105600" y="132408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3399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1" name="Shape 323"/>
              <p:cNvSpPr/>
              <p:nvPr/>
            </p:nvSpPr>
            <p:spPr>
              <a:xfrm>
                <a:off x="7324560" y="131904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3399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2" name="Shape 324"/>
              <p:cNvSpPr/>
              <p:nvPr/>
            </p:nvSpPr>
            <p:spPr>
              <a:xfrm>
                <a:off x="7375680" y="127944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F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383" name="Shape 325"/>
              <p:cNvSpPr/>
              <p:nvPr/>
            </p:nvSpPr>
            <p:spPr>
              <a:xfrm>
                <a:off x="6156360" y="128412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E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384" name="Shape 326"/>
              <p:cNvSpPr/>
              <p:nvPr/>
            </p:nvSpPr>
            <p:spPr>
              <a:xfrm>
                <a:off x="3747960" y="130032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C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385" name="Shape 327"/>
              <p:cNvSpPr/>
              <p:nvPr/>
            </p:nvSpPr>
            <p:spPr>
              <a:xfrm>
                <a:off x="2541600" y="127152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B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386" name="Shape 328"/>
              <p:cNvSpPr/>
              <p:nvPr/>
            </p:nvSpPr>
            <p:spPr>
              <a:xfrm>
                <a:off x="1355760" y="127008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A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387" name="Shape 329"/>
              <p:cNvSpPr/>
              <p:nvPr/>
            </p:nvSpPr>
            <p:spPr>
              <a:xfrm>
                <a:off x="4906800" y="133812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cc3399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8" name="Shape 330"/>
              <p:cNvSpPr/>
              <p:nvPr/>
            </p:nvSpPr>
            <p:spPr>
              <a:xfrm>
                <a:off x="4957920" y="131292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D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389" name="Shape 331"/>
              <p:cNvSpPr/>
              <p:nvPr/>
            </p:nvSpPr>
            <p:spPr>
              <a:xfrm>
                <a:off x="1752480" y="1552680"/>
                <a:ext cx="7459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0" name="Shape 332"/>
              <p:cNvSpPr/>
              <p:nvPr/>
            </p:nvSpPr>
            <p:spPr>
              <a:xfrm>
                <a:off x="2955960" y="1552680"/>
                <a:ext cx="7459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1" name="Shape 333"/>
              <p:cNvSpPr/>
              <p:nvPr/>
            </p:nvSpPr>
            <p:spPr>
              <a:xfrm>
                <a:off x="4175280" y="1550880"/>
                <a:ext cx="7459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2" name="Shape 334"/>
              <p:cNvSpPr/>
              <p:nvPr/>
            </p:nvSpPr>
            <p:spPr>
              <a:xfrm>
                <a:off x="5378400" y="1550880"/>
                <a:ext cx="7459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3" name="Shape 335"/>
              <p:cNvSpPr/>
              <p:nvPr/>
            </p:nvSpPr>
            <p:spPr>
              <a:xfrm>
                <a:off x="6567480" y="1550880"/>
                <a:ext cx="7459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394" name="Shape 336"/>
            <p:cNvSpPr/>
            <p:nvPr/>
          </p:nvSpPr>
          <p:spPr>
            <a:xfrm>
              <a:off x="3200400" y="1827360"/>
              <a:ext cx="253008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Arial"/>
                  <a:ea typeface="Arial"/>
                </a:rPr>
                <a:t>线性结构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95" name="Shape 337"/>
          <p:cNvGrpSpPr/>
          <p:nvPr/>
        </p:nvGrpSpPr>
        <p:grpSpPr>
          <a:xfrm>
            <a:off x="888840" y="2303640"/>
            <a:ext cx="3106440" cy="3011040"/>
            <a:chOff x="888840" y="2303640"/>
            <a:chExt cx="3106440" cy="3011040"/>
          </a:xfrm>
        </p:grpSpPr>
        <p:grpSp>
          <p:nvGrpSpPr>
            <p:cNvPr id="396" name="Shape 338"/>
            <p:cNvGrpSpPr/>
            <p:nvPr/>
          </p:nvGrpSpPr>
          <p:grpSpPr>
            <a:xfrm>
              <a:off x="888840" y="2303640"/>
              <a:ext cx="3106440" cy="2529720"/>
              <a:chOff x="888840" y="2303640"/>
              <a:chExt cx="3106440" cy="2529720"/>
            </a:xfrm>
          </p:grpSpPr>
          <p:sp>
            <p:nvSpPr>
              <p:cNvPr id="397" name="Shape 339"/>
              <p:cNvSpPr/>
              <p:nvPr/>
            </p:nvSpPr>
            <p:spPr>
              <a:xfrm flipH="1">
                <a:off x="1794600" y="2679840"/>
                <a:ext cx="510840" cy="5616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8" name="Shape 340"/>
              <p:cNvSpPr/>
              <p:nvPr/>
            </p:nvSpPr>
            <p:spPr>
              <a:xfrm>
                <a:off x="2679840" y="2709720"/>
                <a:ext cx="510840" cy="5616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9" name="Shape 341"/>
              <p:cNvSpPr/>
              <p:nvPr/>
            </p:nvSpPr>
            <p:spPr>
              <a:xfrm flipH="1">
                <a:off x="1172520" y="3591000"/>
                <a:ext cx="340920" cy="5616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0" name="Shape 342"/>
              <p:cNvSpPr/>
              <p:nvPr/>
            </p:nvSpPr>
            <p:spPr>
              <a:xfrm flipH="1">
                <a:off x="2888640" y="3662280"/>
                <a:ext cx="255240" cy="5616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1" name="Shape 343"/>
              <p:cNvSpPr/>
              <p:nvPr/>
            </p:nvSpPr>
            <p:spPr>
              <a:xfrm>
                <a:off x="3432240" y="3662280"/>
                <a:ext cx="264600" cy="61884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2" name="Shape 344"/>
              <p:cNvSpPr/>
              <p:nvPr/>
            </p:nvSpPr>
            <p:spPr>
              <a:xfrm>
                <a:off x="2271600" y="234324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b400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3" name="Shape 345"/>
              <p:cNvSpPr/>
              <p:nvPr/>
            </p:nvSpPr>
            <p:spPr>
              <a:xfrm>
                <a:off x="2322360" y="230364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A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404" name="Shape 346"/>
              <p:cNvSpPr/>
              <p:nvPr/>
            </p:nvSpPr>
            <p:spPr>
              <a:xfrm>
                <a:off x="1401840" y="317016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b400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5" name="Shape 347"/>
              <p:cNvSpPr/>
              <p:nvPr/>
            </p:nvSpPr>
            <p:spPr>
              <a:xfrm>
                <a:off x="1452600" y="313056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B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406" name="Shape 348"/>
              <p:cNvSpPr/>
              <p:nvPr/>
            </p:nvSpPr>
            <p:spPr>
              <a:xfrm>
                <a:off x="3052800" y="323064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b400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7" name="Shape 349"/>
              <p:cNvSpPr/>
              <p:nvPr/>
            </p:nvSpPr>
            <p:spPr>
              <a:xfrm>
                <a:off x="3103560" y="319104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C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408" name="Shape 350"/>
              <p:cNvSpPr/>
              <p:nvPr/>
            </p:nvSpPr>
            <p:spPr>
              <a:xfrm>
                <a:off x="888840" y="414324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b400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9" name="Shape 351"/>
              <p:cNvSpPr/>
              <p:nvPr/>
            </p:nvSpPr>
            <p:spPr>
              <a:xfrm>
                <a:off x="939960" y="411804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D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410" name="Shape 352"/>
              <p:cNvSpPr/>
              <p:nvPr/>
            </p:nvSpPr>
            <p:spPr>
              <a:xfrm>
                <a:off x="2657520" y="421812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b400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1" name="Shape 353"/>
              <p:cNvSpPr/>
              <p:nvPr/>
            </p:nvSpPr>
            <p:spPr>
              <a:xfrm>
                <a:off x="2708280" y="417816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E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412" name="Shape 354"/>
              <p:cNvSpPr/>
              <p:nvPr/>
            </p:nvSpPr>
            <p:spPr>
              <a:xfrm>
                <a:off x="3527280" y="4260960"/>
                <a:ext cx="468000" cy="4680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00b400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3" name="Shape 355"/>
              <p:cNvSpPr/>
              <p:nvPr/>
            </p:nvSpPr>
            <p:spPr>
              <a:xfrm>
                <a:off x="3578400" y="4221000"/>
                <a:ext cx="396360" cy="612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3600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F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sp>
          <p:nvSpPr>
            <p:cNvPr id="414" name="Shape 356"/>
            <p:cNvSpPr/>
            <p:nvPr/>
          </p:nvSpPr>
          <p:spPr>
            <a:xfrm>
              <a:off x="1219320" y="4795920"/>
              <a:ext cx="253008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Arial"/>
                  <a:ea typeface="Arial"/>
                </a:rPr>
                <a:t>树结构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415" name="Shape 357"/>
          <p:cNvSpPr/>
          <p:nvPr/>
        </p:nvSpPr>
        <p:spPr>
          <a:xfrm>
            <a:off x="1682640" y="351000"/>
            <a:ext cx="5987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不同结构中逻辑关系的对比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16" name="Shape 358"/>
          <p:cNvSpPr/>
          <p:nvPr/>
        </p:nvSpPr>
        <p:spPr>
          <a:xfrm>
            <a:off x="1071720" y="1189080"/>
            <a:ext cx="2223720" cy="729720"/>
          </a:xfrm>
          <a:prstGeom prst="ellipse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Shape 359"/>
          <p:cNvSpPr/>
          <p:nvPr/>
        </p:nvSpPr>
        <p:spPr>
          <a:xfrm rot="18900000">
            <a:off x="965160" y="2638440"/>
            <a:ext cx="2223720" cy="729720"/>
          </a:xfrm>
          <a:prstGeom prst="ellipse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Shape 360"/>
          <p:cNvSpPr/>
          <p:nvPr/>
        </p:nvSpPr>
        <p:spPr>
          <a:xfrm>
            <a:off x="5054760" y="2387520"/>
            <a:ext cx="2985840" cy="883800"/>
          </a:xfrm>
          <a:prstGeom prst="ellipse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19" name="Shape 361"/>
          <p:cNvGrpSpPr/>
          <p:nvPr/>
        </p:nvGrpSpPr>
        <p:grpSpPr>
          <a:xfrm>
            <a:off x="5291280" y="2549520"/>
            <a:ext cx="2555640" cy="2717280"/>
            <a:chOff x="5291280" y="2549520"/>
            <a:chExt cx="2555640" cy="2717280"/>
          </a:xfrm>
        </p:grpSpPr>
        <p:grpSp>
          <p:nvGrpSpPr>
            <p:cNvPr id="420" name="Shape 362"/>
            <p:cNvGrpSpPr/>
            <p:nvPr/>
          </p:nvGrpSpPr>
          <p:grpSpPr>
            <a:xfrm>
              <a:off x="5291280" y="2549520"/>
              <a:ext cx="2555640" cy="2258640"/>
              <a:chOff x="5291280" y="2549520"/>
              <a:chExt cx="2555640" cy="2258640"/>
            </a:xfrm>
          </p:grpSpPr>
          <p:grpSp>
            <p:nvGrpSpPr>
              <p:cNvPr id="421" name="Shape 363"/>
              <p:cNvGrpSpPr/>
              <p:nvPr/>
            </p:nvGrpSpPr>
            <p:grpSpPr>
              <a:xfrm>
                <a:off x="5365800" y="2549520"/>
                <a:ext cx="2481120" cy="598320"/>
                <a:chOff x="5365800" y="2549520"/>
                <a:chExt cx="2481120" cy="598320"/>
              </a:xfrm>
            </p:grpSpPr>
            <p:sp>
              <p:nvSpPr>
                <p:cNvPr id="422" name="Shape 364"/>
                <p:cNvSpPr/>
                <p:nvPr/>
              </p:nvSpPr>
              <p:spPr>
                <a:xfrm>
                  <a:off x="5365800" y="260208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23" name="Shape 365"/>
                <p:cNvSpPr/>
                <p:nvPr/>
              </p:nvSpPr>
              <p:spPr>
                <a:xfrm>
                  <a:off x="5432400" y="255276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0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  <p:sp>
              <p:nvSpPr>
                <p:cNvPr id="424" name="Shape 366"/>
                <p:cNvSpPr/>
                <p:nvPr/>
              </p:nvSpPr>
              <p:spPr>
                <a:xfrm>
                  <a:off x="5835600" y="2806560"/>
                  <a:ext cx="1510920" cy="3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2160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25" name="Shape 367"/>
                <p:cNvSpPr/>
                <p:nvPr/>
              </p:nvSpPr>
              <p:spPr>
                <a:xfrm>
                  <a:off x="7316640" y="259884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26" name="Shape 368"/>
                <p:cNvSpPr/>
                <p:nvPr/>
              </p:nvSpPr>
              <p:spPr>
                <a:xfrm>
                  <a:off x="7383600" y="254952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1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</p:grpSp>
          <p:grpSp>
            <p:nvGrpSpPr>
              <p:cNvPr id="427" name="Shape 369"/>
              <p:cNvGrpSpPr/>
              <p:nvPr/>
            </p:nvGrpSpPr>
            <p:grpSpPr>
              <a:xfrm>
                <a:off x="5291280" y="2932200"/>
                <a:ext cx="2555640" cy="1875960"/>
                <a:chOff x="5291280" y="2932200"/>
                <a:chExt cx="2555640" cy="1875960"/>
              </a:xfrm>
            </p:grpSpPr>
            <p:sp>
              <p:nvSpPr>
                <p:cNvPr id="428" name="Shape 370"/>
                <p:cNvSpPr/>
                <p:nvPr/>
              </p:nvSpPr>
              <p:spPr>
                <a:xfrm>
                  <a:off x="5713560" y="3857760"/>
                  <a:ext cx="571320" cy="563040"/>
                </a:xfrm>
                <a:custGeom>
                  <a:avLst/>
                  <a:gdLst/>
                  <a:ahLst/>
                  <a:rect l="l" t="t" r="r" b="b"/>
                  <a:pathLst>
                    <a:path w="300" h="300">
                      <a:moveTo>
                        <a:pt x="300" y="0"/>
                      </a:moveTo>
                      <a:lnTo>
                        <a:pt x="0" y="30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29" name="Shape 371"/>
                <p:cNvSpPr/>
                <p:nvPr/>
              </p:nvSpPr>
              <p:spPr>
                <a:xfrm>
                  <a:off x="7574040" y="3075120"/>
                  <a:ext cx="360" cy="123480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2160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30" name="Shape 372"/>
                <p:cNvSpPr/>
                <p:nvPr/>
              </p:nvSpPr>
              <p:spPr>
                <a:xfrm>
                  <a:off x="6711840" y="2932200"/>
                  <a:ext cx="659880" cy="664920"/>
                </a:xfrm>
                <a:custGeom>
                  <a:avLst/>
                  <a:gdLst/>
                  <a:ahLst/>
                  <a:rect l="l" t="t" r="r" b="b"/>
                  <a:pathLst>
                    <a:path w="375" h="375">
                      <a:moveTo>
                        <a:pt x="375" y="0"/>
                      </a:moveTo>
                      <a:lnTo>
                        <a:pt x="0" y="375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31" name="Shape 373"/>
                <p:cNvSpPr/>
                <p:nvPr/>
              </p:nvSpPr>
              <p:spPr>
                <a:xfrm>
                  <a:off x="6753240" y="3873600"/>
                  <a:ext cx="642600" cy="55368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2160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32" name="Shape 374"/>
                <p:cNvSpPr/>
                <p:nvPr/>
              </p:nvSpPr>
              <p:spPr>
                <a:xfrm>
                  <a:off x="5508720" y="3081240"/>
                  <a:ext cx="360" cy="120600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2160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33" name="Shape 375"/>
                <p:cNvSpPr/>
                <p:nvPr/>
              </p:nvSpPr>
              <p:spPr>
                <a:xfrm>
                  <a:off x="6286680" y="351936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34" name="Shape 376"/>
                <p:cNvSpPr/>
                <p:nvPr/>
              </p:nvSpPr>
              <p:spPr>
                <a:xfrm>
                  <a:off x="6353280" y="347040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2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  <p:sp>
              <p:nvSpPr>
                <p:cNvPr id="435" name="Shape 377"/>
                <p:cNvSpPr/>
                <p:nvPr/>
              </p:nvSpPr>
              <p:spPr>
                <a:xfrm>
                  <a:off x="5291280" y="426240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36" name="Shape 378"/>
                <p:cNvSpPr/>
                <p:nvPr/>
              </p:nvSpPr>
              <p:spPr>
                <a:xfrm>
                  <a:off x="5357880" y="421308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3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  <p:sp>
              <p:nvSpPr>
                <p:cNvPr id="437" name="Shape 379"/>
                <p:cNvSpPr/>
                <p:nvPr/>
              </p:nvSpPr>
              <p:spPr>
                <a:xfrm>
                  <a:off x="7316640" y="425916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438" name="Shape 380"/>
                <p:cNvSpPr/>
                <p:nvPr/>
              </p:nvSpPr>
              <p:spPr>
                <a:xfrm>
                  <a:off x="7383600" y="421020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4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</p:grpSp>
        </p:grpSp>
        <p:sp>
          <p:nvSpPr>
            <p:cNvPr id="439" name="Shape 381"/>
            <p:cNvSpPr/>
            <p:nvPr/>
          </p:nvSpPr>
          <p:spPr>
            <a:xfrm>
              <a:off x="5445000" y="4748040"/>
              <a:ext cx="2161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Arial"/>
                  <a:ea typeface="Arial"/>
                </a:rPr>
                <a:t>图结构</a:t>
              </a:r>
              <a:endParaRPr b="0" lang="en-US" sz="2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0" dur="indefinite" restart="never" nodeType="tmRoot">
          <p:childTnLst>
            <p:seq>
              <p:cTn id="51" dur="indefinite" nodeType="mainSeq">
                <p:childTnLst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" dur="500"/>
                                        <p:tgtEl>
                                          <p:spTgt spid="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" dur="500"/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" dur="500"/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386"/>
          <p:cNvSpPr/>
          <p:nvPr/>
        </p:nvSpPr>
        <p:spPr>
          <a:xfrm>
            <a:off x="250920" y="1828800"/>
            <a:ext cx="838152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无向完全图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：在无向图中，如果任意两个顶点之间都存在边，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则称该图为无向完全图。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41" name="Shape 387"/>
          <p:cNvSpPr/>
          <p:nvPr/>
        </p:nvSpPr>
        <p:spPr>
          <a:xfrm>
            <a:off x="237960" y="2835360"/>
            <a:ext cx="830556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r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有向完全图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：在有向图中，如果任意两个顶点之间都存在方向相反的两条弧，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则称该图为有向完全图。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42" name="Shape 388"/>
          <p:cNvSpPr/>
          <p:nvPr/>
        </p:nvSpPr>
        <p:spPr>
          <a:xfrm>
            <a:off x="228600" y="1371600"/>
            <a:ext cx="4876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图的基本术语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443" name="Shape 389"/>
          <p:cNvGrpSpPr/>
          <p:nvPr/>
        </p:nvGrpSpPr>
        <p:grpSpPr>
          <a:xfrm>
            <a:off x="5208480" y="4130640"/>
            <a:ext cx="2481120" cy="2263680"/>
            <a:chOff x="5208480" y="4130640"/>
            <a:chExt cx="2481120" cy="2263680"/>
          </a:xfrm>
        </p:grpSpPr>
        <p:sp>
          <p:nvSpPr>
            <p:cNvPr id="444" name="Shape 390"/>
            <p:cNvSpPr/>
            <p:nvPr/>
          </p:nvSpPr>
          <p:spPr>
            <a:xfrm>
              <a:off x="6618240" y="4664160"/>
              <a:ext cx="828360" cy="138240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head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5" name="Shape 391"/>
            <p:cNvSpPr/>
            <p:nvPr/>
          </p:nvSpPr>
          <p:spPr>
            <a:xfrm>
              <a:off x="6526080" y="4606920"/>
              <a:ext cx="783720" cy="128880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6" name="Shape 392"/>
            <p:cNvSpPr/>
            <p:nvPr/>
          </p:nvSpPr>
          <p:spPr>
            <a:xfrm>
              <a:off x="5208480" y="41832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7" name="Shape 393"/>
            <p:cNvSpPr/>
            <p:nvPr/>
          </p:nvSpPr>
          <p:spPr>
            <a:xfrm>
              <a:off x="5275440" y="41338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48" name="Shape 394"/>
            <p:cNvSpPr/>
            <p:nvPr/>
          </p:nvSpPr>
          <p:spPr>
            <a:xfrm>
              <a:off x="7159680" y="41799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9" name="Shape 395"/>
            <p:cNvSpPr/>
            <p:nvPr/>
          </p:nvSpPr>
          <p:spPr>
            <a:xfrm>
              <a:off x="7226280" y="41306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50" name="Shape 396"/>
            <p:cNvSpPr/>
            <p:nvPr/>
          </p:nvSpPr>
          <p:spPr>
            <a:xfrm>
              <a:off x="6165720" y="58482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1" name="Shape 397"/>
            <p:cNvSpPr/>
            <p:nvPr/>
          </p:nvSpPr>
          <p:spPr>
            <a:xfrm>
              <a:off x="6232680" y="5799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52" name="Shape 398"/>
            <p:cNvSpPr/>
            <p:nvPr/>
          </p:nvSpPr>
          <p:spPr>
            <a:xfrm flipH="1">
              <a:off x="5432400" y="4681440"/>
              <a:ext cx="694800" cy="135072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3" name="Shape 399"/>
            <p:cNvSpPr/>
            <p:nvPr/>
          </p:nvSpPr>
          <p:spPr>
            <a:xfrm flipH="1">
              <a:off x="5587200" y="4659480"/>
              <a:ext cx="650520" cy="126000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head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4" name="Shape 400"/>
            <p:cNvSpPr/>
            <p:nvPr/>
          </p:nvSpPr>
          <p:spPr>
            <a:xfrm flipH="1">
              <a:off x="5706360" y="4518000"/>
              <a:ext cx="1510920" cy="108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5" name="Shape 401"/>
            <p:cNvSpPr/>
            <p:nvPr/>
          </p:nvSpPr>
          <p:spPr>
            <a:xfrm flipH="1">
              <a:off x="5647680" y="4352760"/>
              <a:ext cx="1510920" cy="108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headEnd len="lg" type="stealth" w="lg"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56" name="Shape 402"/>
          <p:cNvGrpSpPr/>
          <p:nvPr/>
        </p:nvGrpSpPr>
        <p:grpSpPr>
          <a:xfrm>
            <a:off x="1219320" y="4070520"/>
            <a:ext cx="2555640" cy="2258640"/>
            <a:chOff x="1219320" y="4070520"/>
            <a:chExt cx="2555640" cy="2258640"/>
          </a:xfrm>
        </p:grpSpPr>
        <p:sp>
          <p:nvSpPr>
            <p:cNvPr id="457" name="Shape 403"/>
            <p:cNvSpPr/>
            <p:nvPr/>
          </p:nvSpPr>
          <p:spPr>
            <a:xfrm>
              <a:off x="1663560" y="4452840"/>
              <a:ext cx="1636200" cy="147276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8" name="Shape 404"/>
            <p:cNvSpPr/>
            <p:nvPr/>
          </p:nvSpPr>
          <p:spPr>
            <a:xfrm>
              <a:off x="1293840" y="41227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9" name="Shape 405"/>
            <p:cNvSpPr/>
            <p:nvPr/>
          </p:nvSpPr>
          <p:spPr>
            <a:xfrm>
              <a:off x="1360440" y="40734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60" name="Shape 406"/>
            <p:cNvSpPr/>
            <p:nvPr/>
          </p:nvSpPr>
          <p:spPr>
            <a:xfrm>
              <a:off x="1763640" y="432756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1" name="Shape 407"/>
            <p:cNvSpPr/>
            <p:nvPr/>
          </p:nvSpPr>
          <p:spPr>
            <a:xfrm>
              <a:off x="3244680" y="41194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2" name="Shape 408"/>
            <p:cNvSpPr/>
            <p:nvPr/>
          </p:nvSpPr>
          <p:spPr>
            <a:xfrm>
              <a:off x="3311640" y="4070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63" name="Shape 409"/>
            <p:cNvSpPr/>
            <p:nvPr/>
          </p:nvSpPr>
          <p:spPr>
            <a:xfrm>
              <a:off x="3502080" y="4595760"/>
              <a:ext cx="360" cy="1234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4" name="Shape 410"/>
            <p:cNvSpPr/>
            <p:nvPr/>
          </p:nvSpPr>
          <p:spPr>
            <a:xfrm>
              <a:off x="1704960" y="4525920"/>
              <a:ext cx="1618920" cy="142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5" name="Shape 411"/>
            <p:cNvSpPr/>
            <p:nvPr/>
          </p:nvSpPr>
          <p:spPr>
            <a:xfrm>
              <a:off x="1436760" y="460224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6" name="Shape 412"/>
            <p:cNvSpPr/>
            <p:nvPr/>
          </p:nvSpPr>
          <p:spPr>
            <a:xfrm>
              <a:off x="1219320" y="5783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7" name="Shape 413"/>
            <p:cNvSpPr/>
            <p:nvPr/>
          </p:nvSpPr>
          <p:spPr>
            <a:xfrm>
              <a:off x="1285920" y="5734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68" name="Shape 414"/>
            <p:cNvSpPr/>
            <p:nvPr/>
          </p:nvSpPr>
          <p:spPr>
            <a:xfrm>
              <a:off x="3244680" y="5780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9" name="Shape 415"/>
            <p:cNvSpPr/>
            <p:nvPr/>
          </p:nvSpPr>
          <p:spPr>
            <a:xfrm>
              <a:off x="3311640" y="5730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70" name="Shape 416"/>
            <p:cNvSpPr/>
            <p:nvPr/>
          </p:nvSpPr>
          <p:spPr>
            <a:xfrm>
              <a:off x="1731960" y="611028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71" name="Shape 417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2" dur="indefinite" restart="never" nodeType="tmRoot">
          <p:childTnLst>
            <p:seq>
              <p:cTn id="83" dur="indefinite" nodeType="mainSeq">
                <p:childTnLst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Shape 422" descr=""/>
          <p:cNvPicPr/>
          <p:nvPr/>
        </p:nvPicPr>
        <p:blipFill>
          <a:blip r:embed="rId1"/>
          <a:stretch/>
        </p:blipFill>
        <p:spPr>
          <a:xfrm>
            <a:off x="746280" y="1558800"/>
            <a:ext cx="704520" cy="691920"/>
          </a:xfrm>
          <a:prstGeom prst="rect">
            <a:avLst/>
          </a:prstGeom>
          <a:ln w="0">
            <a:noFill/>
          </a:ln>
        </p:spPr>
      </p:pic>
      <p:sp>
        <p:nvSpPr>
          <p:cNvPr id="473" name="Shape 423"/>
          <p:cNvSpPr/>
          <p:nvPr/>
        </p:nvSpPr>
        <p:spPr>
          <a:xfrm>
            <a:off x="1708200" y="1371600"/>
            <a:ext cx="6857640" cy="10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含有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个顶点的无向完全图有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多少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条边？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含有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个顶点的有向完全图有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多少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条弧？</a:t>
            </a: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4" name="Shape 424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75" name="Shape 425"/>
          <p:cNvSpPr/>
          <p:nvPr/>
        </p:nvSpPr>
        <p:spPr>
          <a:xfrm>
            <a:off x="746280" y="5349960"/>
            <a:ext cx="7784640" cy="10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含有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个顶点的无向完全图有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×(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-1)/2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条边。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含有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个顶点的有向完全图有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×(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-1)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条边。 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476" name="Shape 426"/>
          <p:cNvGrpSpPr/>
          <p:nvPr/>
        </p:nvGrpSpPr>
        <p:grpSpPr>
          <a:xfrm>
            <a:off x="1549440" y="2630520"/>
            <a:ext cx="2555640" cy="2258640"/>
            <a:chOff x="1549440" y="2630520"/>
            <a:chExt cx="2555640" cy="2258640"/>
          </a:xfrm>
        </p:grpSpPr>
        <p:sp>
          <p:nvSpPr>
            <p:cNvPr id="477" name="Shape 427"/>
            <p:cNvSpPr/>
            <p:nvPr/>
          </p:nvSpPr>
          <p:spPr>
            <a:xfrm>
              <a:off x="1994040" y="3013200"/>
              <a:ext cx="1636200" cy="147276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8" name="Shape 428"/>
            <p:cNvSpPr/>
            <p:nvPr/>
          </p:nvSpPr>
          <p:spPr>
            <a:xfrm>
              <a:off x="1623960" y="26827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9" name="Shape 429"/>
            <p:cNvSpPr/>
            <p:nvPr/>
          </p:nvSpPr>
          <p:spPr>
            <a:xfrm>
              <a:off x="1690560" y="26337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0" name="Shape 430"/>
            <p:cNvSpPr/>
            <p:nvPr/>
          </p:nvSpPr>
          <p:spPr>
            <a:xfrm>
              <a:off x="2093760" y="288756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1" name="Shape 431"/>
            <p:cNvSpPr/>
            <p:nvPr/>
          </p:nvSpPr>
          <p:spPr>
            <a:xfrm>
              <a:off x="3575160" y="2679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2" name="Shape 432"/>
            <p:cNvSpPr/>
            <p:nvPr/>
          </p:nvSpPr>
          <p:spPr>
            <a:xfrm>
              <a:off x="3641760" y="2630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3" name="Shape 433"/>
            <p:cNvSpPr/>
            <p:nvPr/>
          </p:nvSpPr>
          <p:spPr>
            <a:xfrm>
              <a:off x="3832200" y="3156120"/>
              <a:ext cx="360" cy="1234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4" name="Shape 434"/>
            <p:cNvSpPr/>
            <p:nvPr/>
          </p:nvSpPr>
          <p:spPr>
            <a:xfrm>
              <a:off x="2035080" y="3085920"/>
              <a:ext cx="1618920" cy="142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5" name="Shape 435"/>
            <p:cNvSpPr/>
            <p:nvPr/>
          </p:nvSpPr>
          <p:spPr>
            <a:xfrm>
              <a:off x="1766880" y="316224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6" name="Shape 436"/>
            <p:cNvSpPr/>
            <p:nvPr/>
          </p:nvSpPr>
          <p:spPr>
            <a:xfrm>
              <a:off x="1549440" y="4343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7" name="Shape 437"/>
            <p:cNvSpPr/>
            <p:nvPr/>
          </p:nvSpPr>
          <p:spPr>
            <a:xfrm>
              <a:off x="1616040" y="4294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8" name="Shape 438"/>
            <p:cNvSpPr/>
            <p:nvPr/>
          </p:nvSpPr>
          <p:spPr>
            <a:xfrm>
              <a:off x="3575160" y="4340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9" name="Shape 439"/>
            <p:cNvSpPr/>
            <p:nvPr/>
          </p:nvSpPr>
          <p:spPr>
            <a:xfrm>
              <a:off x="3641760" y="4290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90" name="Shape 440"/>
            <p:cNvSpPr/>
            <p:nvPr/>
          </p:nvSpPr>
          <p:spPr>
            <a:xfrm>
              <a:off x="2062080" y="467028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91" name="Shape 441"/>
          <p:cNvGrpSpPr/>
          <p:nvPr/>
        </p:nvGrpSpPr>
        <p:grpSpPr>
          <a:xfrm>
            <a:off x="5208480" y="2736720"/>
            <a:ext cx="2481120" cy="2263680"/>
            <a:chOff x="5208480" y="2736720"/>
            <a:chExt cx="2481120" cy="2263680"/>
          </a:xfrm>
        </p:grpSpPr>
        <p:sp>
          <p:nvSpPr>
            <p:cNvPr id="492" name="Shape 442"/>
            <p:cNvSpPr/>
            <p:nvPr/>
          </p:nvSpPr>
          <p:spPr>
            <a:xfrm>
              <a:off x="6618240" y="3270240"/>
              <a:ext cx="828360" cy="138240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head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3" name="Shape 443"/>
            <p:cNvSpPr/>
            <p:nvPr/>
          </p:nvSpPr>
          <p:spPr>
            <a:xfrm>
              <a:off x="6526080" y="3213000"/>
              <a:ext cx="783720" cy="128880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4" name="Shape 444"/>
            <p:cNvSpPr/>
            <p:nvPr/>
          </p:nvSpPr>
          <p:spPr>
            <a:xfrm>
              <a:off x="5208480" y="27892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5" name="Shape 445"/>
            <p:cNvSpPr/>
            <p:nvPr/>
          </p:nvSpPr>
          <p:spPr>
            <a:xfrm>
              <a:off x="5275440" y="27399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96" name="Shape 446"/>
            <p:cNvSpPr/>
            <p:nvPr/>
          </p:nvSpPr>
          <p:spPr>
            <a:xfrm>
              <a:off x="7159680" y="27860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7" name="Shape 447"/>
            <p:cNvSpPr/>
            <p:nvPr/>
          </p:nvSpPr>
          <p:spPr>
            <a:xfrm>
              <a:off x="7226280" y="2736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98" name="Shape 448"/>
            <p:cNvSpPr/>
            <p:nvPr/>
          </p:nvSpPr>
          <p:spPr>
            <a:xfrm>
              <a:off x="6165720" y="4454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9" name="Shape 449"/>
            <p:cNvSpPr/>
            <p:nvPr/>
          </p:nvSpPr>
          <p:spPr>
            <a:xfrm>
              <a:off x="6232680" y="4405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500" name="Shape 450"/>
            <p:cNvSpPr/>
            <p:nvPr/>
          </p:nvSpPr>
          <p:spPr>
            <a:xfrm flipH="1">
              <a:off x="5432400" y="3287880"/>
              <a:ext cx="694800" cy="135072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1" name="Shape 451"/>
            <p:cNvSpPr/>
            <p:nvPr/>
          </p:nvSpPr>
          <p:spPr>
            <a:xfrm flipH="1">
              <a:off x="5587200" y="3265560"/>
              <a:ext cx="650520" cy="126000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head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2" name="Shape 452"/>
            <p:cNvSpPr/>
            <p:nvPr/>
          </p:nvSpPr>
          <p:spPr>
            <a:xfrm flipH="1">
              <a:off x="5706360" y="3124080"/>
              <a:ext cx="1510920" cy="108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3" name="Shape 453"/>
            <p:cNvSpPr/>
            <p:nvPr/>
          </p:nvSpPr>
          <p:spPr>
            <a:xfrm flipH="1">
              <a:off x="5647680" y="2959200"/>
              <a:ext cx="1510920" cy="108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headEnd len="lg" type="stealth" w="lg"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8" dur="indefinite" restart="never" nodeType="tmRoot">
          <p:childTnLst>
            <p:seq>
              <p:cTn id="89" dur="indefinite" nodeType="mainSeq">
                <p:childTnLst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Shape 458"/>
          <p:cNvSpPr/>
          <p:nvPr/>
        </p:nvSpPr>
        <p:spPr>
          <a:xfrm>
            <a:off x="244440" y="2163600"/>
            <a:ext cx="8076960" cy="11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稀疏图：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称边数很少的图为稀疏图；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稠密图：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称边数很多的图为稠密图。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05" name="Shape 459"/>
          <p:cNvSpPr/>
          <p:nvPr/>
        </p:nvSpPr>
        <p:spPr>
          <a:xfrm>
            <a:off x="318960" y="3521160"/>
            <a:ext cx="815292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顶点的度：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在无向图中，顶点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度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是指依附于该顶点的边数，通常记为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TD (v)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06" name="Shape 460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07" name="Shape 461"/>
          <p:cNvSpPr/>
          <p:nvPr/>
        </p:nvSpPr>
        <p:spPr>
          <a:xfrm>
            <a:off x="228600" y="1371600"/>
            <a:ext cx="4876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图的基本术语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508" name="Shape 462"/>
          <p:cNvSpPr/>
          <p:nvPr/>
        </p:nvSpPr>
        <p:spPr>
          <a:xfrm>
            <a:off x="214200" y="4587840"/>
            <a:ext cx="8503920" cy="20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顶点的入度：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在有向图中，顶点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入度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是指以该顶点为弧头的弧的数目，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记为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ID (v)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顶点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的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出度：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在有向图中，顶点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出度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是指以该顶点为弧尾的弧的数目，记为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OD (v)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。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Shape 467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10" name="Shape 468"/>
          <p:cNvSpPr/>
          <p:nvPr/>
        </p:nvSpPr>
        <p:spPr>
          <a:xfrm>
            <a:off x="228600" y="1371600"/>
            <a:ext cx="4876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图的基本术语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511" name="Shape 469"/>
          <p:cNvGrpSpPr/>
          <p:nvPr/>
        </p:nvGrpSpPr>
        <p:grpSpPr>
          <a:xfrm>
            <a:off x="318960" y="4740120"/>
            <a:ext cx="8215200" cy="945720"/>
            <a:chOff x="318960" y="4740120"/>
            <a:chExt cx="8215200" cy="945720"/>
          </a:xfrm>
        </p:grpSpPr>
        <p:sp>
          <p:nvSpPr>
            <p:cNvPr id="512" name="Shape 470"/>
            <p:cNvSpPr/>
            <p:nvPr/>
          </p:nvSpPr>
          <p:spPr>
            <a:xfrm>
              <a:off x="1157400" y="4740120"/>
              <a:ext cx="7376760" cy="94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在具有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n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个顶点、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e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条边的无向图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G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中，各顶点的度之和与边数之和的关系？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513" name="Shape 471" descr=""/>
            <p:cNvPicPr/>
            <p:nvPr/>
          </p:nvPicPr>
          <p:blipFill>
            <a:blip r:embed="rId1"/>
            <a:stretch/>
          </p:blipFill>
          <p:spPr>
            <a:xfrm>
              <a:off x="318960" y="4892760"/>
              <a:ext cx="609120" cy="5979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14" name="Shape 472"/>
          <p:cNvGrpSpPr/>
          <p:nvPr/>
        </p:nvGrpSpPr>
        <p:grpSpPr>
          <a:xfrm>
            <a:off x="1265400" y="2368440"/>
            <a:ext cx="3045960" cy="1794240"/>
            <a:chOff x="1265400" y="2368440"/>
            <a:chExt cx="3045960" cy="1794240"/>
          </a:xfrm>
        </p:grpSpPr>
        <p:sp>
          <p:nvSpPr>
            <p:cNvPr id="515" name="Shape 473"/>
            <p:cNvSpPr/>
            <p:nvPr/>
          </p:nvSpPr>
          <p:spPr>
            <a:xfrm>
              <a:off x="1265400" y="2811600"/>
              <a:ext cx="507600" cy="85356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5600" spc="-1" strike="noStrike">
                  <a:solidFill>
                    <a:srgbClr val="000000"/>
                  </a:solidFill>
                  <a:latin typeface="Noto Sans Symbols"/>
                  <a:ea typeface="Noto Sans Symbols"/>
                </a:rPr>
                <a:t>∑</a:t>
              </a:r>
              <a:endParaRPr b="0" lang="en-US" sz="5600" spc="-1" strike="noStrike">
                <a:latin typeface="Arial"/>
              </a:endParaRPr>
            </a:p>
          </p:txBody>
        </p:sp>
        <p:sp>
          <p:nvSpPr>
            <p:cNvPr id="516" name="Shape 474"/>
            <p:cNvSpPr/>
            <p:nvPr/>
          </p:nvSpPr>
          <p:spPr>
            <a:xfrm>
              <a:off x="1421640" y="3736080"/>
              <a:ext cx="195120" cy="42660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Noto Sans Symbols"/>
                  <a:ea typeface="Noto Sans Symbols"/>
                </a:rPr>
                <a:t>=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517" name="Shape 475"/>
            <p:cNvSpPr/>
            <p:nvPr/>
          </p:nvSpPr>
          <p:spPr>
            <a:xfrm>
              <a:off x="3446640" y="2944800"/>
              <a:ext cx="258480" cy="56304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3700" spc="-1" strike="noStrike">
                  <a:solidFill>
                    <a:srgbClr val="000000"/>
                  </a:solidFill>
                  <a:latin typeface="Noto Sans Symbols"/>
                  <a:ea typeface="Noto Sans Symbols"/>
                </a:rPr>
                <a:t>=</a:t>
              </a:r>
              <a:endParaRPr b="0" lang="en-US" sz="3700" spc="-1" strike="noStrike">
                <a:latin typeface="Arial"/>
              </a:endParaRPr>
            </a:p>
          </p:txBody>
        </p:sp>
        <p:sp>
          <p:nvSpPr>
            <p:cNvPr id="518" name="Shape 476"/>
            <p:cNvSpPr/>
            <p:nvPr/>
          </p:nvSpPr>
          <p:spPr>
            <a:xfrm>
              <a:off x="1419840" y="2368440"/>
              <a:ext cx="198000" cy="42660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n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519" name="Shape 477"/>
            <p:cNvSpPr/>
            <p:nvPr/>
          </p:nvSpPr>
          <p:spPr>
            <a:xfrm>
              <a:off x="1265400" y="3736080"/>
              <a:ext cx="97920" cy="42660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520" name="Shape 478"/>
            <p:cNvSpPr/>
            <p:nvPr/>
          </p:nvSpPr>
          <p:spPr>
            <a:xfrm>
              <a:off x="2889360" y="3305160"/>
              <a:ext cx="77400" cy="33624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</a:t>
              </a:r>
              <a:endParaRPr b="0" lang="en-US" sz="2200" spc="-1" strike="noStrike">
                <a:latin typeface="Arial"/>
              </a:endParaRPr>
            </a:p>
          </p:txBody>
        </p:sp>
        <p:sp>
          <p:nvSpPr>
            <p:cNvPr id="521" name="Shape 479"/>
            <p:cNvSpPr/>
            <p:nvPr/>
          </p:nvSpPr>
          <p:spPr>
            <a:xfrm>
              <a:off x="4103640" y="3000240"/>
              <a:ext cx="207720" cy="56304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37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e</a:t>
              </a:r>
              <a:endParaRPr b="0" lang="en-US" sz="3700" spc="-1" strike="noStrike">
                <a:latin typeface="Arial"/>
              </a:endParaRPr>
            </a:p>
          </p:txBody>
        </p:sp>
        <p:sp>
          <p:nvSpPr>
            <p:cNvPr id="522" name="Shape 480"/>
            <p:cNvSpPr/>
            <p:nvPr/>
          </p:nvSpPr>
          <p:spPr>
            <a:xfrm>
              <a:off x="2709720" y="3000240"/>
              <a:ext cx="207720" cy="56304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37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endParaRPr b="0" lang="en-US" sz="3700" spc="-1" strike="noStrike">
                <a:latin typeface="Arial"/>
              </a:endParaRPr>
            </a:p>
          </p:txBody>
        </p:sp>
        <p:sp>
          <p:nvSpPr>
            <p:cNvPr id="523" name="Shape 481"/>
            <p:cNvSpPr/>
            <p:nvPr/>
          </p:nvSpPr>
          <p:spPr>
            <a:xfrm>
              <a:off x="1809720" y="3000240"/>
              <a:ext cx="626760" cy="56304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37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TD</a:t>
              </a:r>
              <a:endParaRPr b="0" lang="en-US" sz="3700" spc="-1" strike="noStrike">
                <a:latin typeface="Arial"/>
              </a:endParaRPr>
            </a:p>
          </p:txBody>
        </p:sp>
        <p:sp>
          <p:nvSpPr>
            <p:cNvPr id="524" name="Shape 482"/>
            <p:cNvSpPr/>
            <p:nvPr/>
          </p:nvSpPr>
          <p:spPr>
            <a:xfrm>
              <a:off x="1608120" y="3736080"/>
              <a:ext cx="177480" cy="42660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525" name="Shape 483"/>
            <p:cNvSpPr/>
            <p:nvPr/>
          </p:nvSpPr>
          <p:spPr>
            <a:xfrm>
              <a:off x="3824280" y="3000240"/>
              <a:ext cx="234720" cy="56304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37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3700" spc="-1" strike="noStrike">
                <a:latin typeface="Arial"/>
              </a:endParaRPr>
            </a:p>
          </p:txBody>
        </p:sp>
        <p:sp>
          <p:nvSpPr>
            <p:cNvPr id="526" name="Shape 484"/>
            <p:cNvSpPr/>
            <p:nvPr/>
          </p:nvSpPr>
          <p:spPr>
            <a:xfrm>
              <a:off x="3111480" y="3000240"/>
              <a:ext cx="156960" cy="56304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37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)</a:t>
              </a:r>
              <a:endParaRPr b="0" lang="en-US" sz="3700" spc="-1" strike="noStrike">
                <a:latin typeface="Arial"/>
              </a:endParaRPr>
            </a:p>
          </p:txBody>
        </p:sp>
        <p:sp>
          <p:nvSpPr>
            <p:cNvPr id="527" name="Shape 485"/>
            <p:cNvSpPr/>
            <p:nvPr/>
          </p:nvSpPr>
          <p:spPr>
            <a:xfrm>
              <a:off x="2511360" y="3000240"/>
              <a:ext cx="156960" cy="56304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37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(</a:t>
              </a:r>
              <a:endParaRPr b="0" lang="en-US" sz="3700" spc="-1" strike="noStrike">
                <a:latin typeface="Arial"/>
              </a:endParaRPr>
            </a:p>
          </p:txBody>
        </p:sp>
      </p:grpSp>
      <p:grpSp>
        <p:nvGrpSpPr>
          <p:cNvPr id="528" name="Shape 486"/>
          <p:cNvGrpSpPr/>
          <p:nvPr/>
        </p:nvGrpSpPr>
        <p:grpSpPr>
          <a:xfrm>
            <a:off x="5605560" y="2174760"/>
            <a:ext cx="2555640" cy="2259000"/>
            <a:chOff x="5605560" y="2174760"/>
            <a:chExt cx="2555640" cy="2259000"/>
          </a:xfrm>
        </p:grpSpPr>
        <p:grpSp>
          <p:nvGrpSpPr>
            <p:cNvPr id="529" name="Shape 487"/>
            <p:cNvGrpSpPr/>
            <p:nvPr/>
          </p:nvGrpSpPr>
          <p:grpSpPr>
            <a:xfrm>
              <a:off x="5680080" y="2174760"/>
              <a:ext cx="2481120" cy="598320"/>
              <a:chOff x="5680080" y="2174760"/>
              <a:chExt cx="2481120" cy="598320"/>
            </a:xfrm>
          </p:grpSpPr>
          <p:sp>
            <p:nvSpPr>
              <p:cNvPr id="530" name="Shape 488"/>
              <p:cNvSpPr/>
              <p:nvPr/>
            </p:nvSpPr>
            <p:spPr>
              <a:xfrm>
                <a:off x="5680080" y="222732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1" name="Shape 489"/>
              <p:cNvSpPr/>
              <p:nvPr/>
            </p:nvSpPr>
            <p:spPr>
              <a:xfrm>
                <a:off x="5746680" y="217800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0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532" name="Shape 490"/>
              <p:cNvSpPr/>
              <p:nvPr/>
            </p:nvSpPr>
            <p:spPr>
              <a:xfrm>
                <a:off x="6149880" y="2432160"/>
                <a:ext cx="15109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3" name="Shape 491"/>
              <p:cNvSpPr/>
              <p:nvPr/>
            </p:nvSpPr>
            <p:spPr>
              <a:xfrm>
                <a:off x="7631280" y="222408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4" name="Shape 492"/>
              <p:cNvSpPr/>
              <p:nvPr/>
            </p:nvSpPr>
            <p:spPr>
              <a:xfrm>
                <a:off x="7697880" y="217476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1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535" name="Shape 493"/>
            <p:cNvGrpSpPr/>
            <p:nvPr/>
          </p:nvGrpSpPr>
          <p:grpSpPr>
            <a:xfrm>
              <a:off x="5605560" y="2557440"/>
              <a:ext cx="2555640" cy="1876320"/>
              <a:chOff x="5605560" y="2557440"/>
              <a:chExt cx="2555640" cy="1876320"/>
            </a:xfrm>
          </p:grpSpPr>
          <p:sp>
            <p:nvSpPr>
              <p:cNvPr id="536" name="Shape 494"/>
              <p:cNvSpPr/>
              <p:nvPr/>
            </p:nvSpPr>
            <p:spPr>
              <a:xfrm>
                <a:off x="6027840" y="3483000"/>
                <a:ext cx="571320" cy="563040"/>
              </a:xfrm>
              <a:custGeom>
                <a:avLst/>
                <a:gdLst/>
                <a:ahLst/>
                <a:rect l="l" t="t" r="r" b="b"/>
                <a:pathLst>
                  <a:path w="300" h="300">
                    <a:moveTo>
                      <a:pt x="300" y="0"/>
                    </a:moveTo>
                    <a:lnTo>
                      <a:pt x="0" y="3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7" name="Shape 495"/>
              <p:cNvSpPr/>
              <p:nvPr/>
            </p:nvSpPr>
            <p:spPr>
              <a:xfrm>
                <a:off x="7888320" y="2700360"/>
                <a:ext cx="360" cy="12348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8" name="Shape 496"/>
              <p:cNvSpPr/>
              <p:nvPr/>
            </p:nvSpPr>
            <p:spPr>
              <a:xfrm>
                <a:off x="7026120" y="2557440"/>
                <a:ext cx="659880" cy="664920"/>
              </a:xfrm>
              <a:custGeom>
                <a:avLst/>
                <a:gdLst/>
                <a:ahLst/>
                <a:rect l="l" t="t" r="r" b="b"/>
                <a:pathLst>
                  <a:path w="375" h="375">
                    <a:moveTo>
                      <a:pt x="375" y="0"/>
                    </a:moveTo>
                    <a:lnTo>
                      <a:pt x="0" y="37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39" name="Shape 497"/>
              <p:cNvSpPr/>
              <p:nvPr/>
            </p:nvSpPr>
            <p:spPr>
              <a:xfrm>
                <a:off x="7067520" y="3498840"/>
                <a:ext cx="642600" cy="5536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0" name="Shape 498"/>
              <p:cNvSpPr/>
              <p:nvPr/>
            </p:nvSpPr>
            <p:spPr>
              <a:xfrm>
                <a:off x="5823000" y="2706840"/>
                <a:ext cx="360" cy="12060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1" name="Shape 499"/>
              <p:cNvSpPr/>
              <p:nvPr/>
            </p:nvSpPr>
            <p:spPr>
              <a:xfrm>
                <a:off x="6600960" y="314496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2" name="Shape 500"/>
              <p:cNvSpPr/>
              <p:nvPr/>
            </p:nvSpPr>
            <p:spPr>
              <a:xfrm>
                <a:off x="6667560" y="309564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2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543" name="Shape 501"/>
              <p:cNvSpPr/>
              <p:nvPr/>
            </p:nvSpPr>
            <p:spPr>
              <a:xfrm>
                <a:off x="5605560" y="38876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4" name="Shape 502"/>
              <p:cNvSpPr/>
              <p:nvPr/>
            </p:nvSpPr>
            <p:spPr>
              <a:xfrm>
                <a:off x="5672160" y="38386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3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545" name="Shape 503"/>
              <p:cNvSpPr/>
              <p:nvPr/>
            </p:nvSpPr>
            <p:spPr>
              <a:xfrm>
                <a:off x="7631280" y="388476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6" name="Shape 504"/>
              <p:cNvSpPr/>
              <p:nvPr/>
            </p:nvSpPr>
            <p:spPr>
              <a:xfrm>
                <a:off x="7697880" y="383544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4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7" name="Shape 509"/>
          <p:cNvGrpSpPr/>
          <p:nvPr/>
        </p:nvGrpSpPr>
        <p:grpSpPr>
          <a:xfrm>
            <a:off x="5764320" y="2063880"/>
            <a:ext cx="2471400" cy="2334960"/>
            <a:chOff x="5764320" y="2063880"/>
            <a:chExt cx="2471400" cy="2334960"/>
          </a:xfrm>
        </p:grpSpPr>
        <p:grpSp>
          <p:nvGrpSpPr>
            <p:cNvPr id="548" name="Shape 510"/>
            <p:cNvGrpSpPr/>
            <p:nvPr/>
          </p:nvGrpSpPr>
          <p:grpSpPr>
            <a:xfrm>
              <a:off x="5772240" y="2063880"/>
              <a:ext cx="2463480" cy="607680"/>
              <a:chOff x="5772240" y="2063880"/>
              <a:chExt cx="2463480" cy="607680"/>
            </a:xfrm>
          </p:grpSpPr>
          <p:sp>
            <p:nvSpPr>
              <p:cNvPr id="549" name="Shape 511"/>
              <p:cNvSpPr/>
              <p:nvPr/>
            </p:nvSpPr>
            <p:spPr>
              <a:xfrm>
                <a:off x="6270480" y="2351160"/>
                <a:ext cx="1431720" cy="1080"/>
              </a:xfrm>
              <a:custGeom>
                <a:avLst/>
                <a:gdLst/>
                <a:ahLst/>
                <a:rect l="l" t="t" r="r" b="b"/>
                <a:pathLst>
                  <a:path w="901" h="7">
                    <a:moveTo>
                      <a:pt x="0" y="7"/>
                    </a:moveTo>
                    <a:lnTo>
                      <a:pt x="90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0" name="Shape 512"/>
              <p:cNvSpPr/>
              <p:nvPr/>
            </p:nvSpPr>
            <p:spPr>
              <a:xfrm>
                <a:off x="5772240" y="21128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1" name="Shape 513"/>
              <p:cNvSpPr/>
              <p:nvPr/>
            </p:nvSpPr>
            <p:spPr>
              <a:xfrm>
                <a:off x="5838840" y="20638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0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552" name="Shape 514"/>
              <p:cNvSpPr/>
              <p:nvPr/>
            </p:nvSpPr>
            <p:spPr>
              <a:xfrm>
                <a:off x="7705800" y="21258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3" name="Shape 515"/>
              <p:cNvSpPr/>
              <p:nvPr/>
            </p:nvSpPr>
            <p:spPr>
              <a:xfrm>
                <a:off x="7772400" y="20764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1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554" name="Shape 516"/>
            <p:cNvGrpSpPr/>
            <p:nvPr/>
          </p:nvGrpSpPr>
          <p:grpSpPr>
            <a:xfrm>
              <a:off x="5764320" y="2510280"/>
              <a:ext cx="2457000" cy="1888560"/>
              <a:chOff x="5764320" y="2510280"/>
              <a:chExt cx="2457000" cy="1888560"/>
            </a:xfrm>
          </p:grpSpPr>
          <p:sp>
            <p:nvSpPr>
              <p:cNvPr id="555" name="Shape 517"/>
              <p:cNvSpPr/>
              <p:nvPr/>
            </p:nvSpPr>
            <p:spPr>
              <a:xfrm>
                <a:off x="6021360" y="2612880"/>
                <a:ext cx="360" cy="1272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6" name="Shape 518"/>
              <p:cNvSpPr/>
              <p:nvPr/>
            </p:nvSpPr>
            <p:spPr>
              <a:xfrm>
                <a:off x="6238800" y="4121280"/>
                <a:ext cx="1474560" cy="1080"/>
              </a:xfrm>
              <a:custGeom>
                <a:avLst/>
                <a:gdLst/>
                <a:ahLst/>
                <a:rect l="l" t="t" r="r" b="b"/>
                <a:pathLst>
                  <a:path w="901" h="5">
                    <a:moveTo>
                      <a:pt x="0" y="0"/>
                    </a:moveTo>
                    <a:lnTo>
                      <a:pt x="901" y="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7" name="Shape 519"/>
              <p:cNvSpPr/>
              <p:nvPr/>
            </p:nvSpPr>
            <p:spPr>
              <a:xfrm rot="10800000">
                <a:off x="6209280" y="2510280"/>
                <a:ext cx="1566360" cy="13935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8" name="Shape 520"/>
              <p:cNvSpPr/>
              <p:nvPr/>
            </p:nvSpPr>
            <p:spPr>
              <a:xfrm>
                <a:off x="5764320" y="385272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9" name="Shape 521"/>
              <p:cNvSpPr/>
              <p:nvPr/>
            </p:nvSpPr>
            <p:spPr>
              <a:xfrm>
                <a:off x="5830920" y="380376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2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560" name="Shape 522"/>
              <p:cNvSpPr/>
              <p:nvPr/>
            </p:nvSpPr>
            <p:spPr>
              <a:xfrm>
                <a:off x="7691400" y="38498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61" name="Shape 523"/>
              <p:cNvSpPr/>
              <p:nvPr/>
            </p:nvSpPr>
            <p:spPr>
              <a:xfrm>
                <a:off x="7758000" y="380052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3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sp>
        <p:nvSpPr>
          <p:cNvPr id="562" name="Shape 524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63" name="Shape 525"/>
          <p:cNvSpPr/>
          <p:nvPr/>
        </p:nvSpPr>
        <p:spPr>
          <a:xfrm>
            <a:off x="228600" y="1371600"/>
            <a:ext cx="4876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图的基本术语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564" name="Shape 526"/>
          <p:cNvGrpSpPr/>
          <p:nvPr/>
        </p:nvGrpSpPr>
        <p:grpSpPr>
          <a:xfrm>
            <a:off x="196920" y="4740120"/>
            <a:ext cx="8368920" cy="1372680"/>
            <a:chOff x="196920" y="4740120"/>
            <a:chExt cx="8368920" cy="1372680"/>
          </a:xfrm>
        </p:grpSpPr>
        <p:sp>
          <p:nvSpPr>
            <p:cNvPr id="565" name="Shape 527"/>
            <p:cNvSpPr/>
            <p:nvPr/>
          </p:nvSpPr>
          <p:spPr>
            <a:xfrm>
              <a:off x="1189080" y="4740120"/>
              <a:ext cx="7376760" cy="137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在具有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n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个顶点、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e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条边的有向图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G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中，各顶点的入度之和与各顶点的出度之和的关系？与边数之和的关系？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566" name="Shape 528" descr=""/>
            <p:cNvPicPr/>
            <p:nvPr/>
          </p:nvPicPr>
          <p:blipFill>
            <a:blip r:embed="rId1"/>
            <a:stretch/>
          </p:blipFill>
          <p:spPr>
            <a:xfrm>
              <a:off x="196920" y="5121360"/>
              <a:ext cx="794880" cy="780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567" name="Shape 529"/>
          <p:cNvGrpSpPr/>
          <p:nvPr/>
        </p:nvGrpSpPr>
        <p:grpSpPr>
          <a:xfrm>
            <a:off x="623880" y="2448000"/>
            <a:ext cx="4474800" cy="1696680"/>
            <a:chOff x="623880" y="2448000"/>
            <a:chExt cx="4474800" cy="1696680"/>
          </a:xfrm>
        </p:grpSpPr>
        <p:sp>
          <p:nvSpPr>
            <p:cNvPr id="568" name="Shape 530"/>
            <p:cNvSpPr/>
            <p:nvPr/>
          </p:nvSpPr>
          <p:spPr>
            <a:xfrm>
              <a:off x="4906800" y="3049560"/>
              <a:ext cx="191880" cy="51732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3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e</a:t>
              </a:r>
              <a:endParaRPr b="0" lang="en-US" sz="3400" spc="-1" strike="noStrike">
                <a:latin typeface="Arial"/>
              </a:endParaRPr>
            </a:p>
          </p:txBody>
        </p:sp>
        <p:sp>
          <p:nvSpPr>
            <p:cNvPr id="569" name="Shape 531"/>
            <p:cNvSpPr/>
            <p:nvPr/>
          </p:nvSpPr>
          <p:spPr>
            <a:xfrm>
              <a:off x="4008600" y="3049560"/>
              <a:ext cx="191880" cy="51732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3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endParaRPr b="0" lang="en-US" sz="3400" spc="-1" strike="noStrike">
                <a:latin typeface="Arial"/>
              </a:endParaRPr>
            </a:p>
          </p:txBody>
        </p:sp>
        <p:sp>
          <p:nvSpPr>
            <p:cNvPr id="570" name="Shape 532"/>
            <p:cNvSpPr/>
            <p:nvPr/>
          </p:nvSpPr>
          <p:spPr>
            <a:xfrm>
              <a:off x="3147840" y="3087000"/>
              <a:ext cx="663480" cy="51732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3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OD</a:t>
              </a:r>
              <a:endParaRPr b="0" lang="en-US" sz="3400" spc="-1" strike="noStrike">
                <a:latin typeface="Arial"/>
              </a:endParaRPr>
            </a:p>
          </p:txBody>
        </p:sp>
        <p:sp>
          <p:nvSpPr>
            <p:cNvPr id="571" name="Shape 533"/>
            <p:cNvSpPr/>
            <p:nvPr/>
          </p:nvSpPr>
          <p:spPr>
            <a:xfrm>
              <a:off x="1803240" y="3049560"/>
              <a:ext cx="191880" cy="51732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3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endParaRPr b="0" lang="en-US" sz="3400" spc="-1" strike="noStrike">
                <a:latin typeface="Arial"/>
              </a:endParaRPr>
            </a:p>
          </p:txBody>
        </p:sp>
        <p:sp>
          <p:nvSpPr>
            <p:cNvPr id="572" name="Shape 534"/>
            <p:cNvSpPr/>
            <p:nvPr/>
          </p:nvSpPr>
          <p:spPr>
            <a:xfrm>
              <a:off x="1065960" y="3087000"/>
              <a:ext cx="621720" cy="51732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3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ID</a:t>
              </a:r>
              <a:endParaRPr b="0" lang="en-US" sz="3400" spc="-1" strike="noStrike">
                <a:latin typeface="Arial"/>
              </a:endParaRPr>
            </a:p>
          </p:txBody>
        </p:sp>
        <p:sp>
          <p:nvSpPr>
            <p:cNvPr id="573" name="Shape 535"/>
            <p:cNvSpPr/>
            <p:nvPr/>
          </p:nvSpPr>
          <p:spPr>
            <a:xfrm>
              <a:off x="2801880" y="3718080"/>
              <a:ext cx="97920" cy="42660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574" name="Shape 536"/>
            <p:cNvSpPr/>
            <p:nvPr/>
          </p:nvSpPr>
          <p:spPr>
            <a:xfrm>
              <a:off x="4160880" y="3321000"/>
              <a:ext cx="69480" cy="30456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75" name="Shape 537"/>
            <p:cNvSpPr/>
            <p:nvPr/>
          </p:nvSpPr>
          <p:spPr>
            <a:xfrm>
              <a:off x="658800" y="3718080"/>
              <a:ext cx="97920" cy="42660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576" name="Shape 538"/>
            <p:cNvSpPr/>
            <p:nvPr/>
          </p:nvSpPr>
          <p:spPr>
            <a:xfrm>
              <a:off x="1955880" y="3321000"/>
              <a:ext cx="69480" cy="30456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577" name="Shape 539"/>
            <p:cNvSpPr/>
            <p:nvPr/>
          </p:nvSpPr>
          <p:spPr>
            <a:xfrm>
              <a:off x="4618080" y="2998800"/>
              <a:ext cx="236160" cy="51732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3400" spc="-1" strike="noStrike">
                  <a:solidFill>
                    <a:srgbClr val="000000"/>
                  </a:solidFill>
                  <a:latin typeface="Noto Sans Symbols"/>
                  <a:ea typeface="Noto Sans Symbols"/>
                </a:rPr>
                <a:t>=</a:t>
              </a:r>
              <a:endParaRPr b="0" lang="en-US" sz="3400" spc="-1" strike="noStrike">
                <a:latin typeface="Arial"/>
              </a:endParaRPr>
            </a:p>
          </p:txBody>
        </p:sp>
        <p:sp>
          <p:nvSpPr>
            <p:cNvPr id="578" name="Shape 540"/>
            <p:cNvSpPr/>
            <p:nvPr/>
          </p:nvSpPr>
          <p:spPr>
            <a:xfrm>
              <a:off x="2413080" y="2998800"/>
              <a:ext cx="236160" cy="51732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3400" spc="-1" strike="noStrike">
                  <a:solidFill>
                    <a:srgbClr val="000000"/>
                  </a:solidFill>
                  <a:latin typeface="Noto Sans Symbols"/>
                  <a:ea typeface="Noto Sans Symbols"/>
                </a:rPr>
                <a:t>=</a:t>
              </a:r>
              <a:endParaRPr b="0" lang="en-US" sz="3400" spc="-1" strike="noStrike">
                <a:latin typeface="Arial"/>
              </a:endParaRPr>
            </a:p>
          </p:txBody>
        </p:sp>
        <p:sp>
          <p:nvSpPr>
            <p:cNvPr id="579" name="Shape 541"/>
            <p:cNvSpPr/>
            <p:nvPr/>
          </p:nvSpPr>
          <p:spPr>
            <a:xfrm>
              <a:off x="2762280" y="2895480"/>
              <a:ext cx="471240" cy="79164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5200" spc="-1" strike="noStrike">
                  <a:solidFill>
                    <a:srgbClr val="000000"/>
                  </a:solidFill>
                  <a:latin typeface="Noto Sans Symbols"/>
                  <a:ea typeface="Noto Sans Symbols"/>
                </a:rPr>
                <a:t>∑</a:t>
              </a:r>
              <a:endParaRPr b="0" lang="en-US" sz="5200" spc="-1" strike="noStrike">
                <a:latin typeface="Arial"/>
              </a:endParaRPr>
            </a:p>
          </p:txBody>
        </p:sp>
        <p:sp>
          <p:nvSpPr>
            <p:cNvPr id="580" name="Shape 542"/>
            <p:cNvSpPr/>
            <p:nvPr/>
          </p:nvSpPr>
          <p:spPr>
            <a:xfrm>
              <a:off x="623880" y="2897280"/>
              <a:ext cx="471240" cy="79164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5200" spc="-1" strike="noStrike">
                  <a:solidFill>
                    <a:srgbClr val="000000"/>
                  </a:solidFill>
                  <a:latin typeface="Noto Sans Symbols"/>
                  <a:ea typeface="Noto Sans Symbols"/>
                </a:rPr>
                <a:t>∑</a:t>
              </a:r>
              <a:endParaRPr b="0" lang="en-US" sz="5200" spc="-1" strike="noStrike">
                <a:latin typeface="Arial"/>
              </a:endParaRPr>
            </a:p>
          </p:txBody>
        </p:sp>
        <p:sp>
          <p:nvSpPr>
            <p:cNvPr id="581" name="Shape 543"/>
            <p:cNvSpPr/>
            <p:nvPr/>
          </p:nvSpPr>
          <p:spPr>
            <a:xfrm>
              <a:off x="2906640" y="3689280"/>
              <a:ext cx="195120" cy="42660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Noto Sans Symbols"/>
                  <a:ea typeface="Noto Sans Symbols"/>
                </a:rPr>
                <a:t>=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582" name="Shape 544"/>
            <p:cNvSpPr/>
            <p:nvPr/>
          </p:nvSpPr>
          <p:spPr>
            <a:xfrm>
              <a:off x="765000" y="3689280"/>
              <a:ext cx="195120" cy="42660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Noto Sans Symbols"/>
                  <a:ea typeface="Noto Sans Symbols"/>
                </a:rPr>
                <a:t>=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583" name="Shape 545"/>
            <p:cNvSpPr/>
            <p:nvPr/>
          </p:nvSpPr>
          <p:spPr>
            <a:xfrm>
              <a:off x="3071880" y="3716280"/>
              <a:ext cx="177480" cy="42660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584" name="Shape 546"/>
            <p:cNvSpPr/>
            <p:nvPr/>
          </p:nvSpPr>
          <p:spPr>
            <a:xfrm>
              <a:off x="912960" y="3716280"/>
              <a:ext cx="177480" cy="42660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585" name="Shape 547"/>
            <p:cNvSpPr/>
            <p:nvPr/>
          </p:nvSpPr>
          <p:spPr>
            <a:xfrm>
              <a:off x="4324320" y="3049560"/>
              <a:ext cx="144000" cy="51732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3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)</a:t>
              </a:r>
              <a:endParaRPr b="0" lang="en-US" sz="3400" spc="-1" strike="noStrike">
                <a:latin typeface="Arial"/>
              </a:endParaRPr>
            </a:p>
          </p:txBody>
        </p:sp>
        <p:sp>
          <p:nvSpPr>
            <p:cNvPr id="586" name="Shape 548"/>
            <p:cNvSpPr/>
            <p:nvPr/>
          </p:nvSpPr>
          <p:spPr>
            <a:xfrm>
              <a:off x="3857760" y="3049560"/>
              <a:ext cx="144000" cy="51732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3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(</a:t>
              </a:r>
              <a:endParaRPr b="0" lang="en-US" sz="3400" spc="-1" strike="noStrike">
                <a:latin typeface="Arial"/>
              </a:endParaRPr>
            </a:p>
          </p:txBody>
        </p:sp>
        <p:sp>
          <p:nvSpPr>
            <p:cNvPr id="587" name="Shape 549"/>
            <p:cNvSpPr/>
            <p:nvPr/>
          </p:nvSpPr>
          <p:spPr>
            <a:xfrm>
              <a:off x="2119320" y="3049560"/>
              <a:ext cx="144000" cy="51732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3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)</a:t>
              </a:r>
              <a:endParaRPr b="0" lang="en-US" sz="3400" spc="-1" strike="noStrike">
                <a:latin typeface="Arial"/>
              </a:endParaRPr>
            </a:p>
          </p:txBody>
        </p:sp>
        <p:sp>
          <p:nvSpPr>
            <p:cNvPr id="588" name="Shape 550"/>
            <p:cNvSpPr/>
            <p:nvPr/>
          </p:nvSpPr>
          <p:spPr>
            <a:xfrm>
              <a:off x="1650960" y="3049560"/>
              <a:ext cx="144000" cy="51732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3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(</a:t>
              </a:r>
              <a:endParaRPr b="0" lang="en-US" sz="3400" spc="-1" strike="noStrike">
                <a:latin typeface="Arial"/>
              </a:endParaRPr>
            </a:p>
          </p:txBody>
        </p:sp>
        <p:sp>
          <p:nvSpPr>
            <p:cNvPr id="589" name="Shape 551"/>
            <p:cNvSpPr/>
            <p:nvPr/>
          </p:nvSpPr>
          <p:spPr>
            <a:xfrm>
              <a:off x="770040" y="2462040"/>
              <a:ext cx="198000" cy="42660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n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590" name="Shape 552"/>
            <p:cNvSpPr/>
            <p:nvPr/>
          </p:nvSpPr>
          <p:spPr>
            <a:xfrm>
              <a:off x="2951280" y="2448000"/>
              <a:ext cx="198000" cy="42660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n</a:t>
              </a:r>
              <a:endParaRPr b="0" lang="en-US" sz="2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Shape 557"/>
          <p:cNvSpPr/>
          <p:nvPr/>
        </p:nvSpPr>
        <p:spPr>
          <a:xfrm>
            <a:off x="274680" y="2041560"/>
            <a:ext cx="7924320" cy="11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权：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是指对边赋予的有意义的数值量。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网：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边上带权的图，也称网图。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92" name="Shape 558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93" name="Shape 559"/>
          <p:cNvSpPr/>
          <p:nvPr/>
        </p:nvSpPr>
        <p:spPr>
          <a:xfrm>
            <a:off x="228600" y="1371600"/>
            <a:ext cx="4876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图的基本术语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594" name="Shape 560"/>
          <p:cNvGrpSpPr/>
          <p:nvPr/>
        </p:nvGrpSpPr>
        <p:grpSpPr>
          <a:xfrm>
            <a:off x="1449360" y="3249720"/>
            <a:ext cx="2590560" cy="2523960"/>
            <a:chOff x="1449360" y="3249720"/>
            <a:chExt cx="2590560" cy="2523960"/>
          </a:xfrm>
        </p:grpSpPr>
        <p:grpSp>
          <p:nvGrpSpPr>
            <p:cNvPr id="595" name="Shape 561"/>
            <p:cNvGrpSpPr/>
            <p:nvPr/>
          </p:nvGrpSpPr>
          <p:grpSpPr>
            <a:xfrm>
              <a:off x="1449360" y="3438360"/>
              <a:ext cx="2590560" cy="2335320"/>
              <a:chOff x="1449360" y="3438360"/>
              <a:chExt cx="2590560" cy="2335320"/>
            </a:xfrm>
          </p:grpSpPr>
          <p:grpSp>
            <p:nvGrpSpPr>
              <p:cNvPr id="596" name="Shape 562"/>
              <p:cNvGrpSpPr/>
              <p:nvPr/>
            </p:nvGrpSpPr>
            <p:grpSpPr>
              <a:xfrm>
                <a:off x="1457640" y="3438360"/>
                <a:ext cx="2582280" cy="608040"/>
                <a:chOff x="1457640" y="3438360"/>
                <a:chExt cx="2582280" cy="608040"/>
              </a:xfrm>
            </p:grpSpPr>
            <p:sp>
              <p:nvSpPr>
                <p:cNvPr id="597" name="Shape 563"/>
                <p:cNvSpPr/>
                <p:nvPr/>
              </p:nvSpPr>
              <p:spPr>
                <a:xfrm>
                  <a:off x="1980360" y="3726000"/>
                  <a:ext cx="1500480" cy="1080"/>
                </a:xfrm>
                <a:custGeom>
                  <a:avLst/>
                  <a:gdLst/>
                  <a:ahLst/>
                  <a:rect l="l" t="t" r="r" b="b"/>
                  <a:pathLst>
                    <a:path w="901" h="7">
                      <a:moveTo>
                        <a:pt x="0" y="7"/>
                      </a:moveTo>
                      <a:lnTo>
                        <a:pt x="901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  <a:tailEnd len="lg" type="stealth" w="lg"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8" name="Shape 564"/>
                <p:cNvSpPr/>
                <p:nvPr/>
              </p:nvSpPr>
              <p:spPr>
                <a:xfrm>
                  <a:off x="1457640" y="3487680"/>
                  <a:ext cx="52704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599" name="Shape 565"/>
                <p:cNvSpPr/>
                <p:nvPr/>
              </p:nvSpPr>
              <p:spPr>
                <a:xfrm>
                  <a:off x="1527480" y="3438360"/>
                  <a:ext cx="48564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0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  <p:sp>
              <p:nvSpPr>
                <p:cNvPr id="600" name="Shape 566"/>
                <p:cNvSpPr/>
                <p:nvPr/>
              </p:nvSpPr>
              <p:spPr>
                <a:xfrm>
                  <a:off x="3484440" y="3500280"/>
                  <a:ext cx="52704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1" name="Shape 567"/>
                <p:cNvSpPr/>
                <p:nvPr/>
              </p:nvSpPr>
              <p:spPr>
                <a:xfrm>
                  <a:off x="3554280" y="3451320"/>
                  <a:ext cx="48564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1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</p:grpSp>
          <p:grpSp>
            <p:nvGrpSpPr>
              <p:cNvPr id="602" name="Shape 568"/>
              <p:cNvGrpSpPr/>
              <p:nvPr/>
            </p:nvGrpSpPr>
            <p:grpSpPr>
              <a:xfrm>
                <a:off x="1449360" y="3884760"/>
                <a:ext cx="2575440" cy="1888920"/>
                <a:chOff x="1449360" y="3884760"/>
                <a:chExt cx="2575440" cy="1888920"/>
              </a:xfrm>
            </p:grpSpPr>
            <p:sp>
              <p:nvSpPr>
                <p:cNvPr id="603" name="Shape 569"/>
                <p:cNvSpPr/>
                <p:nvPr/>
              </p:nvSpPr>
              <p:spPr>
                <a:xfrm>
                  <a:off x="1719000" y="3987720"/>
                  <a:ext cx="360" cy="12729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2160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  <a:tailEnd len="lg" type="stealth" w="lg"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4" name="Shape 570"/>
                <p:cNvSpPr/>
                <p:nvPr/>
              </p:nvSpPr>
              <p:spPr>
                <a:xfrm>
                  <a:off x="1946880" y="5495760"/>
                  <a:ext cx="1545480" cy="1080"/>
                </a:xfrm>
                <a:custGeom>
                  <a:avLst/>
                  <a:gdLst/>
                  <a:ahLst/>
                  <a:rect l="l" t="t" r="r" b="b"/>
                  <a:pathLst>
                    <a:path w="901" h="5">
                      <a:moveTo>
                        <a:pt x="0" y="0"/>
                      </a:moveTo>
                      <a:lnTo>
                        <a:pt x="901" y="5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  <a:tailEnd len="lg" type="stealth" w="lg"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5" name="Shape 571"/>
                <p:cNvSpPr/>
                <p:nvPr/>
              </p:nvSpPr>
              <p:spPr>
                <a:xfrm rot="10800000">
                  <a:off x="1915560" y="3884760"/>
                  <a:ext cx="1641960" cy="13935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2160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  <a:tailEnd len="lg" type="stealth" w="lg"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6" name="Shape 572"/>
                <p:cNvSpPr/>
                <p:nvPr/>
              </p:nvSpPr>
              <p:spPr>
                <a:xfrm>
                  <a:off x="1449360" y="5227560"/>
                  <a:ext cx="52704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7" name="Shape 573"/>
                <p:cNvSpPr/>
                <p:nvPr/>
              </p:nvSpPr>
              <p:spPr>
                <a:xfrm>
                  <a:off x="1519200" y="5178600"/>
                  <a:ext cx="48564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2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  <p:sp>
              <p:nvSpPr>
                <p:cNvPr id="608" name="Shape 574"/>
                <p:cNvSpPr/>
                <p:nvPr/>
              </p:nvSpPr>
              <p:spPr>
                <a:xfrm>
                  <a:off x="3469320" y="5224320"/>
                  <a:ext cx="52704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09" name="Shape 575"/>
                <p:cNvSpPr/>
                <p:nvPr/>
              </p:nvSpPr>
              <p:spPr>
                <a:xfrm>
                  <a:off x="3539160" y="5175360"/>
                  <a:ext cx="48564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3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</p:grpSp>
        </p:grpSp>
        <p:sp>
          <p:nvSpPr>
            <p:cNvPr id="610" name="Shape 576"/>
            <p:cNvSpPr/>
            <p:nvPr/>
          </p:nvSpPr>
          <p:spPr>
            <a:xfrm>
              <a:off x="2381040" y="3249720"/>
              <a:ext cx="6069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611" name="Shape 577"/>
            <p:cNvSpPr/>
            <p:nvPr/>
          </p:nvSpPr>
          <p:spPr>
            <a:xfrm>
              <a:off x="2635920" y="4118040"/>
              <a:ext cx="6069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612" name="Shape 578"/>
            <p:cNvSpPr/>
            <p:nvPr/>
          </p:nvSpPr>
          <p:spPr>
            <a:xfrm>
              <a:off x="2269800" y="5002200"/>
              <a:ext cx="6069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8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613" name="Shape 579"/>
            <p:cNvSpPr/>
            <p:nvPr/>
          </p:nvSpPr>
          <p:spPr>
            <a:xfrm>
              <a:off x="1597320" y="4376880"/>
              <a:ext cx="6069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614" name="Shape 580"/>
          <p:cNvGrpSpPr/>
          <p:nvPr/>
        </p:nvGrpSpPr>
        <p:grpSpPr>
          <a:xfrm>
            <a:off x="390600" y="5877000"/>
            <a:ext cx="8052840" cy="561600"/>
            <a:chOff x="390600" y="5877000"/>
            <a:chExt cx="8052840" cy="561600"/>
          </a:xfrm>
        </p:grpSpPr>
        <p:sp>
          <p:nvSpPr>
            <p:cNvPr id="615" name="Shape 581"/>
            <p:cNvSpPr/>
            <p:nvPr/>
          </p:nvSpPr>
          <p:spPr>
            <a:xfrm>
              <a:off x="1066680" y="5919840"/>
              <a:ext cx="73767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哈夫曼树中的权与网图的权有何区别？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616" name="Shape 582" descr=""/>
            <p:cNvPicPr/>
            <p:nvPr/>
          </p:nvPicPr>
          <p:blipFill>
            <a:blip r:embed="rId1"/>
            <a:stretch/>
          </p:blipFill>
          <p:spPr>
            <a:xfrm>
              <a:off x="390600" y="5877000"/>
              <a:ext cx="555120" cy="5457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617" name="Shape 583"/>
          <p:cNvGrpSpPr/>
          <p:nvPr/>
        </p:nvGrpSpPr>
        <p:grpSpPr>
          <a:xfrm>
            <a:off x="6051600" y="3060720"/>
            <a:ext cx="2550600" cy="2649240"/>
            <a:chOff x="6051600" y="3060720"/>
            <a:chExt cx="2550600" cy="2649240"/>
          </a:xfrm>
        </p:grpSpPr>
        <p:sp>
          <p:nvSpPr>
            <p:cNvPr id="618" name="Shape 584"/>
            <p:cNvSpPr/>
            <p:nvPr/>
          </p:nvSpPr>
          <p:spPr>
            <a:xfrm flipH="1">
              <a:off x="6363000" y="3394080"/>
              <a:ext cx="392040" cy="470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99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9" name="Shape 585"/>
            <p:cNvSpPr/>
            <p:nvPr/>
          </p:nvSpPr>
          <p:spPr>
            <a:xfrm flipH="1">
              <a:off x="7000920" y="4182840"/>
              <a:ext cx="392040" cy="470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99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0" name="Shape 586"/>
            <p:cNvSpPr/>
            <p:nvPr/>
          </p:nvSpPr>
          <p:spPr>
            <a:xfrm flipH="1">
              <a:off x="7471800" y="4810320"/>
              <a:ext cx="392040" cy="470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99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1" name="Shape 587"/>
            <p:cNvSpPr/>
            <p:nvPr/>
          </p:nvSpPr>
          <p:spPr>
            <a:xfrm>
              <a:off x="6913440" y="3237120"/>
              <a:ext cx="1396080" cy="2018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99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2" name="Shape 588"/>
            <p:cNvSpPr/>
            <p:nvPr/>
          </p:nvSpPr>
          <p:spPr>
            <a:xfrm>
              <a:off x="6646680" y="3060720"/>
              <a:ext cx="482040" cy="48168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3" name="Shape 589"/>
            <p:cNvSpPr/>
            <p:nvPr/>
          </p:nvSpPr>
          <p:spPr>
            <a:xfrm>
              <a:off x="7237080" y="3830040"/>
              <a:ext cx="482040" cy="48168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4" name="Shape 590"/>
            <p:cNvSpPr/>
            <p:nvPr/>
          </p:nvSpPr>
          <p:spPr>
            <a:xfrm>
              <a:off x="7693560" y="4498200"/>
              <a:ext cx="482040" cy="48168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5" name="Shape 591"/>
            <p:cNvSpPr/>
            <p:nvPr/>
          </p:nvSpPr>
          <p:spPr>
            <a:xfrm>
              <a:off x="6051600" y="3805560"/>
              <a:ext cx="482040" cy="48168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6" name="Shape 592"/>
            <p:cNvSpPr/>
            <p:nvPr/>
          </p:nvSpPr>
          <p:spPr>
            <a:xfrm>
              <a:off x="6126840" y="3759840"/>
              <a:ext cx="36108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627" name="Shape 593"/>
            <p:cNvSpPr/>
            <p:nvPr/>
          </p:nvSpPr>
          <p:spPr>
            <a:xfrm>
              <a:off x="6628680" y="4576680"/>
              <a:ext cx="482040" cy="48168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8" name="Shape 594"/>
            <p:cNvSpPr/>
            <p:nvPr/>
          </p:nvSpPr>
          <p:spPr>
            <a:xfrm>
              <a:off x="6703920" y="4529160"/>
              <a:ext cx="361080" cy="51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629" name="Shape 595"/>
            <p:cNvSpPr/>
            <p:nvPr/>
          </p:nvSpPr>
          <p:spPr>
            <a:xfrm>
              <a:off x="7134120" y="5169600"/>
              <a:ext cx="482040" cy="48168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0" name="Shape 596"/>
            <p:cNvSpPr/>
            <p:nvPr/>
          </p:nvSpPr>
          <p:spPr>
            <a:xfrm>
              <a:off x="7209360" y="5122080"/>
              <a:ext cx="361080" cy="51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631" name="Shape 597"/>
            <p:cNvSpPr/>
            <p:nvPr/>
          </p:nvSpPr>
          <p:spPr>
            <a:xfrm>
              <a:off x="8120160" y="5228280"/>
              <a:ext cx="482040" cy="48168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2" name="Shape 598"/>
            <p:cNvSpPr/>
            <p:nvPr/>
          </p:nvSpPr>
          <p:spPr>
            <a:xfrm>
              <a:off x="8195400" y="5181120"/>
              <a:ext cx="361080" cy="519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Shape 603"/>
          <p:cNvSpPr/>
          <p:nvPr/>
        </p:nvSpPr>
        <p:spPr>
          <a:xfrm>
            <a:off x="320760" y="1936800"/>
            <a:ext cx="8397360" cy="19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noAutofit/>
          </a:bodyPr>
          <a:p>
            <a:pPr algn="just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路径：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在无向图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中，从顶点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到顶点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之间的</a:t>
            </a:r>
            <a:r>
              <a:rPr b="1" lang="ja-JP" sz="2800" spc="-1" strike="noStrike">
                <a:solidFill>
                  <a:srgbClr val="0066ff"/>
                </a:solidFill>
                <a:latin typeface="Times New Roman"/>
                <a:ea typeface="Times New Roman"/>
              </a:rPr>
              <a:t>路径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是一个顶点序列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…,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im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，其中，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ij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-1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)∈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（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1≤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≤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）。若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是有向图，则路径也是有方向的，顶点序列满足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ij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-1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&gt;∈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34" name="Shape 604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35" name="Shape 605"/>
          <p:cNvSpPr/>
          <p:nvPr/>
        </p:nvSpPr>
        <p:spPr>
          <a:xfrm>
            <a:off x="228600" y="1371600"/>
            <a:ext cx="4876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图的基本术语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36" name="Shape 606"/>
          <p:cNvSpPr/>
          <p:nvPr/>
        </p:nvSpPr>
        <p:spPr>
          <a:xfrm>
            <a:off x="334800" y="5884920"/>
            <a:ext cx="5435280" cy="547200"/>
          </a:xfrm>
          <a:prstGeom prst="rect">
            <a:avLst/>
          </a:prstGeom>
          <a:noFill/>
          <a:ln w="28575">
            <a:solidFill>
              <a:srgbClr val="00cc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一般情况下，图中的路径不惟一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37" name="Shape 607"/>
          <p:cNvSpPr/>
          <p:nvPr/>
        </p:nvSpPr>
        <p:spPr>
          <a:xfrm>
            <a:off x="306360" y="4281480"/>
            <a:ext cx="5211360" cy="13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0 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到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3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的路径：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0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                                           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0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1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2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                            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0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1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4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2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638" name="Shape 608"/>
          <p:cNvGrpSpPr/>
          <p:nvPr/>
        </p:nvGrpSpPr>
        <p:grpSpPr>
          <a:xfrm>
            <a:off x="6054840" y="4078440"/>
            <a:ext cx="2555640" cy="2258640"/>
            <a:chOff x="6054840" y="4078440"/>
            <a:chExt cx="2555640" cy="2258640"/>
          </a:xfrm>
        </p:grpSpPr>
        <p:grpSp>
          <p:nvGrpSpPr>
            <p:cNvPr id="639" name="Shape 609"/>
            <p:cNvGrpSpPr/>
            <p:nvPr/>
          </p:nvGrpSpPr>
          <p:grpSpPr>
            <a:xfrm>
              <a:off x="6129360" y="4078440"/>
              <a:ext cx="2481120" cy="597960"/>
              <a:chOff x="6129360" y="4078440"/>
              <a:chExt cx="2481120" cy="597960"/>
            </a:xfrm>
          </p:grpSpPr>
          <p:sp>
            <p:nvSpPr>
              <p:cNvPr id="640" name="Shape 610"/>
              <p:cNvSpPr/>
              <p:nvPr/>
            </p:nvSpPr>
            <p:spPr>
              <a:xfrm>
                <a:off x="6129360" y="41306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41" name="Shape 611"/>
              <p:cNvSpPr/>
              <p:nvPr/>
            </p:nvSpPr>
            <p:spPr>
              <a:xfrm>
                <a:off x="6195960" y="408132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0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642" name="Shape 612"/>
              <p:cNvSpPr/>
              <p:nvPr/>
            </p:nvSpPr>
            <p:spPr>
              <a:xfrm>
                <a:off x="6599160" y="4335480"/>
                <a:ext cx="15109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43" name="Shape 613"/>
              <p:cNvSpPr/>
              <p:nvPr/>
            </p:nvSpPr>
            <p:spPr>
              <a:xfrm>
                <a:off x="8080200" y="41274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44" name="Shape 614"/>
              <p:cNvSpPr/>
              <p:nvPr/>
            </p:nvSpPr>
            <p:spPr>
              <a:xfrm>
                <a:off x="8147160" y="407844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1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645" name="Shape 615"/>
            <p:cNvGrpSpPr/>
            <p:nvPr/>
          </p:nvGrpSpPr>
          <p:grpSpPr>
            <a:xfrm>
              <a:off x="6054840" y="4460760"/>
              <a:ext cx="2555640" cy="1876320"/>
              <a:chOff x="6054840" y="4460760"/>
              <a:chExt cx="2555640" cy="1876320"/>
            </a:xfrm>
          </p:grpSpPr>
          <p:sp>
            <p:nvSpPr>
              <p:cNvPr id="646" name="Shape 616"/>
              <p:cNvSpPr/>
              <p:nvPr/>
            </p:nvSpPr>
            <p:spPr>
              <a:xfrm>
                <a:off x="6477120" y="5386320"/>
                <a:ext cx="571320" cy="563040"/>
              </a:xfrm>
              <a:custGeom>
                <a:avLst/>
                <a:gdLst/>
                <a:ahLst/>
                <a:rect l="l" t="t" r="r" b="b"/>
                <a:pathLst>
                  <a:path w="300" h="300">
                    <a:moveTo>
                      <a:pt x="300" y="0"/>
                    </a:moveTo>
                    <a:lnTo>
                      <a:pt x="0" y="3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47" name="Shape 617"/>
              <p:cNvSpPr/>
              <p:nvPr/>
            </p:nvSpPr>
            <p:spPr>
              <a:xfrm>
                <a:off x="8337600" y="4603680"/>
                <a:ext cx="360" cy="12348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48" name="Shape 618"/>
              <p:cNvSpPr/>
              <p:nvPr/>
            </p:nvSpPr>
            <p:spPr>
              <a:xfrm>
                <a:off x="7475400" y="4460760"/>
                <a:ext cx="659880" cy="664920"/>
              </a:xfrm>
              <a:custGeom>
                <a:avLst/>
                <a:gdLst/>
                <a:ahLst/>
                <a:rect l="l" t="t" r="r" b="b"/>
                <a:pathLst>
                  <a:path w="375" h="375">
                    <a:moveTo>
                      <a:pt x="375" y="0"/>
                    </a:moveTo>
                    <a:lnTo>
                      <a:pt x="0" y="37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49" name="Shape 619"/>
              <p:cNvSpPr/>
              <p:nvPr/>
            </p:nvSpPr>
            <p:spPr>
              <a:xfrm>
                <a:off x="7516800" y="5402160"/>
                <a:ext cx="642600" cy="5536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50" name="Shape 620"/>
              <p:cNvSpPr/>
              <p:nvPr/>
            </p:nvSpPr>
            <p:spPr>
              <a:xfrm>
                <a:off x="6272280" y="4610160"/>
                <a:ext cx="360" cy="12060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51" name="Shape 621"/>
              <p:cNvSpPr/>
              <p:nvPr/>
            </p:nvSpPr>
            <p:spPr>
              <a:xfrm>
                <a:off x="7050240" y="504828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52" name="Shape 622"/>
              <p:cNvSpPr/>
              <p:nvPr/>
            </p:nvSpPr>
            <p:spPr>
              <a:xfrm>
                <a:off x="7116840" y="499896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2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653" name="Shape 623"/>
              <p:cNvSpPr/>
              <p:nvPr/>
            </p:nvSpPr>
            <p:spPr>
              <a:xfrm>
                <a:off x="6054840" y="579132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54" name="Shape 624"/>
              <p:cNvSpPr/>
              <p:nvPr/>
            </p:nvSpPr>
            <p:spPr>
              <a:xfrm>
                <a:off x="6121440" y="574200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3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655" name="Shape 625"/>
              <p:cNvSpPr/>
              <p:nvPr/>
            </p:nvSpPr>
            <p:spPr>
              <a:xfrm>
                <a:off x="8080200" y="578808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56" name="Shape 626"/>
              <p:cNvSpPr/>
              <p:nvPr/>
            </p:nvSpPr>
            <p:spPr>
              <a:xfrm>
                <a:off x="8147160" y="573876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4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4" dur="indefinite" restart="never" nodeType="tmRoot">
          <p:childTnLst>
            <p:seq>
              <p:cTn id="95" dur="indefinite" nodeType="mainSeq">
                <p:childTnLst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" dur="5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"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/>
          </p:nvPr>
        </p:nvSpPr>
        <p:spPr>
          <a:xfrm>
            <a:off x="301680" y="2286000"/>
            <a:ext cx="7772040" cy="579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路径长度：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632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59" name="Shape 633"/>
          <p:cNvSpPr/>
          <p:nvPr/>
        </p:nvSpPr>
        <p:spPr>
          <a:xfrm>
            <a:off x="228600" y="1371600"/>
            <a:ext cx="4876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图的基本术语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60" name="Shape 634"/>
          <p:cNvSpPr/>
          <p:nvPr/>
        </p:nvSpPr>
        <p:spPr>
          <a:xfrm>
            <a:off x="2160720" y="1806480"/>
            <a:ext cx="5184360" cy="13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非带权图——路径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上边的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个数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带权图——路径上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各边的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权之和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61" name="Shape 635"/>
          <p:cNvSpPr/>
          <p:nvPr/>
        </p:nvSpPr>
        <p:spPr>
          <a:xfrm>
            <a:off x="4311720" y="3992400"/>
            <a:ext cx="3962160" cy="13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0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3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：长度为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1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0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1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2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3 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：长度为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0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1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4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2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3 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：长度为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62" name="Shape 636"/>
          <p:cNvSpPr/>
          <p:nvPr/>
        </p:nvSpPr>
        <p:spPr>
          <a:xfrm>
            <a:off x="1996920" y="2232000"/>
            <a:ext cx="242640" cy="777600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663" name="Shape 637"/>
          <p:cNvGrpSpPr/>
          <p:nvPr/>
        </p:nvGrpSpPr>
        <p:grpSpPr>
          <a:xfrm>
            <a:off x="898560" y="3463920"/>
            <a:ext cx="2555640" cy="2258640"/>
            <a:chOff x="898560" y="3463920"/>
            <a:chExt cx="2555640" cy="2258640"/>
          </a:xfrm>
        </p:grpSpPr>
        <p:grpSp>
          <p:nvGrpSpPr>
            <p:cNvPr id="664" name="Shape 638"/>
            <p:cNvGrpSpPr/>
            <p:nvPr/>
          </p:nvGrpSpPr>
          <p:grpSpPr>
            <a:xfrm>
              <a:off x="973080" y="3463920"/>
              <a:ext cx="2481120" cy="598320"/>
              <a:chOff x="973080" y="3463920"/>
              <a:chExt cx="2481120" cy="598320"/>
            </a:xfrm>
          </p:grpSpPr>
          <p:sp>
            <p:nvSpPr>
              <p:cNvPr id="665" name="Shape 639"/>
              <p:cNvSpPr/>
              <p:nvPr/>
            </p:nvSpPr>
            <p:spPr>
              <a:xfrm>
                <a:off x="973080" y="351648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66" name="Shape 640"/>
              <p:cNvSpPr/>
              <p:nvPr/>
            </p:nvSpPr>
            <p:spPr>
              <a:xfrm>
                <a:off x="1039680" y="346716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0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667" name="Shape 641"/>
              <p:cNvSpPr/>
              <p:nvPr/>
            </p:nvSpPr>
            <p:spPr>
              <a:xfrm>
                <a:off x="1442880" y="3720960"/>
                <a:ext cx="15109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68" name="Shape 642"/>
              <p:cNvSpPr/>
              <p:nvPr/>
            </p:nvSpPr>
            <p:spPr>
              <a:xfrm>
                <a:off x="2924280" y="35132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69" name="Shape 643"/>
              <p:cNvSpPr/>
              <p:nvPr/>
            </p:nvSpPr>
            <p:spPr>
              <a:xfrm>
                <a:off x="2990880" y="346392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1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670" name="Shape 644"/>
            <p:cNvGrpSpPr/>
            <p:nvPr/>
          </p:nvGrpSpPr>
          <p:grpSpPr>
            <a:xfrm>
              <a:off x="898560" y="3846600"/>
              <a:ext cx="2555640" cy="1875960"/>
              <a:chOff x="898560" y="3846600"/>
              <a:chExt cx="2555640" cy="1875960"/>
            </a:xfrm>
          </p:grpSpPr>
          <p:sp>
            <p:nvSpPr>
              <p:cNvPr id="671" name="Shape 645"/>
              <p:cNvSpPr/>
              <p:nvPr/>
            </p:nvSpPr>
            <p:spPr>
              <a:xfrm>
                <a:off x="1320840" y="4772160"/>
                <a:ext cx="571320" cy="563040"/>
              </a:xfrm>
              <a:custGeom>
                <a:avLst/>
                <a:gdLst/>
                <a:ahLst/>
                <a:rect l="l" t="t" r="r" b="b"/>
                <a:pathLst>
                  <a:path w="300" h="300">
                    <a:moveTo>
                      <a:pt x="300" y="0"/>
                    </a:moveTo>
                    <a:lnTo>
                      <a:pt x="0" y="3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72" name="Shape 646"/>
              <p:cNvSpPr/>
              <p:nvPr/>
            </p:nvSpPr>
            <p:spPr>
              <a:xfrm>
                <a:off x="3181320" y="3989520"/>
                <a:ext cx="360" cy="12348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73" name="Shape 647"/>
              <p:cNvSpPr/>
              <p:nvPr/>
            </p:nvSpPr>
            <p:spPr>
              <a:xfrm>
                <a:off x="2319480" y="3846600"/>
                <a:ext cx="659880" cy="664920"/>
              </a:xfrm>
              <a:custGeom>
                <a:avLst/>
                <a:gdLst/>
                <a:ahLst/>
                <a:rect l="l" t="t" r="r" b="b"/>
                <a:pathLst>
                  <a:path w="375" h="375">
                    <a:moveTo>
                      <a:pt x="375" y="0"/>
                    </a:moveTo>
                    <a:lnTo>
                      <a:pt x="0" y="37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74" name="Shape 648"/>
              <p:cNvSpPr/>
              <p:nvPr/>
            </p:nvSpPr>
            <p:spPr>
              <a:xfrm>
                <a:off x="2360520" y="4788000"/>
                <a:ext cx="642600" cy="5536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75" name="Shape 649"/>
              <p:cNvSpPr/>
              <p:nvPr/>
            </p:nvSpPr>
            <p:spPr>
              <a:xfrm>
                <a:off x="1116000" y="3995640"/>
                <a:ext cx="360" cy="12060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76" name="Shape 650"/>
              <p:cNvSpPr/>
              <p:nvPr/>
            </p:nvSpPr>
            <p:spPr>
              <a:xfrm>
                <a:off x="1893960" y="443376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77" name="Shape 651"/>
              <p:cNvSpPr/>
              <p:nvPr/>
            </p:nvSpPr>
            <p:spPr>
              <a:xfrm>
                <a:off x="1960560" y="438480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2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678" name="Shape 652"/>
              <p:cNvSpPr/>
              <p:nvPr/>
            </p:nvSpPr>
            <p:spPr>
              <a:xfrm>
                <a:off x="898560" y="51768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79" name="Shape 653"/>
              <p:cNvSpPr/>
              <p:nvPr/>
            </p:nvSpPr>
            <p:spPr>
              <a:xfrm>
                <a:off x="965160" y="51274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3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680" name="Shape 654"/>
              <p:cNvSpPr/>
              <p:nvPr/>
            </p:nvSpPr>
            <p:spPr>
              <a:xfrm>
                <a:off x="2924280" y="517356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81" name="Shape 655"/>
              <p:cNvSpPr/>
              <p:nvPr/>
            </p:nvSpPr>
            <p:spPr>
              <a:xfrm>
                <a:off x="2990880" y="512460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4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6" dur="indefinite" restart="never" nodeType="tmRoot">
          <p:childTnLst>
            <p:seq>
              <p:cTn id="107" dur="indefinite" nodeType="mainSeq">
                <p:childTnLst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" dur="500"/>
                                        <p:tgtEl>
                                          <p:spTgt spid="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7" dur="500"/>
                                        <p:tgtEl>
                                          <p:spTgt spid="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2"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/>
          </p:nvPr>
        </p:nvSpPr>
        <p:spPr>
          <a:xfrm>
            <a:off x="301680" y="2286000"/>
            <a:ext cx="7772040" cy="579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路径长度：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661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684" name="Shape 662"/>
          <p:cNvSpPr/>
          <p:nvPr/>
        </p:nvSpPr>
        <p:spPr>
          <a:xfrm>
            <a:off x="228600" y="1371600"/>
            <a:ext cx="4876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图的基本术语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85" name="Shape 663"/>
          <p:cNvSpPr/>
          <p:nvPr/>
        </p:nvSpPr>
        <p:spPr>
          <a:xfrm>
            <a:off x="2160720" y="1806480"/>
            <a:ext cx="5184360" cy="13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非带权图——路径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上边的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个数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带权图——路径上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各边的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权之和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86" name="Shape 664"/>
          <p:cNvSpPr/>
          <p:nvPr/>
        </p:nvSpPr>
        <p:spPr>
          <a:xfrm>
            <a:off x="4311720" y="3992400"/>
            <a:ext cx="4419360" cy="13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0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3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：长度为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8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0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1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2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3 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：长度为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0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1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4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2 </a:t>
            </a: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3 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：长度为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15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87" name="Shape 665"/>
          <p:cNvSpPr/>
          <p:nvPr/>
        </p:nvSpPr>
        <p:spPr>
          <a:xfrm>
            <a:off x="1996920" y="2232000"/>
            <a:ext cx="242640" cy="777600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688" name="Shape 666"/>
          <p:cNvGrpSpPr/>
          <p:nvPr/>
        </p:nvGrpSpPr>
        <p:grpSpPr>
          <a:xfrm>
            <a:off x="519120" y="3317760"/>
            <a:ext cx="2863440" cy="2471760"/>
            <a:chOff x="519120" y="3317760"/>
            <a:chExt cx="2863440" cy="2471760"/>
          </a:xfrm>
        </p:grpSpPr>
        <p:grpSp>
          <p:nvGrpSpPr>
            <p:cNvPr id="689" name="Shape 667"/>
            <p:cNvGrpSpPr/>
            <p:nvPr/>
          </p:nvGrpSpPr>
          <p:grpSpPr>
            <a:xfrm>
              <a:off x="673200" y="3530520"/>
              <a:ext cx="2555640" cy="2259000"/>
              <a:chOff x="673200" y="3530520"/>
              <a:chExt cx="2555640" cy="2259000"/>
            </a:xfrm>
          </p:grpSpPr>
          <p:sp>
            <p:nvSpPr>
              <p:cNvPr id="690" name="Shape 668"/>
              <p:cNvSpPr/>
              <p:nvPr/>
            </p:nvSpPr>
            <p:spPr>
              <a:xfrm>
                <a:off x="2093760" y="3913200"/>
                <a:ext cx="659880" cy="664920"/>
              </a:xfrm>
              <a:custGeom>
                <a:avLst/>
                <a:gdLst/>
                <a:ahLst/>
                <a:rect l="l" t="t" r="r" b="b"/>
                <a:pathLst>
                  <a:path w="375" h="375">
                    <a:moveTo>
                      <a:pt x="375" y="0"/>
                    </a:moveTo>
                    <a:lnTo>
                      <a:pt x="0" y="37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691" name="Shape 669"/>
              <p:cNvGrpSpPr/>
              <p:nvPr/>
            </p:nvGrpSpPr>
            <p:grpSpPr>
              <a:xfrm>
                <a:off x="747720" y="3530520"/>
                <a:ext cx="2481120" cy="598320"/>
                <a:chOff x="747720" y="3530520"/>
                <a:chExt cx="2481120" cy="598320"/>
              </a:xfrm>
            </p:grpSpPr>
            <p:sp>
              <p:nvSpPr>
                <p:cNvPr id="692" name="Shape 670"/>
                <p:cNvSpPr/>
                <p:nvPr/>
              </p:nvSpPr>
              <p:spPr>
                <a:xfrm>
                  <a:off x="747720" y="358308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93" name="Shape 671"/>
                <p:cNvSpPr/>
                <p:nvPr/>
              </p:nvSpPr>
              <p:spPr>
                <a:xfrm>
                  <a:off x="814320" y="353376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0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  <p:sp>
              <p:nvSpPr>
                <p:cNvPr id="694" name="Shape 672"/>
                <p:cNvSpPr/>
                <p:nvPr/>
              </p:nvSpPr>
              <p:spPr>
                <a:xfrm>
                  <a:off x="1217520" y="3787920"/>
                  <a:ext cx="1510920" cy="3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2160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95" name="Shape 673"/>
                <p:cNvSpPr/>
                <p:nvPr/>
              </p:nvSpPr>
              <p:spPr>
                <a:xfrm>
                  <a:off x="2698920" y="357984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696" name="Shape 674"/>
                <p:cNvSpPr/>
                <p:nvPr/>
              </p:nvSpPr>
              <p:spPr>
                <a:xfrm>
                  <a:off x="2765520" y="353052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1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</p:grpSp>
          <p:sp>
            <p:nvSpPr>
              <p:cNvPr id="697" name="Shape 675"/>
              <p:cNvSpPr/>
              <p:nvPr/>
            </p:nvSpPr>
            <p:spPr>
              <a:xfrm>
                <a:off x="1095480" y="4838760"/>
                <a:ext cx="571320" cy="563040"/>
              </a:xfrm>
              <a:custGeom>
                <a:avLst/>
                <a:gdLst/>
                <a:ahLst/>
                <a:rect l="l" t="t" r="r" b="b"/>
                <a:pathLst>
                  <a:path w="300" h="300">
                    <a:moveTo>
                      <a:pt x="300" y="0"/>
                    </a:moveTo>
                    <a:lnTo>
                      <a:pt x="0" y="3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98" name="Shape 676"/>
              <p:cNvSpPr/>
              <p:nvPr/>
            </p:nvSpPr>
            <p:spPr>
              <a:xfrm>
                <a:off x="2955960" y="4056120"/>
                <a:ext cx="360" cy="12348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99" name="Shape 677"/>
              <p:cNvSpPr/>
              <p:nvPr/>
            </p:nvSpPr>
            <p:spPr>
              <a:xfrm>
                <a:off x="2135160" y="4854600"/>
                <a:ext cx="642600" cy="55368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00" name="Shape 678"/>
              <p:cNvSpPr/>
              <p:nvPr/>
            </p:nvSpPr>
            <p:spPr>
              <a:xfrm>
                <a:off x="890640" y="4062240"/>
                <a:ext cx="360" cy="12060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01" name="Shape 679"/>
              <p:cNvSpPr/>
              <p:nvPr/>
            </p:nvSpPr>
            <p:spPr>
              <a:xfrm>
                <a:off x="1668600" y="450072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02" name="Shape 680"/>
              <p:cNvSpPr/>
              <p:nvPr/>
            </p:nvSpPr>
            <p:spPr>
              <a:xfrm>
                <a:off x="1735200" y="445140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2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703" name="Shape 681"/>
              <p:cNvSpPr/>
              <p:nvPr/>
            </p:nvSpPr>
            <p:spPr>
              <a:xfrm>
                <a:off x="673200" y="52434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04" name="Shape 682"/>
              <p:cNvSpPr/>
              <p:nvPr/>
            </p:nvSpPr>
            <p:spPr>
              <a:xfrm>
                <a:off x="739800" y="519444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3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705" name="Shape 683"/>
              <p:cNvSpPr/>
              <p:nvPr/>
            </p:nvSpPr>
            <p:spPr>
              <a:xfrm>
                <a:off x="2698920" y="524016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06" name="Shape 684"/>
              <p:cNvSpPr/>
              <p:nvPr/>
            </p:nvSpPr>
            <p:spPr>
              <a:xfrm>
                <a:off x="2765520" y="519120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4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sp>
          <p:nvSpPr>
            <p:cNvPr id="707" name="Shape 685"/>
            <p:cNvSpPr/>
            <p:nvPr/>
          </p:nvSpPr>
          <p:spPr>
            <a:xfrm>
              <a:off x="1722600" y="3317760"/>
              <a:ext cx="4568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708" name="Shape 686"/>
            <p:cNvSpPr/>
            <p:nvPr/>
          </p:nvSpPr>
          <p:spPr>
            <a:xfrm>
              <a:off x="2925720" y="4368960"/>
              <a:ext cx="4568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709" name="Shape 687"/>
            <p:cNvSpPr/>
            <p:nvPr/>
          </p:nvSpPr>
          <p:spPr>
            <a:xfrm>
              <a:off x="2332080" y="4689360"/>
              <a:ext cx="4568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710" name="Shape 688"/>
            <p:cNvSpPr/>
            <p:nvPr/>
          </p:nvSpPr>
          <p:spPr>
            <a:xfrm>
              <a:off x="1996920" y="3927600"/>
              <a:ext cx="4568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711" name="Shape 689"/>
            <p:cNvSpPr/>
            <p:nvPr/>
          </p:nvSpPr>
          <p:spPr>
            <a:xfrm>
              <a:off x="1084320" y="4675320"/>
              <a:ext cx="4568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712" name="Shape 690"/>
            <p:cNvSpPr/>
            <p:nvPr/>
          </p:nvSpPr>
          <p:spPr>
            <a:xfrm>
              <a:off x="519120" y="4416480"/>
              <a:ext cx="4568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8</a:t>
              </a:r>
              <a:endParaRPr b="0" lang="en-US" sz="2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3" dur="indefinite" restart="never" nodeType="tmRoot">
          <p:childTnLst>
            <p:seq>
              <p:cTn id="124" dur="indefinite" nodeType="mainSeq">
                <p:childTnLst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9" dur="5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/>
          </p:cNvSpPr>
          <p:nvPr>
            <p:ph/>
          </p:nvPr>
        </p:nvSpPr>
        <p:spPr>
          <a:xfrm>
            <a:off x="258840" y="2025720"/>
            <a:ext cx="888480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回路（环）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：第一个顶点和最后一个顶点相同的路径。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简单路径：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序列中顶点不重复出现的路径。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简单回路（简单环）：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除了第一个顶点和最后一个顶点外，其余顶点不重复出现的回路。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696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715" name="Shape 697"/>
          <p:cNvSpPr/>
          <p:nvPr/>
        </p:nvSpPr>
        <p:spPr>
          <a:xfrm>
            <a:off x="228600" y="1371600"/>
            <a:ext cx="4876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图的基本术语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716" name="Shape 698"/>
          <p:cNvGrpSpPr/>
          <p:nvPr/>
        </p:nvGrpSpPr>
        <p:grpSpPr>
          <a:xfrm>
            <a:off x="5005440" y="4233960"/>
            <a:ext cx="2555640" cy="2258640"/>
            <a:chOff x="5005440" y="4233960"/>
            <a:chExt cx="2555640" cy="2258640"/>
          </a:xfrm>
        </p:grpSpPr>
        <p:sp>
          <p:nvSpPr>
            <p:cNvPr id="717" name="Shape 699"/>
            <p:cNvSpPr/>
            <p:nvPr/>
          </p:nvSpPr>
          <p:spPr>
            <a:xfrm>
              <a:off x="6426360" y="4616280"/>
              <a:ext cx="659880" cy="66492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718" name="Shape 700"/>
            <p:cNvGrpSpPr/>
            <p:nvPr/>
          </p:nvGrpSpPr>
          <p:grpSpPr>
            <a:xfrm>
              <a:off x="5079960" y="4233960"/>
              <a:ext cx="2481120" cy="598320"/>
              <a:chOff x="5079960" y="4233960"/>
              <a:chExt cx="2481120" cy="598320"/>
            </a:xfrm>
          </p:grpSpPr>
          <p:sp>
            <p:nvSpPr>
              <p:cNvPr id="719" name="Shape 701"/>
              <p:cNvSpPr/>
              <p:nvPr/>
            </p:nvSpPr>
            <p:spPr>
              <a:xfrm>
                <a:off x="5079960" y="428616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0" name="Shape 702"/>
              <p:cNvSpPr/>
              <p:nvPr/>
            </p:nvSpPr>
            <p:spPr>
              <a:xfrm>
                <a:off x="5146560" y="423720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0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721" name="Shape 703"/>
              <p:cNvSpPr/>
              <p:nvPr/>
            </p:nvSpPr>
            <p:spPr>
              <a:xfrm>
                <a:off x="5549760" y="4491000"/>
                <a:ext cx="15109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2" name="Shape 704"/>
              <p:cNvSpPr/>
              <p:nvPr/>
            </p:nvSpPr>
            <p:spPr>
              <a:xfrm>
                <a:off x="7031160" y="428292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23" name="Shape 705"/>
              <p:cNvSpPr/>
              <p:nvPr/>
            </p:nvSpPr>
            <p:spPr>
              <a:xfrm>
                <a:off x="7097760" y="423396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1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sp>
          <p:nvSpPr>
            <p:cNvPr id="724" name="Shape 706"/>
            <p:cNvSpPr/>
            <p:nvPr/>
          </p:nvSpPr>
          <p:spPr>
            <a:xfrm>
              <a:off x="5427720" y="5541840"/>
              <a:ext cx="571320" cy="563040"/>
            </a:xfrm>
            <a:custGeom>
              <a:avLst/>
              <a:gdLst/>
              <a:ahLst/>
              <a:rect l="l" t="t" r="r" b="b"/>
              <a:pathLst>
                <a:path w="300" h="300">
                  <a:moveTo>
                    <a:pt x="300" y="0"/>
                  </a:moveTo>
                  <a:lnTo>
                    <a:pt x="0" y="3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5" name="Shape 707"/>
            <p:cNvSpPr/>
            <p:nvPr/>
          </p:nvSpPr>
          <p:spPr>
            <a:xfrm>
              <a:off x="7288200" y="4759200"/>
              <a:ext cx="360" cy="1234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6" name="Shape 708"/>
            <p:cNvSpPr/>
            <p:nvPr/>
          </p:nvSpPr>
          <p:spPr>
            <a:xfrm>
              <a:off x="6467400" y="5557680"/>
              <a:ext cx="642600" cy="553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7" name="Shape 709"/>
            <p:cNvSpPr/>
            <p:nvPr/>
          </p:nvSpPr>
          <p:spPr>
            <a:xfrm>
              <a:off x="5222880" y="476568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8" name="Shape 710"/>
            <p:cNvSpPr/>
            <p:nvPr/>
          </p:nvSpPr>
          <p:spPr>
            <a:xfrm>
              <a:off x="6000840" y="52038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9" name="Shape 711"/>
            <p:cNvSpPr/>
            <p:nvPr/>
          </p:nvSpPr>
          <p:spPr>
            <a:xfrm>
              <a:off x="6067440" y="51544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730" name="Shape 712"/>
            <p:cNvSpPr/>
            <p:nvPr/>
          </p:nvSpPr>
          <p:spPr>
            <a:xfrm>
              <a:off x="5005440" y="5946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1" name="Shape 713"/>
            <p:cNvSpPr/>
            <p:nvPr/>
          </p:nvSpPr>
          <p:spPr>
            <a:xfrm>
              <a:off x="5072040" y="5897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732" name="Shape 714"/>
            <p:cNvSpPr/>
            <p:nvPr/>
          </p:nvSpPr>
          <p:spPr>
            <a:xfrm>
              <a:off x="7031160" y="59436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3" name="Shape 715"/>
            <p:cNvSpPr/>
            <p:nvPr/>
          </p:nvSpPr>
          <p:spPr>
            <a:xfrm>
              <a:off x="7097760" y="58942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734" name="Shape 716"/>
          <p:cNvGrpSpPr/>
          <p:nvPr/>
        </p:nvGrpSpPr>
        <p:grpSpPr>
          <a:xfrm>
            <a:off x="1649520" y="4213080"/>
            <a:ext cx="2471400" cy="2334960"/>
            <a:chOff x="1649520" y="4213080"/>
            <a:chExt cx="2471400" cy="2334960"/>
          </a:xfrm>
        </p:grpSpPr>
        <p:grpSp>
          <p:nvGrpSpPr>
            <p:cNvPr id="735" name="Shape 717"/>
            <p:cNvGrpSpPr/>
            <p:nvPr/>
          </p:nvGrpSpPr>
          <p:grpSpPr>
            <a:xfrm>
              <a:off x="1657440" y="4213080"/>
              <a:ext cx="2463480" cy="608040"/>
              <a:chOff x="1657440" y="4213080"/>
              <a:chExt cx="2463480" cy="608040"/>
            </a:xfrm>
          </p:grpSpPr>
          <p:sp>
            <p:nvSpPr>
              <p:cNvPr id="736" name="Shape 718"/>
              <p:cNvSpPr/>
              <p:nvPr/>
            </p:nvSpPr>
            <p:spPr>
              <a:xfrm>
                <a:off x="2155680" y="4500720"/>
                <a:ext cx="1431720" cy="1080"/>
              </a:xfrm>
              <a:custGeom>
                <a:avLst/>
                <a:gdLst/>
                <a:ahLst/>
                <a:rect l="l" t="t" r="r" b="b"/>
                <a:pathLst>
                  <a:path w="901" h="7">
                    <a:moveTo>
                      <a:pt x="0" y="7"/>
                    </a:moveTo>
                    <a:lnTo>
                      <a:pt x="90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37" name="Shape 719"/>
              <p:cNvSpPr/>
              <p:nvPr/>
            </p:nvSpPr>
            <p:spPr>
              <a:xfrm>
                <a:off x="1657440" y="42624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38" name="Shape 720"/>
              <p:cNvSpPr/>
              <p:nvPr/>
            </p:nvSpPr>
            <p:spPr>
              <a:xfrm>
                <a:off x="1724040" y="42130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0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739" name="Shape 721"/>
              <p:cNvSpPr/>
              <p:nvPr/>
            </p:nvSpPr>
            <p:spPr>
              <a:xfrm>
                <a:off x="3591000" y="42750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40" name="Shape 722"/>
              <p:cNvSpPr/>
              <p:nvPr/>
            </p:nvSpPr>
            <p:spPr>
              <a:xfrm>
                <a:off x="3657600" y="422604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1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741" name="Shape 723"/>
            <p:cNvGrpSpPr/>
            <p:nvPr/>
          </p:nvGrpSpPr>
          <p:grpSpPr>
            <a:xfrm>
              <a:off x="1649520" y="4659480"/>
              <a:ext cx="2457000" cy="1888560"/>
              <a:chOff x="1649520" y="4659480"/>
              <a:chExt cx="2457000" cy="1888560"/>
            </a:xfrm>
          </p:grpSpPr>
          <p:sp>
            <p:nvSpPr>
              <p:cNvPr id="742" name="Shape 724"/>
              <p:cNvSpPr/>
              <p:nvPr/>
            </p:nvSpPr>
            <p:spPr>
              <a:xfrm>
                <a:off x="1906560" y="4762440"/>
                <a:ext cx="360" cy="1272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43" name="Shape 725"/>
              <p:cNvSpPr/>
              <p:nvPr/>
            </p:nvSpPr>
            <p:spPr>
              <a:xfrm>
                <a:off x="2124000" y="6270480"/>
                <a:ext cx="1474560" cy="1080"/>
              </a:xfrm>
              <a:custGeom>
                <a:avLst/>
                <a:gdLst/>
                <a:ahLst/>
                <a:rect l="l" t="t" r="r" b="b"/>
                <a:pathLst>
                  <a:path w="901" h="5">
                    <a:moveTo>
                      <a:pt x="0" y="0"/>
                    </a:moveTo>
                    <a:lnTo>
                      <a:pt x="901" y="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44" name="Shape 726"/>
              <p:cNvSpPr/>
              <p:nvPr/>
            </p:nvSpPr>
            <p:spPr>
              <a:xfrm rot="10800000">
                <a:off x="2094480" y="4659480"/>
                <a:ext cx="1566360" cy="13935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45" name="Shape 727"/>
              <p:cNvSpPr/>
              <p:nvPr/>
            </p:nvSpPr>
            <p:spPr>
              <a:xfrm>
                <a:off x="1649520" y="600228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46" name="Shape 728"/>
              <p:cNvSpPr/>
              <p:nvPr/>
            </p:nvSpPr>
            <p:spPr>
              <a:xfrm>
                <a:off x="1716120" y="595296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2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747" name="Shape 729"/>
              <p:cNvSpPr/>
              <p:nvPr/>
            </p:nvSpPr>
            <p:spPr>
              <a:xfrm>
                <a:off x="3576600" y="59990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48" name="Shape 730"/>
              <p:cNvSpPr/>
              <p:nvPr/>
            </p:nvSpPr>
            <p:spPr>
              <a:xfrm>
                <a:off x="3643200" y="59500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3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sp>
        <p:nvSpPr>
          <p:cNvPr id="749" name="Shape 731"/>
          <p:cNvSpPr/>
          <p:nvPr/>
        </p:nvSpPr>
        <p:spPr>
          <a:xfrm>
            <a:off x="1905120" y="4770360"/>
            <a:ext cx="360" cy="1248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ff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750" name="Shape 732"/>
          <p:cNvSpPr/>
          <p:nvPr/>
        </p:nvSpPr>
        <p:spPr>
          <a:xfrm>
            <a:off x="2151000" y="6264360"/>
            <a:ext cx="1461600" cy="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ff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751" name="Shape 733"/>
          <p:cNvSpPr/>
          <p:nvPr/>
        </p:nvSpPr>
        <p:spPr>
          <a:xfrm rot="10800000">
            <a:off x="2073600" y="4636080"/>
            <a:ext cx="1585440" cy="1415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ff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752" name="Shape 734"/>
          <p:cNvSpPr/>
          <p:nvPr/>
        </p:nvSpPr>
        <p:spPr>
          <a:xfrm>
            <a:off x="5576760" y="4479840"/>
            <a:ext cx="14634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753" name="Shape 735"/>
          <p:cNvSpPr/>
          <p:nvPr/>
        </p:nvSpPr>
        <p:spPr>
          <a:xfrm flipH="1" rot="10800000">
            <a:off x="6431400" y="4632480"/>
            <a:ext cx="624960" cy="626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754" name="Shape 736"/>
          <p:cNvSpPr/>
          <p:nvPr/>
        </p:nvSpPr>
        <p:spPr>
          <a:xfrm flipH="1" rot="10800000">
            <a:off x="5470200" y="5529960"/>
            <a:ext cx="550440" cy="536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755" name="Shape 737"/>
          <p:cNvSpPr/>
          <p:nvPr/>
        </p:nvSpPr>
        <p:spPr>
          <a:xfrm flipH="1" rot="10800000">
            <a:off x="5227560" y="4754880"/>
            <a:ext cx="1080" cy="1188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0" dur="indefinite" restart="never" nodeType="tmRoot">
          <p:childTnLst>
            <p:seq>
              <p:cTn id="131" dur="indefinite" nodeType="mainSeq">
                <p:childTnLst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6"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1"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6"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1"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6"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1"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6"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Shape 742"/>
          <p:cNvSpPr/>
          <p:nvPr/>
        </p:nvSpPr>
        <p:spPr>
          <a:xfrm>
            <a:off x="206280" y="1982880"/>
            <a:ext cx="867060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子图：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若图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（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），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G'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（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V'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E'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），如果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V'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⊆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且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E'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⊆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，则称图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G'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是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的子图。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757" name="Shape 743"/>
          <p:cNvSpPr/>
          <p:nvPr/>
        </p:nvSpPr>
        <p:spPr>
          <a:xfrm>
            <a:off x="3567240" y="4495680"/>
            <a:ext cx="898200" cy="304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758" name="Shape 744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759" name="Shape 745"/>
          <p:cNvSpPr/>
          <p:nvPr/>
        </p:nvSpPr>
        <p:spPr>
          <a:xfrm>
            <a:off x="228600" y="1371600"/>
            <a:ext cx="4876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图的基本术语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760" name="Shape 746"/>
          <p:cNvGrpSpPr/>
          <p:nvPr/>
        </p:nvGrpSpPr>
        <p:grpSpPr>
          <a:xfrm>
            <a:off x="677880" y="3516480"/>
            <a:ext cx="2555640" cy="2258640"/>
            <a:chOff x="677880" y="3516480"/>
            <a:chExt cx="2555640" cy="2258640"/>
          </a:xfrm>
        </p:grpSpPr>
        <p:sp>
          <p:nvSpPr>
            <p:cNvPr id="761" name="Shape 747"/>
            <p:cNvSpPr/>
            <p:nvPr/>
          </p:nvSpPr>
          <p:spPr>
            <a:xfrm>
              <a:off x="2098800" y="3898800"/>
              <a:ext cx="659880" cy="66492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762" name="Shape 748"/>
            <p:cNvGrpSpPr/>
            <p:nvPr/>
          </p:nvGrpSpPr>
          <p:grpSpPr>
            <a:xfrm>
              <a:off x="752400" y="3516480"/>
              <a:ext cx="2481120" cy="597960"/>
              <a:chOff x="752400" y="3516480"/>
              <a:chExt cx="2481120" cy="597960"/>
            </a:xfrm>
          </p:grpSpPr>
          <p:sp>
            <p:nvSpPr>
              <p:cNvPr id="763" name="Shape 749"/>
              <p:cNvSpPr/>
              <p:nvPr/>
            </p:nvSpPr>
            <p:spPr>
              <a:xfrm>
                <a:off x="752400" y="356868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64" name="Shape 750"/>
              <p:cNvSpPr/>
              <p:nvPr/>
            </p:nvSpPr>
            <p:spPr>
              <a:xfrm>
                <a:off x="819000" y="351936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0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765" name="Shape 751"/>
              <p:cNvSpPr/>
              <p:nvPr/>
            </p:nvSpPr>
            <p:spPr>
              <a:xfrm>
                <a:off x="1222200" y="3773520"/>
                <a:ext cx="15109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66" name="Shape 752"/>
              <p:cNvSpPr/>
              <p:nvPr/>
            </p:nvSpPr>
            <p:spPr>
              <a:xfrm>
                <a:off x="2703600" y="35654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767" name="Shape 753"/>
              <p:cNvSpPr/>
              <p:nvPr/>
            </p:nvSpPr>
            <p:spPr>
              <a:xfrm>
                <a:off x="2770200" y="35164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1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sp>
          <p:nvSpPr>
            <p:cNvPr id="768" name="Shape 754"/>
            <p:cNvSpPr/>
            <p:nvPr/>
          </p:nvSpPr>
          <p:spPr>
            <a:xfrm>
              <a:off x="1100160" y="4824360"/>
              <a:ext cx="571320" cy="563040"/>
            </a:xfrm>
            <a:custGeom>
              <a:avLst/>
              <a:gdLst/>
              <a:ahLst/>
              <a:rect l="l" t="t" r="r" b="b"/>
              <a:pathLst>
                <a:path w="300" h="300">
                  <a:moveTo>
                    <a:pt x="300" y="0"/>
                  </a:moveTo>
                  <a:lnTo>
                    <a:pt x="0" y="3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9" name="Shape 755"/>
            <p:cNvSpPr/>
            <p:nvPr/>
          </p:nvSpPr>
          <p:spPr>
            <a:xfrm>
              <a:off x="2960640" y="4041720"/>
              <a:ext cx="360" cy="1234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0" name="Shape 756"/>
            <p:cNvSpPr/>
            <p:nvPr/>
          </p:nvSpPr>
          <p:spPr>
            <a:xfrm>
              <a:off x="2139840" y="4840200"/>
              <a:ext cx="642600" cy="553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1" name="Shape 757"/>
            <p:cNvSpPr/>
            <p:nvPr/>
          </p:nvSpPr>
          <p:spPr>
            <a:xfrm>
              <a:off x="895320" y="404820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2" name="Shape 758"/>
            <p:cNvSpPr/>
            <p:nvPr/>
          </p:nvSpPr>
          <p:spPr>
            <a:xfrm>
              <a:off x="1673280" y="4486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3" name="Shape 759"/>
            <p:cNvSpPr/>
            <p:nvPr/>
          </p:nvSpPr>
          <p:spPr>
            <a:xfrm>
              <a:off x="1739880" y="4437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774" name="Shape 760"/>
            <p:cNvSpPr/>
            <p:nvPr/>
          </p:nvSpPr>
          <p:spPr>
            <a:xfrm>
              <a:off x="677880" y="52293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5" name="Shape 761"/>
            <p:cNvSpPr/>
            <p:nvPr/>
          </p:nvSpPr>
          <p:spPr>
            <a:xfrm>
              <a:off x="744480" y="51800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776" name="Shape 762"/>
            <p:cNvSpPr/>
            <p:nvPr/>
          </p:nvSpPr>
          <p:spPr>
            <a:xfrm>
              <a:off x="2703600" y="52261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7" name="Shape 763"/>
            <p:cNvSpPr/>
            <p:nvPr/>
          </p:nvSpPr>
          <p:spPr>
            <a:xfrm>
              <a:off x="2770200" y="51768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778" name="Shape 764"/>
          <p:cNvGrpSpPr/>
          <p:nvPr/>
        </p:nvGrpSpPr>
        <p:grpSpPr>
          <a:xfrm>
            <a:off x="4898880" y="3301920"/>
            <a:ext cx="2481120" cy="598320"/>
            <a:chOff x="4898880" y="3301920"/>
            <a:chExt cx="2481120" cy="598320"/>
          </a:xfrm>
        </p:grpSpPr>
        <p:sp>
          <p:nvSpPr>
            <p:cNvPr id="779" name="Shape 765"/>
            <p:cNvSpPr/>
            <p:nvPr/>
          </p:nvSpPr>
          <p:spPr>
            <a:xfrm>
              <a:off x="4898880" y="33544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0" name="Shape 766"/>
            <p:cNvSpPr/>
            <p:nvPr/>
          </p:nvSpPr>
          <p:spPr>
            <a:xfrm>
              <a:off x="4965840" y="33051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781" name="Shape 767"/>
            <p:cNvSpPr/>
            <p:nvPr/>
          </p:nvSpPr>
          <p:spPr>
            <a:xfrm>
              <a:off x="5369040" y="355932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2" name="Shape 768"/>
            <p:cNvSpPr/>
            <p:nvPr/>
          </p:nvSpPr>
          <p:spPr>
            <a:xfrm>
              <a:off x="6850080" y="3351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3" name="Shape 769"/>
            <p:cNvSpPr/>
            <p:nvPr/>
          </p:nvSpPr>
          <p:spPr>
            <a:xfrm>
              <a:off x="6916680" y="3301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784" name="Shape 770"/>
          <p:cNvGrpSpPr/>
          <p:nvPr/>
        </p:nvGrpSpPr>
        <p:grpSpPr>
          <a:xfrm>
            <a:off x="6305400" y="4924440"/>
            <a:ext cx="2317680" cy="1334880"/>
            <a:chOff x="6305400" y="4924440"/>
            <a:chExt cx="2317680" cy="1334880"/>
          </a:xfrm>
        </p:grpSpPr>
        <p:sp>
          <p:nvSpPr>
            <p:cNvPr id="785" name="Shape 771"/>
            <p:cNvSpPr/>
            <p:nvPr/>
          </p:nvSpPr>
          <p:spPr>
            <a:xfrm>
              <a:off x="6664320" y="5311800"/>
              <a:ext cx="571320" cy="563040"/>
            </a:xfrm>
            <a:custGeom>
              <a:avLst/>
              <a:gdLst/>
              <a:ahLst/>
              <a:rect l="l" t="t" r="r" b="b"/>
              <a:pathLst>
                <a:path w="300" h="300">
                  <a:moveTo>
                    <a:pt x="300" y="0"/>
                  </a:moveTo>
                  <a:lnTo>
                    <a:pt x="0" y="3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6" name="Shape 772"/>
            <p:cNvSpPr/>
            <p:nvPr/>
          </p:nvSpPr>
          <p:spPr>
            <a:xfrm>
              <a:off x="7672320" y="5327640"/>
              <a:ext cx="582120" cy="583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7" name="Shape 773"/>
            <p:cNvSpPr/>
            <p:nvPr/>
          </p:nvSpPr>
          <p:spPr>
            <a:xfrm>
              <a:off x="7205760" y="4973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8" name="Shape 774"/>
            <p:cNvSpPr/>
            <p:nvPr/>
          </p:nvSpPr>
          <p:spPr>
            <a:xfrm>
              <a:off x="7272360" y="4924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789" name="Shape 775"/>
            <p:cNvSpPr/>
            <p:nvPr/>
          </p:nvSpPr>
          <p:spPr>
            <a:xfrm>
              <a:off x="6305400" y="57006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0" name="Shape 776"/>
            <p:cNvSpPr/>
            <p:nvPr/>
          </p:nvSpPr>
          <p:spPr>
            <a:xfrm>
              <a:off x="6372360" y="56516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791" name="Shape 777"/>
            <p:cNvSpPr/>
            <p:nvPr/>
          </p:nvSpPr>
          <p:spPr>
            <a:xfrm>
              <a:off x="8093160" y="5713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2" name="Shape 778"/>
            <p:cNvSpPr/>
            <p:nvPr/>
          </p:nvSpPr>
          <p:spPr>
            <a:xfrm>
              <a:off x="8159760" y="5664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793" name="Shape 779"/>
          <p:cNvGrpSpPr/>
          <p:nvPr/>
        </p:nvGrpSpPr>
        <p:grpSpPr>
          <a:xfrm>
            <a:off x="4854600" y="4008600"/>
            <a:ext cx="1525320" cy="2255400"/>
            <a:chOff x="4854600" y="4008600"/>
            <a:chExt cx="1525320" cy="2255400"/>
          </a:xfrm>
        </p:grpSpPr>
        <p:sp>
          <p:nvSpPr>
            <p:cNvPr id="794" name="Shape 780"/>
            <p:cNvSpPr/>
            <p:nvPr/>
          </p:nvSpPr>
          <p:spPr>
            <a:xfrm>
              <a:off x="5653080" y="4508640"/>
              <a:ext cx="1839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5" name="Shape 781"/>
            <p:cNvSpPr/>
            <p:nvPr/>
          </p:nvSpPr>
          <p:spPr>
            <a:xfrm>
              <a:off x="4929120" y="4057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6" name="Shape 782"/>
            <p:cNvSpPr/>
            <p:nvPr/>
          </p:nvSpPr>
          <p:spPr>
            <a:xfrm>
              <a:off x="4995720" y="40086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797" name="Shape 783"/>
            <p:cNvSpPr/>
            <p:nvPr/>
          </p:nvSpPr>
          <p:spPr>
            <a:xfrm>
              <a:off x="5276880" y="5313240"/>
              <a:ext cx="571320" cy="563040"/>
            </a:xfrm>
            <a:custGeom>
              <a:avLst/>
              <a:gdLst/>
              <a:ahLst/>
              <a:rect l="l" t="t" r="r" b="b"/>
              <a:pathLst>
                <a:path w="300" h="300">
                  <a:moveTo>
                    <a:pt x="300" y="0"/>
                  </a:moveTo>
                  <a:lnTo>
                    <a:pt x="0" y="3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8" name="Shape 784"/>
            <p:cNvSpPr/>
            <p:nvPr/>
          </p:nvSpPr>
          <p:spPr>
            <a:xfrm>
              <a:off x="5072040" y="453708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9" name="Shape 785"/>
            <p:cNvSpPr/>
            <p:nvPr/>
          </p:nvSpPr>
          <p:spPr>
            <a:xfrm>
              <a:off x="5850000" y="49752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0" name="Shape 786"/>
            <p:cNvSpPr/>
            <p:nvPr/>
          </p:nvSpPr>
          <p:spPr>
            <a:xfrm>
              <a:off x="5916600" y="49258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801" name="Shape 787"/>
            <p:cNvSpPr/>
            <p:nvPr/>
          </p:nvSpPr>
          <p:spPr>
            <a:xfrm>
              <a:off x="4854600" y="5718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2" name="Shape 788"/>
            <p:cNvSpPr/>
            <p:nvPr/>
          </p:nvSpPr>
          <p:spPr>
            <a:xfrm>
              <a:off x="4921200" y="5668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7" dur="indefinite" restart="never" nodeType="tmRoot">
          <p:childTnLst>
            <p:seq>
              <p:cTn id="168" dur="indefinite" nodeType="mainSeq">
                <p:childTnLst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3"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Shape 793"/>
          <p:cNvSpPr/>
          <p:nvPr/>
        </p:nvSpPr>
        <p:spPr>
          <a:xfrm>
            <a:off x="228600" y="1951200"/>
            <a:ext cx="8488080" cy="21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连通图：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在无向图中，如果从一个顶点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到另一个顶点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≠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有路径，则称顶点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是连通的。如果图中任意两个顶点都是连通的，则称该图是连通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图。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连通分量：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非连通图的极大连通子图称为连通分量。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04" name="Shape 794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05" name="Shape 795"/>
          <p:cNvSpPr/>
          <p:nvPr/>
        </p:nvSpPr>
        <p:spPr>
          <a:xfrm>
            <a:off x="228600" y="1371600"/>
            <a:ext cx="4876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图的基本术语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806" name="Shape 796"/>
          <p:cNvGrpSpPr/>
          <p:nvPr/>
        </p:nvGrpSpPr>
        <p:grpSpPr>
          <a:xfrm>
            <a:off x="380880" y="5821200"/>
            <a:ext cx="7619760" cy="680760"/>
            <a:chOff x="380880" y="5821200"/>
            <a:chExt cx="7619760" cy="680760"/>
          </a:xfrm>
        </p:grpSpPr>
        <p:pic>
          <p:nvPicPr>
            <p:cNvPr id="807" name="Shape 797" descr=""/>
            <p:cNvPicPr/>
            <p:nvPr/>
          </p:nvPicPr>
          <p:blipFill>
            <a:blip r:embed="rId1"/>
            <a:stretch/>
          </p:blipFill>
          <p:spPr>
            <a:xfrm>
              <a:off x="380880" y="5821200"/>
              <a:ext cx="761760" cy="680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08" name="Shape 798"/>
            <p:cNvSpPr/>
            <p:nvPr/>
          </p:nvSpPr>
          <p:spPr>
            <a:xfrm>
              <a:off x="1371600" y="5821200"/>
              <a:ext cx="66290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Arial"/>
                  <a:ea typeface="Arial"/>
                </a:rPr>
                <a:t>如何求得一个非连通图的连通分量</a:t>
              </a:r>
              <a:r>
                <a:rPr b="1" lang="en-US" sz="2800" spc="-1" strike="noStrike">
                  <a:solidFill>
                    <a:srgbClr val="000000"/>
                  </a:solidFill>
                  <a:latin typeface="Arial"/>
                  <a:ea typeface="Arial"/>
                </a:rPr>
                <a:t>?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809" name="Shape 799"/>
          <p:cNvSpPr/>
          <p:nvPr/>
        </p:nvSpPr>
        <p:spPr>
          <a:xfrm rot="10800000">
            <a:off x="5394600" y="4052520"/>
            <a:ext cx="6411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10" name="Shape 800"/>
          <p:cNvSpPr/>
          <p:nvPr/>
        </p:nvSpPr>
        <p:spPr>
          <a:xfrm rot="10800000">
            <a:off x="4664520" y="4142880"/>
            <a:ext cx="13712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11" name="Shape 801"/>
          <p:cNvSpPr/>
          <p:nvPr/>
        </p:nvSpPr>
        <p:spPr>
          <a:xfrm rot="10800000">
            <a:off x="3902400" y="4233600"/>
            <a:ext cx="21333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12" name="Shape 802"/>
          <p:cNvGrpSpPr/>
          <p:nvPr/>
        </p:nvGrpSpPr>
        <p:grpSpPr>
          <a:xfrm>
            <a:off x="4099320" y="4343400"/>
            <a:ext cx="5044320" cy="1020240"/>
            <a:chOff x="4099320" y="4343400"/>
            <a:chExt cx="5044320" cy="1020240"/>
          </a:xfrm>
        </p:grpSpPr>
        <p:sp>
          <p:nvSpPr>
            <p:cNvPr id="813" name="Shape 803"/>
            <p:cNvSpPr/>
            <p:nvPr/>
          </p:nvSpPr>
          <p:spPr>
            <a:xfrm rot="5400000">
              <a:off x="4014360" y="4428360"/>
              <a:ext cx="718920" cy="549000"/>
            </a:xfrm>
            <a:prstGeom prst="bentUpArrow">
              <a:avLst>
                <a:gd name="adj1" fmla="val 25000"/>
                <a:gd name="adj2" fmla="val 25000"/>
                <a:gd name="adj3" fmla="val 25000"/>
              </a:avLst>
            </a:prstGeom>
            <a:solidFill>
              <a:schemeClr val="folHlink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4" name="Shape 804"/>
            <p:cNvSpPr/>
            <p:nvPr/>
          </p:nvSpPr>
          <p:spPr>
            <a:xfrm>
              <a:off x="4692600" y="4500720"/>
              <a:ext cx="242640" cy="71568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5" name="Shape 805"/>
            <p:cNvSpPr/>
            <p:nvPr/>
          </p:nvSpPr>
          <p:spPr>
            <a:xfrm>
              <a:off x="4952880" y="4359240"/>
              <a:ext cx="4190760" cy="100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Arial"/>
                  <a:ea typeface="Arial"/>
                </a:rPr>
                <a:t>1.</a:t>
              </a:r>
              <a:r>
                <a:rPr b="1" lang="ja-JP" sz="2400" spc="-1" strike="noStrike">
                  <a:solidFill>
                    <a:srgbClr val="000000"/>
                  </a:solidFill>
                  <a:latin typeface="Arial"/>
                  <a:ea typeface="Arial"/>
                </a:rPr>
                <a:t>含有极大</a:t>
              </a:r>
              <a:r>
                <a:rPr b="1" lang="ja-JP" sz="2400" spc="-1" strike="noStrike">
                  <a:solidFill>
                    <a:srgbClr val="ff0000"/>
                  </a:solidFill>
                  <a:latin typeface="Arial"/>
                  <a:ea typeface="Arial"/>
                </a:rPr>
                <a:t>顶点</a:t>
              </a:r>
              <a:r>
                <a:rPr b="1" lang="ja-JP" sz="2400" spc="-1" strike="noStrike">
                  <a:solidFill>
                    <a:srgbClr val="000000"/>
                  </a:solidFill>
                  <a:latin typeface="Arial"/>
                  <a:ea typeface="Arial"/>
                </a:rPr>
                <a:t>数；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199"/>
                </a:spcBef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Arial"/>
                  <a:ea typeface="Arial"/>
                </a:rPr>
                <a:t>2. </a:t>
              </a:r>
              <a:r>
                <a:rPr b="1" lang="ja-JP" sz="2400" spc="-1" strike="noStrike">
                  <a:solidFill>
                    <a:srgbClr val="000000"/>
                  </a:solidFill>
                  <a:latin typeface="Arial"/>
                  <a:ea typeface="Arial"/>
                </a:rPr>
                <a:t>依附于这些顶点的所有</a:t>
              </a:r>
              <a:r>
                <a:rPr b="1" lang="ja-JP" sz="2400" spc="-1" strike="noStrike">
                  <a:solidFill>
                    <a:srgbClr val="ff0000"/>
                  </a:solidFill>
                  <a:latin typeface="Arial"/>
                  <a:ea typeface="Arial"/>
                </a:rPr>
                <a:t>边</a:t>
              </a:r>
              <a:r>
                <a:rPr b="1" lang="ja-JP" sz="2400" spc="-1" strike="noStrike">
                  <a:solidFill>
                    <a:srgbClr val="000000"/>
                  </a:solidFill>
                  <a:latin typeface="Arial"/>
                  <a:ea typeface="Arial"/>
                </a:rPr>
                <a:t>。</a:t>
              </a:r>
              <a:endParaRPr b="0" lang="en-US" sz="24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4" dur="indefinite" restart="never" nodeType="tmRoot">
          <p:childTnLst>
            <p:seq>
              <p:cTn id="175" dur="indefinite" nodeType="mainSeq">
                <p:childTnLst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0"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5"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0" dur="5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Shape 810"/>
          <p:cNvSpPr/>
          <p:nvPr/>
        </p:nvSpPr>
        <p:spPr>
          <a:xfrm>
            <a:off x="1130400" y="4808520"/>
            <a:ext cx="1785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17" name="Shape 811"/>
          <p:cNvGrpSpPr/>
          <p:nvPr/>
        </p:nvGrpSpPr>
        <p:grpSpPr>
          <a:xfrm>
            <a:off x="3774960" y="2408400"/>
            <a:ext cx="1958760" cy="1200960"/>
            <a:chOff x="3774960" y="2408400"/>
            <a:chExt cx="1958760" cy="1200960"/>
          </a:xfrm>
        </p:grpSpPr>
        <p:sp>
          <p:nvSpPr>
            <p:cNvPr id="818" name="Shape 812"/>
            <p:cNvSpPr/>
            <p:nvPr/>
          </p:nvSpPr>
          <p:spPr>
            <a:xfrm rot="20760000">
              <a:off x="3801600" y="2631960"/>
              <a:ext cx="19047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400" spc="-1" strike="noStrike">
                  <a:solidFill>
                    <a:srgbClr val="0066ff"/>
                  </a:solidFill>
                  <a:latin typeface="Times New Roman"/>
                  <a:ea typeface="Times New Roman"/>
                </a:rPr>
                <a:t>连通分量</a:t>
              </a:r>
              <a:r>
                <a:rPr b="1" lang="en-US" sz="2400" spc="-1" strike="noStrike">
                  <a:solidFill>
                    <a:srgbClr val="0066ff"/>
                  </a:solidFill>
                  <a:latin typeface="Times New Roman"/>
                  <a:ea typeface="Times New Roman"/>
                </a:rPr>
                <a:t>1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           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819" name="Shape 813"/>
            <p:cNvSpPr/>
            <p:nvPr/>
          </p:nvSpPr>
          <p:spPr>
            <a:xfrm rot="20820000">
              <a:off x="4076280" y="3181320"/>
              <a:ext cx="1398240" cy="27432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fol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20" name="Shape 814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21" name="Shape 815"/>
          <p:cNvSpPr/>
          <p:nvPr/>
        </p:nvSpPr>
        <p:spPr>
          <a:xfrm>
            <a:off x="692280" y="2638440"/>
            <a:ext cx="502920" cy="502920"/>
          </a:xfrm>
          <a:prstGeom prst="ellipse">
            <a:avLst/>
          </a:prstGeom>
          <a:gradFill rotWithShape="0">
            <a:gsLst>
              <a:gs pos="0">
                <a:srgbClr val="00cc99"/>
              </a:gs>
              <a:gs pos="100000">
                <a:srgbClr val="008f6b"/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2" name="Shape 816"/>
          <p:cNvSpPr/>
          <p:nvPr/>
        </p:nvSpPr>
        <p:spPr>
          <a:xfrm>
            <a:off x="758880" y="2589120"/>
            <a:ext cx="463320" cy="5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" rIns="0" tIns="28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ffff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ffff"/>
                </a:solidFill>
                <a:latin typeface="Times New Roman"/>
                <a:ea typeface="Times New Roman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23" name="Shape 817"/>
          <p:cNvSpPr/>
          <p:nvPr/>
        </p:nvSpPr>
        <p:spPr>
          <a:xfrm>
            <a:off x="1162080" y="2843280"/>
            <a:ext cx="1785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24" name="Shape 818"/>
          <p:cNvSpPr/>
          <p:nvPr/>
        </p:nvSpPr>
        <p:spPr>
          <a:xfrm>
            <a:off x="2913120" y="2635200"/>
            <a:ext cx="502920" cy="502920"/>
          </a:xfrm>
          <a:prstGeom prst="ellipse">
            <a:avLst/>
          </a:prstGeom>
          <a:gradFill rotWithShape="0">
            <a:gsLst>
              <a:gs pos="0">
                <a:srgbClr val="00cc99"/>
              </a:gs>
              <a:gs pos="100000">
                <a:srgbClr val="008f6b"/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5" name="Shape 819"/>
          <p:cNvSpPr/>
          <p:nvPr/>
        </p:nvSpPr>
        <p:spPr>
          <a:xfrm>
            <a:off x="2979720" y="2585880"/>
            <a:ext cx="463320" cy="5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" rIns="0" tIns="28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ffff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ffff"/>
                </a:solidFill>
                <a:latin typeface="Times New Roman"/>
                <a:ea typeface="Times New Roman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26" name="Shape 820"/>
          <p:cNvSpPr/>
          <p:nvPr/>
        </p:nvSpPr>
        <p:spPr>
          <a:xfrm>
            <a:off x="3154320" y="3141720"/>
            <a:ext cx="360" cy="1433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27" name="Shape 821"/>
          <p:cNvSpPr/>
          <p:nvPr/>
        </p:nvSpPr>
        <p:spPr>
          <a:xfrm>
            <a:off x="895320" y="3133800"/>
            <a:ext cx="360" cy="1404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28" name="Shape 822"/>
          <p:cNvSpPr/>
          <p:nvPr/>
        </p:nvSpPr>
        <p:spPr>
          <a:xfrm>
            <a:off x="1260360" y="3189240"/>
            <a:ext cx="502920" cy="502920"/>
          </a:xfrm>
          <a:prstGeom prst="ellipse">
            <a:avLst/>
          </a:prstGeom>
          <a:gradFill rotWithShape="0">
            <a:gsLst>
              <a:gs pos="0">
                <a:srgbClr val="00cc99"/>
              </a:gs>
              <a:gs pos="100000">
                <a:srgbClr val="008f6b"/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9" name="Shape 823"/>
          <p:cNvSpPr/>
          <p:nvPr/>
        </p:nvSpPr>
        <p:spPr>
          <a:xfrm>
            <a:off x="1327320" y="3139920"/>
            <a:ext cx="463320" cy="5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" rIns="0" tIns="28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ffff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ffff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30" name="Shape 824"/>
          <p:cNvSpPr/>
          <p:nvPr/>
        </p:nvSpPr>
        <p:spPr>
          <a:xfrm>
            <a:off x="633240" y="4541760"/>
            <a:ext cx="502920" cy="502920"/>
          </a:xfrm>
          <a:prstGeom prst="ellipse">
            <a:avLst/>
          </a:prstGeom>
          <a:gradFill rotWithShape="0">
            <a:gsLst>
              <a:gs pos="0">
                <a:srgbClr val="00cc99"/>
              </a:gs>
              <a:gs pos="100000">
                <a:srgbClr val="008f6b"/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1" name="Shape 825"/>
          <p:cNvSpPr/>
          <p:nvPr/>
        </p:nvSpPr>
        <p:spPr>
          <a:xfrm>
            <a:off x="700200" y="4492800"/>
            <a:ext cx="463320" cy="5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" rIns="0" tIns="28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ffff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ffff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32" name="Shape 826"/>
          <p:cNvSpPr/>
          <p:nvPr/>
        </p:nvSpPr>
        <p:spPr>
          <a:xfrm>
            <a:off x="2897280" y="4538520"/>
            <a:ext cx="502920" cy="502920"/>
          </a:xfrm>
          <a:prstGeom prst="ellipse">
            <a:avLst/>
          </a:prstGeom>
          <a:gradFill rotWithShape="0">
            <a:gsLst>
              <a:gs pos="0">
                <a:srgbClr val="00cc99"/>
              </a:gs>
              <a:gs pos="100000">
                <a:srgbClr val="008f6b"/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3" name="Shape 827"/>
          <p:cNvSpPr/>
          <p:nvPr/>
        </p:nvSpPr>
        <p:spPr>
          <a:xfrm>
            <a:off x="2963880" y="4489560"/>
            <a:ext cx="463320" cy="5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" rIns="0" tIns="28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ffff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ffff"/>
                </a:solidFill>
                <a:latin typeface="Times New Roman"/>
                <a:ea typeface="Times New Roman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34" name="Shape 828"/>
          <p:cNvSpPr/>
          <p:nvPr/>
        </p:nvSpPr>
        <p:spPr>
          <a:xfrm>
            <a:off x="2252520" y="3189240"/>
            <a:ext cx="502920" cy="502920"/>
          </a:xfrm>
          <a:prstGeom prst="ellipse">
            <a:avLst/>
          </a:prstGeom>
          <a:gradFill rotWithShape="0">
            <a:gsLst>
              <a:gs pos="0">
                <a:srgbClr val="00cc99"/>
              </a:gs>
              <a:gs pos="100000">
                <a:srgbClr val="008f6b"/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5" name="Shape 829"/>
          <p:cNvSpPr/>
          <p:nvPr/>
        </p:nvSpPr>
        <p:spPr>
          <a:xfrm>
            <a:off x="2319480" y="3139920"/>
            <a:ext cx="463320" cy="5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" rIns="0" tIns="28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ffff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ffff"/>
                </a:solidFill>
                <a:latin typeface="Times New Roman"/>
                <a:ea typeface="Times New Roman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36" name="Shape 830"/>
          <p:cNvSpPr/>
          <p:nvPr/>
        </p:nvSpPr>
        <p:spPr>
          <a:xfrm>
            <a:off x="1735200" y="3981600"/>
            <a:ext cx="502920" cy="502920"/>
          </a:xfrm>
          <a:prstGeom prst="ellipse">
            <a:avLst/>
          </a:prstGeom>
          <a:gradFill rotWithShape="0">
            <a:gsLst>
              <a:gs pos="0">
                <a:srgbClr val="00cc99"/>
              </a:gs>
              <a:gs pos="100000">
                <a:srgbClr val="008f6b"/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7" name="Shape 831"/>
          <p:cNvSpPr/>
          <p:nvPr/>
        </p:nvSpPr>
        <p:spPr>
          <a:xfrm>
            <a:off x="1801800" y="3932280"/>
            <a:ext cx="463320" cy="5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" rIns="0" tIns="28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ffff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ffff"/>
                </a:solidFill>
                <a:latin typeface="Times New Roman"/>
                <a:ea typeface="Times New Roman"/>
              </a:rPr>
              <a:t>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38" name="Shape 832"/>
          <p:cNvSpPr/>
          <p:nvPr/>
        </p:nvSpPr>
        <p:spPr>
          <a:xfrm>
            <a:off x="1757520" y="3436920"/>
            <a:ext cx="5043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39" name="Shape 833"/>
          <p:cNvSpPr/>
          <p:nvPr/>
        </p:nvSpPr>
        <p:spPr>
          <a:xfrm>
            <a:off x="1512720" y="3666960"/>
            <a:ext cx="277560" cy="410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40" name="Shape 834"/>
          <p:cNvSpPr/>
          <p:nvPr/>
        </p:nvSpPr>
        <p:spPr>
          <a:xfrm flipH="1">
            <a:off x="2154960" y="3681360"/>
            <a:ext cx="255240" cy="394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841" name="Shape 835"/>
          <p:cNvGrpSpPr/>
          <p:nvPr/>
        </p:nvGrpSpPr>
        <p:grpSpPr>
          <a:xfrm>
            <a:off x="5786280" y="1805040"/>
            <a:ext cx="2809800" cy="2501640"/>
            <a:chOff x="5786280" y="1805040"/>
            <a:chExt cx="2809800" cy="2501640"/>
          </a:xfrm>
        </p:grpSpPr>
        <p:sp>
          <p:nvSpPr>
            <p:cNvPr id="842" name="Shape 836"/>
            <p:cNvSpPr/>
            <p:nvPr/>
          </p:nvSpPr>
          <p:spPr>
            <a:xfrm>
              <a:off x="6283440" y="4027320"/>
              <a:ext cx="17856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3" name="Shape 837"/>
            <p:cNvSpPr/>
            <p:nvPr/>
          </p:nvSpPr>
          <p:spPr>
            <a:xfrm>
              <a:off x="5845320" y="1857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4" name="Shape 838"/>
            <p:cNvSpPr/>
            <p:nvPr/>
          </p:nvSpPr>
          <p:spPr>
            <a:xfrm>
              <a:off x="5911920" y="18082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845" name="Shape 839"/>
            <p:cNvSpPr/>
            <p:nvPr/>
          </p:nvSpPr>
          <p:spPr>
            <a:xfrm>
              <a:off x="6315120" y="2062080"/>
              <a:ext cx="17856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6" name="Shape 840"/>
            <p:cNvSpPr/>
            <p:nvPr/>
          </p:nvSpPr>
          <p:spPr>
            <a:xfrm>
              <a:off x="8066160" y="18543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7" name="Shape 841"/>
            <p:cNvSpPr/>
            <p:nvPr/>
          </p:nvSpPr>
          <p:spPr>
            <a:xfrm>
              <a:off x="8132760" y="18050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848" name="Shape 842"/>
            <p:cNvSpPr/>
            <p:nvPr/>
          </p:nvSpPr>
          <p:spPr>
            <a:xfrm>
              <a:off x="8307360" y="2360520"/>
              <a:ext cx="360" cy="14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9" name="Shape 843"/>
            <p:cNvSpPr/>
            <p:nvPr/>
          </p:nvSpPr>
          <p:spPr>
            <a:xfrm>
              <a:off x="6048360" y="2352600"/>
              <a:ext cx="360" cy="1404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0" name="Shape 844"/>
            <p:cNvSpPr/>
            <p:nvPr/>
          </p:nvSpPr>
          <p:spPr>
            <a:xfrm>
              <a:off x="5786280" y="37609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1" name="Shape 845"/>
            <p:cNvSpPr/>
            <p:nvPr/>
          </p:nvSpPr>
          <p:spPr>
            <a:xfrm>
              <a:off x="5853240" y="37116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852" name="Shape 846"/>
            <p:cNvSpPr/>
            <p:nvPr/>
          </p:nvSpPr>
          <p:spPr>
            <a:xfrm>
              <a:off x="8050320" y="3757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3" name="Shape 847"/>
            <p:cNvSpPr/>
            <p:nvPr/>
          </p:nvSpPr>
          <p:spPr>
            <a:xfrm>
              <a:off x="8116920" y="37083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854" name="Shape 848"/>
          <p:cNvGrpSpPr/>
          <p:nvPr/>
        </p:nvGrpSpPr>
        <p:grpSpPr>
          <a:xfrm>
            <a:off x="6397560" y="4648320"/>
            <a:ext cx="1522080" cy="1387080"/>
            <a:chOff x="6397560" y="4648320"/>
            <a:chExt cx="1522080" cy="1387080"/>
          </a:xfrm>
        </p:grpSpPr>
        <p:sp>
          <p:nvSpPr>
            <p:cNvPr id="855" name="Shape 849"/>
            <p:cNvSpPr/>
            <p:nvPr/>
          </p:nvSpPr>
          <p:spPr>
            <a:xfrm>
              <a:off x="6397560" y="46972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6" name="Shape 850"/>
            <p:cNvSpPr/>
            <p:nvPr/>
          </p:nvSpPr>
          <p:spPr>
            <a:xfrm>
              <a:off x="6464160" y="4648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857" name="Shape 851"/>
            <p:cNvSpPr/>
            <p:nvPr/>
          </p:nvSpPr>
          <p:spPr>
            <a:xfrm>
              <a:off x="7389720" y="46972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8" name="Shape 852"/>
            <p:cNvSpPr/>
            <p:nvPr/>
          </p:nvSpPr>
          <p:spPr>
            <a:xfrm>
              <a:off x="7456320" y="4648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859" name="Shape 853"/>
            <p:cNvSpPr/>
            <p:nvPr/>
          </p:nvSpPr>
          <p:spPr>
            <a:xfrm>
              <a:off x="6872400" y="5489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0" name="Shape 854"/>
            <p:cNvSpPr/>
            <p:nvPr/>
          </p:nvSpPr>
          <p:spPr>
            <a:xfrm>
              <a:off x="6939000" y="5440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861" name="Shape 855"/>
            <p:cNvSpPr/>
            <p:nvPr/>
          </p:nvSpPr>
          <p:spPr>
            <a:xfrm>
              <a:off x="6894360" y="4944960"/>
              <a:ext cx="504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2" name="Shape 856"/>
            <p:cNvSpPr/>
            <p:nvPr/>
          </p:nvSpPr>
          <p:spPr>
            <a:xfrm>
              <a:off x="6649920" y="5175360"/>
              <a:ext cx="277560" cy="410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3" name="Shape 857"/>
            <p:cNvSpPr/>
            <p:nvPr/>
          </p:nvSpPr>
          <p:spPr>
            <a:xfrm flipH="1">
              <a:off x="7292160" y="5189400"/>
              <a:ext cx="25524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64" name="Shape 858"/>
          <p:cNvGrpSpPr/>
          <p:nvPr/>
        </p:nvGrpSpPr>
        <p:grpSpPr>
          <a:xfrm>
            <a:off x="3728520" y="4231800"/>
            <a:ext cx="2007360" cy="1381680"/>
            <a:chOff x="3728520" y="4231800"/>
            <a:chExt cx="2007360" cy="1381680"/>
          </a:xfrm>
        </p:grpSpPr>
        <p:sp>
          <p:nvSpPr>
            <p:cNvPr id="865" name="Shape 859"/>
            <p:cNvSpPr/>
            <p:nvPr/>
          </p:nvSpPr>
          <p:spPr>
            <a:xfrm rot="1320000">
              <a:off x="3741480" y="4802040"/>
              <a:ext cx="198072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400" spc="-1" strike="noStrike">
                  <a:solidFill>
                    <a:srgbClr val="0066ff"/>
                  </a:solidFill>
                  <a:latin typeface="Times New Roman"/>
                  <a:ea typeface="Times New Roman"/>
                </a:rPr>
                <a:t>连通分量</a:t>
              </a:r>
              <a:r>
                <a:rPr b="1" lang="en-US" sz="2400" spc="-1" strike="noStrike">
                  <a:solidFill>
                    <a:srgbClr val="0066ff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866" name="Shape 860"/>
            <p:cNvSpPr/>
            <p:nvPr/>
          </p:nvSpPr>
          <p:spPr>
            <a:xfrm rot="1380000">
              <a:off x="4016160" y="4493880"/>
              <a:ext cx="1398240" cy="27432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fol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67" name="Shape 861"/>
          <p:cNvSpPr/>
          <p:nvPr/>
        </p:nvSpPr>
        <p:spPr>
          <a:xfrm>
            <a:off x="228600" y="1371600"/>
            <a:ext cx="4876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图的基本术语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868" name="Shape 862"/>
          <p:cNvSpPr/>
          <p:nvPr/>
        </p:nvSpPr>
        <p:spPr>
          <a:xfrm>
            <a:off x="320760" y="5851440"/>
            <a:ext cx="5300280" cy="547200"/>
          </a:xfrm>
          <a:prstGeom prst="rect">
            <a:avLst/>
          </a:prstGeom>
          <a:noFill/>
          <a:ln w="28575">
            <a:solidFill>
              <a:srgbClr val="00cc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连通分量是对无向图的一种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划分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1" dur="indefinite" restart="never" nodeType="tmRoot">
          <p:childTnLst>
            <p:seq>
              <p:cTn id="192" dur="indefinite" nodeType="mainSeq">
                <p:childTnLst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7" dur="5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Shape 867"/>
          <p:cNvSpPr/>
          <p:nvPr/>
        </p:nvSpPr>
        <p:spPr>
          <a:xfrm>
            <a:off x="304920" y="2119320"/>
            <a:ext cx="8503920" cy="22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强连通图：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在有向图中，对图中任意一对顶点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≠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，若从顶点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到顶点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和从顶点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到顶点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均有路径，则称该有向图是强连通图。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强连通分量：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非强连通图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的极大强连通子图。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70" name="Shape 868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71" name="Shape 869"/>
          <p:cNvSpPr/>
          <p:nvPr/>
        </p:nvSpPr>
        <p:spPr>
          <a:xfrm>
            <a:off x="228600" y="1371600"/>
            <a:ext cx="4876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图的基本术语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872" name="Shape 870"/>
          <p:cNvGrpSpPr/>
          <p:nvPr/>
        </p:nvGrpSpPr>
        <p:grpSpPr>
          <a:xfrm>
            <a:off x="457200" y="5303880"/>
            <a:ext cx="7619760" cy="680760"/>
            <a:chOff x="457200" y="5303880"/>
            <a:chExt cx="7619760" cy="680760"/>
          </a:xfrm>
        </p:grpSpPr>
        <p:pic>
          <p:nvPicPr>
            <p:cNvPr id="873" name="Shape 871" descr=""/>
            <p:cNvPicPr/>
            <p:nvPr/>
          </p:nvPicPr>
          <p:blipFill>
            <a:blip r:embed="rId1"/>
            <a:stretch/>
          </p:blipFill>
          <p:spPr>
            <a:xfrm>
              <a:off x="457200" y="5303880"/>
              <a:ext cx="761760" cy="680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74" name="Shape 872"/>
            <p:cNvSpPr/>
            <p:nvPr/>
          </p:nvSpPr>
          <p:spPr>
            <a:xfrm>
              <a:off x="1447920" y="5303880"/>
              <a:ext cx="66290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Arial"/>
                  <a:ea typeface="Arial"/>
                </a:rPr>
                <a:t>如何求得一个非连通图的连通分量</a:t>
              </a:r>
              <a:r>
                <a:rPr b="1" lang="en-US" sz="2800" spc="-1" strike="noStrike">
                  <a:solidFill>
                    <a:srgbClr val="000000"/>
                  </a:solidFill>
                  <a:latin typeface="Arial"/>
                  <a:ea typeface="Arial"/>
                </a:rPr>
                <a:t>?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875" name="Shape 873"/>
          <p:cNvSpPr/>
          <p:nvPr/>
        </p:nvSpPr>
        <p:spPr>
          <a:xfrm rot="10800000">
            <a:off x="6461280" y="4311360"/>
            <a:ext cx="6411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76" name="Shape 874"/>
          <p:cNvSpPr/>
          <p:nvPr/>
        </p:nvSpPr>
        <p:spPr>
          <a:xfrm rot="10800000">
            <a:off x="5442120" y="4401720"/>
            <a:ext cx="1660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77" name="Shape 875"/>
          <p:cNvSpPr/>
          <p:nvPr/>
        </p:nvSpPr>
        <p:spPr>
          <a:xfrm rot="10800000">
            <a:off x="4740480" y="4492440"/>
            <a:ext cx="23619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8" dur="indefinite" restart="never" nodeType="tmRoot">
          <p:childTnLst>
            <p:seq>
              <p:cTn id="199" dur="indefinite" nodeType="mainSeq">
                <p:childTnLst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4" dur="500"/>
                                        <p:tgtEl>
                                          <p:spTgt spid="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9" dur="500"/>
                                        <p:tgtEl>
                                          <p:spTgt spid="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4" dur="5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Shape 880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79" name="Shape 881"/>
          <p:cNvSpPr/>
          <p:nvPr/>
        </p:nvSpPr>
        <p:spPr>
          <a:xfrm>
            <a:off x="228600" y="1371600"/>
            <a:ext cx="4876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图的基本术语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880" name="Shape 882"/>
          <p:cNvSpPr/>
          <p:nvPr/>
        </p:nvSpPr>
        <p:spPr>
          <a:xfrm>
            <a:off x="1073160" y="3022560"/>
            <a:ext cx="1431720" cy="1080"/>
          </a:xfrm>
          <a:custGeom>
            <a:avLst/>
            <a:gdLst/>
            <a:ahLst/>
            <a:rect l="l" t="t" r="r" b="b"/>
            <a:pathLst>
              <a:path w="901" h="7">
                <a:moveTo>
                  <a:pt x="0" y="7"/>
                </a:moveTo>
                <a:lnTo>
                  <a:pt x="901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881" name="Shape 883"/>
          <p:cNvSpPr/>
          <p:nvPr/>
        </p:nvSpPr>
        <p:spPr>
          <a:xfrm>
            <a:off x="574560" y="2784600"/>
            <a:ext cx="502920" cy="502920"/>
          </a:xfrm>
          <a:prstGeom prst="ellipse">
            <a:avLst/>
          </a:prstGeom>
          <a:gradFill rotWithShape="0">
            <a:gsLst>
              <a:gs pos="0">
                <a:srgbClr val="00cc99"/>
              </a:gs>
              <a:gs pos="100000">
                <a:srgbClr val="008f6b"/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2" name="Shape 884"/>
          <p:cNvSpPr/>
          <p:nvPr/>
        </p:nvSpPr>
        <p:spPr>
          <a:xfrm>
            <a:off x="641520" y="2735280"/>
            <a:ext cx="463320" cy="5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" rIns="0" tIns="28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ffff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ffff"/>
                </a:solidFill>
                <a:latin typeface="Times New Roman"/>
                <a:ea typeface="Times New Roman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83" name="Shape 885"/>
          <p:cNvSpPr/>
          <p:nvPr/>
        </p:nvSpPr>
        <p:spPr>
          <a:xfrm>
            <a:off x="2508120" y="2797200"/>
            <a:ext cx="502920" cy="502920"/>
          </a:xfrm>
          <a:prstGeom prst="ellipse">
            <a:avLst/>
          </a:prstGeom>
          <a:gradFill rotWithShape="0">
            <a:gsLst>
              <a:gs pos="0">
                <a:srgbClr val="00cc99"/>
              </a:gs>
              <a:gs pos="100000">
                <a:srgbClr val="008f6b"/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4" name="Shape 886"/>
          <p:cNvSpPr/>
          <p:nvPr/>
        </p:nvSpPr>
        <p:spPr>
          <a:xfrm>
            <a:off x="2575080" y="2747880"/>
            <a:ext cx="463320" cy="59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" rIns="0" tIns="28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ffff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ffff"/>
                </a:solidFill>
                <a:latin typeface="Times New Roman"/>
                <a:ea typeface="Times New Roman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885" name="Shape 887"/>
          <p:cNvGrpSpPr/>
          <p:nvPr/>
        </p:nvGrpSpPr>
        <p:grpSpPr>
          <a:xfrm>
            <a:off x="566640" y="3181680"/>
            <a:ext cx="2457360" cy="1888560"/>
            <a:chOff x="566640" y="3181680"/>
            <a:chExt cx="2457360" cy="1888560"/>
          </a:xfrm>
        </p:grpSpPr>
        <p:sp>
          <p:nvSpPr>
            <p:cNvPr id="886" name="Shape 888"/>
            <p:cNvSpPr/>
            <p:nvPr/>
          </p:nvSpPr>
          <p:spPr>
            <a:xfrm>
              <a:off x="824040" y="3284640"/>
              <a:ext cx="360" cy="1272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7" name="Shape 889"/>
            <p:cNvSpPr/>
            <p:nvPr/>
          </p:nvSpPr>
          <p:spPr>
            <a:xfrm>
              <a:off x="1041480" y="4792680"/>
              <a:ext cx="1474560" cy="1080"/>
            </a:xfrm>
            <a:custGeom>
              <a:avLst/>
              <a:gdLst/>
              <a:ahLst/>
              <a:rect l="l" t="t" r="r" b="b"/>
              <a:pathLst>
                <a:path w="901" h="5">
                  <a:moveTo>
                    <a:pt x="0" y="0"/>
                  </a:moveTo>
                  <a:lnTo>
                    <a:pt x="901" y="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8" name="Shape 890"/>
            <p:cNvSpPr/>
            <p:nvPr/>
          </p:nvSpPr>
          <p:spPr>
            <a:xfrm rot="10800000">
              <a:off x="1011600" y="3181680"/>
              <a:ext cx="1566360" cy="1393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9" name="Shape 891"/>
            <p:cNvSpPr/>
            <p:nvPr/>
          </p:nvSpPr>
          <p:spPr>
            <a:xfrm>
              <a:off x="566640" y="45244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0" name="Shape 892"/>
            <p:cNvSpPr/>
            <p:nvPr/>
          </p:nvSpPr>
          <p:spPr>
            <a:xfrm>
              <a:off x="633240" y="44751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891" name="Shape 893"/>
            <p:cNvSpPr/>
            <p:nvPr/>
          </p:nvSpPr>
          <p:spPr>
            <a:xfrm>
              <a:off x="2494080" y="4521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2" name="Shape 894"/>
            <p:cNvSpPr/>
            <p:nvPr/>
          </p:nvSpPr>
          <p:spPr>
            <a:xfrm>
              <a:off x="2560680" y="4471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893" name="Shape 895"/>
          <p:cNvGrpSpPr/>
          <p:nvPr/>
        </p:nvGrpSpPr>
        <p:grpSpPr>
          <a:xfrm>
            <a:off x="3805200" y="2408400"/>
            <a:ext cx="1958760" cy="1200240"/>
            <a:chOff x="3805200" y="2408400"/>
            <a:chExt cx="1958760" cy="1200240"/>
          </a:xfrm>
        </p:grpSpPr>
        <p:sp>
          <p:nvSpPr>
            <p:cNvPr id="894" name="Shape 896"/>
            <p:cNvSpPr/>
            <p:nvPr/>
          </p:nvSpPr>
          <p:spPr>
            <a:xfrm rot="20760000">
              <a:off x="3831840" y="2631960"/>
              <a:ext cx="19047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400" spc="-1" strike="noStrike">
                  <a:solidFill>
                    <a:srgbClr val="0066ff"/>
                  </a:solidFill>
                  <a:latin typeface="Times New Roman"/>
                  <a:ea typeface="Times New Roman"/>
                </a:rPr>
                <a:t>强连通分量</a:t>
              </a:r>
              <a:r>
                <a:rPr b="1" lang="en-US" sz="2400" spc="-1" strike="noStrike">
                  <a:solidFill>
                    <a:srgbClr val="0066ff"/>
                  </a:solidFill>
                  <a:latin typeface="Times New Roman"/>
                  <a:ea typeface="Times New Roman"/>
                </a:rPr>
                <a:t>1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           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895" name="Shape 897"/>
            <p:cNvSpPr/>
            <p:nvPr/>
          </p:nvSpPr>
          <p:spPr>
            <a:xfrm rot="20760000">
              <a:off x="4103280" y="3171960"/>
              <a:ext cx="1479240" cy="26172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fol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96" name="Shape 898"/>
          <p:cNvGrpSpPr/>
          <p:nvPr/>
        </p:nvGrpSpPr>
        <p:grpSpPr>
          <a:xfrm>
            <a:off x="3712680" y="4247640"/>
            <a:ext cx="2007360" cy="1365840"/>
            <a:chOff x="3712680" y="4247640"/>
            <a:chExt cx="2007360" cy="1365840"/>
          </a:xfrm>
        </p:grpSpPr>
        <p:sp>
          <p:nvSpPr>
            <p:cNvPr id="897" name="Shape 899"/>
            <p:cNvSpPr/>
            <p:nvPr/>
          </p:nvSpPr>
          <p:spPr>
            <a:xfrm rot="1320000">
              <a:off x="3725640" y="4802040"/>
              <a:ext cx="198072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400" spc="-1" strike="noStrike">
                  <a:solidFill>
                    <a:srgbClr val="0066ff"/>
                  </a:solidFill>
                  <a:latin typeface="Times New Roman"/>
                  <a:ea typeface="Times New Roman"/>
                </a:rPr>
                <a:t>强连通分量</a:t>
              </a:r>
              <a:r>
                <a:rPr b="1" lang="en-US" sz="2400" spc="-1" strike="noStrike">
                  <a:solidFill>
                    <a:srgbClr val="0066ff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898" name="Shape 900"/>
            <p:cNvSpPr/>
            <p:nvPr/>
          </p:nvSpPr>
          <p:spPr>
            <a:xfrm rot="1380000">
              <a:off x="4076640" y="4509720"/>
              <a:ext cx="1398240" cy="27432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fol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99" name="Shape 901"/>
          <p:cNvGrpSpPr/>
          <p:nvPr/>
        </p:nvGrpSpPr>
        <p:grpSpPr>
          <a:xfrm>
            <a:off x="5977080" y="1758960"/>
            <a:ext cx="2457000" cy="2334960"/>
            <a:chOff x="5977080" y="1758960"/>
            <a:chExt cx="2457000" cy="2334960"/>
          </a:xfrm>
        </p:grpSpPr>
        <p:sp>
          <p:nvSpPr>
            <p:cNvPr id="900" name="Shape 902"/>
            <p:cNvSpPr/>
            <p:nvPr/>
          </p:nvSpPr>
          <p:spPr>
            <a:xfrm>
              <a:off x="5985000" y="18082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1" name="Shape 903"/>
            <p:cNvSpPr/>
            <p:nvPr/>
          </p:nvSpPr>
          <p:spPr>
            <a:xfrm>
              <a:off x="6051600" y="17589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grpSp>
          <p:nvGrpSpPr>
            <p:cNvPr id="902" name="Shape 904"/>
            <p:cNvGrpSpPr/>
            <p:nvPr/>
          </p:nvGrpSpPr>
          <p:grpSpPr>
            <a:xfrm>
              <a:off x="5977080" y="2205360"/>
              <a:ext cx="2457000" cy="1888560"/>
              <a:chOff x="5977080" y="2205360"/>
              <a:chExt cx="2457000" cy="1888560"/>
            </a:xfrm>
          </p:grpSpPr>
          <p:sp>
            <p:nvSpPr>
              <p:cNvPr id="903" name="Shape 905"/>
              <p:cNvSpPr/>
              <p:nvPr/>
            </p:nvSpPr>
            <p:spPr>
              <a:xfrm>
                <a:off x="6234120" y="2308320"/>
                <a:ext cx="360" cy="1272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04" name="Shape 906"/>
              <p:cNvSpPr/>
              <p:nvPr/>
            </p:nvSpPr>
            <p:spPr>
              <a:xfrm>
                <a:off x="6451560" y="3816360"/>
                <a:ext cx="1474560" cy="1080"/>
              </a:xfrm>
              <a:custGeom>
                <a:avLst/>
                <a:gdLst/>
                <a:ahLst/>
                <a:rect l="l" t="t" r="r" b="b"/>
                <a:pathLst>
                  <a:path w="901" h="5">
                    <a:moveTo>
                      <a:pt x="0" y="0"/>
                    </a:moveTo>
                    <a:lnTo>
                      <a:pt x="901" y="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05" name="Shape 907"/>
              <p:cNvSpPr/>
              <p:nvPr/>
            </p:nvSpPr>
            <p:spPr>
              <a:xfrm rot="10800000">
                <a:off x="6422040" y="2205360"/>
                <a:ext cx="1566360" cy="13935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06" name="Shape 908"/>
              <p:cNvSpPr/>
              <p:nvPr/>
            </p:nvSpPr>
            <p:spPr>
              <a:xfrm>
                <a:off x="5977080" y="354816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07" name="Shape 909"/>
              <p:cNvSpPr/>
              <p:nvPr/>
            </p:nvSpPr>
            <p:spPr>
              <a:xfrm>
                <a:off x="6043680" y="349884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2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908" name="Shape 910"/>
              <p:cNvSpPr/>
              <p:nvPr/>
            </p:nvSpPr>
            <p:spPr>
              <a:xfrm>
                <a:off x="7904160" y="354492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09" name="Shape 911"/>
              <p:cNvSpPr/>
              <p:nvPr/>
            </p:nvSpPr>
            <p:spPr>
              <a:xfrm>
                <a:off x="7970760" y="349560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3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910" name="Shape 912"/>
          <p:cNvGrpSpPr/>
          <p:nvPr/>
        </p:nvGrpSpPr>
        <p:grpSpPr>
          <a:xfrm>
            <a:off x="6881760" y="4805280"/>
            <a:ext cx="529920" cy="595080"/>
            <a:chOff x="6881760" y="4805280"/>
            <a:chExt cx="529920" cy="595080"/>
          </a:xfrm>
        </p:grpSpPr>
        <p:sp>
          <p:nvSpPr>
            <p:cNvPr id="911" name="Shape 913"/>
            <p:cNvSpPr/>
            <p:nvPr/>
          </p:nvSpPr>
          <p:spPr>
            <a:xfrm>
              <a:off x="6881760" y="48546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2" name="Shape 914"/>
            <p:cNvSpPr/>
            <p:nvPr/>
          </p:nvSpPr>
          <p:spPr>
            <a:xfrm>
              <a:off x="6948360" y="48052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Shape 919"/>
          <p:cNvSpPr/>
          <p:nvPr/>
        </p:nvSpPr>
        <p:spPr>
          <a:xfrm>
            <a:off x="260280" y="2117880"/>
            <a:ext cx="839592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生成树：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个顶点的连通图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的生成树是包含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全部顶点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的一个极小连通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子图。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14" name="Shape 920"/>
          <p:cNvSpPr/>
          <p:nvPr/>
        </p:nvSpPr>
        <p:spPr>
          <a:xfrm>
            <a:off x="264960" y="5119560"/>
            <a:ext cx="8427600" cy="13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生成森林：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在非连通图中，由每个连通分量都可以得到一棵生成树，这些连通分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量的生成树就组成了一个非连通图的</a:t>
            </a:r>
            <a:r>
              <a:rPr b="1" lang="ja-JP" sz="2800" spc="-1" strike="noStrike">
                <a:solidFill>
                  <a:srgbClr val="0066ff"/>
                </a:solidFill>
                <a:latin typeface="Arial"/>
                <a:ea typeface="Arial"/>
              </a:rPr>
              <a:t>生成森林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915" name="Shape 921"/>
          <p:cNvGrpSpPr/>
          <p:nvPr/>
        </p:nvGrpSpPr>
        <p:grpSpPr>
          <a:xfrm>
            <a:off x="492120" y="4309920"/>
            <a:ext cx="7426080" cy="624960"/>
            <a:chOff x="492120" y="4309920"/>
            <a:chExt cx="7426080" cy="624960"/>
          </a:xfrm>
        </p:grpSpPr>
        <p:pic>
          <p:nvPicPr>
            <p:cNvPr id="916" name="Shape 922" descr=""/>
            <p:cNvPicPr/>
            <p:nvPr/>
          </p:nvPicPr>
          <p:blipFill>
            <a:blip r:embed="rId1"/>
            <a:stretch/>
          </p:blipFill>
          <p:spPr>
            <a:xfrm>
              <a:off x="492120" y="4309920"/>
              <a:ext cx="644040" cy="6249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17" name="Shape 923"/>
            <p:cNvSpPr/>
            <p:nvPr/>
          </p:nvSpPr>
          <p:spPr>
            <a:xfrm>
              <a:off x="1289160" y="4394160"/>
              <a:ext cx="66290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如何理解极小连通子图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918" name="Shape 924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19" name="Shape 925"/>
          <p:cNvSpPr/>
          <p:nvPr/>
        </p:nvSpPr>
        <p:spPr>
          <a:xfrm>
            <a:off x="228600" y="1371600"/>
            <a:ext cx="4876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图的基本术语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920" name="Shape 926"/>
          <p:cNvSpPr/>
          <p:nvPr/>
        </p:nvSpPr>
        <p:spPr>
          <a:xfrm rot="10800000">
            <a:off x="3603960" y="3033360"/>
            <a:ext cx="6411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921" name="Shape 927"/>
          <p:cNvSpPr/>
          <p:nvPr/>
        </p:nvSpPr>
        <p:spPr>
          <a:xfrm rot="10800000">
            <a:off x="2873880" y="3123720"/>
            <a:ext cx="13712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922" name="Shape 928"/>
          <p:cNvSpPr/>
          <p:nvPr/>
        </p:nvSpPr>
        <p:spPr>
          <a:xfrm rot="10800000">
            <a:off x="2111760" y="3214440"/>
            <a:ext cx="21333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923" name="Shape 929"/>
          <p:cNvGrpSpPr/>
          <p:nvPr/>
        </p:nvGrpSpPr>
        <p:grpSpPr>
          <a:xfrm>
            <a:off x="4821120" y="3262320"/>
            <a:ext cx="2905200" cy="1004400"/>
            <a:chOff x="4821120" y="3262320"/>
            <a:chExt cx="2905200" cy="1004400"/>
          </a:xfrm>
        </p:grpSpPr>
        <p:sp>
          <p:nvSpPr>
            <p:cNvPr id="924" name="Shape 930"/>
            <p:cNvSpPr/>
            <p:nvPr/>
          </p:nvSpPr>
          <p:spPr>
            <a:xfrm>
              <a:off x="4821120" y="3419640"/>
              <a:ext cx="242640" cy="71568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5" name="Shape 931"/>
            <p:cNvSpPr/>
            <p:nvPr/>
          </p:nvSpPr>
          <p:spPr>
            <a:xfrm>
              <a:off x="5143680" y="3262320"/>
              <a:ext cx="2582640" cy="1004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400" spc="-1" strike="noStrike">
                  <a:solidFill>
                    <a:srgbClr val="000000"/>
                  </a:solidFill>
                  <a:latin typeface="Arial"/>
                  <a:ea typeface="Arial"/>
                </a:rPr>
                <a:t>多——构成回路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199"/>
                </a:spcBef>
                <a:buNone/>
                <a:tabLst>
                  <a:tab algn="l" pos="0"/>
                </a:tabLst>
              </a:pPr>
              <a:r>
                <a:rPr b="1" lang="ja-JP" sz="2400" spc="-1" strike="noStrike">
                  <a:solidFill>
                    <a:srgbClr val="000000"/>
                  </a:solidFill>
                  <a:latin typeface="Arial"/>
                  <a:ea typeface="Arial"/>
                </a:rPr>
                <a:t>少——不连通</a:t>
              </a:r>
              <a:endParaRPr b="0" lang="en-US" sz="2400" spc="-1" strike="noStrike">
                <a:latin typeface="Arial"/>
              </a:endParaRPr>
            </a:p>
          </p:txBody>
        </p:sp>
      </p:grpSp>
      <p:grpSp>
        <p:nvGrpSpPr>
          <p:cNvPr id="926" name="Shape 932"/>
          <p:cNvGrpSpPr/>
          <p:nvPr/>
        </p:nvGrpSpPr>
        <p:grpSpPr>
          <a:xfrm>
            <a:off x="2430720" y="3308400"/>
            <a:ext cx="2864880" cy="718920"/>
            <a:chOff x="2430720" y="3308400"/>
            <a:chExt cx="2864880" cy="718920"/>
          </a:xfrm>
        </p:grpSpPr>
        <p:sp>
          <p:nvSpPr>
            <p:cNvPr id="927" name="Shape 933"/>
            <p:cNvSpPr/>
            <p:nvPr/>
          </p:nvSpPr>
          <p:spPr>
            <a:xfrm rot="5400000">
              <a:off x="2345760" y="3393360"/>
              <a:ext cx="718920" cy="549000"/>
            </a:xfrm>
            <a:prstGeom prst="bentUpArrow">
              <a:avLst>
                <a:gd name="adj1" fmla="val 25000"/>
                <a:gd name="adj2" fmla="val 25000"/>
                <a:gd name="adj3" fmla="val 25000"/>
              </a:avLst>
            </a:prstGeom>
            <a:solidFill>
              <a:schemeClr val="folHlink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8" name="Shape 934"/>
            <p:cNvSpPr/>
            <p:nvPr/>
          </p:nvSpPr>
          <p:spPr>
            <a:xfrm>
              <a:off x="3116160" y="3552840"/>
              <a:ext cx="217944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含有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n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-1</a:t>
              </a: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条边</a:t>
              </a:r>
              <a:endParaRPr b="0" lang="en-US" sz="24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5" dur="indefinite" restart="never" nodeType="tmRoot">
          <p:childTnLst>
            <p:seq>
              <p:cTn id="216" dur="indefinite" nodeType="mainSeq">
                <p:childTnLst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1" dur="500"/>
                                        <p:tgtEl>
                                          <p:spTgt spid="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6" dur="5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1" dur="5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9" name="Shape 939"/>
          <p:cNvGrpSpPr/>
          <p:nvPr/>
        </p:nvGrpSpPr>
        <p:grpSpPr>
          <a:xfrm>
            <a:off x="557280" y="4033800"/>
            <a:ext cx="2809440" cy="2501640"/>
            <a:chOff x="557280" y="4033800"/>
            <a:chExt cx="2809440" cy="2501640"/>
          </a:xfrm>
        </p:grpSpPr>
        <p:sp>
          <p:nvSpPr>
            <p:cNvPr id="930" name="Shape 940"/>
            <p:cNvSpPr/>
            <p:nvPr/>
          </p:nvSpPr>
          <p:spPr>
            <a:xfrm>
              <a:off x="1054080" y="6256440"/>
              <a:ext cx="17856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1" name="Shape 941"/>
            <p:cNvSpPr/>
            <p:nvPr/>
          </p:nvSpPr>
          <p:spPr>
            <a:xfrm>
              <a:off x="615960" y="40863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2" name="Shape 942"/>
            <p:cNvSpPr/>
            <p:nvPr/>
          </p:nvSpPr>
          <p:spPr>
            <a:xfrm>
              <a:off x="682560" y="40370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933" name="Shape 943"/>
            <p:cNvSpPr/>
            <p:nvPr/>
          </p:nvSpPr>
          <p:spPr>
            <a:xfrm>
              <a:off x="1085760" y="4290840"/>
              <a:ext cx="17856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4" name="Shape 944"/>
            <p:cNvSpPr/>
            <p:nvPr/>
          </p:nvSpPr>
          <p:spPr>
            <a:xfrm>
              <a:off x="2836800" y="40831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5" name="Shape 945"/>
            <p:cNvSpPr/>
            <p:nvPr/>
          </p:nvSpPr>
          <p:spPr>
            <a:xfrm>
              <a:off x="2903400" y="40338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936" name="Shape 946"/>
            <p:cNvSpPr/>
            <p:nvPr/>
          </p:nvSpPr>
          <p:spPr>
            <a:xfrm>
              <a:off x="3078000" y="4589640"/>
              <a:ext cx="360" cy="14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7" name="Shape 947"/>
            <p:cNvSpPr/>
            <p:nvPr/>
          </p:nvSpPr>
          <p:spPr>
            <a:xfrm>
              <a:off x="819000" y="4581360"/>
              <a:ext cx="360" cy="1404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8" name="Shape 948"/>
            <p:cNvSpPr/>
            <p:nvPr/>
          </p:nvSpPr>
          <p:spPr>
            <a:xfrm>
              <a:off x="1184400" y="4637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9" name="Shape 949"/>
            <p:cNvSpPr/>
            <p:nvPr/>
          </p:nvSpPr>
          <p:spPr>
            <a:xfrm>
              <a:off x="1251000" y="4587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940" name="Shape 950"/>
            <p:cNvSpPr/>
            <p:nvPr/>
          </p:nvSpPr>
          <p:spPr>
            <a:xfrm>
              <a:off x="557280" y="5989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1" name="Shape 951"/>
            <p:cNvSpPr/>
            <p:nvPr/>
          </p:nvSpPr>
          <p:spPr>
            <a:xfrm>
              <a:off x="623880" y="59403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942" name="Shape 952"/>
            <p:cNvSpPr/>
            <p:nvPr/>
          </p:nvSpPr>
          <p:spPr>
            <a:xfrm>
              <a:off x="2820960" y="59864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3" name="Shape 953"/>
            <p:cNvSpPr/>
            <p:nvPr/>
          </p:nvSpPr>
          <p:spPr>
            <a:xfrm>
              <a:off x="2887560" y="59371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944" name="Shape 954"/>
            <p:cNvSpPr/>
            <p:nvPr/>
          </p:nvSpPr>
          <p:spPr>
            <a:xfrm>
              <a:off x="2176560" y="4637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5" name="Shape 955"/>
            <p:cNvSpPr/>
            <p:nvPr/>
          </p:nvSpPr>
          <p:spPr>
            <a:xfrm>
              <a:off x="2243160" y="4587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946" name="Shape 956"/>
            <p:cNvSpPr/>
            <p:nvPr/>
          </p:nvSpPr>
          <p:spPr>
            <a:xfrm>
              <a:off x="1658880" y="5429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7" name="Shape 957"/>
            <p:cNvSpPr/>
            <p:nvPr/>
          </p:nvSpPr>
          <p:spPr>
            <a:xfrm>
              <a:off x="1725480" y="53802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948" name="Shape 958"/>
            <p:cNvSpPr/>
            <p:nvPr/>
          </p:nvSpPr>
          <p:spPr>
            <a:xfrm>
              <a:off x="1681200" y="4884840"/>
              <a:ext cx="504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9" name="Shape 959"/>
            <p:cNvSpPr/>
            <p:nvPr/>
          </p:nvSpPr>
          <p:spPr>
            <a:xfrm>
              <a:off x="1436760" y="5114880"/>
              <a:ext cx="277560" cy="410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0" name="Shape 960"/>
            <p:cNvSpPr/>
            <p:nvPr/>
          </p:nvSpPr>
          <p:spPr>
            <a:xfrm flipH="1">
              <a:off x="2079000" y="5129280"/>
              <a:ext cx="25524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51" name="Shape 961"/>
          <p:cNvGrpSpPr/>
          <p:nvPr/>
        </p:nvGrpSpPr>
        <p:grpSpPr>
          <a:xfrm>
            <a:off x="4757760" y="4175280"/>
            <a:ext cx="4227120" cy="2101320"/>
            <a:chOff x="4757760" y="4175280"/>
            <a:chExt cx="4227120" cy="2101320"/>
          </a:xfrm>
        </p:grpSpPr>
        <p:sp>
          <p:nvSpPr>
            <p:cNvPr id="952" name="Shape 962"/>
            <p:cNvSpPr/>
            <p:nvPr/>
          </p:nvSpPr>
          <p:spPr>
            <a:xfrm>
              <a:off x="4800600" y="4224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3" name="Shape 963"/>
            <p:cNvSpPr/>
            <p:nvPr/>
          </p:nvSpPr>
          <p:spPr>
            <a:xfrm>
              <a:off x="4867200" y="41752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954" name="Shape 964"/>
            <p:cNvSpPr/>
            <p:nvPr/>
          </p:nvSpPr>
          <p:spPr>
            <a:xfrm>
              <a:off x="5286240" y="4429080"/>
              <a:ext cx="13744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5" name="Shape 965"/>
            <p:cNvSpPr/>
            <p:nvPr/>
          </p:nvSpPr>
          <p:spPr>
            <a:xfrm>
              <a:off x="6656400" y="42372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6" name="Shape 966"/>
            <p:cNvSpPr/>
            <p:nvPr/>
          </p:nvSpPr>
          <p:spPr>
            <a:xfrm>
              <a:off x="6723000" y="41878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957" name="Shape 967"/>
            <p:cNvSpPr/>
            <p:nvPr/>
          </p:nvSpPr>
          <p:spPr>
            <a:xfrm>
              <a:off x="6897600" y="4727520"/>
              <a:ext cx="360" cy="14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8" name="Shape 968"/>
            <p:cNvSpPr/>
            <p:nvPr/>
          </p:nvSpPr>
          <p:spPr>
            <a:xfrm>
              <a:off x="5003640" y="4719600"/>
              <a:ext cx="360" cy="1404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9" name="Shape 969"/>
            <p:cNvSpPr/>
            <p:nvPr/>
          </p:nvSpPr>
          <p:spPr>
            <a:xfrm>
              <a:off x="7461360" y="4240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0" name="Shape 970"/>
            <p:cNvSpPr/>
            <p:nvPr/>
          </p:nvSpPr>
          <p:spPr>
            <a:xfrm>
              <a:off x="7527960" y="41911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961" name="Shape 971"/>
            <p:cNvSpPr/>
            <p:nvPr/>
          </p:nvSpPr>
          <p:spPr>
            <a:xfrm>
              <a:off x="4757760" y="5730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2" name="Shape 972"/>
            <p:cNvSpPr/>
            <p:nvPr/>
          </p:nvSpPr>
          <p:spPr>
            <a:xfrm>
              <a:off x="4824360" y="5681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963" name="Shape 973"/>
            <p:cNvSpPr/>
            <p:nvPr/>
          </p:nvSpPr>
          <p:spPr>
            <a:xfrm>
              <a:off x="6656400" y="57276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4" name="Shape 974"/>
            <p:cNvSpPr/>
            <p:nvPr/>
          </p:nvSpPr>
          <p:spPr>
            <a:xfrm>
              <a:off x="6723000" y="56786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965" name="Shape 975"/>
            <p:cNvSpPr/>
            <p:nvPr/>
          </p:nvSpPr>
          <p:spPr>
            <a:xfrm>
              <a:off x="8453520" y="4240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6" name="Shape 976"/>
            <p:cNvSpPr/>
            <p:nvPr/>
          </p:nvSpPr>
          <p:spPr>
            <a:xfrm>
              <a:off x="8521560" y="41911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967" name="Shape 977"/>
            <p:cNvSpPr/>
            <p:nvPr/>
          </p:nvSpPr>
          <p:spPr>
            <a:xfrm>
              <a:off x="7935840" y="50324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8" name="Shape 978"/>
            <p:cNvSpPr/>
            <p:nvPr/>
          </p:nvSpPr>
          <p:spPr>
            <a:xfrm>
              <a:off x="8002440" y="49831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969" name="Shape 979"/>
            <p:cNvSpPr/>
            <p:nvPr/>
          </p:nvSpPr>
          <p:spPr>
            <a:xfrm>
              <a:off x="7958160" y="4487760"/>
              <a:ext cx="5043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0" name="Shape 980"/>
            <p:cNvSpPr/>
            <p:nvPr/>
          </p:nvSpPr>
          <p:spPr>
            <a:xfrm>
              <a:off x="7713720" y="4718160"/>
              <a:ext cx="277560" cy="410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71" name="Shape 981"/>
          <p:cNvGrpSpPr/>
          <p:nvPr/>
        </p:nvGrpSpPr>
        <p:grpSpPr>
          <a:xfrm>
            <a:off x="631800" y="1336680"/>
            <a:ext cx="2555640" cy="2258640"/>
            <a:chOff x="631800" y="1336680"/>
            <a:chExt cx="2555640" cy="2258640"/>
          </a:xfrm>
        </p:grpSpPr>
        <p:sp>
          <p:nvSpPr>
            <p:cNvPr id="972" name="Shape 982"/>
            <p:cNvSpPr/>
            <p:nvPr/>
          </p:nvSpPr>
          <p:spPr>
            <a:xfrm>
              <a:off x="2052720" y="1719360"/>
              <a:ext cx="659880" cy="66492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973" name="Shape 983"/>
            <p:cNvGrpSpPr/>
            <p:nvPr/>
          </p:nvGrpSpPr>
          <p:grpSpPr>
            <a:xfrm>
              <a:off x="706320" y="1336680"/>
              <a:ext cx="2481120" cy="598320"/>
              <a:chOff x="706320" y="1336680"/>
              <a:chExt cx="2481120" cy="598320"/>
            </a:xfrm>
          </p:grpSpPr>
          <p:sp>
            <p:nvSpPr>
              <p:cNvPr id="974" name="Shape 984"/>
              <p:cNvSpPr/>
              <p:nvPr/>
            </p:nvSpPr>
            <p:spPr>
              <a:xfrm>
                <a:off x="706320" y="13892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75" name="Shape 985"/>
              <p:cNvSpPr/>
              <p:nvPr/>
            </p:nvSpPr>
            <p:spPr>
              <a:xfrm>
                <a:off x="773280" y="133992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0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976" name="Shape 986"/>
              <p:cNvSpPr/>
              <p:nvPr/>
            </p:nvSpPr>
            <p:spPr>
              <a:xfrm>
                <a:off x="1176480" y="1593720"/>
                <a:ext cx="15109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77" name="Shape 987"/>
              <p:cNvSpPr/>
              <p:nvPr/>
            </p:nvSpPr>
            <p:spPr>
              <a:xfrm>
                <a:off x="2657520" y="13860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78" name="Shape 988"/>
              <p:cNvSpPr/>
              <p:nvPr/>
            </p:nvSpPr>
            <p:spPr>
              <a:xfrm>
                <a:off x="2724120" y="13366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1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sp>
          <p:nvSpPr>
            <p:cNvPr id="979" name="Shape 989"/>
            <p:cNvSpPr/>
            <p:nvPr/>
          </p:nvSpPr>
          <p:spPr>
            <a:xfrm>
              <a:off x="1054080" y="2644920"/>
              <a:ext cx="571320" cy="563040"/>
            </a:xfrm>
            <a:custGeom>
              <a:avLst/>
              <a:gdLst/>
              <a:ahLst/>
              <a:rect l="l" t="t" r="r" b="b"/>
              <a:pathLst>
                <a:path w="300" h="300">
                  <a:moveTo>
                    <a:pt x="300" y="0"/>
                  </a:moveTo>
                  <a:lnTo>
                    <a:pt x="0" y="3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0" name="Shape 990"/>
            <p:cNvSpPr/>
            <p:nvPr/>
          </p:nvSpPr>
          <p:spPr>
            <a:xfrm>
              <a:off x="2914560" y="1862280"/>
              <a:ext cx="360" cy="1234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1" name="Shape 991"/>
            <p:cNvSpPr/>
            <p:nvPr/>
          </p:nvSpPr>
          <p:spPr>
            <a:xfrm>
              <a:off x="2093760" y="2660760"/>
              <a:ext cx="642600" cy="553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2" name="Shape 992"/>
            <p:cNvSpPr/>
            <p:nvPr/>
          </p:nvSpPr>
          <p:spPr>
            <a:xfrm>
              <a:off x="849240" y="186840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3" name="Shape 993"/>
            <p:cNvSpPr/>
            <p:nvPr/>
          </p:nvSpPr>
          <p:spPr>
            <a:xfrm>
              <a:off x="1627200" y="23065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4" name="Shape 994"/>
            <p:cNvSpPr/>
            <p:nvPr/>
          </p:nvSpPr>
          <p:spPr>
            <a:xfrm>
              <a:off x="1693800" y="22575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985" name="Shape 995"/>
            <p:cNvSpPr/>
            <p:nvPr/>
          </p:nvSpPr>
          <p:spPr>
            <a:xfrm>
              <a:off x="631800" y="3049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6" name="Shape 996"/>
            <p:cNvSpPr/>
            <p:nvPr/>
          </p:nvSpPr>
          <p:spPr>
            <a:xfrm>
              <a:off x="698400" y="3000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987" name="Shape 997"/>
            <p:cNvSpPr/>
            <p:nvPr/>
          </p:nvSpPr>
          <p:spPr>
            <a:xfrm>
              <a:off x="2657520" y="3046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8" name="Shape 998"/>
            <p:cNvSpPr/>
            <p:nvPr/>
          </p:nvSpPr>
          <p:spPr>
            <a:xfrm>
              <a:off x="2724120" y="29973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989" name="Shape 999"/>
          <p:cNvGrpSpPr/>
          <p:nvPr/>
        </p:nvGrpSpPr>
        <p:grpSpPr>
          <a:xfrm>
            <a:off x="5310360" y="1413000"/>
            <a:ext cx="2555640" cy="2258640"/>
            <a:chOff x="5310360" y="1413000"/>
            <a:chExt cx="2555640" cy="2258640"/>
          </a:xfrm>
        </p:grpSpPr>
        <p:sp>
          <p:nvSpPr>
            <p:cNvPr id="990" name="Shape 1000"/>
            <p:cNvSpPr/>
            <p:nvPr/>
          </p:nvSpPr>
          <p:spPr>
            <a:xfrm>
              <a:off x="6730920" y="1795320"/>
              <a:ext cx="659880" cy="664920"/>
            </a:xfrm>
            <a:custGeom>
              <a:avLst/>
              <a:gdLst/>
              <a:ahLst/>
              <a:rect l="l" t="t" r="r" b="b"/>
              <a:pathLst>
                <a:path w="375" h="375">
                  <a:moveTo>
                    <a:pt x="375" y="0"/>
                  </a:moveTo>
                  <a:lnTo>
                    <a:pt x="0" y="37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991" name="Shape 1001"/>
            <p:cNvGrpSpPr/>
            <p:nvPr/>
          </p:nvGrpSpPr>
          <p:grpSpPr>
            <a:xfrm>
              <a:off x="5384880" y="1413000"/>
              <a:ext cx="2481120" cy="597960"/>
              <a:chOff x="5384880" y="1413000"/>
              <a:chExt cx="2481120" cy="597960"/>
            </a:xfrm>
          </p:grpSpPr>
          <p:sp>
            <p:nvSpPr>
              <p:cNvPr id="992" name="Shape 1002"/>
              <p:cNvSpPr/>
              <p:nvPr/>
            </p:nvSpPr>
            <p:spPr>
              <a:xfrm>
                <a:off x="5384880" y="14652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93" name="Shape 1003"/>
              <p:cNvSpPr/>
              <p:nvPr/>
            </p:nvSpPr>
            <p:spPr>
              <a:xfrm>
                <a:off x="5451480" y="14158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0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994" name="Shape 1004"/>
              <p:cNvSpPr/>
              <p:nvPr/>
            </p:nvSpPr>
            <p:spPr>
              <a:xfrm>
                <a:off x="5854680" y="1670040"/>
                <a:ext cx="1510920" cy="3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95" name="Shape 1005"/>
              <p:cNvSpPr/>
              <p:nvPr/>
            </p:nvSpPr>
            <p:spPr>
              <a:xfrm>
                <a:off x="7335720" y="146196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96" name="Shape 1006"/>
              <p:cNvSpPr/>
              <p:nvPr/>
            </p:nvSpPr>
            <p:spPr>
              <a:xfrm>
                <a:off x="7402680" y="141300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1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sp>
          <p:nvSpPr>
            <p:cNvPr id="997" name="Shape 1007"/>
            <p:cNvSpPr/>
            <p:nvPr/>
          </p:nvSpPr>
          <p:spPr>
            <a:xfrm>
              <a:off x="7593120" y="1938240"/>
              <a:ext cx="360" cy="1234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8" name="Shape 1008"/>
            <p:cNvSpPr/>
            <p:nvPr/>
          </p:nvSpPr>
          <p:spPr>
            <a:xfrm>
              <a:off x="5527800" y="194472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9" name="Shape 1009"/>
            <p:cNvSpPr/>
            <p:nvPr/>
          </p:nvSpPr>
          <p:spPr>
            <a:xfrm>
              <a:off x="6305400" y="2382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0" name="Shape 1010"/>
            <p:cNvSpPr/>
            <p:nvPr/>
          </p:nvSpPr>
          <p:spPr>
            <a:xfrm>
              <a:off x="6372360" y="2333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001" name="Shape 1011"/>
            <p:cNvSpPr/>
            <p:nvPr/>
          </p:nvSpPr>
          <p:spPr>
            <a:xfrm>
              <a:off x="5310360" y="31258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2" name="Shape 1012"/>
            <p:cNvSpPr/>
            <p:nvPr/>
          </p:nvSpPr>
          <p:spPr>
            <a:xfrm>
              <a:off x="5376960" y="30765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003" name="Shape 1013"/>
            <p:cNvSpPr/>
            <p:nvPr/>
          </p:nvSpPr>
          <p:spPr>
            <a:xfrm>
              <a:off x="7335720" y="3122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4" name="Shape 1014"/>
            <p:cNvSpPr/>
            <p:nvPr/>
          </p:nvSpPr>
          <p:spPr>
            <a:xfrm>
              <a:off x="7402680" y="3073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005" name="Shape 1015"/>
          <p:cNvGrpSpPr/>
          <p:nvPr/>
        </p:nvGrpSpPr>
        <p:grpSpPr>
          <a:xfrm>
            <a:off x="3521160" y="1935000"/>
            <a:ext cx="1264680" cy="929880"/>
            <a:chOff x="3521160" y="1935000"/>
            <a:chExt cx="1264680" cy="929880"/>
          </a:xfrm>
        </p:grpSpPr>
        <p:sp>
          <p:nvSpPr>
            <p:cNvPr id="1006" name="Shape 1016"/>
            <p:cNvSpPr/>
            <p:nvPr/>
          </p:nvSpPr>
          <p:spPr>
            <a:xfrm>
              <a:off x="3565440" y="2438280"/>
              <a:ext cx="1220400" cy="426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7" name="Shape 1017"/>
            <p:cNvSpPr/>
            <p:nvPr/>
          </p:nvSpPr>
          <p:spPr>
            <a:xfrm>
              <a:off x="3521160" y="1935000"/>
              <a:ext cx="114264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400" spc="-1" strike="noStrike">
                  <a:solidFill>
                    <a:srgbClr val="000000"/>
                  </a:solidFill>
                  <a:latin typeface="Arial"/>
                  <a:ea typeface="Arial"/>
                </a:rPr>
                <a:t>生成树</a:t>
              </a:r>
              <a:endParaRPr b="0" lang="en-US" sz="2400" spc="-1" strike="noStrike">
                <a:latin typeface="Arial"/>
              </a:endParaRPr>
            </a:p>
          </p:txBody>
        </p:sp>
      </p:grpSp>
      <p:grpSp>
        <p:nvGrpSpPr>
          <p:cNvPr id="1008" name="Shape 1018"/>
          <p:cNvGrpSpPr/>
          <p:nvPr/>
        </p:nvGrpSpPr>
        <p:grpSpPr>
          <a:xfrm>
            <a:off x="3216240" y="4756320"/>
            <a:ext cx="1553760" cy="883800"/>
            <a:chOff x="3216240" y="4756320"/>
            <a:chExt cx="1553760" cy="883800"/>
          </a:xfrm>
        </p:grpSpPr>
        <p:sp>
          <p:nvSpPr>
            <p:cNvPr id="1009" name="Shape 1019"/>
            <p:cNvSpPr/>
            <p:nvPr/>
          </p:nvSpPr>
          <p:spPr>
            <a:xfrm>
              <a:off x="3581280" y="5213520"/>
              <a:ext cx="1098360" cy="426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lt2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10" name="Shape 1020"/>
            <p:cNvSpPr/>
            <p:nvPr/>
          </p:nvSpPr>
          <p:spPr>
            <a:xfrm>
              <a:off x="3216240" y="4756320"/>
              <a:ext cx="15537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400" spc="-1" strike="noStrike">
                  <a:solidFill>
                    <a:srgbClr val="000000"/>
                  </a:solidFill>
                  <a:latin typeface="Arial"/>
                  <a:ea typeface="Arial"/>
                </a:rPr>
                <a:t>生成森林</a:t>
              </a:r>
              <a:endParaRPr b="0" lang="en-US" sz="2400" spc="-1" strike="noStrike">
                <a:latin typeface="Arial"/>
              </a:endParaRPr>
            </a:p>
          </p:txBody>
        </p:sp>
      </p:grpSp>
      <p:sp>
        <p:nvSpPr>
          <p:cNvPr id="1011" name="Shape 1021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Shape 1026"/>
          <p:cNvSpPr/>
          <p:nvPr/>
        </p:nvSpPr>
        <p:spPr>
          <a:xfrm>
            <a:off x="368280" y="1193760"/>
            <a:ext cx="7162560" cy="57924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图的抽象数据类型定义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013" name="Shape 1027"/>
          <p:cNvSpPr/>
          <p:nvPr/>
        </p:nvSpPr>
        <p:spPr>
          <a:xfrm>
            <a:off x="706320" y="3637080"/>
            <a:ext cx="6629040" cy="244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ADT  Graph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5000"/>
              </a:lnSpc>
              <a:spcBef>
                <a:spcPts val="42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Data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5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顶点的有穷非空集合和边的集合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5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Operation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5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14" name="Shape 1028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15" name="Shape 1029"/>
          <p:cNvSpPr/>
          <p:nvPr/>
        </p:nvSpPr>
        <p:spPr>
          <a:xfrm>
            <a:off x="439560" y="1897200"/>
            <a:ext cx="8278560" cy="15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400" spc="-1" strike="noStrike">
                <a:solidFill>
                  <a:srgbClr val="000000"/>
                </a:solidFill>
                <a:latin typeface="Arial"/>
                <a:ea typeface="Arial"/>
              </a:rPr>
              <a:t>图是一种与具体应用密切相关的数据结构，它的基本操作往往随应用不同而有很大差别。下面给出一个图的抽象数据类型定义的例子，简单起见，基本操作仅包含图的遍历，针对具体应用，需要重新定义其基本操作。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Shape 1034"/>
          <p:cNvSpPr/>
          <p:nvPr/>
        </p:nvSpPr>
        <p:spPr>
          <a:xfrm>
            <a:off x="660240" y="1231920"/>
            <a:ext cx="7772040" cy="52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InitGraph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前置条件：图不存在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输入：无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功能：图的初始化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输出：无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后置条件：构造一个空的图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85000"/>
              </a:lnSpc>
              <a:spcBef>
                <a:spcPts val="42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DestroyGraph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85000"/>
              </a:lnSpc>
              <a:spcBef>
                <a:spcPts val="42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前置条件：图已存在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85000"/>
              </a:lnSpc>
              <a:spcBef>
                <a:spcPts val="42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输入：无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85000"/>
              </a:lnSpc>
              <a:spcBef>
                <a:spcPts val="42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功能：销毁图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85000"/>
              </a:lnSpc>
              <a:spcBef>
                <a:spcPts val="42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输出：无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85000"/>
              </a:lnSpc>
              <a:spcBef>
                <a:spcPts val="42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后置条件：释放图所占用的存储空间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17" name="Shape 1035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Shape 1040"/>
          <p:cNvSpPr/>
          <p:nvPr/>
        </p:nvSpPr>
        <p:spPr>
          <a:xfrm>
            <a:off x="520560" y="1214280"/>
            <a:ext cx="8000640" cy="56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DFSTraverse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前置条件：图已存在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输入：遍历的起始顶点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功能：从顶点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出发深度优先遍历图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输出：图中顶点的一个线性排列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后置条件：图保持不变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BFSTraverse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前置条件：图已存在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输入：遍历的起始顶点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功能：从顶点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出发广度优先遍历图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输出：图中顶点的一个线性排列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后置条件：图保持不变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85000"/>
              </a:lnSpc>
              <a:spcBef>
                <a:spcPts val="42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endADT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19" name="Shape 1041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Shape 1046"/>
          <p:cNvSpPr/>
          <p:nvPr/>
        </p:nvSpPr>
        <p:spPr>
          <a:xfrm>
            <a:off x="228600" y="1295280"/>
            <a:ext cx="5105160" cy="57924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图的遍历操作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021" name="Shape 1047"/>
          <p:cNvSpPr/>
          <p:nvPr/>
        </p:nvSpPr>
        <p:spPr>
          <a:xfrm>
            <a:off x="254160" y="2103480"/>
            <a:ext cx="8534160" cy="11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图的遍历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是在从图中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某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一顶点出发，对图中所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有顶点访问一次且仅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访问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一次。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22" name="Shape 1048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1023" name="Shape 1049"/>
          <p:cNvGrpSpPr/>
          <p:nvPr/>
        </p:nvGrpSpPr>
        <p:grpSpPr>
          <a:xfrm>
            <a:off x="925560" y="3182760"/>
            <a:ext cx="6241320" cy="1398240"/>
            <a:chOff x="925560" y="3182760"/>
            <a:chExt cx="6241320" cy="1398240"/>
          </a:xfrm>
        </p:grpSpPr>
        <p:sp>
          <p:nvSpPr>
            <p:cNvPr id="1024" name="Shape 1050"/>
            <p:cNvSpPr/>
            <p:nvPr/>
          </p:nvSpPr>
          <p:spPr>
            <a:xfrm>
              <a:off x="925560" y="3635280"/>
              <a:ext cx="6241320" cy="94572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抽象操作，</a:t>
              </a:r>
              <a:r>
                <a:rPr b="1" lang="ja-JP" sz="2800" spc="-1" strike="noStrike">
                  <a:solidFill>
                    <a:srgbClr val="000000"/>
                  </a:solidFill>
                  <a:latin typeface="Arial"/>
                  <a:ea typeface="Arial"/>
                </a:rPr>
                <a:t>可以是对结点进行的各种处理，这里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简化为输出结点的数据。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025" name="Shape 1051"/>
            <p:cNvSpPr/>
            <p:nvPr/>
          </p:nvSpPr>
          <p:spPr>
            <a:xfrm>
              <a:off x="2794320" y="3182760"/>
              <a:ext cx="279360" cy="4424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hlink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1056"/>
          <p:cNvSpPr/>
          <p:nvPr/>
        </p:nvSpPr>
        <p:spPr>
          <a:xfrm>
            <a:off x="334800" y="1265400"/>
            <a:ext cx="64767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图的遍历操作要解决的关键问题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27" name="Shape 1057"/>
          <p:cNvSpPr/>
          <p:nvPr/>
        </p:nvSpPr>
        <p:spPr>
          <a:xfrm>
            <a:off x="258840" y="1874880"/>
            <a:ext cx="86864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①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在图中，如何选取遍历的起始顶点？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28" name="Shape 1058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29" name="Shape 1059"/>
          <p:cNvSpPr/>
          <p:nvPr/>
        </p:nvSpPr>
        <p:spPr>
          <a:xfrm>
            <a:off x="351000" y="3200400"/>
            <a:ext cx="8792640" cy="350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Clr>
                <a:srgbClr val="000000"/>
              </a:buClr>
              <a:buFont typeface="Noto Sans Symbols"/>
              <a:buChar char="■"/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在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线性表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中，数据元素在表中的编号就是元素在序列中的位置，因而其编号是唯一的；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Noto Sans Symbols"/>
              <a:buChar char="■"/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在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树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中，将结点按层序编号，由于树具有层次性，因而其层序编号也是唯一的；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Noto Sans Symbols"/>
              <a:buChar char="■"/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在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图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中，任何两个顶点之间都可能存在边，顶点是没有确定的先后次序的，所以，顶点的编号不唯一。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为了定义操作的方便，将图中的顶点按任意顺序排列起来，比如，按顶点的存储顺序。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30" name="Shape 1060"/>
          <p:cNvSpPr/>
          <p:nvPr/>
        </p:nvSpPr>
        <p:spPr>
          <a:xfrm>
            <a:off x="671400" y="2484360"/>
            <a:ext cx="673524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解决方案：从编号小的顶点开始 。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2" dur="indefinite" restart="never" nodeType="tmRoot">
          <p:childTnLst>
            <p:seq>
              <p:cTn id="233" dur="indefinite" nodeType="mainSeq">
                <p:childTnLst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Shape 1065"/>
          <p:cNvSpPr/>
          <p:nvPr/>
        </p:nvSpPr>
        <p:spPr>
          <a:xfrm>
            <a:off x="258840" y="1981080"/>
            <a:ext cx="86864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②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从某个起点始可能到达不了所有其它顶点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怎么办？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32" name="Shape 1066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33" name="Shape 1067"/>
          <p:cNvSpPr/>
          <p:nvPr/>
        </p:nvSpPr>
        <p:spPr>
          <a:xfrm>
            <a:off x="334800" y="1265400"/>
            <a:ext cx="64767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图的遍历操作要解决的关键问题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34" name="Shape 1068"/>
          <p:cNvSpPr/>
          <p:nvPr/>
        </p:nvSpPr>
        <p:spPr>
          <a:xfrm>
            <a:off x="601560" y="2590920"/>
            <a:ext cx="819756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解决方案：多次调用从某顶点出发遍历图的算法。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35" name="Shape 1069"/>
          <p:cNvSpPr/>
          <p:nvPr/>
        </p:nvSpPr>
        <p:spPr>
          <a:xfrm>
            <a:off x="631800" y="3581280"/>
            <a:ext cx="81975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Clr>
                <a:srgbClr val="3333cc"/>
              </a:buClr>
              <a:buFont typeface="Noto Sans Symbols"/>
              <a:buChar char="❖"/>
            </a:pP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下面仅讨论从某顶点出发遍历图的算法。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2" dur="indefinite" restart="never" nodeType="tmRoot">
          <p:childTnLst>
            <p:seq>
              <p:cTn id="243" dur="indefinite" nodeType="mainSeq">
                <p:childTnLst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Shape 1074"/>
          <p:cNvSpPr/>
          <p:nvPr/>
        </p:nvSpPr>
        <p:spPr>
          <a:xfrm>
            <a:off x="258840" y="1981080"/>
            <a:ext cx="8686440" cy="277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③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因图中可能存在回路，某些顶点可能会被重复访问，那么如何避免遍历不会因回路而陷入死循环。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20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20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2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④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在图中，一个顶点可以和其它多个顶点相连，当这样的顶点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访问过后，如何选取下一个要访问的顶点？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37" name="Shape 1075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38" name="Shape 1076"/>
          <p:cNvSpPr/>
          <p:nvPr/>
        </p:nvSpPr>
        <p:spPr>
          <a:xfrm>
            <a:off x="334800" y="1265400"/>
            <a:ext cx="64767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图的遍历操作要解决的关键问题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39" name="Shape 1077"/>
          <p:cNvSpPr/>
          <p:nvPr/>
        </p:nvSpPr>
        <p:spPr>
          <a:xfrm>
            <a:off x="593640" y="3048120"/>
            <a:ext cx="728460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解决方案：附设访问标志数组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visited[n]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40" name="Shape 1078"/>
          <p:cNvSpPr/>
          <p:nvPr/>
        </p:nvSpPr>
        <p:spPr>
          <a:xfrm>
            <a:off x="639720" y="4937040"/>
            <a:ext cx="72529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解决方案：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深度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优先遍历和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广度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优先遍历。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2" dur="indefinite" restart="never" nodeType="tmRoot">
          <p:childTnLst>
            <p:seq>
              <p:cTn id="253" dur="indefinite" nodeType="mainSeq">
                <p:childTnLst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Shape 1095"/>
          <p:cNvSpPr/>
          <p:nvPr/>
        </p:nvSpPr>
        <p:spPr>
          <a:xfrm>
            <a:off x="228600" y="1295280"/>
            <a:ext cx="70099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1. 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深度优先遍历</a:t>
            </a:r>
            <a:r>
              <a:rPr b="0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42" name="Shape 1096"/>
          <p:cNvSpPr/>
          <p:nvPr/>
        </p:nvSpPr>
        <p:spPr>
          <a:xfrm>
            <a:off x="609480" y="1828800"/>
            <a:ext cx="34286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基本思想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：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43" name="Shape 1097"/>
          <p:cNvSpPr/>
          <p:nvPr/>
        </p:nvSpPr>
        <p:spPr>
          <a:xfrm>
            <a:off x="609480" y="2438280"/>
            <a:ext cx="7619760" cy="265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⑴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访问顶点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⑵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从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的未被访问的邻接点中选取一个顶点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，从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出发进行深度优先遍历；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⑶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重复上述两步，直至图中所有和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有路径相通的顶点都被访问到。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44" name="Shape 1098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Shape 1103"/>
          <p:cNvSpPr/>
          <p:nvPr/>
        </p:nvSpPr>
        <p:spPr>
          <a:xfrm rot="10800000">
            <a:off x="2829240" y="4730400"/>
            <a:ext cx="763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46" name="Shape 1104"/>
          <p:cNvSpPr/>
          <p:nvPr/>
        </p:nvSpPr>
        <p:spPr>
          <a:xfrm>
            <a:off x="4338720" y="2612880"/>
            <a:ext cx="1309320" cy="1902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47" name="Shape 1105"/>
          <p:cNvSpPr/>
          <p:nvPr/>
        </p:nvSpPr>
        <p:spPr>
          <a:xfrm flipH="1">
            <a:off x="2629800" y="2583000"/>
            <a:ext cx="1371240" cy="1888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48" name="Shape 1106"/>
          <p:cNvSpPr/>
          <p:nvPr/>
        </p:nvSpPr>
        <p:spPr>
          <a:xfrm>
            <a:off x="519120" y="3468600"/>
            <a:ext cx="1122120" cy="1080"/>
          </a:xfrm>
          <a:custGeom>
            <a:avLst/>
            <a:gdLst/>
            <a:ahLst/>
            <a:rect l="l" t="t" r="r" b="b"/>
            <a:pathLst>
              <a:path w="765" h="1">
                <a:moveTo>
                  <a:pt x="0" y="0"/>
                </a:moveTo>
                <a:lnTo>
                  <a:pt x="765" y="0"/>
                </a:lnTo>
              </a:path>
            </a:pathLst>
          </a:custGeom>
          <a:noFill/>
          <a:ln w="38100">
            <a:solidFill>
              <a:srgbClr val="000099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49" name="Shape 1107"/>
          <p:cNvSpPr/>
          <p:nvPr/>
        </p:nvSpPr>
        <p:spPr>
          <a:xfrm>
            <a:off x="511200" y="4275000"/>
            <a:ext cx="1056960" cy="1080"/>
          </a:xfrm>
          <a:custGeom>
            <a:avLst/>
            <a:gdLst/>
            <a:ah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38100">
            <a:solidFill>
              <a:srgbClr val="660033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50" name="Shape 1108"/>
          <p:cNvSpPr/>
          <p:nvPr/>
        </p:nvSpPr>
        <p:spPr>
          <a:xfrm>
            <a:off x="352440" y="2989440"/>
            <a:ext cx="15998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深一层递归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51" name="Shape 1109"/>
          <p:cNvSpPr/>
          <p:nvPr/>
        </p:nvSpPr>
        <p:spPr>
          <a:xfrm>
            <a:off x="428760" y="3699000"/>
            <a:ext cx="15235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递归返回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1052" name="Shape 1110"/>
          <p:cNvGrpSpPr/>
          <p:nvPr/>
        </p:nvGrpSpPr>
        <p:grpSpPr>
          <a:xfrm>
            <a:off x="884160" y="1295280"/>
            <a:ext cx="7376760" cy="617040"/>
            <a:chOff x="884160" y="1295280"/>
            <a:chExt cx="7376760" cy="617040"/>
          </a:xfrm>
        </p:grpSpPr>
        <p:pic>
          <p:nvPicPr>
            <p:cNvPr id="1053" name="Shape 1111" descr=""/>
            <p:cNvPicPr/>
            <p:nvPr/>
          </p:nvPicPr>
          <p:blipFill>
            <a:blip r:embed="rId1"/>
            <a:stretch/>
          </p:blipFill>
          <p:spPr>
            <a:xfrm>
              <a:off x="884160" y="1295280"/>
              <a:ext cx="644040" cy="617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054" name="Shape 1112"/>
            <p:cNvSpPr/>
            <p:nvPr/>
          </p:nvSpPr>
          <p:spPr>
            <a:xfrm>
              <a:off x="1631880" y="1327320"/>
              <a:ext cx="66290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深度优先遍历序列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入栈序列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出栈序列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1055" name="Shape 1113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1056" name="Shape 1114"/>
          <p:cNvGrpSpPr/>
          <p:nvPr/>
        </p:nvGrpSpPr>
        <p:grpSpPr>
          <a:xfrm>
            <a:off x="3932280" y="2128680"/>
            <a:ext cx="529920" cy="595080"/>
            <a:chOff x="3932280" y="2128680"/>
            <a:chExt cx="529920" cy="595080"/>
          </a:xfrm>
        </p:grpSpPr>
        <p:sp>
          <p:nvSpPr>
            <p:cNvPr id="1057" name="Shape 1115"/>
            <p:cNvSpPr/>
            <p:nvPr/>
          </p:nvSpPr>
          <p:spPr>
            <a:xfrm>
              <a:off x="3932280" y="21780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8" name="Shape 1116"/>
            <p:cNvSpPr/>
            <p:nvPr/>
          </p:nvSpPr>
          <p:spPr>
            <a:xfrm>
              <a:off x="3998880" y="21286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059" name="Shape 1117"/>
          <p:cNvGrpSpPr/>
          <p:nvPr/>
        </p:nvGrpSpPr>
        <p:grpSpPr>
          <a:xfrm>
            <a:off x="4786200" y="3255840"/>
            <a:ext cx="530280" cy="595080"/>
            <a:chOff x="4786200" y="3255840"/>
            <a:chExt cx="530280" cy="595080"/>
          </a:xfrm>
        </p:grpSpPr>
        <p:sp>
          <p:nvSpPr>
            <p:cNvPr id="1060" name="Shape 1118"/>
            <p:cNvSpPr/>
            <p:nvPr/>
          </p:nvSpPr>
          <p:spPr>
            <a:xfrm>
              <a:off x="4786200" y="3305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1" name="Shape 1119"/>
            <p:cNvSpPr/>
            <p:nvPr/>
          </p:nvSpPr>
          <p:spPr>
            <a:xfrm>
              <a:off x="4853160" y="3255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062" name="Shape 1120"/>
          <p:cNvGrpSpPr/>
          <p:nvPr/>
        </p:nvGrpSpPr>
        <p:grpSpPr>
          <a:xfrm>
            <a:off x="3083040" y="3165480"/>
            <a:ext cx="529920" cy="595080"/>
            <a:chOff x="3083040" y="3165480"/>
            <a:chExt cx="529920" cy="595080"/>
          </a:xfrm>
        </p:grpSpPr>
        <p:sp>
          <p:nvSpPr>
            <p:cNvPr id="1063" name="Shape 1121"/>
            <p:cNvSpPr/>
            <p:nvPr/>
          </p:nvSpPr>
          <p:spPr>
            <a:xfrm>
              <a:off x="3083040" y="32148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4" name="Shape 1122"/>
            <p:cNvSpPr/>
            <p:nvPr/>
          </p:nvSpPr>
          <p:spPr>
            <a:xfrm>
              <a:off x="3149640" y="31654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065" name="Shape 1123"/>
          <p:cNvGrpSpPr/>
          <p:nvPr/>
        </p:nvGrpSpPr>
        <p:grpSpPr>
          <a:xfrm>
            <a:off x="2317680" y="4398840"/>
            <a:ext cx="529920" cy="595080"/>
            <a:chOff x="2317680" y="4398840"/>
            <a:chExt cx="529920" cy="595080"/>
          </a:xfrm>
        </p:grpSpPr>
        <p:sp>
          <p:nvSpPr>
            <p:cNvPr id="1066" name="Shape 1124"/>
            <p:cNvSpPr/>
            <p:nvPr/>
          </p:nvSpPr>
          <p:spPr>
            <a:xfrm>
              <a:off x="2317680" y="4448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7" name="Shape 1125"/>
            <p:cNvSpPr/>
            <p:nvPr/>
          </p:nvSpPr>
          <p:spPr>
            <a:xfrm>
              <a:off x="2384280" y="4398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068" name="Shape 1126"/>
          <p:cNvGrpSpPr/>
          <p:nvPr/>
        </p:nvGrpSpPr>
        <p:grpSpPr>
          <a:xfrm>
            <a:off x="3583080" y="4398840"/>
            <a:ext cx="529920" cy="595080"/>
            <a:chOff x="3583080" y="4398840"/>
            <a:chExt cx="529920" cy="595080"/>
          </a:xfrm>
        </p:grpSpPr>
        <p:sp>
          <p:nvSpPr>
            <p:cNvPr id="1069" name="Shape 1127"/>
            <p:cNvSpPr/>
            <p:nvPr/>
          </p:nvSpPr>
          <p:spPr>
            <a:xfrm>
              <a:off x="3583080" y="4448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0" name="Shape 1128"/>
            <p:cNvSpPr/>
            <p:nvPr/>
          </p:nvSpPr>
          <p:spPr>
            <a:xfrm>
              <a:off x="3649680" y="4398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071" name="Shape 1129"/>
          <p:cNvGrpSpPr/>
          <p:nvPr/>
        </p:nvGrpSpPr>
        <p:grpSpPr>
          <a:xfrm>
            <a:off x="4181400" y="4429080"/>
            <a:ext cx="529920" cy="595080"/>
            <a:chOff x="4181400" y="4429080"/>
            <a:chExt cx="529920" cy="595080"/>
          </a:xfrm>
        </p:grpSpPr>
        <p:sp>
          <p:nvSpPr>
            <p:cNvPr id="1072" name="Shape 1130"/>
            <p:cNvSpPr/>
            <p:nvPr/>
          </p:nvSpPr>
          <p:spPr>
            <a:xfrm>
              <a:off x="4181400" y="447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3" name="Shape 1131"/>
            <p:cNvSpPr/>
            <p:nvPr/>
          </p:nvSpPr>
          <p:spPr>
            <a:xfrm>
              <a:off x="4248000" y="4429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074" name="Shape 1132"/>
          <p:cNvGrpSpPr/>
          <p:nvPr/>
        </p:nvGrpSpPr>
        <p:grpSpPr>
          <a:xfrm>
            <a:off x="5440320" y="4446720"/>
            <a:ext cx="529920" cy="595080"/>
            <a:chOff x="5440320" y="4446720"/>
            <a:chExt cx="529920" cy="595080"/>
          </a:xfrm>
        </p:grpSpPr>
        <p:sp>
          <p:nvSpPr>
            <p:cNvPr id="1075" name="Shape 1133"/>
            <p:cNvSpPr/>
            <p:nvPr/>
          </p:nvSpPr>
          <p:spPr>
            <a:xfrm>
              <a:off x="5440320" y="4495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6" name="Shape 1134"/>
            <p:cNvSpPr/>
            <p:nvPr/>
          </p:nvSpPr>
          <p:spPr>
            <a:xfrm>
              <a:off x="5506920" y="4446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077" name="Shape 1135"/>
          <p:cNvGrpSpPr/>
          <p:nvPr/>
        </p:nvGrpSpPr>
        <p:grpSpPr>
          <a:xfrm>
            <a:off x="2957400" y="5603760"/>
            <a:ext cx="530280" cy="595080"/>
            <a:chOff x="2957400" y="5603760"/>
            <a:chExt cx="530280" cy="595080"/>
          </a:xfrm>
        </p:grpSpPr>
        <p:sp>
          <p:nvSpPr>
            <p:cNvPr id="1078" name="Shape 1136"/>
            <p:cNvSpPr/>
            <p:nvPr/>
          </p:nvSpPr>
          <p:spPr>
            <a:xfrm>
              <a:off x="2957400" y="5653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9" name="Shape 1137"/>
            <p:cNvSpPr/>
            <p:nvPr/>
          </p:nvSpPr>
          <p:spPr>
            <a:xfrm>
              <a:off x="3024360" y="56037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8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1080" name="Shape 1138"/>
          <p:cNvSpPr/>
          <p:nvPr/>
        </p:nvSpPr>
        <p:spPr>
          <a:xfrm>
            <a:off x="3440160" y="3695760"/>
            <a:ext cx="394920" cy="77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1" name="Shape 1139"/>
          <p:cNvSpPr/>
          <p:nvPr/>
        </p:nvSpPr>
        <p:spPr>
          <a:xfrm flipH="1">
            <a:off x="4506120" y="3770280"/>
            <a:ext cx="410760" cy="72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2" name="Shape 1140"/>
          <p:cNvSpPr/>
          <p:nvPr/>
        </p:nvSpPr>
        <p:spPr>
          <a:xfrm rot="10800000">
            <a:off x="4670640" y="4746240"/>
            <a:ext cx="763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3" name="Shape 1141"/>
          <p:cNvSpPr/>
          <p:nvPr/>
        </p:nvSpPr>
        <p:spPr>
          <a:xfrm>
            <a:off x="2647800" y="4944960"/>
            <a:ext cx="394920" cy="77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4" name="Shape 1142"/>
          <p:cNvSpPr/>
          <p:nvPr/>
        </p:nvSpPr>
        <p:spPr>
          <a:xfrm>
            <a:off x="7115040" y="2538360"/>
            <a:ext cx="1355400" cy="262044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5" name="Shape 1143"/>
          <p:cNvSpPr/>
          <p:nvPr/>
        </p:nvSpPr>
        <p:spPr>
          <a:xfrm>
            <a:off x="7130880" y="4637160"/>
            <a:ext cx="1309320" cy="52812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86" name="Shape 1144"/>
          <p:cNvSpPr/>
          <p:nvPr/>
        </p:nvSpPr>
        <p:spPr>
          <a:xfrm>
            <a:off x="7132680" y="2544840"/>
            <a:ext cx="360" cy="262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7" name="Shape 1145"/>
          <p:cNvSpPr/>
          <p:nvPr/>
        </p:nvSpPr>
        <p:spPr>
          <a:xfrm>
            <a:off x="8442360" y="2558880"/>
            <a:ext cx="360" cy="262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8" name="Shape 1146"/>
          <p:cNvSpPr/>
          <p:nvPr/>
        </p:nvSpPr>
        <p:spPr>
          <a:xfrm>
            <a:off x="7116840" y="5168880"/>
            <a:ext cx="13251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9" name="Shape 1147"/>
          <p:cNvSpPr/>
          <p:nvPr/>
        </p:nvSpPr>
        <p:spPr>
          <a:xfrm>
            <a:off x="4024440" y="1808280"/>
            <a:ext cx="360" cy="36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090" name="Shape 1148"/>
          <p:cNvSpPr/>
          <p:nvPr/>
        </p:nvSpPr>
        <p:spPr>
          <a:xfrm>
            <a:off x="0" y="6135840"/>
            <a:ext cx="2179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遍历序列：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91" name="Shape 1149"/>
          <p:cNvSpPr/>
          <p:nvPr/>
        </p:nvSpPr>
        <p:spPr>
          <a:xfrm>
            <a:off x="1889280" y="61898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92" name="Shape 1150"/>
          <p:cNvSpPr/>
          <p:nvPr/>
        </p:nvSpPr>
        <p:spPr>
          <a:xfrm flipH="1">
            <a:off x="3398040" y="2462040"/>
            <a:ext cx="456840" cy="669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093" name="Shape 1151"/>
          <p:cNvSpPr/>
          <p:nvPr/>
        </p:nvSpPr>
        <p:spPr>
          <a:xfrm>
            <a:off x="2468520" y="62056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94" name="Shape 1152"/>
          <p:cNvSpPr/>
          <p:nvPr/>
        </p:nvSpPr>
        <p:spPr>
          <a:xfrm>
            <a:off x="7130880" y="4119480"/>
            <a:ext cx="1309320" cy="52812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95" name="Shape 1153"/>
          <p:cNvSpPr/>
          <p:nvPr/>
        </p:nvSpPr>
        <p:spPr>
          <a:xfrm flipH="1">
            <a:off x="2559960" y="3635280"/>
            <a:ext cx="456840" cy="669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096" name="Shape 1154"/>
          <p:cNvSpPr/>
          <p:nvPr/>
        </p:nvSpPr>
        <p:spPr>
          <a:xfrm>
            <a:off x="3032280" y="622152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97" name="Shape 1155"/>
          <p:cNvSpPr/>
          <p:nvPr/>
        </p:nvSpPr>
        <p:spPr>
          <a:xfrm>
            <a:off x="7130880" y="3584520"/>
            <a:ext cx="1309320" cy="52812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98" name="Shape 1156"/>
          <p:cNvSpPr/>
          <p:nvPr/>
        </p:nvSpPr>
        <p:spPr>
          <a:xfrm>
            <a:off x="2833560" y="4854600"/>
            <a:ext cx="7012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099" name="Shape 1157"/>
          <p:cNvSpPr/>
          <p:nvPr/>
        </p:nvSpPr>
        <p:spPr>
          <a:xfrm>
            <a:off x="3549600" y="62056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100" name="Shape 1158"/>
          <p:cNvSpPr/>
          <p:nvPr/>
        </p:nvSpPr>
        <p:spPr>
          <a:xfrm>
            <a:off x="7130880" y="3052800"/>
            <a:ext cx="1309320" cy="52812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101" name="Shape 1159"/>
          <p:cNvSpPr/>
          <p:nvPr/>
        </p:nvSpPr>
        <p:spPr>
          <a:xfrm rot="10800000">
            <a:off x="2832480" y="4354920"/>
            <a:ext cx="680760" cy="225000"/>
          </a:xfrm>
          <a:custGeom>
            <a:avLst/>
            <a:gdLst/>
            <a:ah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38100">
            <a:solidFill>
              <a:srgbClr val="660033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2" dur="indefinite" restart="never" nodeType="tmRoot">
          <p:childTnLst>
            <p:seq>
              <p:cTn id="263" dur="indefinite" nodeType="mainSeq">
                <p:childTnLst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8" dur="500"/>
                                        <p:tgtEl>
                                          <p:spTgt spid="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7" dur="500"/>
                                        <p:tgtEl>
                                          <p:spTgt spid="1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2" dur="500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1" dur="500"/>
                                        <p:tgtEl>
                                          <p:spTgt spid="1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6" dur="500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5" dur="500"/>
                                        <p:tgtEl>
                                          <p:spTgt spid="1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0" dur="500"/>
                                        <p:tgtEl>
                                          <p:spTgt spid="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9" dur="500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nodeType="clickEffect" fill="hold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323" dur="500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9" dur="50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Shape 1164"/>
          <p:cNvSpPr/>
          <p:nvPr/>
        </p:nvSpPr>
        <p:spPr>
          <a:xfrm rot="10800000">
            <a:off x="2829240" y="4730400"/>
            <a:ext cx="763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03" name="Shape 1165"/>
          <p:cNvSpPr/>
          <p:nvPr/>
        </p:nvSpPr>
        <p:spPr>
          <a:xfrm>
            <a:off x="4338720" y="2612880"/>
            <a:ext cx="1309320" cy="1902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04" name="Shape 1166"/>
          <p:cNvSpPr/>
          <p:nvPr/>
        </p:nvSpPr>
        <p:spPr>
          <a:xfrm flipH="1">
            <a:off x="2629800" y="2583000"/>
            <a:ext cx="1371240" cy="1888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05" name="Shape 1167"/>
          <p:cNvSpPr/>
          <p:nvPr/>
        </p:nvSpPr>
        <p:spPr>
          <a:xfrm>
            <a:off x="519120" y="3468600"/>
            <a:ext cx="1122120" cy="1080"/>
          </a:xfrm>
          <a:custGeom>
            <a:avLst/>
            <a:gdLst/>
            <a:ahLst/>
            <a:rect l="l" t="t" r="r" b="b"/>
            <a:pathLst>
              <a:path w="765" h="1">
                <a:moveTo>
                  <a:pt x="0" y="0"/>
                </a:moveTo>
                <a:lnTo>
                  <a:pt x="765" y="0"/>
                </a:lnTo>
              </a:path>
            </a:pathLst>
          </a:custGeom>
          <a:noFill/>
          <a:ln w="38100">
            <a:solidFill>
              <a:srgbClr val="000099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06" name="Shape 1168"/>
          <p:cNvSpPr/>
          <p:nvPr/>
        </p:nvSpPr>
        <p:spPr>
          <a:xfrm>
            <a:off x="511200" y="4275000"/>
            <a:ext cx="1056960" cy="1080"/>
          </a:xfrm>
          <a:custGeom>
            <a:avLst/>
            <a:gdLst/>
            <a:ah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38100">
            <a:solidFill>
              <a:srgbClr val="660033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07" name="Shape 1169"/>
          <p:cNvSpPr/>
          <p:nvPr/>
        </p:nvSpPr>
        <p:spPr>
          <a:xfrm>
            <a:off x="352440" y="2989440"/>
            <a:ext cx="15998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深一层递归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08" name="Shape 1170"/>
          <p:cNvSpPr/>
          <p:nvPr/>
        </p:nvSpPr>
        <p:spPr>
          <a:xfrm>
            <a:off x="428760" y="3699000"/>
            <a:ext cx="15235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递归返回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1109" name="Shape 1171"/>
          <p:cNvGrpSpPr/>
          <p:nvPr/>
        </p:nvGrpSpPr>
        <p:grpSpPr>
          <a:xfrm>
            <a:off x="884160" y="1295280"/>
            <a:ext cx="7376760" cy="617040"/>
            <a:chOff x="884160" y="1295280"/>
            <a:chExt cx="7376760" cy="617040"/>
          </a:xfrm>
        </p:grpSpPr>
        <p:pic>
          <p:nvPicPr>
            <p:cNvPr id="1110" name="Shape 1172" descr=""/>
            <p:cNvPicPr/>
            <p:nvPr/>
          </p:nvPicPr>
          <p:blipFill>
            <a:blip r:embed="rId1"/>
            <a:stretch/>
          </p:blipFill>
          <p:spPr>
            <a:xfrm>
              <a:off x="884160" y="1295280"/>
              <a:ext cx="644040" cy="617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111" name="Shape 1173"/>
            <p:cNvSpPr/>
            <p:nvPr/>
          </p:nvSpPr>
          <p:spPr>
            <a:xfrm>
              <a:off x="1631880" y="1327320"/>
              <a:ext cx="66290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深度优先遍历序列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入栈序列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出栈序列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1112" name="Shape 1174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1113" name="Shape 1175"/>
          <p:cNvGrpSpPr/>
          <p:nvPr/>
        </p:nvGrpSpPr>
        <p:grpSpPr>
          <a:xfrm>
            <a:off x="3932280" y="2128680"/>
            <a:ext cx="529920" cy="595080"/>
            <a:chOff x="3932280" y="2128680"/>
            <a:chExt cx="529920" cy="595080"/>
          </a:xfrm>
        </p:grpSpPr>
        <p:sp>
          <p:nvSpPr>
            <p:cNvPr id="1114" name="Shape 1176"/>
            <p:cNvSpPr/>
            <p:nvPr/>
          </p:nvSpPr>
          <p:spPr>
            <a:xfrm>
              <a:off x="3932280" y="21780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5" name="Shape 1177"/>
            <p:cNvSpPr/>
            <p:nvPr/>
          </p:nvSpPr>
          <p:spPr>
            <a:xfrm>
              <a:off x="3998880" y="21286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116" name="Shape 1178"/>
          <p:cNvGrpSpPr/>
          <p:nvPr/>
        </p:nvGrpSpPr>
        <p:grpSpPr>
          <a:xfrm>
            <a:off x="4786200" y="3255840"/>
            <a:ext cx="530280" cy="595080"/>
            <a:chOff x="4786200" y="3255840"/>
            <a:chExt cx="530280" cy="595080"/>
          </a:xfrm>
        </p:grpSpPr>
        <p:sp>
          <p:nvSpPr>
            <p:cNvPr id="1117" name="Shape 1179"/>
            <p:cNvSpPr/>
            <p:nvPr/>
          </p:nvSpPr>
          <p:spPr>
            <a:xfrm>
              <a:off x="4786200" y="3305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8" name="Shape 1180"/>
            <p:cNvSpPr/>
            <p:nvPr/>
          </p:nvSpPr>
          <p:spPr>
            <a:xfrm>
              <a:off x="4853160" y="3255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119" name="Shape 1181"/>
          <p:cNvGrpSpPr/>
          <p:nvPr/>
        </p:nvGrpSpPr>
        <p:grpSpPr>
          <a:xfrm>
            <a:off x="3083040" y="3165480"/>
            <a:ext cx="529920" cy="595080"/>
            <a:chOff x="3083040" y="3165480"/>
            <a:chExt cx="529920" cy="595080"/>
          </a:xfrm>
        </p:grpSpPr>
        <p:sp>
          <p:nvSpPr>
            <p:cNvPr id="1120" name="Shape 1182"/>
            <p:cNvSpPr/>
            <p:nvPr/>
          </p:nvSpPr>
          <p:spPr>
            <a:xfrm>
              <a:off x="3083040" y="32148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1" name="Shape 1183"/>
            <p:cNvSpPr/>
            <p:nvPr/>
          </p:nvSpPr>
          <p:spPr>
            <a:xfrm>
              <a:off x="3149640" y="31654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122" name="Shape 1184"/>
          <p:cNvGrpSpPr/>
          <p:nvPr/>
        </p:nvGrpSpPr>
        <p:grpSpPr>
          <a:xfrm>
            <a:off x="2317680" y="4398840"/>
            <a:ext cx="529920" cy="595080"/>
            <a:chOff x="2317680" y="4398840"/>
            <a:chExt cx="529920" cy="595080"/>
          </a:xfrm>
        </p:grpSpPr>
        <p:sp>
          <p:nvSpPr>
            <p:cNvPr id="1123" name="Shape 1185"/>
            <p:cNvSpPr/>
            <p:nvPr/>
          </p:nvSpPr>
          <p:spPr>
            <a:xfrm>
              <a:off x="2317680" y="4448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4" name="Shape 1186"/>
            <p:cNvSpPr/>
            <p:nvPr/>
          </p:nvSpPr>
          <p:spPr>
            <a:xfrm>
              <a:off x="2384280" y="4398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125" name="Shape 1187"/>
          <p:cNvGrpSpPr/>
          <p:nvPr/>
        </p:nvGrpSpPr>
        <p:grpSpPr>
          <a:xfrm>
            <a:off x="3583080" y="4398840"/>
            <a:ext cx="529920" cy="595080"/>
            <a:chOff x="3583080" y="4398840"/>
            <a:chExt cx="529920" cy="595080"/>
          </a:xfrm>
        </p:grpSpPr>
        <p:sp>
          <p:nvSpPr>
            <p:cNvPr id="1126" name="Shape 1188"/>
            <p:cNvSpPr/>
            <p:nvPr/>
          </p:nvSpPr>
          <p:spPr>
            <a:xfrm>
              <a:off x="3583080" y="4448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7" name="Shape 1189"/>
            <p:cNvSpPr/>
            <p:nvPr/>
          </p:nvSpPr>
          <p:spPr>
            <a:xfrm>
              <a:off x="3649680" y="4398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128" name="Shape 1190"/>
          <p:cNvGrpSpPr/>
          <p:nvPr/>
        </p:nvGrpSpPr>
        <p:grpSpPr>
          <a:xfrm>
            <a:off x="4181400" y="4429080"/>
            <a:ext cx="529920" cy="595080"/>
            <a:chOff x="4181400" y="4429080"/>
            <a:chExt cx="529920" cy="595080"/>
          </a:xfrm>
        </p:grpSpPr>
        <p:sp>
          <p:nvSpPr>
            <p:cNvPr id="1129" name="Shape 1191"/>
            <p:cNvSpPr/>
            <p:nvPr/>
          </p:nvSpPr>
          <p:spPr>
            <a:xfrm>
              <a:off x="4181400" y="447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0" name="Shape 1192"/>
            <p:cNvSpPr/>
            <p:nvPr/>
          </p:nvSpPr>
          <p:spPr>
            <a:xfrm>
              <a:off x="4248000" y="4429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131" name="Shape 1193"/>
          <p:cNvGrpSpPr/>
          <p:nvPr/>
        </p:nvGrpSpPr>
        <p:grpSpPr>
          <a:xfrm>
            <a:off x="5440320" y="4446720"/>
            <a:ext cx="529920" cy="595080"/>
            <a:chOff x="5440320" y="4446720"/>
            <a:chExt cx="529920" cy="595080"/>
          </a:xfrm>
        </p:grpSpPr>
        <p:sp>
          <p:nvSpPr>
            <p:cNvPr id="1132" name="Shape 1194"/>
            <p:cNvSpPr/>
            <p:nvPr/>
          </p:nvSpPr>
          <p:spPr>
            <a:xfrm>
              <a:off x="5440320" y="4495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3" name="Shape 1195"/>
            <p:cNvSpPr/>
            <p:nvPr/>
          </p:nvSpPr>
          <p:spPr>
            <a:xfrm>
              <a:off x="5506920" y="4446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134" name="Shape 1196"/>
          <p:cNvGrpSpPr/>
          <p:nvPr/>
        </p:nvGrpSpPr>
        <p:grpSpPr>
          <a:xfrm>
            <a:off x="2957400" y="5603760"/>
            <a:ext cx="530280" cy="595080"/>
            <a:chOff x="2957400" y="5603760"/>
            <a:chExt cx="530280" cy="595080"/>
          </a:xfrm>
        </p:grpSpPr>
        <p:sp>
          <p:nvSpPr>
            <p:cNvPr id="1135" name="Shape 1197"/>
            <p:cNvSpPr/>
            <p:nvPr/>
          </p:nvSpPr>
          <p:spPr>
            <a:xfrm>
              <a:off x="2957400" y="5653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6" name="Shape 1198"/>
            <p:cNvSpPr/>
            <p:nvPr/>
          </p:nvSpPr>
          <p:spPr>
            <a:xfrm>
              <a:off x="3024360" y="56037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8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1137" name="Shape 1199"/>
          <p:cNvSpPr/>
          <p:nvPr/>
        </p:nvSpPr>
        <p:spPr>
          <a:xfrm>
            <a:off x="3440160" y="3695760"/>
            <a:ext cx="394920" cy="77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38" name="Shape 1200"/>
          <p:cNvSpPr/>
          <p:nvPr/>
        </p:nvSpPr>
        <p:spPr>
          <a:xfrm flipH="1">
            <a:off x="4506120" y="3770280"/>
            <a:ext cx="410760" cy="72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39" name="Shape 1201"/>
          <p:cNvSpPr/>
          <p:nvPr/>
        </p:nvSpPr>
        <p:spPr>
          <a:xfrm rot="10800000">
            <a:off x="4670640" y="4746240"/>
            <a:ext cx="763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0" name="Shape 1202"/>
          <p:cNvSpPr/>
          <p:nvPr/>
        </p:nvSpPr>
        <p:spPr>
          <a:xfrm>
            <a:off x="2647800" y="4944960"/>
            <a:ext cx="394920" cy="77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1" name="Shape 1203"/>
          <p:cNvSpPr/>
          <p:nvPr/>
        </p:nvSpPr>
        <p:spPr>
          <a:xfrm>
            <a:off x="7115040" y="2538360"/>
            <a:ext cx="1355400" cy="262044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2" name="Shape 1204"/>
          <p:cNvSpPr/>
          <p:nvPr/>
        </p:nvSpPr>
        <p:spPr>
          <a:xfrm>
            <a:off x="7130880" y="4637160"/>
            <a:ext cx="1309320" cy="52812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143" name="Shape 1205"/>
          <p:cNvSpPr/>
          <p:nvPr/>
        </p:nvSpPr>
        <p:spPr>
          <a:xfrm>
            <a:off x="7132680" y="2544840"/>
            <a:ext cx="360" cy="262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4" name="Shape 1206"/>
          <p:cNvSpPr/>
          <p:nvPr/>
        </p:nvSpPr>
        <p:spPr>
          <a:xfrm>
            <a:off x="8442360" y="2558880"/>
            <a:ext cx="360" cy="262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5" name="Shape 1207"/>
          <p:cNvSpPr/>
          <p:nvPr/>
        </p:nvSpPr>
        <p:spPr>
          <a:xfrm>
            <a:off x="7116840" y="5168880"/>
            <a:ext cx="13251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6" name="Shape 1208"/>
          <p:cNvSpPr/>
          <p:nvPr/>
        </p:nvSpPr>
        <p:spPr>
          <a:xfrm>
            <a:off x="4024440" y="1808280"/>
            <a:ext cx="360" cy="36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147" name="Shape 1209"/>
          <p:cNvSpPr/>
          <p:nvPr/>
        </p:nvSpPr>
        <p:spPr>
          <a:xfrm>
            <a:off x="0" y="6135840"/>
            <a:ext cx="2179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遍历序列：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148" name="Shape 1210"/>
          <p:cNvSpPr/>
          <p:nvPr/>
        </p:nvSpPr>
        <p:spPr>
          <a:xfrm>
            <a:off x="1889280" y="61898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149" name="Shape 1211"/>
          <p:cNvSpPr/>
          <p:nvPr/>
        </p:nvSpPr>
        <p:spPr>
          <a:xfrm flipH="1">
            <a:off x="3398040" y="2462040"/>
            <a:ext cx="456840" cy="669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150" name="Shape 1212"/>
          <p:cNvSpPr/>
          <p:nvPr/>
        </p:nvSpPr>
        <p:spPr>
          <a:xfrm>
            <a:off x="2468520" y="62056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151" name="Shape 1213"/>
          <p:cNvSpPr/>
          <p:nvPr/>
        </p:nvSpPr>
        <p:spPr>
          <a:xfrm>
            <a:off x="7130880" y="4119480"/>
            <a:ext cx="1309320" cy="52812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152" name="Shape 1214"/>
          <p:cNvSpPr/>
          <p:nvPr/>
        </p:nvSpPr>
        <p:spPr>
          <a:xfrm flipH="1">
            <a:off x="2559960" y="3635280"/>
            <a:ext cx="456840" cy="669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153" name="Shape 1215"/>
          <p:cNvSpPr/>
          <p:nvPr/>
        </p:nvSpPr>
        <p:spPr>
          <a:xfrm>
            <a:off x="3032280" y="622152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154" name="Shape 1216"/>
          <p:cNvSpPr/>
          <p:nvPr/>
        </p:nvSpPr>
        <p:spPr>
          <a:xfrm>
            <a:off x="7130880" y="3600360"/>
            <a:ext cx="1309320" cy="52812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155" name="Shape 1217"/>
          <p:cNvSpPr/>
          <p:nvPr/>
        </p:nvSpPr>
        <p:spPr>
          <a:xfrm>
            <a:off x="2833560" y="4854600"/>
            <a:ext cx="7012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156" name="Shape 1218"/>
          <p:cNvSpPr/>
          <p:nvPr/>
        </p:nvSpPr>
        <p:spPr>
          <a:xfrm>
            <a:off x="3549600" y="62056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157" name="Shape 1219"/>
          <p:cNvSpPr/>
          <p:nvPr/>
        </p:nvSpPr>
        <p:spPr>
          <a:xfrm rot="10800000">
            <a:off x="2832480" y="4354920"/>
            <a:ext cx="680760" cy="225000"/>
          </a:xfrm>
          <a:custGeom>
            <a:avLst/>
            <a:gdLst/>
            <a:ah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38100">
            <a:solidFill>
              <a:srgbClr val="660033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158" name="Shape 1220"/>
          <p:cNvSpPr/>
          <p:nvPr/>
        </p:nvSpPr>
        <p:spPr>
          <a:xfrm>
            <a:off x="2484360" y="5037120"/>
            <a:ext cx="379080" cy="761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159" name="Shape 1221"/>
          <p:cNvSpPr/>
          <p:nvPr/>
        </p:nvSpPr>
        <p:spPr>
          <a:xfrm>
            <a:off x="4006800" y="622152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160" name="Shape 1222"/>
          <p:cNvSpPr/>
          <p:nvPr/>
        </p:nvSpPr>
        <p:spPr>
          <a:xfrm>
            <a:off x="7132680" y="3083040"/>
            <a:ext cx="1309320" cy="52812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161" name="Shape 1223"/>
          <p:cNvSpPr/>
          <p:nvPr/>
        </p:nvSpPr>
        <p:spPr>
          <a:xfrm rot="14520000">
            <a:off x="2742120" y="5085720"/>
            <a:ext cx="680760" cy="225000"/>
          </a:xfrm>
          <a:custGeom>
            <a:avLst/>
            <a:gdLst/>
            <a:ah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38100">
            <a:solidFill>
              <a:srgbClr val="660033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0" dur="indefinite" restart="never" nodeType="tmRoot">
          <p:childTnLst>
            <p:seq>
              <p:cTn id="331" dur="indefinite" nodeType="mainSeq">
                <p:childTnLst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6" dur="500"/>
                                        <p:tgtEl>
                                          <p:spTgt spid="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5" dur="500"/>
                                        <p:tgtEl>
                                          <p:spTgt spid="1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nodeType="clickEffect" fill="hold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349" dur="500"/>
                                        <p:tgtEl>
                                          <p:spTgt spid="1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5" dur="500"/>
                                        <p:tgtEl>
                                          <p:spTgt spid="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Shape 1228"/>
          <p:cNvSpPr/>
          <p:nvPr/>
        </p:nvSpPr>
        <p:spPr>
          <a:xfrm rot="10800000">
            <a:off x="2829240" y="4730400"/>
            <a:ext cx="763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3" name="Shape 1229"/>
          <p:cNvSpPr/>
          <p:nvPr/>
        </p:nvSpPr>
        <p:spPr>
          <a:xfrm>
            <a:off x="4338720" y="2612880"/>
            <a:ext cx="1309320" cy="1902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4" name="Shape 1230"/>
          <p:cNvSpPr/>
          <p:nvPr/>
        </p:nvSpPr>
        <p:spPr>
          <a:xfrm flipH="1">
            <a:off x="2629800" y="2583000"/>
            <a:ext cx="1371240" cy="1888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5" name="Shape 1231"/>
          <p:cNvSpPr/>
          <p:nvPr/>
        </p:nvSpPr>
        <p:spPr>
          <a:xfrm>
            <a:off x="519120" y="3468600"/>
            <a:ext cx="1122120" cy="1080"/>
          </a:xfrm>
          <a:custGeom>
            <a:avLst/>
            <a:gdLst/>
            <a:ahLst/>
            <a:rect l="l" t="t" r="r" b="b"/>
            <a:pathLst>
              <a:path w="765" h="1">
                <a:moveTo>
                  <a:pt x="0" y="0"/>
                </a:moveTo>
                <a:lnTo>
                  <a:pt x="765" y="0"/>
                </a:lnTo>
              </a:path>
            </a:pathLst>
          </a:custGeom>
          <a:noFill/>
          <a:ln w="38100">
            <a:solidFill>
              <a:srgbClr val="000099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66" name="Shape 1232"/>
          <p:cNvSpPr/>
          <p:nvPr/>
        </p:nvSpPr>
        <p:spPr>
          <a:xfrm>
            <a:off x="511200" y="4275000"/>
            <a:ext cx="1056960" cy="1080"/>
          </a:xfrm>
          <a:custGeom>
            <a:avLst/>
            <a:gdLst/>
            <a:ah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38100">
            <a:solidFill>
              <a:srgbClr val="660033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67" name="Shape 1233"/>
          <p:cNvSpPr/>
          <p:nvPr/>
        </p:nvSpPr>
        <p:spPr>
          <a:xfrm>
            <a:off x="352440" y="2989440"/>
            <a:ext cx="15998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深一层递归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68" name="Shape 1234"/>
          <p:cNvSpPr/>
          <p:nvPr/>
        </p:nvSpPr>
        <p:spPr>
          <a:xfrm>
            <a:off x="428760" y="3699000"/>
            <a:ext cx="15235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递归返回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1169" name="Shape 1235"/>
          <p:cNvGrpSpPr/>
          <p:nvPr/>
        </p:nvGrpSpPr>
        <p:grpSpPr>
          <a:xfrm>
            <a:off x="884160" y="1295280"/>
            <a:ext cx="7376760" cy="617040"/>
            <a:chOff x="884160" y="1295280"/>
            <a:chExt cx="7376760" cy="617040"/>
          </a:xfrm>
        </p:grpSpPr>
        <p:pic>
          <p:nvPicPr>
            <p:cNvPr id="1170" name="Shape 1236" descr=""/>
            <p:cNvPicPr/>
            <p:nvPr/>
          </p:nvPicPr>
          <p:blipFill>
            <a:blip r:embed="rId1"/>
            <a:stretch/>
          </p:blipFill>
          <p:spPr>
            <a:xfrm>
              <a:off x="884160" y="1295280"/>
              <a:ext cx="644040" cy="617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171" name="Shape 1237"/>
            <p:cNvSpPr/>
            <p:nvPr/>
          </p:nvSpPr>
          <p:spPr>
            <a:xfrm>
              <a:off x="1631880" y="1327320"/>
              <a:ext cx="66290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深度优先遍历序列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入栈序列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出栈序列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1172" name="Shape 1238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1173" name="Shape 1239"/>
          <p:cNvGrpSpPr/>
          <p:nvPr/>
        </p:nvGrpSpPr>
        <p:grpSpPr>
          <a:xfrm>
            <a:off x="3932280" y="2128680"/>
            <a:ext cx="529920" cy="595080"/>
            <a:chOff x="3932280" y="2128680"/>
            <a:chExt cx="529920" cy="595080"/>
          </a:xfrm>
        </p:grpSpPr>
        <p:sp>
          <p:nvSpPr>
            <p:cNvPr id="1174" name="Shape 1240"/>
            <p:cNvSpPr/>
            <p:nvPr/>
          </p:nvSpPr>
          <p:spPr>
            <a:xfrm>
              <a:off x="3932280" y="21780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5" name="Shape 1241"/>
            <p:cNvSpPr/>
            <p:nvPr/>
          </p:nvSpPr>
          <p:spPr>
            <a:xfrm>
              <a:off x="3998880" y="21286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176" name="Shape 1242"/>
          <p:cNvGrpSpPr/>
          <p:nvPr/>
        </p:nvGrpSpPr>
        <p:grpSpPr>
          <a:xfrm>
            <a:off x="4786200" y="3255840"/>
            <a:ext cx="530280" cy="595080"/>
            <a:chOff x="4786200" y="3255840"/>
            <a:chExt cx="530280" cy="595080"/>
          </a:xfrm>
        </p:grpSpPr>
        <p:sp>
          <p:nvSpPr>
            <p:cNvPr id="1177" name="Shape 1243"/>
            <p:cNvSpPr/>
            <p:nvPr/>
          </p:nvSpPr>
          <p:spPr>
            <a:xfrm>
              <a:off x="4786200" y="3305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8" name="Shape 1244"/>
            <p:cNvSpPr/>
            <p:nvPr/>
          </p:nvSpPr>
          <p:spPr>
            <a:xfrm>
              <a:off x="4853160" y="3255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179" name="Shape 1245"/>
          <p:cNvGrpSpPr/>
          <p:nvPr/>
        </p:nvGrpSpPr>
        <p:grpSpPr>
          <a:xfrm>
            <a:off x="3083040" y="3165480"/>
            <a:ext cx="529920" cy="595080"/>
            <a:chOff x="3083040" y="3165480"/>
            <a:chExt cx="529920" cy="595080"/>
          </a:xfrm>
        </p:grpSpPr>
        <p:sp>
          <p:nvSpPr>
            <p:cNvPr id="1180" name="Shape 1246"/>
            <p:cNvSpPr/>
            <p:nvPr/>
          </p:nvSpPr>
          <p:spPr>
            <a:xfrm>
              <a:off x="3083040" y="32148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1" name="Shape 1247"/>
            <p:cNvSpPr/>
            <p:nvPr/>
          </p:nvSpPr>
          <p:spPr>
            <a:xfrm>
              <a:off x="3149640" y="31654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182" name="Shape 1248"/>
          <p:cNvGrpSpPr/>
          <p:nvPr/>
        </p:nvGrpSpPr>
        <p:grpSpPr>
          <a:xfrm>
            <a:off x="2317680" y="4398840"/>
            <a:ext cx="529920" cy="595080"/>
            <a:chOff x="2317680" y="4398840"/>
            <a:chExt cx="529920" cy="595080"/>
          </a:xfrm>
        </p:grpSpPr>
        <p:sp>
          <p:nvSpPr>
            <p:cNvPr id="1183" name="Shape 1249"/>
            <p:cNvSpPr/>
            <p:nvPr/>
          </p:nvSpPr>
          <p:spPr>
            <a:xfrm>
              <a:off x="2317680" y="4448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4" name="Shape 1250"/>
            <p:cNvSpPr/>
            <p:nvPr/>
          </p:nvSpPr>
          <p:spPr>
            <a:xfrm>
              <a:off x="2384280" y="4398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185" name="Shape 1251"/>
          <p:cNvGrpSpPr/>
          <p:nvPr/>
        </p:nvGrpSpPr>
        <p:grpSpPr>
          <a:xfrm>
            <a:off x="3583080" y="4398840"/>
            <a:ext cx="529920" cy="595080"/>
            <a:chOff x="3583080" y="4398840"/>
            <a:chExt cx="529920" cy="595080"/>
          </a:xfrm>
        </p:grpSpPr>
        <p:sp>
          <p:nvSpPr>
            <p:cNvPr id="1186" name="Shape 1252"/>
            <p:cNvSpPr/>
            <p:nvPr/>
          </p:nvSpPr>
          <p:spPr>
            <a:xfrm>
              <a:off x="3583080" y="4448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7" name="Shape 1253"/>
            <p:cNvSpPr/>
            <p:nvPr/>
          </p:nvSpPr>
          <p:spPr>
            <a:xfrm>
              <a:off x="3649680" y="4398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188" name="Shape 1254"/>
          <p:cNvGrpSpPr/>
          <p:nvPr/>
        </p:nvGrpSpPr>
        <p:grpSpPr>
          <a:xfrm>
            <a:off x="4181400" y="4429080"/>
            <a:ext cx="529920" cy="595080"/>
            <a:chOff x="4181400" y="4429080"/>
            <a:chExt cx="529920" cy="595080"/>
          </a:xfrm>
        </p:grpSpPr>
        <p:sp>
          <p:nvSpPr>
            <p:cNvPr id="1189" name="Shape 1255"/>
            <p:cNvSpPr/>
            <p:nvPr/>
          </p:nvSpPr>
          <p:spPr>
            <a:xfrm>
              <a:off x="4181400" y="447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0" name="Shape 1256"/>
            <p:cNvSpPr/>
            <p:nvPr/>
          </p:nvSpPr>
          <p:spPr>
            <a:xfrm>
              <a:off x="4248000" y="4429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191" name="Shape 1257"/>
          <p:cNvGrpSpPr/>
          <p:nvPr/>
        </p:nvGrpSpPr>
        <p:grpSpPr>
          <a:xfrm>
            <a:off x="5440320" y="4446720"/>
            <a:ext cx="529920" cy="595080"/>
            <a:chOff x="5440320" y="4446720"/>
            <a:chExt cx="529920" cy="595080"/>
          </a:xfrm>
        </p:grpSpPr>
        <p:sp>
          <p:nvSpPr>
            <p:cNvPr id="1192" name="Shape 1258"/>
            <p:cNvSpPr/>
            <p:nvPr/>
          </p:nvSpPr>
          <p:spPr>
            <a:xfrm>
              <a:off x="5440320" y="4495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3" name="Shape 1259"/>
            <p:cNvSpPr/>
            <p:nvPr/>
          </p:nvSpPr>
          <p:spPr>
            <a:xfrm>
              <a:off x="5506920" y="4446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194" name="Shape 1260"/>
          <p:cNvGrpSpPr/>
          <p:nvPr/>
        </p:nvGrpSpPr>
        <p:grpSpPr>
          <a:xfrm>
            <a:off x="2957400" y="5603760"/>
            <a:ext cx="530280" cy="595080"/>
            <a:chOff x="2957400" y="5603760"/>
            <a:chExt cx="530280" cy="595080"/>
          </a:xfrm>
        </p:grpSpPr>
        <p:sp>
          <p:nvSpPr>
            <p:cNvPr id="1195" name="Shape 1261"/>
            <p:cNvSpPr/>
            <p:nvPr/>
          </p:nvSpPr>
          <p:spPr>
            <a:xfrm>
              <a:off x="2957400" y="5653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6" name="Shape 1262"/>
            <p:cNvSpPr/>
            <p:nvPr/>
          </p:nvSpPr>
          <p:spPr>
            <a:xfrm>
              <a:off x="3024360" y="56037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8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1197" name="Shape 1263"/>
          <p:cNvSpPr/>
          <p:nvPr/>
        </p:nvSpPr>
        <p:spPr>
          <a:xfrm>
            <a:off x="3440160" y="3695760"/>
            <a:ext cx="394920" cy="77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98" name="Shape 1264"/>
          <p:cNvSpPr/>
          <p:nvPr/>
        </p:nvSpPr>
        <p:spPr>
          <a:xfrm flipH="1">
            <a:off x="4506120" y="3770280"/>
            <a:ext cx="410760" cy="72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99" name="Shape 1265"/>
          <p:cNvSpPr/>
          <p:nvPr/>
        </p:nvSpPr>
        <p:spPr>
          <a:xfrm rot="10800000">
            <a:off x="4670640" y="4746240"/>
            <a:ext cx="763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00" name="Shape 1266"/>
          <p:cNvSpPr/>
          <p:nvPr/>
        </p:nvSpPr>
        <p:spPr>
          <a:xfrm>
            <a:off x="2647800" y="4944960"/>
            <a:ext cx="394920" cy="77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01" name="Shape 1267"/>
          <p:cNvSpPr/>
          <p:nvPr/>
        </p:nvSpPr>
        <p:spPr>
          <a:xfrm>
            <a:off x="7115040" y="2538360"/>
            <a:ext cx="1355400" cy="262044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2" name="Shape 1268"/>
          <p:cNvSpPr/>
          <p:nvPr/>
        </p:nvSpPr>
        <p:spPr>
          <a:xfrm>
            <a:off x="7130880" y="4637160"/>
            <a:ext cx="1309320" cy="52812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03" name="Shape 1269"/>
          <p:cNvSpPr/>
          <p:nvPr/>
        </p:nvSpPr>
        <p:spPr>
          <a:xfrm>
            <a:off x="7132680" y="2544840"/>
            <a:ext cx="360" cy="262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04" name="Shape 1270"/>
          <p:cNvSpPr/>
          <p:nvPr/>
        </p:nvSpPr>
        <p:spPr>
          <a:xfrm>
            <a:off x="8442360" y="2558880"/>
            <a:ext cx="360" cy="262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05" name="Shape 1271"/>
          <p:cNvSpPr/>
          <p:nvPr/>
        </p:nvSpPr>
        <p:spPr>
          <a:xfrm>
            <a:off x="7116840" y="5168880"/>
            <a:ext cx="13251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06" name="Shape 1272"/>
          <p:cNvSpPr/>
          <p:nvPr/>
        </p:nvSpPr>
        <p:spPr>
          <a:xfrm>
            <a:off x="4024440" y="1808280"/>
            <a:ext cx="360" cy="36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07" name="Shape 1273"/>
          <p:cNvSpPr/>
          <p:nvPr/>
        </p:nvSpPr>
        <p:spPr>
          <a:xfrm>
            <a:off x="0" y="6135840"/>
            <a:ext cx="2179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遍历序列：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08" name="Shape 1274"/>
          <p:cNvSpPr/>
          <p:nvPr/>
        </p:nvSpPr>
        <p:spPr>
          <a:xfrm>
            <a:off x="1889280" y="61898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09" name="Shape 1275"/>
          <p:cNvSpPr/>
          <p:nvPr/>
        </p:nvSpPr>
        <p:spPr>
          <a:xfrm flipH="1">
            <a:off x="3398040" y="2462040"/>
            <a:ext cx="456840" cy="669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10" name="Shape 1276"/>
          <p:cNvSpPr/>
          <p:nvPr/>
        </p:nvSpPr>
        <p:spPr>
          <a:xfrm>
            <a:off x="2468520" y="62056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11" name="Shape 1277"/>
          <p:cNvSpPr/>
          <p:nvPr/>
        </p:nvSpPr>
        <p:spPr>
          <a:xfrm>
            <a:off x="7130880" y="4119480"/>
            <a:ext cx="1309320" cy="52812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12" name="Shape 1278"/>
          <p:cNvSpPr/>
          <p:nvPr/>
        </p:nvSpPr>
        <p:spPr>
          <a:xfrm flipH="1">
            <a:off x="2559960" y="3635280"/>
            <a:ext cx="456840" cy="669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13" name="Shape 1279"/>
          <p:cNvSpPr/>
          <p:nvPr/>
        </p:nvSpPr>
        <p:spPr>
          <a:xfrm>
            <a:off x="3032280" y="622152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14" name="Shape 1280"/>
          <p:cNvSpPr/>
          <p:nvPr/>
        </p:nvSpPr>
        <p:spPr>
          <a:xfrm>
            <a:off x="7130880" y="3600360"/>
            <a:ext cx="1309320" cy="52812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15" name="Shape 1281"/>
          <p:cNvSpPr/>
          <p:nvPr/>
        </p:nvSpPr>
        <p:spPr>
          <a:xfrm>
            <a:off x="2833560" y="4854600"/>
            <a:ext cx="7012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16" name="Shape 1282"/>
          <p:cNvSpPr/>
          <p:nvPr/>
        </p:nvSpPr>
        <p:spPr>
          <a:xfrm>
            <a:off x="3549600" y="62056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17" name="Shape 1283"/>
          <p:cNvSpPr/>
          <p:nvPr/>
        </p:nvSpPr>
        <p:spPr>
          <a:xfrm rot="10800000">
            <a:off x="2832480" y="4354920"/>
            <a:ext cx="680760" cy="225000"/>
          </a:xfrm>
          <a:custGeom>
            <a:avLst/>
            <a:gdLst/>
            <a:ah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38100">
            <a:solidFill>
              <a:srgbClr val="660033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18" name="Shape 1284"/>
          <p:cNvSpPr/>
          <p:nvPr/>
        </p:nvSpPr>
        <p:spPr>
          <a:xfrm>
            <a:off x="2484360" y="5037120"/>
            <a:ext cx="379080" cy="761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19" name="Shape 1285"/>
          <p:cNvSpPr/>
          <p:nvPr/>
        </p:nvSpPr>
        <p:spPr>
          <a:xfrm>
            <a:off x="4006800" y="622152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20" name="Shape 1286"/>
          <p:cNvSpPr/>
          <p:nvPr/>
        </p:nvSpPr>
        <p:spPr>
          <a:xfrm rot="14520000">
            <a:off x="2742120" y="5085720"/>
            <a:ext cx="680760" cy="225000"/>
          </a:xfrm>
          <a:custGeom>
            <a:avLst/>
            <a:gdLst/>
            <a:ah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38100">
            <a:solidFill>
              <a:srgbClr val="660033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21" name="Shape 1287"/>
          <p:cNvSpPr/>
          <p:nvPr/>
        </p:nvSpPr>
        <p:spPr>
          <a:xfrm rot="18300000">
            <a:off x="2776320" y="4077000"/>
            <a:ext cx="791640" cy="229680"/>
          </a:xfrm>
          <a:custGeom>
            <a:avLst/>
            <a:gdLst/>
            <a:ah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38100">
            <a:solidFill>
              <a:srgbClr val="660033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22" name="Shape 1288"/>
          <p:cNvSpPr/>
          <p:nvPr/>
        </p:nvSpPr>
        <p:spPr>
          <a:xfrm rot="18300000">
            <a:off x="3552480" y="2995920"/>
            <a:ext cx="791640" cy="229680"/>
          </a:xfrm>
          <a:custGeom>
            <a:avLst/>
            <a:gdLst/>
            <a:ah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38100">
            <a:solidFill>
              <a:srgbClr val="660033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23" name="Shape 1289"/>
          <p:cNvSpPr/>
          <p:nvPr/>
        </p:nvSpPr>
        <p:spPr>
          <a:xfrm>
            <a:off x="4267080" y="2781360"/>
            <a:ext cx="410760" cy="59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6" dur="indefinite" restart="never" nodeType="tmRoot">
          <p:childTnLst>
            <p:seq>
              <p:cTn id="357" dur="indefinite" nodeType="mainSeq">
                <p:childTnLst>
                  <p:par>
                    <p:cTn id="358" fill="hold">
                      <p:stCondLst>
                        <p:cond delay="indefinite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nodeType="clickEffect" fill="hold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361" dur="500"/>
                                        <p:tgtEl>
                                          <p:spTgt spid="1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7" dur="500"/>
                                        <p:tgtEl>
                                          <p:spTgt spid="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nodeType="clickEffect" fill="hold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371" dur="500"/>
                                        <p:tgtEl>
                                          <p:spTgt spid="1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7" dur="500"/>
                                        <p:tgtEl>
                                          <p:spTgt spid="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2" dur="500"/>
                                        <p:tgtEl>
                                          <p:spTgt spid="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Shape 1294"/>
          <p:cNvSpPr/>
          <p:nvPr/>
        </p:nvSpPr>
        <p:spPr>
          <a:xfrm rot="10800000">
            <a:off x="2829240" y="4730400"/>
            <a:ext cx="763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25" name="Shape 1295"/>
          <p:cNvSpPr/>
          <p:nvPr/>
        </p:nvSpPr>
        <p:spPr>
          <a:xfrm>
            <a:off x="4338720" y="2612880"/>
            <a:ext cx="1309320" cy="1902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26" name="Shape 1296"/>
          <p:cNvSpPr/>
          <p:nvPr/>
        </p:nvSpPr>
        <p:spPr>
          <a:xfrm flipH="1">
            <a:off x="2629800" y="2583000"/>
            <a:ext cx="1371240" cy="1888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27" name="Shape 1297"/>
          <p:cNvSpPr/>
          <p:nvPr/>
        </p:nvSpPr>
        <p:spPr>
          <a:xfrm>
            <a:off x="519120" y="3468600"/>
            <a:ext cx="1122120" cy="1080"/>
          </a:xfrm>
          <a:custGeom>
            <a:avLst/>
            <a:gdLst/>
            <a:ahLst/>
            <a:rect l="l" t="t" r="r" b="b"/>
            <a:pathLst>
              <a:path w="765" h="1">
                <a:moveTo>
                  <a:pt x="0" y="0"/>
                </a:moveTo>
                <a:lnTo>
                  <a:pt x="765" y="0"/>
                </a:lnTo>
              </a:path>
            </a:pathLst>
          </a:custGeom>
          <a:noFill/>
          <a:ln w="38100">
            <a:solidFill>
              <a:srgbClr val="000099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28" name="Shape 1298"/>
          <p:cNvSpPr/>
          <p:nvPr/>
        </p:nvSpPr>
        <p:spPr>
          <a:xfrm>
            <a:off x="511200" y="4275000"/>
            <a:ext cx="1056960" cy="1080"/>
          </a:xfrm>
          <a:custGeom>
            <a:avLst/>
            <a:gdLst/>
            <a:ah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38100">
            <a:solidFill>
              <a:srgbClr val="660033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29" name="Shape 1299"/>
          <p:cNvSpPr/>
          <p:nvPr/>
        </p:nvSpPr>
        <p:spPr>
          <a:xfrm>
            <a:off x="352440" y="2989440"/>
            <a:ext cx="159984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深一层递归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30" name="Shape 1300"/>
          <p:cNvSpPr/>
          <p:nvPr/>
        </p:nvSpPr>
        <p:spPr>
          <a:xfrm>
            <a:off x="428760" y="3699000"/>
            <a:ext cx="1523520" cy="4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递归返回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1231" name="Shape 1301"/>
          <p:cNvGrpSpPr/>
          <p:nvPr/>
        </p:nvGrpSpPr>
        <p:grpSpPr>
          <a:xfrm>
            <a:off x="884160" y="1295280"/>
            <a:ext cx="7376760" cy="617040"/>
            <a:chOff x="884160" y="1295280"/>
            <a:chExt cx="7376760" cy="617040"/>
          </a:xfrm>
        </p:grpSpPr>
        <p:pic>
          <p:nvPicPr>
            <p:cNvPr id="1232" name="Shape 1302" descr=""/>
            <p:cNvPicPr/>
            <p:nvPr/>
          </p:nvPicPr>
          <p:blipFill>
            <a:blip r:embed="rId1"/>
            <a:stretch/>
          </p:blipFill>
          <p:spPr>
            <a:xfrm>
              <a:off x="884160" y="1295280"/>
              <a:ext cx="644040" cy="617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33" name="Shape 1303"/>
            <p:cNvSpPr/>
            <p:nvPr/>
          </p:nvSpPr>
          <p:spPr>
            <a:xfrm>
              <a:off x="1631880" y="1327320"/>
              <a:ext cx="66290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深度优先遍历序列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入栈序列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出栈序列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1234" name="Shape 1304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1235" name="Shape 1305"/>
          <p:cNvGrpSpPr/>
          <p:nvPr/>
        </p:nvGrpSpPr>
        <p:grpSpPr>
          <a:xfrm>
            <a:off x="3932280" y="2128680"/>
            <a:ext cx="529920" cy="595080"/>
            <a:chOff x="3932280" y="2128680"/>
            <a:chExt cx="529920" cy="595080"/>
          </a:xfrm>
        </p:grpSpPr>
        <p:sp>
          <p:nvSpPr>
            <p:cNvPr id="1236" name="Shape 1306"/>
            <p:cNvSpPr/>
            <p:nvPr/>
          </p:nvSpPr>
          <p:spPr>
            <a:xfrm>
              <a:off x="3932280" y="21780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37" name="Shape 1307"/>
            <p:cNvSpPr/>
            <p:nvPr/>
          </p:nvSpPr>
          <p:spPr>
            <a:xfrm>
              <a:off x="3998880" y="21286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238" name="Shape 1308"/>
          <p:cNvGrpSpPr/>
          <p:nvPr/>
        </p:nvGrpSpPr>
        <p:grpSpPr>
          <a:xfrm>
            <a:off x="4786200" y="3255840"/>
            <a:ext cx="530280" cy="595080"/>
            <a:chOff x="4786200" y="3255840"/>
            <a:chExt cx="530280" cy="595080"/>
          </a:xfrm>
        </p:grpSpPr>
        <p:sp>
          <p:nvSpPr>
            <p:cNvPr id="1239" name="Shape 1309"/>
            <p:cNvSpPr/>
            <p:nvPr/>
          </p:nvSpPr>
          <p:spPr>
            <a:xfrm>
              <a:off x="4786200" y="3305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40" name="Shape 1310"/>
            <p:cNvSpPr/>
            <p:nvPr/>
          </p:nvSpPr>
          <p:spPr>
            <a:xfrm>
              <a:off x="4853160" y="3255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241" name="Shape 1311"/>
          <p:cNvGrpSpPr/>
          <p:nvPr/>
        </p:nvGrpSpPr>
        <p:grpSpPr>
          <a:xfrm>
            <a:off x="3083040" y="3165480"/>
            <a:ext cx="529920" cy="595080"/>
            <a:chOff x="3083040" y="3165480"/>
            <a:chExt cx="529920" cy="595080"/>
          </a:xfrm>
        </p:grpSpPr>
        <p:sp>
          <p:nvSpPr>
            <p:cNvPr id="1242" name="Shape 1312"/>
            <p:cNvSpPr/>
            <p:nvPr/>
          </p:nvSpPr>
          <p:spPr>
            <a:xfrm>
              <a:off x="3083040" y="32148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43" name="Shape 1313"/>
            <p:cNvSpPr/>
            <p:nvPr/>
          </p:nvSpPr>
          <p:spPr>
            <a:xfrm>
              <a:off x="3149640" y="31654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244" name="Shape 1314"/>
          <p:cNvGrpSpPr/>
          <p:nvPr/>
        </p:nvGrpSpPr>
        <p:grpSpPr>
          <a:xfrm>
            <a:off x="2317680" y="4398840"/>
            <a:ext cx="529920" cy="595080"/>
            <a:chOff x="2317680" y="4398840"/>
            <a:chExt cx="529920" cy="595080"/>
          </a:xfrm>
        </p:grpSpPr>
        <p:sp>
          <p:nvSpPr>
            <p:cNvPr id="1245" name="Shape 1315"/>
            <p:cNvSpPr/>
            <p:nvPr/>
          </p:nvSpPr>
          <p:spPr>
            <a:xfrm>
              <a:off x="2317680" y="4448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46" name="Shape 1316"/>
            <p:cNvSpPr/>
            <p:nvPr/>
          </p:nvSpPr>
          <p:spPr>
            <a:xfrm>
              <a:off x="2384280" y="4398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247" name="Shape 1317"/>
          <p:cNvGrpSpPr/>
          <p:nvPr/>
        </p:nvGrpSpPr>
        <p:grpSpPr>
          <a:xfrm>
            <a:off x="3583080" y="4398840"/>
            <a:ext cx="529920" cy="595080"/>
            <a:chOff x="3583080" y="4398840"/>
            <a:chExt cx="529920" cy="595080"/>
          </a:xfrm>
        </p:grpSpPr>
        <p:sp>
          <p:nvSpPr>
            <p:cNvPr id="1248" name="Shape 1318"/>
            <p:cNvSpPr/>
            <p:nvPr/>
          </p:nvSpPr>
          <p:spPr>
            <a:xfrm>
              <a:off x="3583080" y="4448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49" name="Shape 1319"/>
            <p:cNvSpPr/>
            <p:nvPr/>
          </p:nvSpPr>
          <p:spPr>
            <a:xfrm>
              <a:off x="3649680" y="4398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250" name="Shape 1320"/>
          <p:cNvGrpSpPr/>
          <p:nvPr/>
        </p:nvGrpSpPr>
        <p:grpSpPr>
          <a:xfrm>
            <a:off x="4181400" y="4429080"/>
            <a:ext cx="529920" cy="595080"/>
            <a:chOff x="4181400" y="4429080"/>
            <a:chExt cx="529920" cy="595080"/>
          </a:xfrm>
        </p:grpSpPr>
        <p:sp>
          <p:nvSpPr>
            <p:cNvPr id="1251" name="Shape 1321"/>
            <p:cNvSpPr/>
            <p:nvPr/>
          </p:nvSpPr>
          <p:spPr>
            <a:xfrm>
              <a:off x="4181400" y="447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2" name="Shape 1322"/>
            <p:cNvSpPr/>
            <p:nvPr/>
          </p:nvSpPr>
          <p:spPr>
            <a:xfrm>
              <a:off x="4248000" y="4429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253" name="Shape 1323"/>
          <p:cNvGrpSpPr/>
          <p:nvPr/>
        </p:nvGrpSpPr>
        <p:grpSpPr>
          <a:xfrm>
            <a:off x="5440320" y="4446720"/>
            <a:ext cx="529920" cy="595080"/>
            <a:chOff x="5440320" y="4446720"/>
            <a:chExt cx="529920" cy="595080"/>
          </a:xfrm>
        </p:grpSpPr>
        <p:sp>
          <p:nvSpPr>
            <p:cNvPr id="1254" name="Shape 1324"/>
            <p:cNvSpPr/>
            <p:nvPr/>
          </p:nvSpPr>
          <p:spPr>
            <a:xfrm>
              <a:off x="5440320" y="4495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5" name="Shape 1325"/>
            <p:cNvSpPr/>
            <p:nvPr/>
          </p:nvSpPr>
          <p:spPr>
            <a:xfrm>
              <a:off x="5506920" y="4446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256" name="Shape 1326"/>
          <p:cNvGrpSpPr/>
          <p:nvPr/>
        </p:nvGrpSpPr>
        <p:grpSpPr>
          <a:xfrm>
            <a:off x="2957400" y="5603760"/>
            <a:ext cx="530280" cy="595080"/>
            <a:chOff x="2957400" y="5603760"/>
            <a:chExt cx="530280" cy="595080"/>
          </a:xfrm>
        </p:grpSpPr>
        <p:sp>
          <p:nvSpPr>
            <p:cNvPr id="1257" name="Shape 1327"/>
            <p:cNvSpPr/>
            <p:nvPr/>
          </p:nvSpPr>
          <p:spPr>
            <a:xfrm>
              <a:off x="2957400" y="5653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8" name="Shape 1328"/>
            <p:cNvSpPr/>
            <p:nvPr/>
          </p:nvSpPr>
          <p:spPr>
            <a:xfrm>
              <a:off x="3024360" y="56037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8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1259" name="Shape 1329"/>
          <p:cNvSpPr/>
          <p:nvPr/>
        </p:nvSpPr>
        <p:spPr>
          <a:xfrm>
            <a:off x="3440160" y="3695760"/>
            <a:ext cx="394920" cy="77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60" name="Shape 1330"/>
          <p:cNvSpPr/>
          <p:nvPr/>
        </p:nvSpPr>
        <p:spPr>
          <a:xfrm flipH="1">
            <a:off x="4506120" y="3770280"/>
            <a:ext cx="410760" cy="72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61" name="Shape 1331"/>
          <p:cNvSpPr/>
          <p:nvPr/>
        </p:nvSpPr>
        <p:spPr>
          <a:xfrm rot="10800000">
            <a:off x="4670640" y="4746240"/>
            <a:ext cx="763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62" name="Shape 1332"/>
          <p:cNvSpPr/>
          <p:nvPr/>
        </p:nvSpPr>
        <p:spPr>
          <a:xfrm>
            <a:off x="2647800" y="4944960"/>
            <a:ext cx="394920" cy="77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63" name="Shape 1333"/>
          <p:cNvSpPr/>
          <p:nvPr/>
        </p:nvSpPr>
        <p:spPr>
          <a:xfrm>
            <a:off x="7115040" y="2538360"/>
            <a:ext cx="1355400" cy="262044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4" name="Shape 1334"/>
          <p:cNvSpPr/>
          <p:nvPr/>
        </p:nvSpPr>
        <p:spPr>
          <a:xfrm>
            <a:off x="7129440" y="4635360"/>
            <a:ext cx="1309320" cy="52812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65" name="Shape 1335"/>
          <p:cNvSpPr/>
          <p:nvPr/>
        </p:nvSpPr>
        <p:spPr>
          <a:xfrm>
            <a:off x="7132680" y="2544840"/>
            <a:ext cx="360" cy="262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66" name="Shape 1336"/>
          <p:cNvSpPr/>
          <p:nvPr/>
        </p:nvSpPr>
        <p:spPr>
          <a:xfrm>
            <a:off x="8442360" y="2558880"/>
            <a:ext cx="360" cy="2620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67" name="Shape 1337"/>
          <p:cNvSpPr/>
          <p:nvPr/>
        </p:nvSpPr>
        <p:spPr>
          <a:xfrm>
            <a:off x="7116840" y="5168880"/>
            <a:ext cx="13251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68" name="Shape 1338"/>
          <p:cNvSpPr/>
          <p:nvPr/>
        </p:nvSpPr>
        <p:spPr>
          <a:xfrm>
            <a:off x="4024440" y="1808280"/>
            <a:ext cx="360" cy="36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69" name="Shape 1339"/>
          <p:cNvSpPr/>
          <p:nvPr/>
        </p:nvSpPr>
        <p:spPr>
          <a:xfrm>
            <a:off x="0" y="6135840"/>
            <a:ext cx="2179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遍历序列：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70" name="Shape 1340"/>
          <p:cNvSpPr/>
          <p:nvPr/>
        </p:nvSpPr>
        <p:spPr>
          <a:xfrm>
            <a:off x="1889280" y="61898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71" name="Shape 1341"/>
          <p:cNvSpPr/>
          <p:nvPr/>
        </p:nvSpPr>
        <p:spPr>
          <a:xfrm>
            <a:off x="7129440" y="3051000"/>
            <a:ext cx="1309320" cy="52812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72" name="Shape 1342"/>
          <p:cNvSpPr/>
          <p:nvPr/>
        </p:nvSpPr>
        <p:spPr>
          <a:xfrm flipH="1">
            <a:off x="3398040" y="2462040"/>
            <a:ext cx="456840" cy="669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73" name="Shape 1343"/>
          <p:cNvSpPr/>
          <p:nvPr/>
        </p:nvSpPr>
        <p:spPr>
          <a:xfrm>
            <a:off x="2468520" y="62056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74" name="Shape 1344"/>
          <p:cNvSpPr/>
          <p:nvPr/>
        </p:nvSpPr>
        <p:spPr>
          <a:xfrm flipH="1">
            <a:off x="2559960" y="3635280"/>
            <a:ext cx="456840" cy="669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75" name="Shape 1345"/>
          <p:cNvSpPr/>
          <p:nvPr/>
        </p:nvSpPr>
        <p:spPr>
          <a:xfrm>
            <a:off x="3032280" y="622152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76" name="Shape 1346"/>
          <p:cNvSpPr/>
          <p:nvPr/>
        </p:nvSpPr>
        <p:spPr>
          <a:xfrm>
            <a:off x="2833560" y="4854600"/>
            <a:ext cx="7012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77" name="Shape 1347"/>
          <p:cNvSpPr/>
          <p:nvPr/>
        </p:nvSpPr>
        <p:spPr>
          <a:xfrm>
            <a:off x="3549600" y="62056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78" name="Shape 1348"/>
          <p:cNvSpPr/>
          <p:nvPr/>
        </p:nvSpPr>
        <p:spPr>
          <a:xfrm rot="10800000">
            <a:off x="2832480" y="4354920"/>
            <a:ext cx="680760" cy="225000"/>
          </a:xfrm>
          <a:custGeom>
            <a:avLst/>
            <a:gdLst/>
            <a:ah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38100">
            <a:solidFill>
              <a:srgbClr val="660033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79" name="Shape 1349"/>
          <p:cNvSpPr/>
          <p:nvPr/>
        </p:nvSpPr>
        <p:spPr>
          <a:xfrm>
            <a:off x="2484360" y="5037120"/>
            <a:ext cx="379080" cy="761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80" name="Shape 1350"/>
          <p:cNvSpPr/>
          <p:nvPr/>
        </p:nvSpPr>
        <p:spPr>
          <a:xfrm>
            <a:off x="4006800" y="622152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81" name="Shape 1351"/>
          <p:cNvSpPr/>
          <p:nvPr/>
        </p:nvSpPr>
        <p:spPr>
          <a:xfrm rot="14520000">
            <a:off x="2742120" y="5085720"/>
            <a:ext cx="680760" cy="225000"/>
          </a:xfrm>
          <a:custGeom>
            <a:avLst/>
            <a:gdLst/>
            <a:ah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38100">
            <a:solidFill>
              <a:srgbClr val="660033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82" name="Shape 1352"/>
          <p:cNvSpPr/>
          <p:nvPr/>
        </p:nvSpPr>
        <p:spPr>
          <a:xfrm rot="18300000">
            <a:off x="2776320" y="4077000"/>
            <a:ext cx="791640" cy="229680"/>
          </a:xfrm>
          <a:custGeom>
            <a:avLst/>
            <a:gdLst/>
            <a:ah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38100">
            <a:solidFill>
              <a:srgbClr val="660033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83" name="Shape 1353"/>
          <p:cNvSpPr/>
          <p:nvPr/>
        </p:nvSpPr>
        <p:spPr>
          <a:xfrm rot="18300000">
            <a:off x="3552480" y="2995920"/>
            <a:ext cx="791640" cy="229680"/>
          </a:xfrm>
          <a:custGeom>
            <a:avLst/>
            <a:gdLst/>
            <a:ah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38100">
            <a:solidFill>
              <a:srgbClr val="660033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84" name="Shape 1354"/>
          <p:cNvSpPr/>
          <p:nvPr/>
        </p:nvSpPr>
        <p:spPr>
          <a:xfrm>
            <a:off x="4267080" y="2781360"/>
            <a:ext cx="410760" cy="59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85" name="Shape 1355"/>
          <p:cNvSpPr/>
          <p:nvPr/>
        </p:nvSpPr>
        <p:spPr>
          <a:xfrm>
            <a:off x="4449600" y="622152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86" name="Shape 1356"/>
          <p:cNvSpPr/>
          <p:nvPr/>
        </p:nvSpPr>
        <p:spPr>
          <a:xfrm>
            <a:off x="7130880" y="4105440"/>
            <a:ext cx="1309320" cy="52812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87" name="Shape 1357"/>
          <p:cNvSpPr/>
          <p:nvPr/>
        </p:nvSpPr>
        <p:spPr>
          <a:xfrm flipH="1">
            <a:off x="4358520" y="3727440"/>
            <a:ext cx="410760" cy="701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88" name="Shape 1358"/>
          <p:cNvSpPr/>
          <p:nvPr/>
        </p:nvSpPr>
        <p:spPr>
          <a:xfrm>
            <a:off x="4923000" y="622152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89" name="Shape 1359"/>
          <p:cNvSpPr/>
          <p:nvPr/>
        </p:nvSpPr>
        <p:spPr>
          <a:xfrm>
            <a:off x="7130880" y="3571920"/>
            <a:ext cx="1309320" cy="52812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90" name="Shape 1360"/>
          <p:cNvSpPr/>
          <p:nvPr/>
        </p:nvSpPr>
        <p:spPr>
          <a:xfrm>
            <a:off x="4692600" y="4898880"/>
            <a:ext cx="7012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91" name="Shape 1361"/>
          <p:cNvSpPr/>
          <p:nvPr/>
        </p:nvSpPr>
        <p:spPr>
          <a:xfrm>
            <a:off x="5456160" y="622152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92" name="Shape 1362"/>
          <p:cNvSpPr/>
          <p:nvPr/>
        </p:nvSpPr>
        <p:spPr>
          <a:xfrm rot="10800000">
            <a:off x="4677120" y="4369320"/>
            <a:ext cx="680760" cy="225000"/>
          </a:xfrm>
          <a:custGeom>
            <a:avLst/>
            <a:gdLst/>
            <a:ah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38100">
            <a:solidFill>
              <a:srgbClr val="660033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93" name="Shape 1363"/>
          <p:cNvSpPr/>
          <p:nvPr/>
        </p:nvSpPr>
        <p:spPr>
          <a:xfrm rot="18000000">
            <a:off x="4593960" y="4122720"/>
            <a:ext cx="725040" cy="223560"/>
          </a:xfrm>
          <a:custGeom>
            <a:avLst/>
            <a:gdLst/>
            <a:ah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38100">
            <a:solidFill>
              <a:srgbClr val="660033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94" name="Shape 1364"/>
          <p:cNvSpPr/>
          <p:nvPr/>
        </p:nvSpPr>
        <p:spPr>
          <a:xfrm rot="14280000">
            <a:off x="4479120" y="2663280"/>
            <a:ext cx="680760" cy="225000"/>
          </a:xfrm>
          <a:custGeom>
            <a:avLst/>
            <a:gdLst/>
            <a:ah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38100">
            <a:solidFill>
              <a:srgbClr val="660033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295" name="Shape 1365"/>
          <p:cNvSpPr/>
          <p:nvPr/>
        </p:nvSpPr>
        <p:spPr>
          <a:xfrm rot="16200000">
            <a:off x="4410000" y="1732320"/>
            <a:ext cx="325080" cy="464760"/>
          </a:xfrm>
          <a:custGeom>
            <a:avLst/>
            <a:gdLst/>
            <a:ahLst/>
            <a:rect l="l" t="t" r="r" b="b"/>
            <a:pathLst>
              <a:path w="720" h="1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38100">
            <a:solidFill>
              <a:srgbClr val="660033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3" dur="indefinite" restart="never" nodeType="tmRoot">
          <p:childTnLst>
            <p:seq>
              <p:cTn id="384" dur="indefinite" nodeType="mainSeq">
                <p:childTnLst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93" dur="500"/>
                                        <p:tgtEl>
                                          <p:spTgt spid="1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8" dur="500"/>
                                        <p:tgtEl>
                                          <p:spTgt spid="1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7" dur="500"/>
                                        <p:tgtEl>
                                          <p:spTgt spid="1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2" dur="500"/>
                                        <p:tgtEl>
                                          <p:spTgt spid="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1" dur="500"/>
                                        <p:tgtEl>
                                          <p:spTgt spid="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nodeType="clickEffect" fill="hold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425" dur="500"/>
                                        <p:tgtEl>
                                          <p:spTgt spid="1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1" dur="500"/>
                                        <p:tgtEl>
                                          <p:spTgt spid="1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2" fill="hold">
                      <p:stCondLst>
                        <p:cond delay="indefinite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nodeType="clickEffect" fill="hold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435" dur="500"/>
                                        <p:tgtEl>
                                          <p:spTgt spid="1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1" dur="500"/>
                                        <p:tgtEl>
                                          <p:spTgt spid="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>
                      <p:stCondLst>
                        <p:cond delay="indefinite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nodeType="clickEffect" fill="hold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445" dur="500"/>
                                        <p:tgtEl>
                                          <p:spTgt spid="1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1" dur="500"/>
                                        <p:tgtEl>
                                          <p:spTgt spid="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fill="hold">
                      <p:stCondLst>
                        <p:cond delay="indefinite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id="454" nodeType="clickEffect" fill="hold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455" dur="500"/>
                                        <p:tgtEl>
                                          <p:spTgt spid="1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1" dur="500"/>
                                        <p:tgtEl>
                                          <p:spTgt spid="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Shape 1370"/>
          <p:cNvSpPr/>
          <p:nvPr/>
        </p:nvSpPr>
        <p:spPr>
          <a:xfrm>
            <a:off x="228600" y="1295280"/>
            <a:ext cx="70099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1. 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深度优先遍历</a:t>
            </a:r>
            <a:r>
              <a:rPr b="0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97" name="Shape 1371"/>
          <p:cNvSpPr/>
          <p:nvPr/>
        </p:nvSpPr>
        <p:spPr>
          <a:xfrm>
            <a:off x="609480" y="1882800"/>
            <a:ext cx="761328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从顶点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出发图的深度优先遍历算法的伪代码：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98" name="Shape 1372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99" name="Shape 1373"/>
          <p:cNvSpPr/>
          <p:nvPr/>
        </p:nvSpPr>
        <p:spPr>
          <a:xfrm>
            <a:off x="957240" y="2795760"/>
            <a:ext cx="7183080" cy="3147840"/>
          </a:xfrm>
          <a:prstGeom prst="rect">
            <a:avLst/>
          </a:prstGeom>
          <a:noFill/>
          <a:ln w="2857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访问顶点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v; visited[v] = 1;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 w =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的第一个邻接点；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 while (w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存在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3.1 if (w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未被访问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从顶点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出发递归执行该算法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3.2 w =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的下一个邻接点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Shape 1378"/>
          <p:cNvSpPr/>
          <p:nvPr/>
        </p:nvSpPr>
        <p:spPr>
          <a:xfrm>
            <a:off x="380880" y="1295280"/>
            <a:ext cx="54860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2. 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广度优先遍历</a:t>
            </a:r>
            <a:r>
              <a:rPr b="0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01" name="Shape 1379"/>
          <p:cNvSpPr/>
          <p:nvPr/>
        </p:nvSpPr>
        <p:spPr>
          <a:xfrm>
            <a:off x="533520" y="1828800"/>
            <a:ext cx="28191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基本思想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02" name="Shape 1380"/>
          <p:cNvSpPr/>
          <p:nvPr/>
        </p:nvSpPr>
        <p:spPr>
          <a:xfrm>
            <a:off x="555480" y="2422440"/>
            <a:ext cx="8335440" cy="33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⑴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访问顶点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⑵ 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依次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访问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的各个未被访问的邻接点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…,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⑶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分别从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，…，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出发依次访问它们未被访问的邻接点，并使“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先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被访问顶点的邻接点”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先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于“后被访问顶点的邻接点”被访问。直至图中所有与顶点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有路径相通的顶点都被访问到。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03" name="Shape 1381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Shape 1386"/>
          <p:cNvSpPr/>
          <p:nvPr/>
        </p:nvSpPr>
        <p:spPr>
          <a:xfrm>
            <a:off x="5235480" y="2803680"/>
            <a:ext cx="3430080" cy="64116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5" name="Shape 1387"/>
          <p:cNvSpPr/>
          <p:nvPr/>
        </p:nvSpPr>
        <p:spPr>
          <a:xfrm>
            <a:off x="5235480" y="2787480"/>
            <a:ext cx="3427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06" name="Shape 1388"/>
          <p:cNvSpPr/>
          <p:nvPr/>
        </p:nvSpPr>
        <p:spPr>
          <a:xfrm>
            <a:off x="5235480" y="3443400"/>
            <a:ext cx="3427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07" name="Shape 1389"/>
          <p:cNvSpPr/>
          <p:nvPr/>
        </p:nvSpPr>
        <p:spPr>
          <a:xfrm rot="10800000">
            <a:off x="1479960" y="4730400"/>
            <a:ext cx="763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08" name="Shape 1390"/>
          <p:cNvSpPr/>
          <p:nvPr/>
        </p:nvSpPr>
        <p:spPr>
          <a:xfrm>
            <a:off x="2989440" y="2612880"/>
            <a:ext cx="1309320" cy="1902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09" name="Shape 1391"/>
          <p:cNvSpPr/>
          <p:nvPr/>
        </p:nvSpPr>
        <p:spPr>
          <a:xfrm flipH="1">
            <a:off x="1280520" y="2583000"/>
            <a:ext cx="1371240" cy="1888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310" name="Shape 1392"/>
          <p:cNvGrpSpPr/>
          <p:nvPr/>
        </p:nvGrpSpPr>
        <p:grpSpPr>
          <a:xfrm>
            <a:off x="884160" y="1295280"/>
            <a:ext cx="7681680" cy="617040"/>
            <a:chOff x="884160" y="1295280"/>
            <a:chExt cx="7681680" cy="617040"/>
          </a:xfrm>
        </p:grpSpPr>
        <p:pic>
          <p:nvPicPr>
            <p:cNvPr id="1311" name="Shape 1393" descr=""/>
            <p:cNvPicPr/>
            <p:nvPr/>
          </p:nvPicPr>
          <p:blipFill>
            <a:blip r:embed="rId1"/>
            <a:stretch/>
          </p:blipFill>
          <p:spPr>
            <a:xfrm>
              <a:off x="884160" y="1295280"/>
              <a:ext cx="670680" cy="617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12" name="Shape 1394"/>
            <p:cNvSpPr/>
            <p:nvPr/>
          </p:nvSpPr>
          <p:spPr>
            <a:xfrm>
              <a:off x="1662840" y="1327320"/>
              <a:ext cx="69030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广度优先遍历序列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入队序列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出队序列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    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1313" name="Shape 1395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1314" name="Shape 1396"/>
          <p:cNvGrpSpPr/>
          <p:nvPr/>
        </p:nvGrpSpPr>
        <p:grpSpPr>
          <a:xfrm>
            <a:off x="2583000" y="2128680"/>
            <a:ext cx="529920" cy="595080"/>
            <a:chOff x="2583000" y="2128680"/>
            <a:chExt cx="529920" cy="595080"/>
          </a:xfrm>
        </p:grpSpPr>
        <p:sp>
          <p:nvSpPr>
            <p:cNvPr id="1315" name="Shape 1397"/>
            <p:cNvSpPr/>
            <p:nvPr/>
          </p:nvSpPr>
          <p:spPr>
            <a:xfrm>
              <a:off x="2583000" y="21780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6" name="Shape 1398"/>
            <p:cNvSpPr/>
            <p:nvPr/>
          </p:nvSpPr>
          <p:spPr>
            <a:xfrm>
              <a:off x="2649600" y="21286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317" name="Shape 1399"/>
          <p:cNvGrpSpPr/>
          <p:nvPr/>
        </p:nvGrpSpPr>
        <p:grpSpPr>
          <a:xfrm>
            <a:off x="3436920" y="3255840"/>
            <a:ext cx="529920" cy="595080"/>
            <a:chOff x="3436920" y="3255840"/>
            <a:chExt cx="529920" cy="595080"/>
          </a:xfrm>
        </p:grpSpPr>
        <p:sp>
          <p:nvSpPr>
            <p:cNvPr id="1318" name="Shape 1400"/>
            <p:cNvSpPr/>
            <p:nvPr/>
          </p:nvSpPr>
          <p:spPr>
            <a:xfrm>
              <a:off x="3436920" y="3305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9" name="Shape 1401"/>
            <p:cNvSpPr/>
            <p:nvPr/>
          </p:nvSpPr>
          <p:spPr>
            <a:xfrm>
              <a:off x="3503520" y="3255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320" name="Shape 1402"/>
          <p:cNvGrpSpPr/>
          <p:nvPr/>
        </p:nvGrpSpPr>
        <p:grpSpPr>
          <a:xfrm>
            <a:off x="1733400" y="3165480"/>
            <a:ext cx="530280" cy="595080"/>
            <a:chOff x="1733400" y="3165480"/>
            <a:chExt cx="530280" cy="595080"/>
          </a:xfrm>
        </p:grpSpPr>
        <p:sp>
          <p:nvSpPr>
            <p:cNvPr id="1321" name="Shape 1403"/>
            <p:cNvSpPr/>
            <p:nvPr/>
          </p:nvSpPr>
          <p:spPr>
            <a:xfrm>
              <a:off x="1733400" y="32148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2" name="Shape 1404"/>
            <p:cNvSpPr/>
            <p:nvPr/>
          </p:nvSpPr>
          <p:spPr>
            <a:xfrm>
              <a:off x="1800360" y="31654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323" name="Shape 1405"/>
          <p:cNvGrpSpPr/>
          <p:nvPr/>
        </p:nvGrpSpPr>
        <p:grpSpPr>
          <a:xfrm>
            <a:off x="968400" y="4398840"/>
            <a:ext cx="529920" cy="595080"/>
            <a:chOff x="968400" y="4398840"/>
            <a:chExt cx="529920" cy="595080"/>
          </a:xfrm>
        </p:grpSpPr>
        <p:sp>
          <p:nvSpPr>
            <p:cNvPr id="1324" name="Shape 1406"/>
            <p:cNvSpPr/>
            <p:nvPr/>
          </p:nvSpPr>
          <p:spPr>
            <a:xfrm>
              <a:off x="968400" y="4448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5" name="Shape 1407"/>
            <p:cNvSpPr/>
            <p:nvPr/>
          </p:nvSpPr>
          <p:spPr>
            <a:xfrm>
              <a:off x="1035000" y="4398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326" name="Shape 1408"/>
          <p:cNvGrpSpPr/>
          <p:nvPr/>
        </p:nvGrpSpPr>
        <p:grpSpPr>
          <a:xfrm>
            <a:off x="2233440" y="4398840"/>
            <a:ext cx="530280" cy="595080"/>
            <a:chOff x="2233440" y="4398840"/>
            <a:chExt cx="530280" cy="595080"/>
          </a:xfrm>
        </p:grpSpPr>
        <p:sp>
          <p:nvSpPr>
            <p:cNvPr id="1327" name="Shape 1409"/>
            <p:cNvSpPr/>
            <p:nvPr/>
          </p:nvSpPr>
          <p:spPr>
            <a:xfrm>
              <a:off x="2233440" y="4448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8" name="Shape 1410"/>
            <p:cNvSpPr/>
            <p:nvPr/>
          </p:nvSpPr>
          <p:spPr>
            <a:xfrm>
              <a:off x="2300400" y="4398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329" name="Shape 1411"/>
          <p:cNvGrpSpPr/>
          <p:nvPr/>
        </p:nvGrpSpPr>
        <p:grpSpPr>
          <a:xfrm>
            <a:off x="2832120" y="4429080"/>
            <a:ext cx="529920" cy="595080"/>
            <a:chOff x="2832120" y="4429080"/>
            <a:chExt cx="529920" cy="595080"/>
          </a:xfrm>
        </p:grpSpPr>
        <p:sp>
          <p:nvSpPr>
            <p:cNvPr id="1330" name="Shape 1412"/>
            <p:cNvSpPr/>
            <p:nvPr/>
          </p:nvSpPr>
          <p:spPr>
            <a:xfrm>
              <a:off x="2832120" y="447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1" name="Shape 1413"/>
            <p:cNvSpPr/>
            <p:nvPr/>
          </p:nvSpPr>
          <p:spPr>
            <a:xfrm>
              <a:off x="2898720" y="4429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332" name="Shape 1414"/>
          <p:cNvGrpSpPr/>
          <p:nvPr/>
        </p:nvGrpSpPr>
        <p:grpSpPr>
          <a:xfrm>
            <a:off x="4091040" y="4446720"/>
            <a:ext cx="529920" cy="595080"/>
            <a:chOff x="4091040" y="4446720"/>
            <a:chExt cx="529920" cy="595080"/>
          </a:xfrm>
        </p:grpSpPr>
        <p:sp>
          <p:nvSpPr>
            <p:cNvPr id="1333" name="Shape 1415"/>
            <p:cNvSpPr/>
            <p:nvPr/>
          </p:nvSpPr>
          <p:spPr>
            <a:xfrm>
              <a:off x="4091040" y="4495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4" name="Shape 1416"/>
            <p:cNvSpPr/>
            <p:nvPr/>
          </p:nvSpPr>
          <p:spPr>
            <a:xfrm>
              <a:off x="4157640" y="4446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335" name="Shape 1417"/>
          <p:cNvGrpSpPr/>
          <p:nvPr/>
        </p:nvGrpSpPr>
        <p:grpSpPr>
          <a:xfrm>
            <a:off x="1608120" y="5603760"/>
            <a:ext cx="529920" cy="595080"/>
            <a:chOff x="1608120" y="5603760"/>
            <a:chExt cx="529920" cy="595080"/>
          </a:xfrm>
        </p:grpSpPr>
        <p:sp>
          <p:nvSpPr>
            <p:cNvPr id="1336" name="Shape 1418"/>
            <p:cNvSpPr/>
            <p:nvPr/>
          </p:nvSpPr>
          <p:spPr>
            <a:xfrm>
              <a:off x="1608120" y="5653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7" name="Shape 1419"/>
            <p:cNvSpPr/>
            <p:nvPr/>
          </p:nvSpPr>
          <p:spPr>
            <a:xfrm>
              <a:off x="1674720" y="56037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8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1338" name="Shape 1420"/>
          <p:cNvSpPr/>
          <p:nvPr/>
        </p:nvSpPr>
        <p:spPr>
          <a:xfrm>
            <a:off x="2090880" y="3695760"/>
            <a:ext cx="394920" cy="77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39" name="Shape 1421"/>
          <p:cNvSpPr/>
          <p:nvPr/>
        </p:nvSpPr>
        <p:spPr>
          <a:xfrm flipH="1">
            <a:off x="3156840" y="3770280"/>
            <a:ext cx="410760" cy="72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40" name="Shape 1422"/>
          <p:cNvSpPr/>
          <p:nvPr/>
        </p:nvSpPr>
        <p:spPr>
          <a:xfrm rot="10800000">
            <a:off x="3321360" y="4746240"/>
            <a:ext cx="763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41" name="Shape 1423"/>
          <p:cNvSpPr/>
          <p:nvPr/>
        </p:nvSpPr>
        <p:spPr>
          <a:xfrm>
            <a:off x="1298520" y="4944960"/>
            <a:ext cx="394920" cy="77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42" name="Shape 1424"/>
          <p:cNvSpPr/>
          <p:nvPr/>
        </p:nvSpPr>
        <p:spPr>
          <a:xfrm>
            <a:off x="0" y="6135840"/>
            <a:ext cx="2179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遍历序列：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43" name="Shape 1425"/>
          <p:cNvSpPr/>
          <p:nvPr/>
        </p:nvSpPr>
        <p:spPr>
          <a:xfrm>
            <a:off x="1889280" y="61898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44" name="Shape 1426"/>
          <p:cNvSpPr/>
          <p:nvPr/>
        </p:nvSpPr>
        <p:spPr>
          <a:xfrm>
            <a:off x="2738520" y="1808280"/>
            <a:ext cx="360" cy="36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345" name="Shape 1427"/>
          <p:cNvSpPr/>
          <p:nvPr/>
        </p:nvSpPr>
        <p:spPr>
          <a:xfrm>
            <a:off x="5375160" y="289872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46" name="Shape 1428"/>
          <p:cNvSpPr/>
          <p:nvPr/>
        </p:nvSpPr>
        <p:spPr>
          <a:xfrm>
            <a:off x="1859040" y="2498760"/>
            <a:ext cx="1934640" cy="655200"/>
          </a:xfrm>
          <a:custGeom>
            <a:avLst/>
            <a:gdLst/>
            <a:ahLst/>
            <a:rect l="l" t="t" r="r" b="b"/>
            <a:pathLst>
              <a:path w="1219" h="413">
                <a:moveTo>
                  <a:pt x="0" y="58"/>
                </a:moveTo>
                <a:cubicBezTo>
                  <a:pt x="41" y="127"/>
                  <a:pt x="83" y="197"/>
                  <a:pt x="144" y="250"/>
                </a:cubicBezTo>
                <a:cubicBezTo>
                  <a:pt x="205" y="303"/>
                  <a:pt x="282" y="348"/>
                  <a:pt x="365" y="375"/>
                </a:cubicBezTo>
                <a:cubicBezTo>
                  <a:pt x="448" y="402"/>
                  <a:pt x="553" y="413"/>
                  <a:pt x="643" y="413"/>
                </a:cubicBezTo>
                <a:cubicBezTo>
                  <a:pt x="733" y="413"/>
                  <a:pt x="836" y="396"/>
                  <a:pt x="903" y="375"/>
                </a:cubicBezTo>
                <a:cubicBezTo>
                  <a:pt x="970" y="354"/>
                  <a:pt x="1001" y="330"/>
                  <a:pt x="1047" y="288"/>
                </a:cubicBezTo>
                <a:cubicBezTo>
                  <a:pt x="1093" y="246"/>
                  <a:pt x="1152" y="173"/>
                  <a:pt x="1181" y="125"/>
                </a:cubicBezTo>
                <a:cubicBezTo>
                  <a:pt x="1210" y="77"/>
                  <a:pt x="1213" y="21"/>
                  <a:pt x="1219" y="0"/>
                </a:cubicBezTo>
              </a:path>
            </a:pathLst>
          </a:custGeom>
          <a:noFill/>
          <a:ln w="28575">
            <a:solidFill>
              <a:srgbClr val="cc33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62" dur="indefinite" restart="never" nodeType="tmRoot">
          <p:childTnLst>
            <p:seq>
              <p:cTn id="463" dur="indefinite" nodeType="mainSeq">
                <p:childTnLst>
                  <p:par>
                    <p:cTn id="464" fill="hold">
                      <p:stCondLst>
                        <p:cond delay="indefinite"/>
                      </p:stCondLst>
                      <p:childTnLst>
                        <p:par>
                          <p:cTn id="465" fill="hold">
                            <p:stCondLst>
                              <p:cond delay="0"/>
                            </p:stCondLst>
                            <p:childTnLst>
                              <p:par>
                                <p:cTn id="4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8" dur="500"/>
                                        <p:tgtEl>
                                          <p:spTgt spid="1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indefinite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7" dur="500"/>
                                        <p:tgtEl>
                                          <p:spTgt spid="1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8" fill="hold">
                      <p:stCondLst>
                        <p:cond delay="indefinite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id="48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2" dur="500"/>
                                        <p:tgtEl>
                                          <p:spTgt spid="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nodeType="clickEffect" fill="hold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486" dur="500"/>
                                        <p:tgtEl>
                                          <p:spTgt spid="1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Shape 1433"/>
          <p:cNvSpPr/>
          <p:nvPr/>
        </p:nvSpPr>
        <p:spPr>
          <a:xfrm>
            <a:off x="5235480" y="2803680"/>
            <a:ext cx="3430080" cy="64116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8" name="Shape 1434"/>
          <p:cNvSpPr/>
          <p:nvPr/>
        </p:nvSpPr>
        <p:spPr>
          <a:xfrm>
            <a:off x="5235480" y="2787480"/>
            <a:ext cx="3427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49" name="Shape 1435"/>
          <p:cNvSpPr/>
          <p:nvPr/>
        </p:nvSpPr>
        <p:spPr>
          <a:xfrm>
            <a:off x="5235480" y="3443400"/>
            <a:ext cx="3427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0" name="Shape 1436"/>
          <p:cNvSpPr/>
          <p:nvPr/>
        </p:nvSpPr>
        <p:spPr>
          <a:xfrm rot="10800000">
            <a:off x="1479960" y="4730400"/>
            <a:ext cx="763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1" name="Shape 1437"/>
          <p:cNvSpPr/>
          <p:nvPr/>
        </p:nvSpPr>
        <p:spPr>
          <a:xfrm>
            <a:off x="2989440" y="2612880"/>
            <a:ext cx="1309320" cy="1902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2" name="Shape 1438"/>
          <p:cNvSpPr/>
          <p:nvPr/>
        </p:nvSpPr>
        <p:spPr>
          <a:xfrm flipH="1">
            <a:off x="1280520" y="2583000"/>
            <a:ext cx="1371240" cy="1888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353" name="Shape 1439"/>
          <p:cNvGrpSpPr/>
          <p:nvPr/>
        </p:nvGrpSpPr>
        <p:grpSpPr>
          <a:xfrm>
            <a:off x="884160" y="1295280"/>
            <a:ext cx="7681680" cy="617040"/>
            <a:chOff x="884160" y="1295280"/>
            <a:chExt cx="7681680" cy="617040"/>
          </a:xfrm>
        </p:grpSpPr>
        <p:pic>
          <p:nvPicPr>
            <p:cNvPr id="1354" name="Shape 1440" descr=""/>
            <p:cNvPicPr/>
            <p:nvPr/>
          </p:nvPicPr>
          <p:blipFill>
            <a:blip r:embed="rId1"/>
            <a:stretch/>
          </p:blipFill>
          <p:spPr>
            <a:xfrm>
              <a:off x="884160" y="1295280"/>
              <a:ext cx="670680" cy="617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355" name="Shape 1441"/>
            <p:cNvSpPr/>
            <p:nvPr/>
          </p:nvSpPr>
          <p:spPr>
            <a:xfrm>
              <a:off x="1662840" y="1327320"/>
              <a:ext cx="69030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广度优先遍历序列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入队序列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出队序列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    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1356" name="Shape 1442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1357" name="Shape 1443"/>
          <p:cNvGrpSpPr/>
          <p:nvPr/>
        </p:nvGrpSpPr>
        <p:grpSpPr>
          <a:xfrm>
            <a:off x="2583000" y="2128680"/>
            <a:ext cx="529920" cy="595080"/>
            <a:chOff x="2583000" y="2128680"/>
            <a:chExt cx="529920" cy="595080"/>
          </a:xfrm>
        </p:grpSpPr>
        <p:sp>
          <p:nvSpPr>
            <p:cNvPr id="1358" name="Shape 1444"/>
            <p:cNvSpPr/>
            <p:nvPr/>
          </p:nvSpPr>
          <p:spPr>
            <a:xfrm>
              <a:off x="2583000" y="21780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9" name="Shape 1445"/>
            <p:cNvSpPr/>
            <p:nvPr/>
          </p:nvSpPr>
          <p:spPr>
            <a:xfrm>
              <a:off x="2649600" y="21286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360" name="Shape 1446"/>
          <p:cNvGrpSpPr/>
          <p:nvPr/>
        </p:nvGrpSpPr>
        <p:grpSpPr>
          <a:xfrm>
            <a:off x="3436920" y="3255840"/>
            <a:ext cx="529920" cy="595080"/>
            <a:chOff x="3436920" y="3255840"/>
            <a:chExt cx="529920" cy="595080"/>
          </a:xfrm>
        </p:grpSpPr>
        <p:sp>
          <p:nvSpPr>
            <p:cNvPr id="1361" name="Shape 1447"/>
            <p:cNvSpPr/>
            <p:nvPr/>
          </p:nvSpPr>
          <p:spPr>
            <a:xfrm>
              <a:off x="3436920" y="3305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2" name="Shape 1448"/>
            <p:cNvSpPr/>
            <p:nvPr/>
          </p:nvSpPr>
          <p:spPr>
            <a:xfrm>
              <a:off x="3503520" y="3255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363" name="Shape 1449"/>
          <p:cNvGrpSpPr/>
          <p:nvPr/>
        </p:nvGrpSpPr>
        <p:grpSpPr>
          <a:xfrm>
            <a:off x="1733400" y="3165480"/>
            <a:ext cx="530280" cy="595080"/>
            <a:chOff x="1733400" y="3165480"/>
            <a:chExt cx="530280" cy="595080"/>
          </a:xfrm>
        </p:grpSpPr>
        <p:sp>
          <p:nvSpPr>
            <p:cNvPr id="1364" name="Shape 1450"/>
            <p:cNvSpPr/>
            <p:nvPr/>
          </p:nvSpPr>
          <p:spPr>
            <a:xfrm>
              <a:off x="1733400" y="32148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5" name="Shape 1451"/>
            <p:cNvSpPr/>
            <p:nvPr/>
          </p:nvSpPr>
          <p:spPr>
            <a:xfrm>
              <a:off x="1800360" y="31654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366" name="Shape 1452"/>
          <p:cNvGrpSpPr/>
          <p:nvPr/>
        </p:nvGrpSpPr>
        <p:grpSpPr>
          <a:xfrm>
            <a:off x="968400" y="4398840"/>
            <a:ext cx="529920" cy="595080"/>
            <a:chOff x="968400" y="4398840"/>
            <a:chExt cx="529920" cy="595080"/>
          </a:xfrm>
        </p:grpSpPr>
        <p:sp>
          <p:nvSpPr>
            <p:cNvPr id="1367" name="Shape 1453"/>
            <p:cNvSpPr/>
            <p:nvPr/>
          </p:nvSpPr>
          <p:spPr>
            <a:xfrm>
              <a:off x="968400" y="4448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8" name="Shape 1454"/>
            <p:cNvSpPr/>
            <p:nvPr/>
          </p:nvSpPr>
          <p:spPr>
            <a:xfrm>
              <a:off x="1035000" y="4398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369" name="Shape 1455"/>
          <p:cNvGrpSpPr/>
          <p:nvPr/>
        </p:nvGrpSpPr>
        <p:grpSpPr>
          <a:xfrm>
            <a:off x="2233440" y="4398840"/>
            <a:ext cx="530280" cy="595080"/>
            <a:chOff x="2233440" y="4398840"/>
            <a:chExt cx="530280" cy="595080"/>
          </a:xfrm>
        </p:grpSpPr>
        <p:sp>
          <p:nvSpPr>
            <p:cNvPr id="1370" name="Shape 1456"/>
            <p:cNvSpPr/>
            <p:nvPr/>
          </p:nvSpPr>
          <p:spPr>
            <a:xfrm>
              <a:off x="2233440" y="4448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1" name="Shape 1457"/>
            <p:cNvSpPr/>
            <p:nvPr/>
          </p:nvSpPr>
          <p:spPr>
            <a:xfrm>
              <a:off x="2300400" y="4398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372" name="Shape 1458"/>
          <p:cNvGrpSpPr/>
          <p:nvPr/>
        </p:nvGrpSpPr>
        <p:grpSpPr>
          <a:xfrm>
            <a:off x="2832120" y="4429080"/>
            <a:ext cx="529920" cy="595080"/>
            <a:chOff x="2832120" y="4429080"/>
            <a:chExt cx="529920" cy="595080"/>
          </a:xfrm>
        </p:grpSpPr>
        <p:sp>
          <p:nvSpPr>
            <p:cNvPr id="1373" name="Shape 1459"/>
            <p:cNvSpPr/>
            <p:nvPr/>
          </p:nvSpPr>
          <p:spPr>
            <a:xfrm>
              <a:off x="2832120" y="447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4" name="Shape 1460"/>
            <p:cNvSpPr/>
            <p:nvPr/>
          </p:nvSpPr>
          <p:spPr>
            <a:xfrm>
              <a:off x="2898720" y="4429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375" name="Shape 1461"/>
          <p:cNvGrpSpPr/>
          <p:nvPr/>
        </p:nvGrpSpPr>
        <p:grpSpPr>
          <a:xfrm>
            <a:off x="4091040" y="4446720"/>
            <a:ext cx="529920" cy="595080"/>
            <a:chOff x="4091040" y="4446720"/>
            <a:chExt cx="529920" cy="595080"/>
          </a:xfrm>
        </p:grpSpPr>
        <p:sp>
          <p:nvSpPr>
            <p:cNvPr id="1376" name="Shape 1462"/>
            <p:cNvSpPr/>
            <p:nvPr/>
          </p:nvSpPr>
          <p:spPr>
            <a:xfrm>
              <a:off x="4091040" y="4495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7" name="Shape 1463"/>
            <p:cNvSpPr/>
            <p:nvPr/>
          </p:nvSpPr>
          <p:spPr>
            <a:xfrm>
              <a:off x="4157640" y="4446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378" name="Shape 1464"/>
          <p:cNvGrpSpPr/>
          <p:nvPr/>
        </p:nvGrpSpPr>
        <p:grpSpPr>
          <a:xfrm>
            <a:off x="1608120" y="5603760"/>
            <a:ext cx="529920" cy="595080"/>
            <a:chOff x="1608120" y="5603760"/>
            <a:chExt cx="529920" cy="595080"/>
          </a:xfrm>
        </p:grpSpPr>
        <p:sp>
          <p:nvSpPr>
            <p:cNvPr id="1379" name="Shape 1465"/>
            <p:cNvSpPr/>
            <p:nvPr/>
          </p:nvSpPr>
          <p:spPr>
            <a:xfrm>
              <a:off x="1608120" y="5653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0" name="Shape 1466"/>
            <p:cNvSpPr/>
            <p:nvPr/>
          </p:nvSpPr>
          <p:spPr>
            <a:xfrm>
              <a:off x="1674720" y="56037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8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1381" name="Shape 1467"/>
          <p:cNvSpPr/>
          <p:nvPr/>
        </p:nvSpPr>
        <p:spPr>
          <a:xfrm>
            <a:off x="2090880" y="3695760"/>
            <a:ext cx="394920" cy="77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2" name="Shape 1468"/>
          <p:cNvSpPr/>
          <p:nvPr/>
        </p:nvSpPr>
        <p:spPr>
          <a:xfrm flipH="1">
            <a:off x="3156840" y="3770280"/>
            <a:ext cx="410760" cy="72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3" name="Shape 1469"/>
          <p:cNvSpPr/>
          <p:nvPr/>
        </p:nvSpPr>
        <p:spPr>
          <a:xfrm rot="10800000">
            <a:off x="3321360" y="4746240"/>
            <a:ext cx="763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4" name="Shape 1470"/>
          <p:cNvSpPr/>
          <p:nvPr/>
        </p:nvSpPr>
        <p:spPr>
          <a:xfrm>
            <a:off x="1298520" y="4944960"/>
            <a:ext cx="394920" cy="77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5" name="Shape 1471"/>
          <p:cNvSpPr/>
          <p:nvPr/>
        </p:nvSpPr>
        <p:spPr>
          <a:xfrm>
            <a:off x="0" y="6135840"/>
            <a:ext cx="2179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遍历序列：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86" name="Shape 1472"/>
          <p:cNvSpPr/>
          <p:nvPr/>
        </p:nvSpPr>
        <p:spPr>
          <a:xfrm>
            <a:off x="1889280" y="61898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87" name="Shape 1473"/>
          <p:cNvSpPr/>
          <p:nvPr/>
        </p:nvSpPr>
        <p:spPr>
          <a:xfrm>
            <a:off x="2738520" y="1808280"/>
            <a:ext cx="360" cy="36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388" name="Shape 1474"/>
          <p:cNvSpPr/>
          <p:nvPr/>
        </p:nvSpPr>
        <p:spPr>
          <a:xfrm>
            <a:off x="5313240" y="28972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89" name="Shape 1475"/>
          <p:cNvSpPr/>
          <p:nvPr/>
        </p:nvSpPr>
        <p:spPr>
          <a:xfrm flipH="1">
            <a:off x="2052000" y="2556000"/>
            <a:ext cx="410760" cy="563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390" name="Shape 1476"/>
          <p:cNvSpPr/>
          <p:nvPr/>
        </p:nvSpPr>
        <p:spPr>
          <a:xfrm>
            <a:off x="3165480" y="2585880"/>
            <a:ext cx="410760" cy="59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391" name="Shape 1477"/>
          <p:cNvSpPr/>
          <p:nvPr/>
        </p:nvSpPr>
        <p:spPr>
          <a:xfrm>
            <a:off x="2408400" y="61898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92" name="Shape 1478"/>
          <p:cNvSpPr/>
          <p:nvPr/>
        </p:nvSpPr>
        <p:spPr>
          <a:xfrm>
            <a:off x="2924280" y="61912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93" name="Shape 1479"/>
          <p:cNvSpPr/>
          <p:nvPr/>
        </p:nvSpPr>
        <p:spPr>
          <a:xfrm>
            <a:off x="5818320" y="28972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94" name="Shape 1480"/>
          <p:cNvSpPr/>
          <p:nvPr/>
        </p:nvSpPr>
        <p:spPr>
          <a:xfrm>
            <a:off x="852480" y="3809880"/>
            <a:ext cx="3580920" cy="471240"/>
          </a:xfrm>
          <a:custGeom>
            <a:avLst/>
            <a:gdLst/>
            <a:ahLst/>
            <a:rect l="l" t="t" r="r" b="b"/>
            <a:pathLst>
              <a:path w="1219" h="413">
                <a:moveTo>
                  <a:pt x="0" y="58"/>
                </a:moveTo>
                <a:cubicBezTo>
                  <a:pt x="41" y="127"/>
                  <a:pt x="83" y="197"/>
                  <a:pt x="144" y="250"/>
                </a:cubicBezTo>
                <a:cubicBezTo>
                  <a:pt x="205" y="303"/>
                  <a:pt x="282" y="348"/>
                  <a:pt x="365" y="375"/>
                </a:cubicBezTo>
                <a:cubicBezTo>
                  <a:pt x="448" y="402"/>
                  <a:pt x="553" y="413"/>
                  <a:pt x="643" y="413"/>
                </a:cubicBezTo>
                <a:cubicBezTo>
                  <a:pt x="733" y="413"/>
                  <a:pt x="836" y="396"/>
                  <a:pt x="903" y="375"/>
                </a:cubicBezTo>
                <a:cubicBezTo>
                  <a:pt x="970" y="354"/>
                  <a:pt x="1001" y="330"/>
                  <a:pt x="1047" y="288"/>
                </a:cubicBezTo>
                <a:cubicBezTo>
                  <a:pt x="1093" y="246"/>
                  <a:pt x="1152" y="173"/>
                  <a:pt x="1181" y="125"/>
                </a:cubicBezTo>
                <a:cubicBezTo>
                  <a:pt x="1210" y="77"/>
                  <a:pt x="1213" y="21"/>
                  <a:pt x="1219" y="0"/>
                </a:cubicBezTo>
              </a:path>
            </a:pathLst>
          </a:custGeom>
          <a:noFill/>
          <a:ln w="28575">
            <a:solidFill>
              <a:srgbClr val="cc33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88" dur="indefinite" restart="never" nodeType="tmRoot">
          <p:childTnLst>
            <p:seq>
              <p:cTn id="489" dur="indefinite" nodeType="mainSeq">
                <p:childTnLst>
                  <p:par>
                    <p:cTn id="490" fill="hold">
                      <p:stCondLst>
                        <p:cond delay="indefinite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4" dur="500"/>
                                        <p:tgtEl>
                                          <p:spTgt spid="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03" dur="500"/>
                                        <p:tgtEl>
                                          <p:spTgt spid="1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4" fill="hold">
                      <p:stCondLst>
                        <p:cond delay="indefinite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id="50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8" dur="500"/>
                                        <p:tgtEl>
                                          <p:spTgt spid="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9" fill="hold">
                      <p:stCondLst>
                        <p:cond delay="indefinite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id="5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17" dur="500"/>
                                        <p:tgtEl>
                                          <p:spTgt spid="1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8" fill="hold">
                      <p:stCondLst>
                        <p:cond delay="indefinite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2" dur="500"/>
                                        <p:tgtEl>
                                          <p:spTgt spid="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>
                      <p:stCondLst>
                        <p:cond delay="indefinite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nodeType="clickEffect" fill="hold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526" dur="500"/>
                                        <p:tgtEl>
                                          <p:spTgt spid="1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Shape 1485"/>
          <p:cNvSpPr/>
          <p:nvPr/>
        </p:nvSpPr>
        <p:spPr>
          <a:xfrm>
            <a:off x="5235480" y="2803680"/>
            <a:ext cx="3430080" cy="64116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6" name="Shape 1486"/>
          <p:cNvSpPr/>
          <p:nvPr/>
        </p:nvSpPr>
        <p:spPr>
          <a:xfrm>
            <a:off x="5235480" y="2787480"/>
            <a:ext cx="3427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97" name="Shape 1487"/>
          <p:cNvSpPr/>
          <p:nvPr/>
        </p:nvSpPr>
        <p:spPr>
          <a:xfrm>
            <a:off x="5235480" y="3443400"/>
            <a:ext cx="3427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98" name="Shape 1488"/>
          <p:cNvSpPr/>
          <p:nvPr/>
        </p:nvSpPr>
        <p:spPr>
          <a:xfrm rot="10800000">
            <a:off x="1479960" y="4730400"/>
            <a:ext cx="763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99" name="Shape 1489"/>
          <p:cNvSpPr/>
          <p:nvPr/>
        </p:nvSpPr>
        <p:spPr>
          <a:xfrm>
            <a:off x="2989440" y="2612880"/>
            <a:ext cx="1309320" cy="1902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00" name="Shape 1490"/>
          <p:cNvSpPr/>
          <p:nvPr/>
        </p:nvSpPr>
        <p:spPr>
          <a:xfrm flipH="1">
            <a:off x="1280520" y="2583000"/>
            <a:ext cx="1371240" cy="1888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401" name="Shape 1491"/>
          <p:cNvGrpSpPr/>
          <p:nvPr/>
        </p:nvGrpSpPr>
        <p:grpSpPr>
          <a:xfrm>
            <a:off x="884160" y="1295280"/>
            <a:ext cx="7681680" cy="617040"/>
            <a:chOff x="884160" y="1295280"/>
            <a:chExt cx="7681680" cy="617040"/>
          </a:xfrm>
        </p:grpSpPr>
        <p:pic>
          <p:nvPicPr>
            <p:cNvPr id="1402" name="Shape 1492" descr=""/>
            <p:cNvPicPr/>
            <p:nvPr/>
          </p:nvPicPr>
          <p:blipFill>
            <a:blip r:embed="rId1"/>
            <a:stretch/>
          </p:blipFill>
          <p:spPr>
            <a:xfrm>
              <a:off x="884160" y="1295280"/>
              <a:ext cx="670680" cy="617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03" name="Shape 1493"/>
            <p:cNvSpPr/>
            <p:nvPr/>
          </p:nvSpPr>
          <p:spPr>
            <a:xfrm>
              <a:off x="1662840" y="1327320"/>
              <a:ext cx="69030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广度优先遍历序列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入队序列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出队序列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    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1404" name="Shape 1494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1405" name="Shape 1495"/>
          <p:cNvGrpSpPr/>
          <p:nvPr/>
        </p:nvGrpSpPr>
        <p:grpSpPr>
          <a:xfrm>
            <a:off x="2583000" y="2128680"/>
            <a:ext cx="529920" cy="595080"/>
            <a:chOff x="2583000" y="2128680"/>
            <a:chExt cx="529920" cy="595080"/>
          </a:xfrm>
        </p:grpSpPr>
        <p:sp>
          <p:nvSpPr>
            <p:cNvPr id="1406" name="Shape 1496"/>
            <p:cNvSpPr/>
            <p:nvPr/>
          </p:nvSpPr>
          <p:spPr>
            <a:xfrm>
              <a:off x="2583000" y="21780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07" name="Shape 1497"/>
            <p:cNvSpPr/>
            <p:nvPr/>
          </p:nvSpPr>
          <p:spPr>
            <a:xfrm>
              <a:off x="2649600" y="21286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408" name="Shape 1498"/>
          <p:cNvGrpSpPr/>
          <p:nvPr/>
        </p:nvGrpSpPr>
        <p:grpSpPr>
          <a:xfrm>
            <a:off x="3436920" y="3255840"/>
            <a:ext cx="529920" cy="595080"/>
            <a:chOff x="3436920" y="3255840"/>
            <a:chExt cx="529920" cy="595080"/>
          </a:xfrm>
        </p:grpSpPr>
        <p:sp>
          <p:nvSpPr>
            <p:cNvPr id="1409" name="Shape 1499"/>
            <p:cNvSpPr/>
            <p:nvPr/>
          </p:nvSpPr>
          <p:spPr>
            <a:xfrm>
              <a:off x="3436920" y="3305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10" name="Shape 1500"/>
            <p:cNvSpPr/>
            <p:nvPr/>
          </p:nvSpPr>
          <p:spPr>
            <a:xfrm>
              <a:off x="3503520" y="3255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411" name="Shape 1501"/>
          <p:cNvGrpSpPr/>
          <p:nvPr/>
        </p:nvGrpSpPr>
        <p:grpSpPr>
          <a:xfrm>
            <a:off x="1733400" y="3165480"/>
            <a:ext cx="530280" cy="595080"/>
            <a:chOff x="1733400" y="3165480"/>
            <a:chExt cx="530280" cy="595080"/>
          </a:xfrm>
        </p:grpSpPr>
        <p:sp>
          <p:nvSpPr>
            <p:cNvPr id="1412" name="Shape 1502"/>
            <p:cNvSpPr/>
            <p:nvPr/>
          </p:nvSpPr>
          <p:spPr>
            <a:xfrm>
              <a:off x="1733400" y="32148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13" name="Shape 1503"/>
            <p:cNvSpPr/>
            <p:nvPr/>
          </p:nvSpPr>
          <p:spPr>
            <a:xfrm>
              <a:off x="1800360" y="31654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414" name="Shape 1504"/>
          <p:cNvGrpSpPr/>
          <p:nvPr/>
        </p:nvGrpSpPr>
        <p:grpSpPr>
          <a:xfrm>
            <a:off x="968400" y="4398840"/>
            <a:ext cx="529920" cy="595080"/>
            <a:chOff x="968400" y="4398840"/>
            <a:chExt cx="529920" cy="595080"/>
          </a:xfrm>
        </p:grpSpPr>
        <p:sp>
          <p:nvSpPr>
            <p:cNvPr id="1415" name="Shape 1505"/>
            <p:cNvSpPr/>
            <p:nvPr/>
          </p:nvSpPr>
          <p:spPr>
            <a:xfrm>
              <a:off x="968400" y="4448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16" name="Shape 1506"/>
            <p:cNvSpPr/>
            <p:nvPr/>
          </p:nvSpPr>
          <p:spPr>
            <a:xfrm>
              <a:off x="1035000" y="4398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417" name="Shape 1507"/>
          <p:cNvGrpSpPr/>
          <p:nvPr/>
        </p:nvGrpSpPr>
        <p:grpSpPr>
          <a:xfrm>
            <a:off x="2233440" y="4398840"/>
            <a:ext cx="530280" cy="595080"/>
            <a:chOff x="2233440" y="4398840"/>
            <a:chExt cx="530280" cy="595080"/>
          </a:xfrm>
        </p:grpSpPr>
        <p:sp>
          <p:nvSpPr>
            <p:cNvPr id="1418" name="Shape 1508"/>
            <p:cNvSpPr/>
            <p:nvPr/>
          </p:nvSpPr>
          <p:spPr>
            <a:xfrm>
              <a:off x="2233440" y="4448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19" name="Shape 1509"/>
            <p:cNvSpPr/>
            <p:nvPr/>
          </p:nvSpPr>
          <p:spPr>
            <a:xfrm>
              <a:off x="2300400" y="4398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420" name="Shape 1510"/>
          <p:cNvGrpSpPr/>
          <p:nvPr/>
        </p:nvGrpSpPr>
        <p:grpSpPr>
          <a:xfrm>
            <a:off x="2832120" y="4429080"/>
            <a:ext cx="529920" cy="595080"/>
            <a:chOff x="2832120" y="4429080"/>
            <a:chExt cx="529920" cy="595080"/>
          </a:xfrm>
        </p:grpSpPr>
        <p:sp>
          <p:nvSpPr>
            <p:cNvPr id="1421" name="Shape 1511"/>
            <p:cNvSpPr/>
            <p:nvPr/>
          </p:nvSpPr>
          <p:spPr>
            <a:xfrm>
              <a:off x="2832120" y="447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2" name="Shape 1512"/>
            <p:cNvSpPr/>
            <p:nvPr/>
          </p:nvSpPr>
          <p:spPr>
            <a:xfrm>
              <a:off x="2898720" y="4429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423" name="Shape 1513"/>
          <p:cNvGrpSpPr/>
          <p:nvPr/>
        </p:nvGrpSpPr>
        <p:grpSpPr>
          <a:xfrm>
            <a:off x="4091040" y="4446720"/>
            <a:ext cx="529920" cy="595080"/>
            <a:chOff x="4091040" y="4446720"/>
            <a:chExt cx="529920" cy="595080"/>
          </a:xfrm>
        </p:grpSpPr>
        <p:sp>
          <p:nvSpPr>
            <p:cNvPr id="1424" name="Shape 1514"/>
            <p:cNvSpPr/>
            <p:nvPr/>
          </p:nvSpPr>
          <p:spPr>
            <a:xfrm>
              <a:off x="4091040" y="4495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5" name="Shape 1515"/>
            <p:cNvSpPr/>
            <p:nvPr/>
          </p:nvSpPr>
          <p:spPr>
            <a:xfrm>
              <a:off x="4157640" y="4446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426" name="Shape 1516"/>
          <p:cNvGrpSpPr/>
          <p:nvPr/>
        </p:nvGrpSpPr>
        <p:grpSpPr>
          <a:xfrm>
            <a:off x="1608120" y="5603760"/>
            <a:ext cx="529920" cy="595080"/>
            <a:chOff x="1608120" y="5603760"/>
            <a:chExt cx="529920" cy="595080"/>
          </a:xfrm>
        </p:grpSpPr>
        <p:sp>
          <p:nvSpPr>
            <p:cNvPr id="1427" name="Shape 1517"/>
            <p:cNvSpPr/>
            <p:nvPr/>
          </p:nvSpPr>
          <p:spPr>
            <a:xfrm>
              <a:off x="1608120" y="5653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8" name="Shape 1518"/>
            <p:cNvSpPr/>
            <p:nvPr/>
          </p:nvSpPr>
          <p:spPr>
            <a:xfrm>
              <a:off x="1674720" y="56037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8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1429" name="Shape 1519"/>
          <p:cNvSpPr/>
          <p:nvPr/>
        </p:nvSpPr>
        <p:spPr>
          <a:xfrm>
            <a:off x="2090880" y="3695760"/>
            <a:ext cx="394920" cy="77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30" name="Shape 1520"/>
          <p:cNvSpPr/>
          <p:nvPr/>
        </p:nvSpPr>
        <p:spPr>
          <a:xfrm flipH="1">
            <a:off x="3156840" y="3770280"/>
            <a:ext cx="410760" cy="72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31" name="Shape 1521"/>
          <p:cNvSpPr/>
          <p:nvPr/>
        </p:nvSpPr>
        <p:spPr>
          <a:xfrm rot="10800000">
            <a:off x="3321360" y="4746240"/>
            <a:ext cx="763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32" name="Shape 1522"/>
          <p:cNvSpPr/>
          <p:nvPr/>
        </p:nvSpPr>
        <p:spPr>
          <a:xfrm>
            <a:off x="1298520" y="4944960"/>
            <a:ext cx="394920" cy="77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33" name="Shape 1523"/>
          <p:cNvSpPr/>
          <p:nvPr/>
        </p:nvSpPr>
        <p:spPr>
          <a:xfrm>
            <a:off x="0" y="6135840"/>
            <a:ext cx="2179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遍历序列：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34" name="Shape 1524"/>
          <p:cNvSpPr/>
          <p:nvPr/>
        </p:nvSpPr>
        <p:spPr>
          <a:xfrm>
            <a:off x="1889280" y="61898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35" name="Shape 1525"/>
          <p:cNvSpPr/>
          <p:nvPr/>
        </p:nvSpPr>
        <p:spPr>
          <a:xfrm>
            <a:off x="2738520" y="1808280"/>
            <a:ext cx="360" cy="36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436" name="Shape 1526"/>
          <p:cNvSpPr/>
          <p:nvPr/>
        </p:nvSpPr>
        <p:spPr>
          <a:xfrm flipH="1">
            <a:off x="2052000" y="2556000"/>
            <a:ext cx="410760" cy="563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437" name="Shape 1527"/>
          <p:cNvSpPr/>
          <p:nvPr/>
        </p:nvSpPr>
        <p:spPr>
          <a:xfrm>
            <a:off x="3165480" y="2585880"/>
            <a:ext cx="410760" cy="59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438" name="Shape 1528"/>
          <p:cNvSpPr/>
          <p:nvPr/>
        </p:nvSpPr>
        <p:spPr>
          <a:xfrm>
            <a:off x="2408400" y="61898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39" name="Shape 1529"/>
          <p:cNvSpPr/>
          <p:nvPr/>
        </p:nvSpPr>
        <p:spPr>
          <a:xfrm>
            <a:off x="2924280" y="61912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40" name="Shape 1530"/>
          <p:cNvSpPr/>
          <p:nvPr/>
        </p:nvSpPr>
        <p:spPr>
          <a:xfrm>
            <a:off x="5818320" y="28972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41" name="Shape 1531"/>
          <p:cNvSpPr/>
          <p:nvPr/>
        </p:nvSpPr>
        <p:spPr>
          <a:xfrm flipH="1">
            <a:off x="1197720" y="3745080"/>
            <a:ext cx="410760" cy="563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442" name="Shape 1532"/>
          <p:cNvSpPr/>
          <p:nvPr/>
        </p:nvSpPr>
        <p:spPr>
          <a:xfrm>
            <a:off x="3381480" y="61898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43" name="Shape 1533"/>
          <p:cNvSpPr/>
          <p:nvPr/>
        </p:nvSpPr>
        <p:spPr>
          <a:xfrm>
            <a:off x="6276960" y="28972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44" name="Shape 1534"/>
          <p:cNvSpPr/>
          <p:nvPr/>
        </p:nvSpPr>
        <p:spPr>
          <a:xfrm>
            <a:off x="2236680" y="3713040"/>
            <a:ext cx="348840" cy="623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445" name="Shape 1535"/>
          <p:cNvSpPr/>
          <p:nvPr/>
        </p:nvSpPr>
        <p:spPr>
          <a:xfrm>
            <a:off x="3873600" y="61880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46" name="Shape 1536"/>
          <p:cNvSpPr/>
          <p:nvPr/>
        </p:nvSpPr>
        <p:spPr>
          <a:xfrm>
            <a:off x="6737400" y="28972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5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28" dur="indefinite" restart="never" nodeType="tmRoot">
          <p:childTnLst>
            <p:seq>
              <p:cTn id="529" dur="indefinite" nodeType="mainSeq">
                <p:childTnLst>
                  <p:par>
                    <p:cTn id="530" fill="hold">
                      <p:stCondLst>
                        <p:cond delay="indefinite"/>
                      </p:stCondLst>
                      <p:childTnLst>
                        <p:par>
                          <p:cTn id="531" fill="hold">
                            <p:stCondLst>
                              <p:cond delay="0"/>
                            </p:stCondLst>
                            <p:childTnLst>
                              <p:par>
                                <p:cTn id="53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4" dur="500"/>
                                        <p:tgtEl>
                                          <p:spTgt spid="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5" fill="hold">
                      <p:stCondLst>
                        <p:cond delay="indefinite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43" dur="500"/>
                                        <p:tgtEl>
                                          <p:spTgt spid="1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4" fill="hold">
                      <p:stCondLst>
                        <p:cond delay="indefinite"/>
                      </p:stCondLst>
                      <p:childTnLst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id="5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8" dur="500"/>
                                        <p:tgtEl>
                                          <p:spTgt spid="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9" fill="hold">
                      <p:stCondLst>
                        <p:cond delay="indefinite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fill="hold">
                      <p:stCondLst>
                        <p:cond delay="indefinite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7" dur="500"/>
                                        <p:tgtEl>
                                          <p:spTgt spid="1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8" fill="hold">
                      <p:stCondLst>
                        <p:cond delay="indefinite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nodeType="clickEffect" fill="hold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561" dur="500"/>
                                        <p:tgtEl>
                                          <p:spTgt spid="1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Shape 1541"/>
          <p:cNvSpPr/>
          <p:nvPr/>
        </p:nvSpPr>
        <p:spPr>
          <a:xfrm rot="10800000">
            <a:off x="1479960" y="4730400"/>
            <a:ext cx="763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48" name="Shape 1542"/>
          <p:cNvSpPr/>
          <p:nvPr/>
        </p:nvSpPr>
        <p:spPr>
          <a:xfrm>
            <a:off x="2989440" y="2612880"/>
            <a:ext cx="1309320" cy="1902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49" name="Shape 1543"/>
          <p:cNvSpPr/>
          <p:nvPr/>
        </p:nvSpPr>
        <p:spPr>
          <a:xfrm flipH="1">
            <a:off x="1280520" y="2583000"/>
            <a:ext cx="1371240" cy="1888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450" name="Shape 1544"/>
          <p:cNvGrpSpPr/>
          <p:nvPr/>
        </p:nvGrpSpPr>
        <p:grpSpPr>
          <a:xfrm>
            <a:off x="884160" y="1295280"/>
            <a:ext cx="7681680" cy="617040"/>
            <a:chOff x="884160" y="1295280"/>
            <a:chExt cx="7681680" cy="617040"/>
          </a:xfrm>
        </p:grpSpPr>
        <p:pic>
          <p:nvPicPr>
            <p:cNvPr id="1451" name="Shape 1545" descr=""/>
            <p:cNvPicPr/>
            <p:nvPr/>
          </p:nvPicPr>
          <p:blipFill>
            <a:blip r:embed="rId1"/>
            <a:stretch/>
          </p:blipFill>
          <p:spPr>
            <a:xfrm>
              <a:off x="884160" y="1295280"/>
              <a:ext cx="670680" cy="617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52" name="Shape 1546"/>
            <p:cNvSpPr/>
            <p:nvPr/>
          </p:nvSpPr>
          <p:spPr>
            <a:xfrm>
              <a:off x="1662840" y="1327320"/>
              <a:ext cx="69030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广度优先遍历序列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入队序列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出队序列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    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1453" name="Shape 1547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1454" name="Shape 1548"/>
          <p:cNvGrpSpPr/>
          <p:nvPr/>
        </p:nvGrpSpPr>
        <p:grpSpPr>
          <a:xfrm>
            <a:off x="2583000" y="2128680"/>
            <a:ext cx="529920" cy="595080"/>
            <a:chOff x="2583000" y="2128680"/>
            <a:chExt cx="529920" cy="595080"/>
          </a:xfrm>
        </p:grpSpPr>
        <p:sp>
          <p:nvSpPr>
            <p:cNvPr id="1455" name="Shape 1549"/>
            <p:cNvSpPr/>
            <p:nvPr/>
          </p:nvSpPr>
          <p:spPr>
            <a:xfrm>
              <a:off x="2583000" y="21780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6" name="Shape 1550"/>
            <p:cNvSpPr/>
            <p:nvPr/>
          </p:nvSpPr>
          <p:spPr>
            <a:xfrm>
              <a:off x="2649600" y="21286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457" name="Shape 1551"/>
          <p:cNvGrpSpPr/>
          <p:nvPr/>
        </p:nvGrpSpPr>
        <p:grpSpPr>
          <a:xfrm>
            <a:off x="3436920" y="3255840"/>
            <a:ext cx="529920" cy="595080"/>
            <a:chOff x="3436920" y="3255840"/>
            <a:chExt cx="529920" cy="595080"/>
          </a:xfrm>
        </p:grpSpPr>
        <p:sp>
          <p:nvSpPr>
            <p:cNvPr id="1458" name="Shape 1552"/>
            <p:cNvSpPr/>
            <p:nvPr/>
          </p:nvSpPr>
          <p:spPr>
            <a:xfrm>
              <a:off x="3436920" y="3305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9" name="Shape 1553"/>
            <p:cNvSpPr/>
            <p:nvPr/>
          </p:nvSpPr>
          <p:spPr>
            <a:xfrm>
              <a:off x="3503520" y="3255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460" name="Shape 1554"/>
          <p:cNvGrpSpPr/>
          <p:nvPr/>
        </p:nvGrpSpPr>
        <p:grpSpPr>
          <a:xfrm>
            <a:off x="1733400" y="3165480"/>
            <a:ext cx="530280" cy="595080"/>
            <a:chOff x="1733400" y="3165480"/>
            <a:chExt cx="530280" cy="595080"/>
          </a:xfrm>
        </p:grpSpPr>
        <p:sp>
          <p:nvSpPr>
            <p:cNvPr id="1461" name="Shape 1555"/>
            <p:cNvSpPr/>
            <p:nvPr/>
          </p:nvSpPr>
          <p:spPr>
            <a:xfrm>
              <a:off x="1733400" y="32148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62" name="Shape 1556"/>
            <p:cNvSpPr/>
            <p:nvPr/>
          </p:nvSpPr>
          <p:spPr>
            <a:xfrm>
              <a:off x="1800360" y="31654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463" name="Shape 1557"/>
          <p:cNvGrpSpPr/>
          <p:nvPr/>
        </p:nvGrpSpPr>
        <p:grpSpPr>
          <a:xfrm>
            <a:off x="968400" y="4398840"/>
            <a:ext cx="529920" cy="595080"/>
            <a:chOff x="968400" y="4398840"/>
            <a:chExt cx="529920" cy="595080"/>
          </a:xfrm>
        </p:grpSpPr>
        <p:sp>
          <p:nvSpPr>
            <p:cNvPr id="1464" name="Shape 1558"/>
            <p:cNvSpPr/>
            <p:nvPr/>
          </p:nvSpPr>
          <p:spPr>
            <a:xfrm>
              <a:off x="968400" y="4448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65" name="Shape 1559"/>
            <p:cNvSpPr/>
            <p:nvPr/>
          </p:nvSpPr>
          <p:spPr>
            <a:xfrm>
              <a:off x="1035000" y="4398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466" name="Shape 1560"/>
          <p:cNvGrpSpPr/>
          <p:nvPr/>
        </p:nvGrpSpPr>
        <p:grpSpPr>
          <a:xfrm>
            <a:off x="2233440" y="4398840"/>
            <a:ext cx="530280" cy="595080"/>
            <a:chOff x="2233440" y="4398840"/>
            <a:chExt cx="530280" cy="595080"/>
          </a:xfrm>
        </p:grpSpPr>
        <p:sp>
          <p:nvSpPr>
            <p:cNvPr id="1467" name="Shape 1561"/>
            <p:cNvSpPr/>
            <p:nvPr/>
          </p:nvSpPr>
          <p:spPr>
            <a:xfrm>
              <a:off x="2233440" y="4448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68" name="Shape 1562"/>
            <p:cNvSpPr/>
            <p:nvPr/>
          </p:nvSpPr>
          <p:spPr>
            <a:xfrm>
              <a:off x="2300400" y="4398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469" name="Shape 1563"/>
          <p:cNvGrpSpPr/>
          <p:nvPr/>
        </p:nvGrpSpPr>
        <p:grpSpPr>
          <a:xfrm>
            <a:off x="2832120" y="4429080"/>
            <a:ext cx="529920" cy="595080"/>
            <a:chOff x="2832120" y="4429080"/>
            <a:chExt cx="529920" cy="595080"/>
          </a:xfrm>
        </p:grpSpPr>
        <p:sp>
          <p:nvSpPr>
            <p:cNvPr id="1470" name="Shape 1564"/>
            <p:cNvSpPr/>
            <p:nvPr/>
          </p:nvSpPr>
          <p:spPr>
            <a:xfrm>
              <a:off x="2832120" y="447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1" name="Shape 1565"/>
            <p:cNvSpPr/>
            <p:nvPr/>
          </p:nvSpPr>
          <p:spPr>
            <a:xfrm>
              <a:off x="2898720" y="4429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472" name="Shape 1566"/>
          <p:cNvGrpSpPr/>
          <p:nvPr/>
        </p:nvGrpSpPr>
        <p:grpSpPr>
          <a:xfrm>
            <a:off x="4091040" y="4446720"/>
            <a:ext cx="529920" cy="595080"/>
            <a:chOff x="4091040" y="4446720"/>
            <a:chExt cx="529920" cy="595080"/>
          </a:xfrm>
        </p:grpSpPr>
        <p:sp>
          <p:nvSpPr>
            <p:cNvPr id="1473" name="Shape 1567"/>
            <p:cNvSpPr/>
            <p:nvPr/>
          </p:nvSpPr>
          <p:spPr>
            <a:xfrm>
              <a:off x="4091040" y="4495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4" name="Shape 1568"/>
            <p:cNvSpPr/>
            <p:nvPr/>
          </p:nvSpPr>
          <p:spPr>
            <a:xfrm>
              <a:off x="4157640" y="4446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475" name="Shape 1569"/>
          <p:cNvGrpSpPr/>
          <p:nvPr/>
        </p:nvGrpSpPr>
        <p:grpSpPr>
          <a:xfrm>
            <a:off x="1608120" y="5603760"/>
            <a:ext cx="529920" cy="595080"/>
            <a:chOff x="1608120" y="5603760"/>
            <a:chExt cx="529920" cy="595080"/>
          </a:xfrm>
        </p:grpSpPr>
        <p:sp>
          <p:nvSpPr>
            <p:cNvPr id="1476" name="Shape 1570"/>
            <p:cNvSpPr/>
            <p:nvPr/>
          </p:nvSpPr>
          <p:spPr>
            <a:xfrm>
              <a:off x="1608120" y="5653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7" name="Shape 1571"/>
            <p:cNvSpPr/>
            <p:nvPr/>
          </p:nvSpPr>
          <p:spPr>
            <a:xfrm>
              <a:off x="1674720" y="56037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8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1478" name="Shape 1572"/>
          <p:cNvSpPr/>
          <p:nvPr/>
        </p:nvSpPr>
        <p:spPr>
          <a:xfrm>
            <a:off x="2090880" y="3695760"/>
            <a:ext cx="394920" cy="77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79" name="Shape 1573"/>
          <p:cNvSpPr/>
          <p:nvPr/>
        </p:nvSpPr>
        <p:spPr>
          <a:xfrm flipH="1">
            <a:off x="3156840" y="3770280"/>
            <a:ext cx="410760" cy="72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80" name="Shape 1574"/>
          <p:cNvSpPr/>
          <p:nvPr/>
        </p:nvSpPr>
        <p:spPr>
          <a:xfrm rot="10800000">
            <a:off x="3321360" y="4746240"/>
            <a:ext cx="763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81" name="Shape 1575"/>
          <p:cNvSpPr/>
          <p:nvPr/>
        </p:nvSpPr>
        <p:spPr>
          <a:xfrm>
            <a:off x="1298520" y="4944960"/>
            <a:ext cx="394920" cy="77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82" name="Shape 1576"/>
          <p:cNvSpPr/>
          <p:nvPr/>
        </p:nvSpPr>
        <p:spPr>
          <a:xfrm>
            <a:off x="0" y="6135840"/>
            <a:ext cx="2179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遍历序列：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83" name="Shape 1577"/>
          <p:cNvSpPr/>
          <p:nvPr/>
        </p:nvSpPr>
        <p:spPr>
          <a:xfrm>
            <a:off x="1889280" y="61898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84" name="Shape 1578"/>
          <p:cNvSpPr/>
          <p:nvPr/>
        </p:nvSpPr>
        <p:spPr>
          <a:xfrm>
            <a:off x="2738520" y="1808280"/>
            <a:ext cx="360" cy="36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485" name="Shape 1579"/>
          <p:cNvSpPr/>
          <p:nvPr/>
        </p:nvSpPr>
        <p:spPr>
          <a:xfrm flipH="1">
            <a:off x="2052000" y="2556000"/>
            <a:ext cx="410760" cy="563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486" name="Shape 1580"/>
          <p:cNvSpPr/>
          <p:nvPr/>
        </p:nvSpPr>
        <p:spPr>
          <a:xfrm>
            <a:off x="3165480" y="2585880"/>
            <a:ext cx="410760" cy="59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487" name="Shape 1581"/>
          <p:cNvSpPr/>
          <p:nvPr/>
        </p:nvSpPr>
        <p:spPr>
          <a:xfrm>
            <a:off x="2408400" y="61898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88" name="Shape 1582"/>
          <p:cNvSpPr/>
          <p:nvPr/>
        </p:nvSpPr>
        <p:spPr>
          <a:xfrm>
            <a:off x="2924280" y="61912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89" name="Shape 1583"/>
          <p:cNvSpPr/>
          <p:nvPr/>
        </p:nvSpPr>
        <p:spPr>
          <a:xfrm>
            <a:off x="5235480" y="2803680"/>
            <a:ext cx="3430080" cy="64116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0" name="Shape 1584"/>
          <p:cNvSpPr/>
          <p:nvPr/>
        </p:nvSpPr>
        <p:spPr>
          <a:xfrm flipH="1">
            <a:off x="1197720" y="3745080"/>
            <a:ext cx="410760" cy="563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491" name="Shape 1585"/>
          <p:cNvSpPr/>
          <p:nvPr/>
        </p:nvSpPr>
        <p:spPr>
          <a:xfrm>
            <a:off x="5235480" y="2787480"/>
            <a:ext cx="3427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92" name="Shape 1586"/>
          <p:cNvSpPr/>
          <p:nvPr/>
        </p:nvSpPr>
        <p:spPr>
          <a:xfrm>
            <a:off x="3381480" y="61898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93" name="Shape 1587"/>
          <p:cNvSpPr/>
          <p:nvPr/>
        </p:nvSpPr>
        <p:spPr>
          <a:xfrm>
            <a:off x="6276960" y="28972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94" name="Shape 1588"/>
          <p:cNvSpPr/>
          <p:nvPr/>
        </p:nvSpPr>
        <p:spPr>
          <a:xfrm>
            <a:off x="2236680" y="3713040"/>
            <a:ext cx="348840" cy="623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495" name="Shape 1589"/>
          <p:cNvSpPr/>
          <p:nvPr/>
        </p:nvSpPr>
        <p:spPr>
          <a:xfrm>
            <a:off x="3873600" y="61880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96" name="Shape 1590"/>
          <p:cNvSpPr/>
          <p:nvPr/>
        </p:nvSpPr>
        <p:spPr>
          <a:xfrm>
            <a:off x="6737400" y="28972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97" name="Shape 1591"/>
          <p:cNvSpPr/>
          <p:nvPr/>
        </p:nvSpPr>
        <p:spPr>
          <a:xfrm flipH="1">
            <a:off x="3060000" y="3805200"/>
            <a:ext cx="317160" cy="54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498" name="Shape 1592"/>
          <p:cNvSpPr/>
          <p:nvPr/>
        </p:nvSpPr>
        <p:spPr>
          <a:xfrm>
            <a:off x="4352760" y="61880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99" name="Shape 1593"/>
          <p:cNvSpPr/>
          <p:nvPr/>
        </p:nvSpPr>
        <p:spPr>
          <a:xfrm>
            <a:off x="7178760" y="28972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00" name="Shape 1594"/>
          <p:cNvSpPr/>
          <p:nvPr/>
        </p:nvSpPr>
        <p:spPr>
          <a:xfrm>
            <a:off x="3990960" y="3805200"/>
            <a:ext cx="410760" cy="59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501" name="Shape 1595"/>
          <p:cNvSpPr/>
          <p:nvPr/>
        </p:nvSpPr>
        <p:spPr>
          <a:xfrm>
            <a:off x="4797360" y="62056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02" name="Shape 1596"/>
          <p:cNvSpPr/>
          <p:nvPr/>
        </p:nvSpPr>
        <p:spPr>
          <a:xfrm>
            <a:off x="7642080" y="28972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03" name="Shape 1597"/>
          <p:cNvSpPr/>
          <p:nvPr/>
        </p:nvSpPr>
        <p:spPr>
          <a:xfrm>
            <a:off x="5235480" y="3443400"/>
            <a:ext cx="3427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63" dur="indefinite" restart="never" nodeType="tmRoot">
          <p:childTnLst>
            <p:seq>
              <p:cTn id="564" dur="indefinite" nodeType="mainSeq">
                <p:childTnLst>
                  <p:par>
                    <p:cTn id="565" fill="hold">
                      <p:stCondLst>
                        <p:cond delay="indefinite"/>
                      </p:stCondLst>
                      <p:childTnLst>
                        <p:par>
                          <p:cTn id="566" fill="hold">
                            <p:stCondLst>
                              <p:cond delay="0"/>
                            </p:stCondLst>
                            <p:childTnLst>
                              <p:par>
                                <p:cTn id="56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9" dur="500"/>
                                        <p:tgtEl>
                                          <p:spTgt spid="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0" fill="hold">
                      <p:stCondLst>
                        <p:cond delay="indefinite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id="57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4" fill="hold">
                      <p:stCondLst>
                        <p:cond delay="indefinite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8" dur="500"/>
                                        <p:tgtEl>
                                          <p:spTgt spid="1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9" fill="hold">
                      <p:stCondLst>
                        <p:cond delay="indefinite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3" dur="500"/>
                                        <p:tgtEl>
                                          <p:spTgt spid="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4" fill="hold">
                      <p:stCondLst>
                        <p:cond delay="indefinite"/>
                      </p:stCondLst>
                      <p:childTnLst>
                        <p:par>
                          <p:cTn id="585" fill="hold">
                            <p:stCondLst>
                              <p:cond delay="0"/>
                            </p:stCondLst>
                            <p:childTnLst>
                              <p:par>
                                <p:cTn id="58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8" fill="hold">
                      <p:stCondLst>
                        <p:cond delay="indefinite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2" dur="500"/>
                                        <p:tgtEl>
                                          <p:spTgt spid="1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3" fill="hold">
                      <p:stCondLst>
                        <p:cond delay="indefinite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nodeType="clickEffect" fill="hold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596" dur="500"/>
                                        <p:tgtEl>
                                          <p:spTgt spid="1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Shape 1602"/>
          <p:cNvSpPr/>
          <p:nvPr/>
        </p:nvSpPr>
        <p:spPr>
          <a:xfrm rot="10800000">
            <a:off x="1479960" y="4730400"/>
            <a:ext cx="763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05" name="Shape 1603"/>
          <p:cNvSpPr/>
          <p:nvPr/>
        </p:nvSpPr>
        <p:spPr>
          <a:xfrm>
            <a:off x="2989440" y="2612880"/>
            <a:ext cx="1309320" cy="1902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06" name="Shape 1604"/>
          <p:cNvSpPr/>
          <p:nvPr/>
        </p:nvSpPr>
        <p:spPr>
          <a:xfrm flipH="1">
            <a:off x="1280520" y="2583000"/>
            <a:ext cx="1371240" cy="1888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507" name="Shape 1605"/>
          <p:cNvGrpSpPr/>
          <p:nvPr/>
        </p:nvGrpSpPr>
        <p:grpSpPr>
          <a:xfrm>
            <a:off x="884160" y="1295280"/>
            <a:ext cx="7681680" cy="617040"/>
            <a:chOff x="884160" y="1295280"/>
            <a:chExt cx="7681680" cy="617040"/>
          </a:xfrm>
        </p:grpSpPr>
        <p:pic>
          <p:nvPicPr>
            <p:cNvPr id="1508" name="Shape 1606" descr=""/>
            <p:cNvPicPr/>
            <p:nvPr/>
          </p:nvPicPr>
          <p:blipFill>
            <a:blip r:embed="rId1"/>
            <a:stretch/>
          </p:blipFill>
          <p:spPr>
            <a:xfrm>
              <a:off x="884160" y="1295280"/>
              <a:ext cx="670680" cy="617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509" name="Shape 1607"/>
            <p:cNvSpPr/>
            <p:nvPr/>
          </p:nvSpPr>
          <p:spPr>
            <a:xfrm>
              <a:off x="1662840" y="1327320"/>
              <a:ext cx="69030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广度优先遍历序列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入队序列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出队序列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    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1510" name="Shape 1608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1511" name="Shape 1609"/>
          <p:cNvGrpSpPr/>
          <p:nvPr/>
        </p:nvGrpSpPr>
        <p:grpSpPr>
          <a:xfrm>
            <a:off x="2583000" y="2128680"/>
            <a:ext cx="529920" cy="595080"/>
            <a:chOff x="2583000" y="2128680"/>
            <a:chExt cx="529920" cy="595080"/>
          </a:xfrm>
        </p:grpSpPr>
        <p:sp>
          <p:nvSpPr>
            <p:cNvPr id="1512" name="Shape 1610"/>
            <p:cNvSpPr/>
            <p:nvPr/>
          </p:nvSpPr>
          <p:spPr>
            <a:xfrm>
              <a:off x="2583000" y="21780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3" name="Shape 1611"/>
            <p:cNvSpPr/>
            <p:nvPr/>
          </p:nvSpPr>
          <p:spPr>
            <a:xfrm>
              <a:off x="2649600" y="21286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514" name="Shape 1612"/>
          <p:cNvGrpSpPr/>
          <p:nvPr/>
        </p:nvGrpSpPr>
        <p:grpSpPr>
          <a:xfrm>
            <a:off x="3436920" y="3255840"/>
            <a:ext cx="529920" cy="595080"/>
            <a:chOff x="3436920" y="3255840"/>
            <a:chExt cx="529920" cy="595080"/>
          </a:xfrm>
        </p:grpSpPr>
        <p:sp>
          <p:nvSpPr>
            <p:cNvPr id="1515" name="Shape 1613"/>
            <p:cNvSpPr/>
            <p:nvPr/>
          </p:nvSpPr>
          <p:spPr>
            <a:xfrm>
              <a:off x="3436920" y="3305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6" name="Shape 1614"/>
            <p:cNvSpPr/>
            <p:nvPr/>
          </p:nvSpPr>
          <p:spPr>
            <a:xfrm>
              <a:off x="3503520" y="3255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517" name="Shape 1615"/>
          <p:cNvGrpSpPr/>
          <p:nvPr/>
        </p:nvGrpSpPr>
        <p:grpSpPr>
          <a:xfrm>
            <a:off x="1733400" y="3165480"/>
            <a:ext cx="530280" cy="595080"/>
            <a:chOff x="1733400" y="3165480"/>
            <a:chExt cx="530280" cy="595080"/>
          </a:xfrm>
        </p:grpSpPr>
        <p:sp>
          <p:nvSpPr>
            <p:cNvPr id="1518" name="Shape 1616"/>
            <p:cNvSpPr/>
            <p:nvPr/>
          </p:nvSpPr>
          <p:spPr>
            <a:xfrm>
              <a:off x="1733400" y="32148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9" name="Shape 1617"/>
            <p:cNvSpPr/>
            <p:nvPr/>
          </p:nvSpPr>
          <p:spPr>
            <a:xfrm>
              <a:off x="1800360" y="31654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520" name="Shape 1618"/>
          <p:cNvGrpSpPr/>
          <p:nvPr/>
        </p:nvGrpSpPr>
        <p:grpSpPr>
          <a:xfrm>
            <a:off x="968400" y="4398840"/>
            <a:ext cx="529920" cy="595080"/>
            <a:chOff x="968400" y="4398840"/>
            <a:chExt cx="529920" cy="595080"/>
          </a:xfrm>
        </p:grpSpPr>
        <p:sp>
          <p:nvSpPr>
            <p:cNvPr id="1521" name="Shape 1619"/>
            <p:cNvSpPr/>
            <p:nvPr/>
          </p:nvSpPr>
          <p:spPr>
            <a:xfrm>
              <a:off x="968400" y="4448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22" name="Shape 1620"/>
            <p:cNvSpPr/>
            <p:nvPr/>
          </p:nvSpPr>
          <p:spPr>
            <a:xfrm>
              <a:off x="1035000" y="4398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523" name="Shape 1621"/>
          <p:cNvGrpSpPr/>
          <p:nvPr/>
        </p:nvGrpSpPr>
        <p:grpSpPr>
          <a:xfrm>
            <a:off x="2233440" y="4398840"/>
            <a:ext cx="530280" cy="595080"/>
            <a:chOff x="2233440" y="4398840"/>
            <a:chExt cx="530280" cy="595080"/>
          </a:xfrm>
        </p:grpSpPr>
        <p:sp>
          <p:nvSpPr>
            <p:cNvPr id="1524" name="Shape 1622"/>
            <p:cNvSpPr/>
            <p:nvPr/>
          </p:nvSpPr>
          <p:spPr>
            <a:xfrm>
              <a:off x="2233440" y="4448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25" name="Shape 1623"/>
            <p:cNvSpPr/>
            <p:nvPr/>
          </p:nvSpPr>
          <p:spPr>
            <a:xfrm>
              <a:off x="2300400" y="4398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526" name="Shape 1624"/>
          <p:cNvGrpSpPr/>
          <p:nvPr/>
        </p:nvGrpSpPr>
        <p:grpSpPr>
          <a:xfrm>
            <a:off x="2832120" y="4429080"/>
            <a:ext cx="529920" cy="595080"/>
            <a:chOff x="2832120" y="4429080"/>
            <a:chExt cx="529920" cy="595080"/>
          </a:xfrm>
        </p:grpSpPr>
        <p:sp>
          <p:nvSpPr>
            <p:cNvPr id="1527" name="Shape 1625"/>
            <p:cNvSpPr/>
            <p:nvPr/>
          </p:nvSpPr>
          <p:spPr>
            <a:xfrm>
              <a:off x="2832120" y="447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28" name="Shape 1626"/>
            <p:cNvSpPr/>
            <p:nvPr/>
          </p:nvSpPr>
          <p:spPr>
            <a:xfrm>
              <a:off x="2898720" y="4429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529" name="Shape 1627"/>
          <p:cNvGrpSpPr/>
          <p:nvPr/>
        </p:nvGrpSpPr>
        <p:grpSpPr>
          <a:xfrm>
            <a:off x="4091040" y="4446720"/>
            <a:ext cx="529920" cy="595080"/>
            <a:chOff x="4091040" y="4446720"/>
            <a:chExt cx="529920" cy="595080"/>
          </a:xfrm>
        </p:grpSpPr>
        <p:sp>
          <p:nvSpPr>
            <p:cNvPr id="1530" name="Shape 1628"/>
            <p:cNvSpPr/>
            <p:nvPr/>
          </p:nvSpPr>
          <p:spPr>
            <a:xfrm>
              <a:off x="4091040" y="4495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1" name="Shape 1629"/>
            <p:cNvSpPr/>
            <p:nvPr/>
          </p:nvSpPr>
          <p:spPr>
            <a:xfrm>
              <a:off x="4157640" y="4446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532" name="Shape 1630"/>
          <p:cNvGrpSpPr/>
          <p:nvPr/>
        </p:nvGrpSpPr>
        <p:grpSpPr>
          <a:xfrm>
            <a:off x="1608120" y="5603760"/>
            <a:ext cx="529920" cy="595080"/>
            <a:chOff x="1608120" y="5603760"/>
            <a:chExt cx="529920" cy="595080"/>
          </a:xfrm>
        </p:grpSpPr>
        <p:sp>
          <p:nvSpPr>
            <p:cNvPr id="1533" name="Shape 1631"/>
            <p:cNvSpPr/>
            <p:nvPr/>
          </p:nvSpPr>
          <p:spPr>
            <a:xfrm>
              <a:off x="1608120" y="5653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4" name="Shape 1632"/>
            <p:cNvSpPr/>
            <p:nvPr/>
          </p:nvSpPr>
          <p:spPr>
            <a:xfrm>
              <a:off x="1674720" y="56037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8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1535" name="Shape 1633"/>
          <p:cNvSpPr/>
          <p:nvPr/>
        </p:nvSpPr>
        <p:spPr>
          <a:xfrm>
            <a:off x="2090880" y="3695760"/>
            <a:ext cx="394920" cy="77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36" name="Shape 1634"/>
          <p:cNvSpPr/>
          <p:nvPr/>
        </p:nvSpPr>
        <p:spPr>
          <a:xfrm flipH="1">
            <a:off x="3156840" y="3770280"/>
            <a:ext cx="410760" cy="72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37" name="Shape 1635"/>
          <p:cNvSpPr/>
          <p:nvPr/>
        </p:nvSpPr>
        <p:spPr>
          <a:xfrm rot="10800000">
            <a:off x="3321360" y="4746240"/>
            <a:ext cx="763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38" name="Shape 1636"/>
          <p:cNvSpPr/>
          <p:nvPr/>
        </p:nvSpPr>
        <p:spPr>
          <a:xfrm>
            <a:off x="1298520" y="4944960"/>
            <a:ext cx="394920" cy="77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39" name="Shape 1637"/>
          <p:cNvSpPr/>
          <p:nvPr/>
        </p:nvSpPr>
        <p:spPr>
          <a:xfrm>
            <a:off x="0" y="6135840"/>
            <a:ext cx="2179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遍历序列：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40" name="Shape 1638"/>
          <p:cNvSpPr/>
          <p:nvPr/>
        </p:nvSpPr>
        <p:spPr>
          <a:xfrm>
            <a:off x="1889280" y="61898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41" name="Shape 1639"/>
          <p:cNvSpPr/>
          <p:nvPr/>
        </p:nvSpPr>
        <p:spPr>
          <a:xfrm>
            <a:off x="2738520" y="1808280"/>
            <a:ext cx="360" cy="36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542" name="Shape 1640"/>
          <p:cNvSpPr/>
          <p:nvPr/>
        </p:nvSpPr>
        <p:spPr>
          <a:xfrm flipH="1">
            <a:off x="2052000" y="2556000"/>
            <a:ext cx="410760" cy="563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543" name="Shape 1641"/>
          <p:cNvSpPr/>
          <p:nvPr/>
        </p:nvSpPr>
        <p:spPr>
          <a:xfrm>
            <a:off x="3165480" y="2585880"/>
            <a:ext cx="410760" cy="59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544" name="Shape 1642"/>
          <p:cNvSpPr/>
          <p:nvPr/>
        </p:nvSpPr>
        <p:spPr>
          <a:xfrm>
            <a:off x="2408400" y="61898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45" name="Shape 1643"/>
          <p:cNvSpPr/>
          <p:nvPr/>
        </p:nvSpPr>
        <p:spPr>
          <a:xfrm>
            <a:off x="2924280" y="61912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46" name="Shape 1644"/>
          <p:cNvSpPr/>
          <p:nvPr/>
        </p:nvSpPr>
        <p:spPr>
          <a:xfrm>
            <a:off x="5235480" y="2803680"/>
            <a:ext cx="3430080" cy="64116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47" name="Shape 1645"/>
          <p:cNvSpPr/>
          <p:nvPr/>
        </p:nvSpPr>
        <p:spPr>
          <a:xfrm flipH="1">
            <a:off x="1197720" y="3745080"/>
            <a:ext cx="410760" cy="563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548" name="Shape 1646"/>
          <p:cNvSpPr/>
          <p:nvPr/>
        </p:nvSpPr>
        <p:spPr>
          <a:xfrm>
            <a:off x="5235480" y="2787480"/>
            <a:ext cx="3427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49" name="Shape 1647"/>
          <p:cNvSpPr/>
          <p:nvPr/>
        </p:nvSpPr>
        <p:spPr>
          <a:xfrm>
            <a:off x="3381480" y="61898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50" name="Shape 1648"/>
          <p:cNvSpPr/>
          <p:nvPr/>
        </p:nvSpPr>
        <p:spPr>
          <a:xfrm>
            <a:off x="2236680" y="3713040"/>
            <a:ext cx="348840" cy="623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551" name="Shape 1649"/>
          <p:cNvSpPr/>
          <p:nvPr/>
        </p:nvSpPr>
        <p:spPr>
          <a:xfrm>
            <a:off x="3873600" y="61880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52" name="Shape 1650"/>
          <p:cNvSpPr/>
          <p:nvPr/>
        </p:nvSpPr>
        <p:spPr>
          <a:xfrm>
            <a:off x="6737400" y="28972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53" name="Shape 1651"/>
          <p:cNvSpPr/>
          <p:nvPr/>
        </p:nvSpPr>
        <p:spPr>
          <a:xfrm flipH="1">
            <a:off x="3060000" y="3805200"/>
            <a:ext cx="317160" cy="54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554" name="Shape 1652"/>
          <p:cNvSpPr/>
          <p:nvPr/>
        </p:nvSpPr>
        <p:spPr>
          <a:xfrm>
            <a:off x="4352760" y="618804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55" name="Shape 1653"/>
          <p:cNvSpPr/>
          <p:nvPr/>
        </p:nvSpPr>
        <p:spPr>
          <a:xfrm>
            <a:off x="7178760" y="28972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56" name="Shape 1654"/>
          <p:cNvSpPr/>
          <p:nvPr/>
        </p:nvSpPr>
        <p:spPr>
          <a:xfrm>
            <a:off x="3990960" y="3805200"/>
            <a:ext cx="410760" cy="593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557" name="Shape 1655"/>
          <p:cNvSpPr/>
          <p:nvPr/>
        </p:nvSpPr>
        <p:spPr>
          <a:xfrm>
            <a:off x="4797360" y="62056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58" name="Shape 1656"/>
          <p:cNvSpPr/>
          <p:nvPr/>
        </p:nvSpPr>
        <p:spPr>
          <a:xfrm>
            <a:off x="7642080" y="28972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59" name="Shape 1657"/>
          <p:cNvSpPr/>
          <p:nvPr/>
        </p:nvSpPr>
        <p:spPr>
          <a:xfrm>
            <a:off x="8104320" y="2895480"/>
            <a:ext cx="50292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3333cc"/>
                </a:solidFill>
                <a:latin typeface="Times New Roman"/>
                <a:ea typeface="Times New Roman"/>
              </a:rPr>
              <a:t>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60" name="Shape 1658"/>
          <p:cNvSpPr/>
          <p:nvPr/>
        </p:nvSpPr>
        <p:spPr>
          <a:xfrm>
            <a:off x="5235480" y="3443400"/>
            <a:ext cx="3427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61" name="Shape 1659"/>
          <p:cNvSpPr/>
          <p:nvPr/>
        </p:nvSpPr>
        <p:spPr>
          <a:xfrm>
            <a:off x="1170000" y="5070600"/>
            <a:ext cx="318600" cy="623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3399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1562" name="Shape 1660"/>
          <p:cNvSpPr/>
          <p:nvPr/>
        </p:nvSpPr>
        <p:spPr>
          <a:xfrm>
            <a:off x="5288040" y="6205680"/>
            <a:ext cx="56304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ff0000"/>
                </a:solidFill>
                <a:latin typeface="Times New Roman"/>
                <a:ea typeface="Times New Roman"/>
              </a:rPr>
              <a:t>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63" name="Shape 1661"/>
          <p:cNvSpPr/>
          <p:nvPr/>
        </p:nvSpPr>
        <p:spPr>
          <a:xfrm>
            <a:off x="243000" y="4997520"/>
            <a:ext cx="4647960" cy="379080"/>
          </a:xfrm>
          <a:custGeom>
            <a:avLst/>
            <a:gdLst/>
            <a:ahLst/>
            <a:rect l="l" t="t" r="r" b="b"/>
            <a:pathLst>
              <a:path w="1219" h="413">
                <a:moveTo>
                  <a:pt x="0" y="58"/>
                </a:moveTo>
                <a:cubicBezTo>
                  <a:pt x="41" y="127"/>
                  <a:pt x="83" y="197"/>
                  <a:pt x="144" y="250"/>
                </a:cubicBezTo>
                <a:cubicBezTo>
                  <a:pt x="205" y="303"/>
                  <a:pt x="282" y="348"/>
                  <a:pt x="365" y="375"/>
                </a:cubicBezTo>
                <a:cubicBezTo>
                  <a:pt x="448" y="402"/>
                  <a:pt x="553" y="413"/>
                  <a:pt x="643" y="413"/>
                </a:cubicBezTo>
                <a:cubicBezTo>
                  <a:pt x="733" y="413"/>
                  <a:pt x="836" y="396"/>
                  <a:pt x="903" y="375"/>
                </a:cubicBezTo>
                <a:cubicBezTo>
                  <a:pt x="970" y="354"/>
                  <a:pt x="1001" y="330"/>
                  <a:pt x="1047" y="288"/>
                </a:cubicBezTo>
                <a:cubicBezTo>
                  <a:pt x="1093" y="246"/>
                  <a:pt x="1152" y="173"/>
                  <a:pt x="1181" y="125"/>
                </a:cubicBezTo>
                <a:cubicBezTo>
                  <a:pt x="1210" y="77"/>
                  <a:pt x="1213" y="21"/>
                  <a:pt x="1219" y="0"/>
                </a:cubicBezTo>
              </a:path>
            </a:pathLst>
          </a:custGeom>
          <a:noFill/>
          <a:ln w="28575">
            <a:solidFill>
              <a:srgbClr val="cc33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8" dur="indefinite" restart="never" nodeType="tmRoot">
          <p:childTnLst>
            <p:seq>
              <p:cTn id="599" dur="indefinite" nodeType="mainSeq">
                <p:childTnLst>
                  <p:par>
                    <p:cTn id="600" fill="hold">
                      <p:stCondLst>
                        <p:cond delay="indefinite"/>
                      </p:stCondLst>
                      <p:childTnLst>
                        <p:par>
                          <p:cTn id="601" fill="hold">
                            <p:stCondLst>
                              <p:cond delay="0"/>
                            </p:stCondLst>
                            <p:childTnLst>
                              <p:par>
                                <p:cTn id="60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4" dur="500"/>
                                        <p:tgtEl>
                                          <p:spTgt spid="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5" fill="hold">
                      <p:stCondLst>
                        <p:cond delay="indefinite"/>
                      </p:stCondLst>
                      <p:childTnLst>
                        <p:par>
                          <p:cTn id="606" fill="hold">
                            <p:stCondLst>
                              <p:cond delay="0"/>
                            </p:stCondLst>
                            <p:childTnLst>
                              <p:par>
                                <p:cTn id="607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indefinite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3" dur="500"/>
                                        <p:tgtEl>
                                          <p:spTgt spid="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4" fill="hold">
                      <p:stCondLst>
                        <p:cond delay="indefinite"/>
                      </p:stCondLst>
                      <p:childTnLst>
                        <p:par>
                          <p:cTn id="615" fill="hold">
                            <p:stCondLst>
                              <p:cond delay="0"/>
                            </p:stCondLst>
                            <p:childTnLst>
                              <p:par>
                                <p:cTn id="61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8" fill="hold">
                      <p:stCondLst>
                        <p:cond delay="indefinite"/>
                      </p:stCondLst>
                      <p:childTnLst>
                        <p:par>
                          <p:cTn id="619" fill="hold">
                            <p:stCondLst>
                              <p:cond delay="0"/>
                            </p:stCondLst>
                            <p:childTnLst>
                              <p:par>
                                <p:cTn id="620" nodeType="clickEffect" fill="hold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2" dur="500"/>
                                        <p:tgtEl>
                                          <p:spTgt spid="1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3" fill="hold">
                      <p:stCondLst>
                        <p:cond delay="indefinite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id="625" nodeType="clickEffect" fill="hold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626" dur="500"/>
                                        <p:tgtEl>
                                          <p:spTgt spid="1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8" fill="hold">
                      <p:stCondLst>
                        <p:cond delay="indefinite"/>
                      </p:stCondLst>
                      <p:childTnLst>
                        <p:par>
                          <p:cTn id="629" fill="hold">
                            <p:stCondLst>
                              <p:cond delay="0"/>
                            </p:stCondLst>
                            <p:childTnLst>
                              <p:par>
                                <p:cTn id="630" nodeType="clickEffect" fill="hold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631" dur="500"/>
                                        <p:tgtEl>
                                          <p:spTgt spid="1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3" fill="hold">
                      <p:stCondLst>
                        <p:cond delay="indefinite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nodeType="clickEffect" fill="hold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636" dur="500"/>
                                        <p:tgtEl>
                                          <p:spTgt spid="1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8" fill="hold">
                      <p:stCondLst>
                        <p:cond delay="indefinite"/>
                      </p:stCondLst>
                      <p:childTnLst>
                        <p:par>
                          <p:cTn id="639" fill="hold">
                            <p:stCondLst>
                              <p:cond delay="0"/>
                            </p:stCondLst>
                            <p:childTnLst>
                              <p:par>
                                <p:cTn id="640" nodeType="clickEffect" fill="hold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641" dur="500"/>
                                        <p:tgtEl>
                                          <p:spTgt spid="1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Shape 1666"/>
          <p:cNvSpPr/>
          <p:nvPr/>
        </p:nvSpPr>
        <p:spPr>
          <a:xfrm>
            <a:off x="380880" y="1295280"/>
            <a:ext cx="54860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2. 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广度优先遍历</a:t>
            </a:r>
            <a:r>
              <a:rPr b="0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65" name="Shape 1667"/>
          <p:cNvSpPr/>
          <p:nvPr/>
        </p:nvSpPr>
        <p:spPr>
          <a:xfrm>
            <a:off x="2368440" y="395280"/>
            <a:ext cx="3809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6.1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图的逻辑结构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66" name="Shape 1668"/>
          <p:cNvSpPr/>
          <p:nvPr/>
        </p:nvSpPr>
        <p:spPr>
          <a:xfrm>
            <a:off x="609480" y="1882800"/>
            <a:ext cx="761328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从顶点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出发图的广度优先遍历算法的伪代码：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67" name="Shape 1669"/>
          <p:cNvSpPr/>
          <p:nvPr/>
        </p:nvSpPr>
        <p:spPr>
          <a:xfrm>
            <a:off x="874800" y="2476440"/>
            <a:ext cx="7945200" cy="3990600"/>
          </a:xfrm>
          <a:prstGeom prst="rect">
            <a:avLst/>
          </a:prstGeom>
          <a:noFill/>
          <a:ln w="2857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初始化队列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Q;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访问顶点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v; visited [v]=1;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入队列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Q;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 while (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队列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非空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3.1 v=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队列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的队头元素出队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3.2 w=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的第一个邻接点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3.3 while (w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存在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3.3.1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如果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未被访问，则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       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访问顶点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w; visited[w]=1;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入队列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Q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3.3.2 w=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的下一个邻接点；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Shape 1674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69" name="Shape 1675"/>
          <p:cNvSpPr/>
          <p:nvPr/>
        </p:nvSpPr>
        <p:spPr>
          <a:xfrm>
            <a:off x="685800" y="2057400"/>
            <a:ext cx="80006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570" name="Shape 1676"/>
          <p:cNvGrpSpPr/>
          <p:nvPr/>
        </p:nvGrpSpPr>
        <p:grpSpPr>
          <a:xfrm>
            <a:off x="374760" y="1600200"/>
            <a:ext cx="8174880" cy="612360"/>
            <a:chOff x="374760" y="1600200"/>
            <a:chExt cx="8174880" cy="612360"/>
          </a:xfrm>
        </p:grpSpPr>
        <p:pic>
          <p:nvPicPr>
            <p:cNvPr id="1571" name="Shape 1677" descr=""/>
            <p:cNvPicPr/>
            <p:nvPr/>
          </p:nvPicPr>
          <p:blipFill>
            <a:blip r:embed="rId1"/>
            <a:stretch/>
          </p:blipFill>
          <p:spPr>
            <a:xfrm>
              <a:off x="374760" y="1600200"/>
              <a:ext cx="685440" cy="6123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572" name="Shape 1678"/>
            <p:cNvSpPr/>
            <p:nvPr/>
          </p:nvSpPr>
          <p:spPr>
            <a:xfrm>
              <a:off x="1190520" y="1600200"/>
              <a:ext cx="7359120" cy="57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3200" spc="-1" strike="noStrike">
                  <a:solidFill>
                    <a:srgbClr val="3333cc"/>
                  </a:solidFill>
                  <a:latin typeface="Times New Roman"/>
                  <a:ea typeface="Times New Roman"/>
                </a:rPr>
                <a:t>是否可以采用顺序存储结构存储图</a:t>
              </a:r>
              <a:r>
                <a:rPr b="1" lang="en-US" sz="3200" spc="-1" strike="noStrike">
                  <a:solidFill>
                    <a:srgbClr val="3333cc"/>
                  </a:solidFill>
                  <a:latin typeface="Times New Roman"/>
                  <a:ea typeface="Times New Roman"/>
                </a:rPr>
                <a:t>?</a:t>
              </a:r>
              <a:endParaRPr b="0" lang="en-US" sz="3200" spc="-1" strike="noStrike">
                <a:latin typeface="Arial"/>
              </a:endParaRPr>
            </a:p>
          </p:txBody>
        </p:sp>
      </p:grpSp>
      <p:sp>
        <p:nvSpPr>
          <p:cNvPr id="1573" name="Shape 1679"/>
          <p:cNvSpPr/>
          <p:nvPr/>
        </p:nvSpPr>
        <p:spPr>
          <a:xfrm>
            <a:off x="763560" y="2513160"/>
            <a:ext cx="7480080" cy="18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图的特点：顶点之间的关系是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: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，即任何两个顶点之间都可能存在关系（边），无法通过存储位置表示这种任意的逻辑关系，所以，图无法采用顺序存储结构。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1574" name="Shape 1680"/>
          <p:cNvGrpSpPr/>
          <p:nvPr/>
        </p:nvGrpSpPr>
        <p:grpSpPr>
          <a:xfrm>
            <a:off x="466560" y="4570560"/>
            <a:ext cx="8175240" cy="612360"/>
            <a:chOff x="466560" y="4570560"/>
            <a:chExt cx="8175240" cy="612360"/>
          </a:xfrm>
        </p:grpSpPr>
        <p:pic>
          <p:nvPicPr>
            <p:cNvPr id="1575" name="Shape 1681" descr=""/>
            <p:cNvPicPr/>
            <p:nvPr/>
          </p:nvPicPr>
          <p:blipFill>
            <a:blip r:embed="rId2"/>
            <a:stretch/>
          </p:blipFill>
          <p:spPr>
            <a:xfrm>
              <a:off x="466560" y="4570560"/>
              <a:ext cx="685440" cy="6123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576" name="Shape 1682"/>
            <p:cNvSpPr/>
            <p:nvPr/>
          </p:nvSpPr>
          <p:spPr>
            <a:xfrm>
              <a:off x="1282680" y="4570560"/>
              <a:ext cx="7359120" cy="57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3200" spc="-1" strike="noStrike">
                  <a:solidFill>
                    <a:srgbClr val="3333cc"/>
                  </a:solidFill>
                  <a:latin typeface="Times New Roman"/>
                  <a:ea typeface="Times New Roman"/>
                </a:rPr>
                <a:t>如何存储图</a:t>
              </a:r>
              <a:r>
                <a:rPr b="1" lang="en-US" sz="3200" spc="-1" strike="noStrike">
                  <a:solidFill>
                    <a:srgbClr val="3333cc"/>
                  </a:solidFill>
                  <a:latin typeface="Times New Roman"/>
                  <a:ea typeface="Times New Roman"/>
                </a:rPr>
                <a:t>?</a:t>
              </a:r>
              <a:endParaRPr b="0" lang="en-US" sz="3200" spc="-1" strike="noStrike">
                <a:latin typeface="Arial"/>
              </a:endParaRPr>
            </a:p>
          </p:txBody>
        </p:sp>
      </p:grpSp>
      <p:sp>
        <p:nvSpPr>
          <p:cNvPr id="1577" name="Shape 1683"/>
          <p:cNvSpPr/>
          <p:nvPr/>
        </p:nvSpPr>
        <p:spPr>
          <a:xfrm>
            <a:off x="747720" y="5392800"/>
            <a:ext cx="748008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考虑图的定义，图是由顶点和边组成的，分别考虑如何存储顶点、如何存储边。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43" dur="indefinite" restart="never" nodeType="tmRoot">
          <p:childTnLst>
            <p:seq>
              <p:cTn id="644" dur="indefinite" nodeType="mainSeq">
                <p:childTnLst>
                  <p:par>
                    <p:cTn id="645" fill="hold">
                      <p:stCondLst>
                        <p:cond delay="indefinite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9" fill="hold">
                      <p:stCondLst>
                        <p:cond delay="indefinite"/>
                      </p:stCondLst>
                      <p:childTnLst>
                        <p:par>
                          <p:cTn id="650" fill="hold">
                            <p:stCondLst>
                              <p:cond delay="0"/>
                            </p:stCondLst>
                            <p:childTnLst>
                              <p:par>
                                <p:cTn id="6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Shape 1688"/>
          <p:cNvSpPr/>
          <p:nvPr/>
        </p:nvSpPr>
        <p:spPr>
          <a:xfrm>
            <a:off x="351000" y="1311120"/>
            <a:ext cx="5105160" cy="57924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邻接矩阵（数组表示法）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579" name="Shape 1689"/>
          <p:cNvSpPr/>
          <p:nvPr/>
        </p:nvSpPr>
        <p:spPr>
          <a:xfrm>
            <a:off x="471600" y="2095560"/>
            <a:ext cx="8152920" cy="13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基本思想：用一个一维数组存储图中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顶点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的信息，用一个二维数组（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称为邻接矩阵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）存储图中各顶点之间的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邻接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关系。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80" name="Shape 1690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81" name="Shape 1691"/>
          <p:cNvSpPr/>
          <p:nvPr/>
        </p:nvSpPr>
        <p:spPr>
          <a:xfrm>
            <a:off x="517680" y="3633840"/>
            <a:ext cx="780372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假设图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＝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有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个顶点，则邻接矩阵是一个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×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的方阵，定义为：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1582" name="Shape 1692"/>
          <p:cNvGrpSpPr/>
          <p:nvPr/>
        </p:nvGrpSpPr>
        <p:grpSpPr>
          <a:xfrm>
            <a:off x="579600" y="4622760"/>
            <a:ext cx="8227440" cy="1723680"/>
            <a:chOff x="579600" y="4622760"/>
            <a:chExt cx="8227440" cy="1723680"/>
          </a:xfrm>
        </p:grpSpPr>
        <p:sp>
          <p:nvSpPr>
            <p:cNvPr id="1583" name="Shape 1693"/>
            <p:cNvSpPr/>
            <p:nvPr/>
          </p:nvSpPr>
          <p:spPr>
            <a:xfrm>
              <a:off x="2305080" y="4989600"/>
              <a:ext cx="572760" cy="13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84" name="Shape 1694"/>
            <p:cNvSpPr/>
            <p:nvPr/>
          </p:nvSpPr>
          <p:spPr>
            <a:xfrm>
              <a:off x="579600" y="5172120"/>
              <a:ext cx="17492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arc[i][j]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＝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585" name="Shape 1695"/>
            <p:cNvSpPr/>
            <p:nvPr/>
          </p:nvSpPr>
          <p:spPr>
            <a:xfrm>
              <a:off x="2440080" y="4622760"/>
              <a:ext cx="6366960" cy="1433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anchor="t">
              <a:noAutofit/>
            </a:bodyPr>
            <a:p>
              <a:pPr algn="just">
                <a:lnSpc>
                  <a:spcPct val="144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        </a:t>
              </a:r>
              <a:r>
                <a:rPr b="1" lang="ja-JP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若</a:t>
              </a: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(</a:t>
              </a:r>
              <a:r>
                <a:rPr b="1" i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32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i</a:t>
              </a: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, </a:t>
              </a:r>
              <a:r>
                <a:rPr b="1" i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32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j</a:t>
              </a: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)∈E</a:t>
              </a:r>
              <a:r>
                <a:rPr b="1" lang="ja-JP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（或</a:t>
              </a: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&lt;</a:t>
              </a:r>
              <a:r>
                <a:rPr b="1" i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32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i</a:t>
              </a: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, </a:t>
              </a:r>
              <a:r>
                <a:rPr b="1" i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32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j</a:t>
              </a: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&gt;∈E</a:t>
              </a:r>
              <a:r>
                <a:rPr b="1" lang="ja-JP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）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44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    </a:t>
              </a:r>
              <a:r>
                <a:rPr b="1" lang="ja-JP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其它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1586" name="Shape 1696"/>
            <p:cNvSpPr/>
            <p:nvPr/>
          </p:nvSpPr>
          <p:spPr>
            <a:xfrm>
              <a:off x="2179800" y="5006880"/>
              <a:ext cx="183960" cy="88380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7" name="Shape 1701"/>
          <p:cNvGrpSpPr/>
          <p:nvPr/>
        </p:nvGrpSpPr>
        <p:grpSpPr>
          <a:xfrm>
            <a:off x="579600" y="5092560"/>
            <a:ext cx="7666920" cy="518760"/>
            <a:chOff x="579600" y="5092560"/>
            <a:chExt cx="7666920" cy="518760"/>
          </a:xfrm>
        </p:grpSpPr>
        <p:sp>
          <p:nvSpPr>
            <p:cNvPr id="1588" name="Shape 1702"/>
            <p:cNvSpPr/>
            <p:nvPr/>
          </p:nvSpPr>
          <p:spPr>
            <a:xfrm>
              <a:off x="1220760" y="5092560"/>
              <a:ext cx="70257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无向图的邻接矩阵的特点？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1589" name="Shape 1703" descr=""/>
            <p:cNvPicPr/>
            <p:nvPr/>
          </p:nvPicPr>
          <p:blipFill>
            <a:blip r:embed="rId1"/>
            <a:stretch/>
          </p:blipFill>
          <p:spPr>
            <a:xfrm>
              <a:off x="579600" y="510840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590" name="Shape 1704"/>
          <p:cNvSpPr/>
          <p:nvPr/>
        </p:nvSpPr>
        <p:spPr>
          <a:xfrm>
            <a:off x="318960" y="1279440"/>
            <a:ext cx="44193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003399"/>
                </a:solidFill>
                <a:latin typeface="Times New Roman"/>
                <a:ea typeface="Times New Roman"/>
              </a:rPr>
              <a:t>无向图的邻接矩阵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591" name="Shape 1705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1592" name="Shape 1706"/>
          <p:cNvGrpSpPr/>
          <p:nvPr/>
        </p:nvGrpSpPr>
        <p:grpSpPr>
          <a:xfrm>
            <a:off x="844560" y="2181240"/>
            <a:ext cx="2576160" cy="2282400"/>
            <a:chOff x="844560" y="2181240"/>
            <a:chExt cx="2576160" cy="2282400"/>
          </a:xfrm>
        </p:grpSpPr>
        <p:sp>
          <p:nvSpPr>
            <p:cNvPr id="1593" name="Shape 1707"/>
            <p:cNvSpPr/>
            <p:nvPr/>
          </p:nvSpPr>
          <p:spPr>
            <a:xfrm>
              <a:off x="919080" y="2257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94" name="Shape 1708"/>
            <p:cNvSpPr/>
            <p:nvPr/>
          </p:nvSpPr>
          <p:spPr>
            <a:xfrm>
              <a:off x="985680" y="2208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595" name="Shape 1709"/>
            <p:cNvSpPr/>
            <p:nvPr/>
          </p:nvSpPr>
          <p:spPr>
            <a:xfrm>
              <a:off x="1389240" y="246204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96" name="Shape 1710"/>
            <p:cNvSpPr/>
            <p:nvPr/>
          </p:nvSpPr>
          <p:spPr>
            <a:xfrm>
              <a:off x="2886120" y="3911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97" name="Shape 1711"/>
            <p:cNvSpPr/>
            <p:nvPr/>
          </p:nvSpPr>
          <p:spPr>
            <a:xfrm>
              <a:off x="2952720" y="3862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598" name="Shape 1712"/>
            <p:cNvSpPr/>
            <p:nvPr/>
          </p:nvSpPr>
          <p:spPr>
            <a:xfrm>
              <a:off x="1251000" y="2614680"/>
              <a:ext cx="1684080" cy="1371240"/>
            </a:xfrm>
            <a:custGeom>
              <a:avLst/>
              <a:gdLst/>
              <a:ahLst/>
              <a:rect l="l" t="t" r="r" b="b"/>
              <a:pathLst>
                <a:path w="300" h="300">
                  <a:moveTo>
                    <a:pt x="300" y="0"/>
                  </a:moveTo>
                  <a:lnTo>
                    <a:pt x="0" y="3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99" name="Shape 1713"/>
            <p:cNvSpPr/>
            <p:nvPr/>
          </p:nvSpPr>
          <p:spPr>
            <a:xfrm>
              <a:off x="1062000" y="273672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0" name="Shape 1714"/>
            <p:cNvSpPr/>
            <p:nvPr/>
          </p:nvSpPr>
          <p:spPr>
            <a:xfrm>
              <a:off x="2890800" y="2230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1" name="Shape 1715"/>
            <p:cNvSpPr/>
            <p:nvPr/>
          </p:nvSpPr>
          <p:spPr>
            <a:xfrm>
              <a:off x="2957400" y="2181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02" name="Shape 1716"/>
            <p:cNvSpPr/>
            <p:nvPr/>
          </p:nvSpPr>
          <p:spPr>
            <a:xfrm>
              <a:off x="844560" y="39178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3" name="Shape 1717"/>
            <p:cNvSpPr/>
            <p:nvPr/>
          </p:nvSpPr>
          <p:spPr>
            <a:xfrm>
              <a:off x="911160" y="38685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04" name="Shape 1718"/>
            <p:cNvSpPr/>
            <p:nvPr/>
          </p:nvSpPr>
          <p:spPr>
            <a:xfrm>
              <a:off x="1359000" y="415440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05" name="Shape 1719"/>
          <p:cNvGrpSpPr/>
          <p:nvPr/>
        </p:nvGrpSpPr>
        <p:grpSpPr>
          <a:xfrm>
            <a:off x="4575240" y="1584360"/>
            <a:ext cx="3596760" cy="555120"/>
            <a:chOff x="4575240" y="1584360"/>
            <a:chExt cx="3596760" cy="555120"/>
          </a:xfrm>
        </p:grpSpPr>
        <p:sp>
          <p:nvSpPr>
            <p:cNvPr id="1606" name="Shape 1720"/>
            <p:cNvSpPr/>
            <p:nvPr/>
          </p:nvSpPr>
          <p:spPr>
            <a:xfrm>
              <a:off x="5932440" y="1584360"/>
              <a:ext cx="2239560" cy="547200"/>
            </a:xfrm>
            <a:prstGeom prst="rect">
              <a:avLst/>
            </a:pr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26000" r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  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  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07" name="Shape 1721"/>
            <p:cNvSpPr/>
            <p:nvPr/>
          </p:nvSpPr>
          <p:spPr>
            <a:xfrm>
              <a:off x="649764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8" name="Shape 1722"/>
            <p:cNvSpPr/>
            <p:nvPr/>
          </p:nvSpPr>
          <p:spPr>
            <a:xfrm>
              <a:off x="706284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9" name="Shape 1723"/>
            <p:cNvSpPr/>
            <p:nvPr/>
          </p:nvSpPr>
          <p:spPr>
            <a:xfrm>
              <a:off x="761220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0" name="Shape 1724"/>
            <p:cNvSpPr/>
            <p:nvPr/>
          </p:nvSpPr>
          <p:spPr>
            <a:xfrm>
              <a:off x="4575240" y="1620720"/>
              <a:ext cx="1342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vertex=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611" name="Shape 1725"/>
          <p:cNvGrpSpPr/>
          <p:nvPr/>
        </p:nvGrpSpPr>
        <p:grpSpPr>
          <a:xfrm>
            <a:off x="4579920" y="2193840"/>
            <a:ext cx="4187520" cy="2765160"/>
            <a:chOff x="4579920" y="2193840"/>
            <a:chExt cx="4187520" cy="2765160"/>
          </a:xfrm>
        </p:grpSpPr>
        <p:sp>
          <p:nvSpPr>
            <p:cNvPr id="1612" name="Shape 1726"/>
            <p:cNvSpPr/>
            <p:nvPr/>
          </p:nvSpPr>
          <p:spPr>
            <a:xfrm>
              <a:off x="6031080" y="2576520"/>
              <a:ext cx="2198160" cy="238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10800" bIns="10800" anchor="t">
              <a:noAutofit/>
            </a:bodyPr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0    1    0    1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1    0    1    1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0    1    0    0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1    1    0    0 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1613" name="Shape 1727"/>
            <p:cNvSpPr/>
            <p:nvPr/>
          </p:nvSpPr>
          <p:spPr>
            <a:xfrm>
              <a:off x="5907240" y="2744640"/>
              <a:ext cx="2317320" cy="2104560"/>
            </a:xfrm>
            <a:prstGeom prst="bracketPair">
              <a:avLst>
                <a:gd name="adj" fmla="val 16667"/>
              </a:avLst>
            </a:pr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4" name="Shape 1728"/>
            <p:cNvSpPr/>
            <p:nvPr/>
          </p:nvSpPr>
          <p:spPr>
            <a:xfrm>
              <a:off x="4579920" y="3422520"/>
              <a:ext cx="87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arc=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15" name="Shape 1729"/>
            <p:cNvSpPr/>
            <p:nvPr/>
          </p:nvSpPr>
          <p:spPr>
            <a:xfrm>
              <a:off x="5970600" y="2193840"/>
              <a:ext cx="279684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1616" name="Shape 1730"/>
            <p:cNvSpPr/>
            <p:nvPr/>
          </p:nvSpPr>
          <p:spPr>
            <a:xfrm>
              <a:off x="5410080" y="2556000"/>
              <a:ext cx="601200" cy="235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</p:grpSp>
      <p:sp>
        <p:nvSpPr>
          <p:cNvPr id="1617" name="Shape 1731"/>
          <p:cNvSpPr/>
          <p:nvPr/>
        </p:nvSpPr>
        <p:spPr>
          <a:xfrm>
            <a:off x="600120" y="5813280"/>
            <a:ext cx="7786440" cy="547200"/>
          </a:xfrm>
          <a:prstGeom prst="rect">
            <a:avLst/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主对角线为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且一定是对称矩阵。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53" dur="indefinite" restart="never" nodeType="tmRoot">
          <p:childTnLst>
            <p:seq>
              <p:cTn id="654" dur="indefinite" nodeType="mainSeq">
                <p:childTnLst>
                  <p:par>
                    <p:cTn id="655" fill="hold">
                      <p:stCondLst>
                        <p:cond delay="indefinite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8" name="Shape 1736"/>
          <p:cNvGrpSpPr/>
          <p:nvPr/>
        </p:nvGrpSpPr>
        <p:grpSpPr>
          <a:xfrm>
            <a:off x="579600" y="5092560"/>
            <a:ext cx="7666920" cy="518760"/>
            <a:chOff x="579600" y="5092560"/>
            <a:chExt cx="7666920" cy="518760"/>
          </a:xfrm>
        </p:grpSpPr>
        <p:sp>
          <p:nvSpPr>
            <p:cNvPr id="1619" name="Shape 1737"/>
            <p:cNvSpPr/>
            <p:nvPr/>
          </p:nvSpPr>
          <p:spPr>
            <a:xfrm>
              <a:off x="1220760" y="5092560"/>
              <a:ext cx="70257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如何求顶点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的度？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1620" name="Shape 1738" descr=""/>
            <p:cNvPicPr/>
            <p:nvPr/>
          </p:nvPicPr>
          <p:blipFill>
            <a:blip r:embed="rId1"/>
            <a:stretch/>
          </p:blipFill>
          <p:spPr>
            <a:xfrm>
              <a:off x="579600" y="510840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621" name="Shape 1739"/>
          <p:cNvSpPr/>
          <p:nvPr/>
        </p:nvSpPr>
        <p:spPr>
          <a:xfrm>
            <a:off x="318960" y="1279440"/>
            <a:ext cx="44193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003399"/>
                </a:solidFill>
                <a:latin typeface="Times New Roman"/>
                <a:ea typeface="Times New Roman"/>
              </a:rPr>
              <a:t>无向图的邻接矩阵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622" name="Shape 1740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23" name="Shape 1741"/>
          <p:cNvSpPr/>
          <p:nvPr/>
        </p:nvSpPr>
        <p:spPr>
          <a:xfrm>
            <a:off x="600120" y="5813280"/>
            <a:ext cx="7786440" cy="547200"/>
          </a:xfrm>
          <a:prstGeom prst="rect">
            <a:avLst/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邻接矩阵的第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行（或第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列）非零元素的个数。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1624" name="Shape 1742"/>
          <p:cNvGrpSpPr/>
          <p:nvPr/>
        </p:nvGrpSpPr>
        <p:grpSpPr>
          <a:xfrm>
            <a:off x="5999040" y="4084560"/>
            <a:ext cx="2209320" cy="46440"/>
            <a:chOff x="5999040" y="4084560"/>
            <a:chExt cx="2209320" cy="46440"/>
          </a:xfrm>
        </p:grpSpPr>
        <p:sp>
          <p:nvSpPr>
            <p:cNvPr id="1625" name="Shape 1743"/>
            <p:cNvSpPr/>
            <p:nvPr/>
          </p:nvSpPr>
          <p:spPr>
            <a:xfrm>
              <a:off x="5999040" y="4084560"/>
              <a:ext cx="22093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6" name="Shape 1744"/>
            <p:cNvSpPr/>
            <p:nvPr/>
          </p:nvSpPr>
          <p:spPr>
            <a:xfrm>
              <a:off x="5999040" y="4130640"/>
              <a:ext cx="22093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27" name="Shape 1745"/>
          <p:cNvGrpSpPr/>
          <p:nvPr/>
        </p:nvGrpSpPr>
        <p:grpSpPr>
          <a:xfrm>
            <a:off x="4579920" y="2193840"/>
            <a:ext cx="4187520" cy="2765160"/>
            <a:chOff x="4579920" y="2193840"/>
            <a:chExt cx="4187520" cy="2765160"/>
          </a:xfrm>
        </p:grpSpPr>
        <p:sp>
          <p:nvSpPr>
            <p:cNvPr id="1628" name="Shape 1746"/>
            <p:cNvSpPr/>
            <p:nvPr/>
          </p:nvSpPr>
          <p:spPr>
            <a:xfrm>
              <a:off x="6031080" y="2576520"/>
              <a:ext cx="2198160" cy="238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10800" bIns="10800" anchor="t">
              <a:noAutofit/>
            </a:bodyPr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0    1    0    1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1    0    1    1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0    1    0    0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1    1    0    0 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1629" name="Shape 1747"/>
            <p:cNvSpPr/>
            <p:nvPr/>
          </p:nvSpPr>
          <p:spPr>
            <a:xfrm>
              <a:off x="5907240" y="2744640"/>
              <a:ext cx="2317320" cy="2104560"/>
            </a:xfrm>
            <a:prstGeom prst="bracketPair">
              <a:avLst>
                <a:gd name="adj" fmla="val 16667"/>
              </a:avLst>
            </a:pr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0" name="Shape 1748"/>
            <p:cNvSpPr/>
            <p:nvPr/>
          </p:nvSpPr>
          <p:spPr>
            <a:xfrm>
              <a:off x="4579920" y="3422520"/>
              <a:ext cx="87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arc=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31" name="Shape 1749"/>
            <p:cNvSpPr/>
            <p:nvPr/>
          </p:nvSpPr>
          <p:spPr>
            <a:xfrm>
              <a:off x="5970600" y="2193840"/>
              <a:ext cx="279684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1632" name="Shape 1750"/>
            <p:cNvSpPr/>
            <p:nvPr/>
          </p:nvSpPr>
          <p:spPr>
            <a:xfrm>
              <a:off x="5410080" y="2556000"/>
              <a:ext cx="601200" cy="235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</p:grpSp>
      <p:grpSp>
        <p:nvGrpSpPr>
          <p:cNvPr id="1633" name="Shape 1751"/>
          <p:cNvGrpSpPr/>
          <p:nvPr/>
        </p:nvGrpSpPr>
        <p:grpSpPr>
          <a:xfrm>
            <a:off x="844560" y="2181240"/>
            <a:ext cx="2576160" cy="2282400"/>
            <a:chOff x="844560" y="2181240"/>
            <a:chExt cx="2576160" cy="2282400"/>
          </a:xfrm>
        </p:grpSpPr>
        <p:sp>
          <p:nvSpPr>
            <p:cNvPr id="1634" name="Shape 1752"/>
            <p:cNvSpPr/>
            <p:nvPr/>
          </p:nvSpPr>
          <p:spPr>
            <a:xfrm>
              <a:off x="919080" y="2257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5" name="Shape 1753"/>
            <p:cNvSpPr/>
            <p:nvPr/>
          </p:nvSpPr>
          <p:spPr>
            <a:xfrm>
              <a:off x="985680" y="2208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36" name="Shape 1754"/>
            <p:cNvSpPr/>
            <p:nvPr/>
          </p:nvSpPr>
          <p:spPr>
            <a:xfrm>
              <a:off x="1389240" y="246204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7" name="Shape 1755"/>
            <p:cNvSpPr/>
            <p:nvPr/>
          </p:nvSpPr>
          <p:spPr>
            <a:xfrm>
              <a:off x="2886120" y="3911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8" name="Shape 1756"/>
            <p:cNvSpPr/>
            <p:nvPr/>
          </p:nvSpPr>
          <p:spPr>
            <a:xfrm>
              <a:off x="2952720" y="3862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39" name="Shape 1757"/>
            <p:cNvSpPr/>
            <p:nvPr/>
          </p:nvSpPr>
          <p:spPr>
            <a:xfrm>
              <a:off x="1251000" y="2614680"/>
              <a:ext cx="1684080" cy="1371240"/>
            </a:xfrm>
            <a:custGeom>
              <a:avLst/>
              <a:gdLst/>
              <a:ahLst/>
              <a:rect l="l" t="t" r="r" b="b"/>
              <a:pathLst>
                <a:path w="300" h="300">
                  <a:moveTo>
                    <a:pt x="300" y="0"/>
                  </a:moveTo>
                  <a:lnTo>
                    <a:pt x="0" y="3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0" name="Shape 1758"/>
            <p:cNvSpPr/>
            <p:nvPr/>
          </p:nvSpPr>
          <p:spPr>
            <a:xfrm>
              <a:off x="1062000" y="273672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1" name="Shape 1759"/>
            <p:cNvSpPr/>
            <p:nvPr/>
          </p:nvSpPr>
          <p:spPr>
            <a:xfrm>
              <a:off x="2890800" y="2230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2" name="Shape 1760"/>
            <p:cNvSpPr/>
            <p:nvPr/>
          </p:nvSpPr>
          <p:spPr>
            <a:xfrm>
              <a:off x="2957400" y="2181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43" name="Shape 1761"/>
            <p:cNvSpPr/>
            <p:nvPr/>
          </p:nvSpPr>
          <p:spPr>
            <a:xfrm>
              <a:off x="844560" y="39178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4" name="Shape 1762"/>
            <p:cNvSpPr/>
            <p:nvPr/>
          </p:nvSpPr>
          <p:spPr>
            <a:xfrm>
              <a:off x="911160" y="38685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45" name="Shape 1763"/>
            <p:cNvSpPr/>
            <p:nvPr/>
          </p:nvSpPr>
          <p:spPr>
            <a:xfrm>
              <a:off x="1359000" y="415440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46" name="Shape 1764"/>
          <p:cNvGrpSpPr/>
          <p:nvPr/>
        </p:nvGrpSpPr>
        <p:grpSpPr>
          <a:xfrm>
            <a:off x="4575240" y="1584360"/>
            <a:ext cx="3596760" cy="555120"/>
            <a:chOff x="4575240" y="1584360"/>
            <a:chExt cx="3596760" cy="555120"/>
          </a:xfrm>
        </p:grpSpPr>
        <p:sp>
          <p:nvSpPr>
            <p:cNvPr id="1647" name="Shape 1765"/>
            <p:cNvSpPr/>
            <p:nvPr/>
          </p:nvSpPr>
          <p:spPr>
            <a:xfrm>
              <a:off x="5932440" y="1584360"/>
              <a:ext cx="2239560" cy="547200"/>
            </a:xfrm>
            <a:prstGeom prst="rect">
              <a:avLst/>
            </a:pr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26000" r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  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  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48" name="Shape 1766"/>
            <p:cNvSpPr/>
            <p:nvPr/>
          </p:nvSpPr>
          <p:spPr>
            <a:xfrm>
              <a:off x="649764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9" name="Shape 1767"/>
            <p:cNvSpPr/>
            <p:nvPr/>
          </p:nvSpPr>
          <p:spPr>
            <a:xfrm>
              <a:off x="706284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50" name="Shape 1768"/>
            <p:cNvSpPr/>
            <p:nvPr/>
          </p:nvSpPr>
          <p:spPr>
            <a:xfrm>
              <a:off x="761220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51" name="Shape 1769"/>
            <p:cNvSpPr/>
            <p:nvPr/>
          </p:nvSpPr>
          <p:spPr>
            <a:xfrm>
              <a:off x="4575240" y="1620720"/>
              <a:ext cx="1342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vertex=</a:t>
              </a:r>
              <a:endParaRPr b="0" lang="en-US" sz="2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59" dur="indefinite" restart="never" nodeType="tmRoot">
          <p:childTnLst>
            <p:seq>
              <p:cTn id="660" dur="indefinite" nodeType="mainSeq">
                <p:childTnLst>
                  <p:par>
                    <p:cTn id="661" fill="hold">
                      <p:stCondLst>
                        <p:cond delay="indefinite"/>
                      </p:stCondLst>
                      <p:childTnLst>
                        <p:par>
                          <p:cTn id="662" fill="hold">
                            <p:stCondLst>
                              <p:cond delay="0"/>
                            </p:stCondLst>
                            <p:childTnLst>
                              <p:par>
                                <p:cTn id="6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2" name="Shape 1774"/>
          <p:cNvGrpSpPr/>
          <p:nvPr/>
        </p:nvGrpSpPr>
        <p:grpSpPr>
          <a:xfrm>
            <a:off x="579600" y="5092560"/>
            <a:ext cx="7666920" cy="518760"/>
            <a:chOff x="579600" y="5092560"/>
            <a:chExt cx="7666920" cy="518760"/>
          </a:xfrm>
        </p:grpSpPr>
        <p:sp>
          <p:nvSpPr>
            <p:cNvPr id="1653" name="Shape 1775"/>
            <p:cNvSpPr/>
            <p:nvPr/>
          </p:nvSpPr>
          <p:spPr>
            <a:xfrm>
              <a:off x="1220760" y="5092560"/>
              <a:ext cx="70257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如何判断顶点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 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和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j 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之间是否存在边？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1654" name="Shape 1776" descr=""/>
            <p:cNvPicPr/>
            <p:nvPr/>
          </p:nvPicPr>
          <p:blipFill>
            <a:blip r:embed="rId1"/>
            <a:stretch/>
          </p:blipFill>
          <p:spPr>
            <a:xfrm>
              <a:off x="579600" y="510840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655" name="Shape 1777"/>
          <p:cNvSpPr/>
          <p:nvPr/>
        </p:nvSpPr>
        <p:spPr>
          <a:xfrm>
            <a:off x="318960" y="1279440"/>
            <a:ext cx="44193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003399"/>
                </a:solidFill>
                <a:latin typeface="Times New Roman"/>
                <a:ea typeface="Times New Roman"/>
              </a:rPr>
              <a:t>无向图的邻接矩阵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656" name="Shape 1778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57" name="Shape 1779"/>
          <p:cNvSpPr/>
          <p:nvPr/>
        </p:nvSpPr>
        <p:spPr>
          <a:xfrm>
            <a:off x="584280" y="5813280"/>
            <a:ext cx="8040240" cy="547200"/>
          </a:xfrm>
          <a:prstGeom prst="rect">
            <a:avLst/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测试邻接矩阵中相应位置的元素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arc[i][j]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是否为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58" name="Shape 1780"/>
          <p:cNvSpPr/>
          <p:nvPr/>
        </p:nvSpPr>
        <p:spPr>
          <a:xfrm>
            <a:off x="7157880" y="3249720"/>
            <a:ext cx="356760" cy="509400"/>
          </a:xfrm>
          <a:prstGeom prst="ellipse">
            <a:avLst/>
          </a:prstGeom>
          <a:noFill/>
          <a:ln w="28575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659" name="Shape 1781"/>
          <p:cNvGrpSpPr/>
          <p:nvPr/>
        </p:nvGrpSpPr>
        <p:grpSpPr>
          <a:xfrm>
            <a:off x="4579920" y="2193840"/>
            <a:ext cx="4187520" cy="2765160"/>
            <a:chOff x="4579920" y="2193840"/>
            <a:chExt cx="4187520" cy="2765160"/>
          </a:xfrm>
        </p:grpSpPr>
        <p:sp>
          <p:nvSpPr>
            <p:cNvPr id="1660" name="Shape 1782"/>
            <p:cNvSpPr/>
            <p:nvPr/>
          </p:nvSpPr>
          <p:spPr>
            <a:xfrm>
              <a:off x="6031080" y="2576520"/>
              <a:ext cx="2198160" cy="238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10800" bIns="10800" anchor="t">
              <a:noAutofit/>
            </a:bodyPr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0    1    0    1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1    0    1    1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0    1    0    0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1    1    0    0 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1661" name="Shape 1783"/>
            <p:cNvSpPr/>
            <p:nvPr/>
          </p:nvSpPr>
          <p:spPr>
            <a:xfrm>
              <a:off x="5907240" y="2744640"/>
              <a:ext cx="2317320" cy="2104560"/>
            </a:xfrm>
            <a:prstGeom prst="bracketPair">
              <a:avLst>
                <a:gd name="adj" fmla="val 16667"/>
              </a:avLst>
            </a:pr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62" name="Shape 1784"/>
            <p:cNvSpPr/>
            <p:nvPr/>
          </p:nvSpPr>
          <p:spPr>
            <a:xfrm>
              <a:off x="4579920" y="3422520"/>
              <a:ext cx="87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arc=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63" name="Shape 1785"/>
            <p:cNvSpPr/>
            <p:nvPr/>
          </p:nvSpPr>
          <p:spPr>
            <a:xfrm>
              <a:off x="5970600" y="2193840"/>
              <a:ext cx="279684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1664" name="Shape 1786"/>
            <p:cNvSpPr/>
            <p:nvPr/>
          </p:nvSpPr>
          <p:spPr>
            <a:xfrm>
              <a:off x="5410080" y="2556000"/>
              <a:ext cx="601200" cy="235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</p:grpSp>
      <p:grpSp>
        <p:nvGrpSpPr>
          <p:cNvPr id="1665" name="Shape 1787"/>
          <p:cNvGrpSpPr/>
          <p:nvPr/>
        </p:nvGrpSpPr>
        <p:grpSpPr>
          <a:xfrm>
            <a:off x="844560" y="2181240"/>
            <a:ext cx="2576160" cy="2282400"/>
            <a:chOff x="844560" y="2181240"/>
            <a:chExt cx="2576160" cy="2282400"/>
          </a:xfrm>
        </p:grpSpPr>
        <p:sp>
          <p:nvSpPr>
            <p:cNvPr id="1666" name="Shape 1788"/>
            <p:cNvSpPr/>
            <p:nvPr/>
          </p:nvSpPr>
          <p:spPr>
            <a:xfrm>
              <a:off x="919080" y="2257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67" name="Shape 1789"/>
            <p:cNvSpPr/>
            <p:nvPr/>
          </p:nvSpPr>
          <p:spPr>
            <a:xfrm>
              <a:off x="985680" y="2208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68" name="Shape 1790"/>
            <p:cNvSpPr/>
            <p:nvPr/>
          </p:nvSpPr>
          <p:spPr>
            <a:xfrm>
              <a:off x="1389240" y="246204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69" name="Shape 1791"/>
            <p:cNvSpPr/>
            <p:nvPr/>
          </p:nvSpPr>
          <p:spPr>
            <a:xfrm>
              <a:off x="2886120" y="3911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70" name="Shape 1792"/>
            <p:cNvSpPr/>
            <p:nvPr/>
          </p:nvSpPr>
          <p:spPr>
            <a:xfrm>
              <a:off x="2952720" y="3862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71" name="Shape 1793"/>
            <p:cNvSpPr/>
            <p:nvPr/>
          </p:nvSpPr>
          <p:spPr>
            <a:xfrm>
              <a:off x="1251000" y="2614680"/>
              <a:ext cx="1684080" cy="1371240"/>
            </a:xfrm>
            <a:custGeom>
              <a:avLst/>
              <a:gdLst/>
              <a:ahLst/>
              <a:rect l="l" t="t" r="r" b="b"/>
              <a:pathLst>
                <a:path w="300" h="300">
                  <a:moveTo>
                    <a:pt x="300" y="0"/>
                  </a:moveTo>
                  <a:lnTo>
                    <a:pt x="0" y="3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72" name="Shape 1794"/>
            <p:cNvSpPr/>
            <p:nvPr/>
          </p:nvSpPr>
          <p:spPr>
            <a:xfrm>
              <a:off x="1062000" y="273672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73" name="Shape 1795"/>
            <p:cNvSpPr/>
            <p:nvPr/>
          </p:nvSpPr>
          <p:spPr>
            <a:xfrm>
              <a:off x="2890800" y="2230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74" name="Shape 1796"/>
            <p:cNvSpPr/>
            <p:nvPr/>
          </p:nvSpPr>
          <p:spPr>
            <a:xfrm>
              <a:off x="2957400" y="2181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75" name="Shape 1797"/>
            <p:cNvSpPr/>
            <p:nvPr/>
          </p:nvSpPr>
          <p:spPr>
            <a:xfrm>
              <a:off x="844560" y="39178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76" name="Shape 1798"/>
            <p:cNvSpPr/>
            <p:nvPr/>
          </p:nvSpPr>
          <p:spPr>
            <a:xfrm>
              <a:off x="911160" y="38685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77" name="Shape 1799"/>
            <p:cNvSpPr/>
            <p:nvPr/>
          </p:nvSpPr>
          <p:spPr>
            <a:xfrm>
              <a:off x="1359000" y="415440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78" name="Shape 1800"/>
          <p:cNvGrpSpPr/>
          <p:nvPr/>
        </p:nvGrpSpPr>
        <p:grpSpPr>
          <a:xfrm>
            <a:off x="4575240" y="1584360"/>
            <a:ext cx="3596760" cy="555120"/>
            <a:chOff x="4575240" y="1584360"/>
            <a:chExt cx="3596760" cy="555120"/>
          </a:xfrm>
        </p:grpSpPr>
        <p:sp>
          <p:nvSpPr>
            <p:cNvPr id="1679" name="Shape 1801"/>
            <p:cNvSpPr/>
            <p:nvPr/>
          </p:nvSpPr>
          <p:spPr>
            <a:xfrm>
              <a:off x="5932440" y="1584360"/>
              <a:ext cx="2239560" cy="547200"/>
            </a:xfrm>
            <a:prstGeom prst="rect">
              <a:avLst/>
            </a:pr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26000" r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  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  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80" name="Shape 1802"/>
            <p:cNvSpPr/>
            <p:nvPr/>
          </p:nvSpPr>
          <p:spPr>
            <a:xfrm>
              <a:off x="649764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81" name="Shape 1803"/>
            <p:cNvSpPr/>
            <p:nvPr/>
          </p:nvSpPr>
          <p:spPr>
            <a:xfrm>
              <a:off x="706284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82" name="Shape 1804"/>
            <p:cNvSpPr/>
            <p:nvPr/>
          </p:nvSpPr>
          <p:spPr>
            <a:xfrm>
              <a:off x="761220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83" name="Shape 1805"/>
            <p:cNvSpPr/>
            <p:nvPr/>
          </p:nvSpPr>
          <p:spPr>
            <a:xfrm>
              <a:off x="4575240" y="1620720"/>
              <a:ext cx="1342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vertex=</a:t>
              </a:r>
              <a:endParaRPr b="0" lang="en-US" sz="2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65" dur="indefinite" restart="never" nodeType="tmRoot">
          <p:childTnLst>
            <p:seq>
              <p:cTn id="666" dur="indefinite" nodeType="mainSeq">
                <p:childTnLst>
                  <p:par>
                    <p:cTn id="667" fill="hold">
                      <p:stCondLst>
                        <p:cond delay="indefinite"/>
                      </p:stCondLst>
                      <p:childTnLst>
                        <p:par>
                          <p:cTn id="668" fill="hold">
                            <p:stCondLst>
                              <p:cond delay="0"/>
                            </p:stCondLst>
                            <p:childTnLst>
                              <p:par>
                                <p:cTn id="6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1" dur="500"/>
                                        <p:tgtEl>
                                          <p:spTgt spid="1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2" fill="hold">
                      <p:stCondLst>
                        <p:cond delay="indefinite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id="67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4" name="Shape 1810"/>
          <p:cNvGrpSpPr/>
          <p:nvPr/>
        </p:nvGrpSpPr>
        <p:grpSpPr>
          <a:xfrm>
            <a:off x="758880" y="5272200"/>
            <a:ext cx="7666920" cy="518760"/>
            <a:chOff x="758880" y="5272200"/>
            <a:chExt cx="7666920" cy="518760"/>
          </a:xfrm>
        </p:grpSpPr>
        <p:sp>
          <p:nvSpPr>
            <p:cNvPr id="1685" name="Shape 1811"/>
            <p:cNvSpPr/>
            <p:nvPr/>
          </p:nvSpPr>
          <p:spPr>
            <a:xfrm>
              <a:off x="1400040" y="5272200"/>
              <a:ext cx="70257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如何求顶点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 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的所有邻接点？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1686" name="Shape 1812" descr=""/>
            <p:cNvPicPr/>
            <p:nvPr/>
          </p:nvPicPr>
          <p:blipFill>
            <a:blip r:embed="rId1"/>
            <a:stretch/>
          </p:blipFill>
          <p:spPr>
            <a:xfrm>
              <a:off x="758880" y="528804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687" name="Shape 1813"/>
          <p:cNvSpPr/>
          <p:nvPr/>
        </p:nvSpPr>
        <p:spPr>
          <a:xfrm>
            <a:off x="498600" y="1459080"/>
            <a:ext cx="44193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003399"/>
                </a:solidFill>
                <a:latin typeface="Times New Roman"/>
                <a:ea typeface="Times New Roman"/>
              </a:rPr>
              <a:t>无向图的邻接矩阵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688" name="Shape 1814"/>
          <p:cNvSpPr/>
          <p:nvPr/>
        </p:nvSpPr>
        <p:spPr>
          <a:xfrm>
            <a:off x="2405160" y="56052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89" name="Shape 1815"/>
          <p:cNvSpPr/>
          <p:nvPr/>
        </p:nvSpPr>
        <p:spPr>
          <a:xfrm>
            <a:off x="763560" y="5883120"/>
            <a:ext cx="8040240" cy="974520"/>
          </a:xfrm>
          <a:prstGeom prst="rect">
            <a:avLst/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将数组中第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行元素扫描一遍，若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arc[i][j]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为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，则顶点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为顶点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的邻接点。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1690" name="Shape 1816"/>
          <p:cNvGrpSpPr/>
          <p:nvPr/>
        </p:nvGrpSpPr>
        <p:grpSpPr>
          <a:xfrm>
            <a:off x="5978520" y="3494160"/>
            <a:ext cx="2209320" cy="46440"/>
            <a:chOff x="5978520" y="3494160"/>
            <a:chExt cx="2209320" cy="46440"/>
          </a:xfrm>
        </p:grpSpPr>
        <p:sp>
          <p:nvSpPr>
            <p:cNvPr id="1691" name="Shape 1817"/>
            <p:cNvSpPr/>
            <p:nvPr/>
          </p:nvSpPr>
          <p:spPr>
            <a:xfrm>
              <a:off x="5978520" y="3494160"/>
              <a:ext cx="22093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92" name="Shape 1818"/>
            <p:cNvSpPr/>
            <p:nvPr/>
          </p:nvSpPr>
          <p:spPr>
            <a:xfrm>
              <a:off x="5978520" y="3540240"/>
              <a:ext cx="22093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93" name="Shape 1819"/>
          <p:cNvGrpSpPr/>
          <p:nvPr/>
        </p:nvGrpSpPr>
        <p:grpSpPr>
          <a:xfrm>
            <a:off x="844560" y="2181240"/>
            <a:ext cx="2576160" cy="2282400"/>
            <a:chOff x="844560" y="2181240"/>
            <a:chExt cx="2576160" cy="2282400"/>
          </a:xfrm>
        </p:grpSpPr>
        <p:sp>
          <p:nvSpPr>
            <p:cNvPr id="1694" name="Shape 1820"/>
            <p:cNvSpPr/>
            <p:nvPr/>
          </p:nvSpPr>
          <p:spPr>
            <a:xfrm>
              <a:off x="919080" y="2257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95" name="Shape 1821"/>
            <p:cNvSpPr/>
            <p:nvPr/>
          </p:nvSpPr>
          <p:spPr>
            <a:xfrm>
              <a:off x="985680" y="2208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96" name="Shape 1822"/>
            <p:cNvSpPr/>
            <p:nvPr/>
          </p:nvSpPr>
          <p:spPr>
            <a:xfrm>
              <a:off x="1389240" y="246204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97" name="Shape 1823"/>
            <p:cNvSpPr/>
            <p:nvPr/>
          </p:nvSpPr>
          <p:spPr>
            <a:xfrm>
              <a:off x="2886120" y="3911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98" name="Shape 1824"/>
            <p:cNvSpPr/>
            <p:nvPr/>
          </p:nvSpPr>
          <p:spPr>
            <a:xfrm>
              <a:off x="2952720" y="3862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699" name="Shape 1825"/>
            <p:cNvSpPr/>
            <p:nvPr/>
          </p:nvSpPr>
          <p:spPr>
            <a:xfrm>
              <a:off x="1251000" y="2614680"/>
              <a:ext cx="1684080" cy="1371240"/>
            </a:xfrm>
            <a:custGeom>
              <a:avLst/>
              <a:gdLst/>
              <a:ahLst/>
              <a:rect l="l" t="t" r="r" b="b"/>
              <a:pathLst>
                <a:path w="300" h="300">
                  <a:moveTo>
                    <a:pt x="300" y="0"/>
                  </a:moveTo>
                  <a:lnTo>
                    <a:pt x="0" y="3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0" name="Shape 1826"/>
            <p:cNvSpPr/>
            <p:nvPr/>
          </p:nvSpPr>
          <p:spPr>
            <a:xfrm>
              <a:off x="1062000" y="273672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1" name="Shape 1827"/>
            <p:cNvSpPr/>
            <p:nvPr/>
          </p:nvSpPr>
          <p:spPr>
            <a:xfrm>
              <a:off x="2890800" y="2230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2" name="Shape 1828"/>
            <p:cNvSpPr/>
            <p:nvPr/>
          </p:nvSpPr>
          <p:spPr>
            <a:xfrm>
              <a:off x="2957400" y="2181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703" name="Shape 1829"/>
            <p:cNvSpPr/>
            <p:nvPr/>
          </p:nvSpPr>
          <p:spPr>
            <a:xfrm>
              <a:off x="844560" y="39178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4" name="Shape 1830"/>
            <p:cNvSpPr/>
            <p:nvPr/>
          </p:nvSpPr>
          <p:spPr>
            <a:xfrm>
              <a:off x="911160" y="38685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705" name="Shape 1831"/>
            <p:cNvSpPr/>
            <p:nvPr/>
          </p:nvSpPr>
          <p:spPr>
            <a:xfrm>
              <a:off x="1359000" y="415440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06" name="Shape 1832"/>
          <p:cNvGrpSpPr/>
          <p:nvPr/>
        </p:nvGrpSpPr>
        <p:grpSpPr>
          <a:xfrm>
            <a:off x="4579920" y="2193840"/>
            <a:ext cx="4187520" cy="2765160"/>
            <a:chOff x="4579920" y="2193840"/>
            <a:chExt cx="4187520" cy="2765160"/>
          </a:xfrm>
        </p:grpSpPr>
        <p:sp>
          <p:nvSpPr>
            <p:cNvPr id="1707" name="Shape 1833"/>
            <p:cNvSpPr/>
            <p:nvPr/>
          </p:nvSpPr>
          <p:spPr>
            <a:xfrm>
              <a:off x="6031080" y="2576520"/>
              <a:ext cx="2198160" cy="238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10800" bIns="10800" anchor="t">
              <a:noAutofit/>
            </a:bodyPr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0    1    0    1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1    0    1    1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0    1    0    0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1    1    0    0 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1708" name="Shape 1834"/>
            <p:cNvSpPr/>
            <p:nvPr/>
          </p:nvSpPr>
          <p:spPr>
            <a:xfrm>
              <a:off x="5907240" y="2744640"/>
              <a:ext cx="2317320" cy="2104560"/>
            </a:xfrm>
            <a:prstGeom prst="bracketPair">
              <a:avLst>
                <a:gd name="adj" fmla="val 16667"/>
              </a:avLst>
            </a:pr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9" name="Shape 1835"/>
            <p:cNvSpPr/>
            <p:nvPr/>
          </p:nvSpPr>
          <p:spPr>
            <a:xfrm>
              <a:off x="4579920" y="3422520"/>
              <a:ext cx="87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arc=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710" name="Shape 1836"/>
            <p:cNvSpPr/>
            <p:nvPr/>
          </p:nvSpPr>
          <p:spPr>
            <a:xfrm>
              <a:off x="5970600" y="2193840"/>
              <a:ext cx="279684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1711" name="Shape 1837"/>
            <p:cNvSpPr/>
            <p:nvPr/>
          </p:nvSpPr>
          <p:spPr>
            <a:xfrm>
              <a:off x="5410080" y="2556000"/>
              <a:ext cx="601200" cy="235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</p:grpSp>
      <p:grpSp>
        <p:nvGrpSpPr>
          <p:cNvPr id="1712" name="Shape 1838"/>
          <p:cNvGrpSpPr/>
          <p:nvPr/>
        </p:nvGrpSpPr>
        <p:grpSpPr>
          <a:xfrm>
            <a:off x="4575240" y="1584360"/>
            <a:ext cx="3596760" cy="555120"/>
            <a:chOff x="4575240" y="1584360"/>
            <a:chExt cx="3596760" cy="555120"/>
          </a:xfrm>
        </p:grpSpPr>
        <p:sp>
          <p:nvSpPr>
            <p:cNvPr id="1713" name="Shape 1839"/>
            <p:cNvSpPr/>
            <p:nvPr/>
          </p:nvSpPr>
          <p:spPr>
            <a:xfrm>
              <a:off x="5932440" y="1584360"/>
              <a:ext cx="2239560" cy="547200"/>
            </a:xfrm>
            <a:prstGeom prst="rect">
              <a:avLst/>
            </a:pr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26000" r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  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  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714" name="Shape 1840"/>
            <p:cNvSpPr/>
            <p:nvPr/>
          </p:nvSpPr>
          <p:spPr>
            <a:xfrm>
              <a:off x="649764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15" name="Shape 1841"/>
            <p:cNvSpPr/>
            <p:nvPr/>
          </p:nvSpPr>
          <p:spPr>
            <a:xfrm>
              <a:off x="706284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16" name="Shape 1842"/>
            <p:cNvSpPr/>
            <p:nvPr/>
          </p:nvSpPr>
          <p:spPr>
            <a:xfrm>
              <a:off x="761220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17" name="Shape 1843"/>
            <p:cNvSpPr/>
            <p:nvPr/>
          </p:nvSpPr>
          <p:spPr>
            <a:xfrm>
              <a:off x="4575240" y="1620720"/>
              <a:ext cx="1342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vertex=</a:t>
              </a:r>
              <a:endParaRPr b="0" lang="en-US" sz="2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76" dur="indefinite" restart="never" nodeType="tmRoot">
          <p:childTnLst>
            <p:seq>
              <p:cTn id="677" dur="indefinite" nodeType="mainSeq">
                <p:childTnLst>
                  <p:par>
                    <p:cTn id="678" fill="hold">
                      <p:stCondLst>
                        <p:cond delay="indefinite"/>
                      </p:stCondLst>
                      <p:childTnLst>
                        <p:par>
                          <p:cTn id="679" fill="hold">
                            <p:stCondLst>
                              <p:cond delay="0"/>
                            </p:stCondLst>
                            <p:childTnLst>
                              <p:par>
                                <p:cTn id="6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Shape 1848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19" name="Shape 1849"/>
          <p:cNvSpPr/>
          <p:nvPr/>
        </p:nvSpPr>
        <p:spPr>
          <a:xfrm>
            <a:off x="318960" y="1279440"/>
            <a:ext cx="44193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003399"/>
                </a:solidFill>
                <a:latin typeface="Times New Roman"/>
                <a:ea typeface="Times New Roman"/>
              </a:rPr>
              <a:t>有向图的邻接矩阵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1720" name="Shape 1850"/>
          <p:cNvGrpSpPr/>
          <p:nvPr/>
        </p:nvGrpSpPr>
        <p:grpSpPr>
          <a:xfrm>
            <a:off x="795240" y="2246400"/>
            <a:ext cx="2471760" cy="2334960"/>
            <a:chOff x="795240" y="2246400"/>
            <a:chExt cx="2471760" cy="2334960"/>
          </a:xfrm>
        </p:grpSpPr>
        <p:sp>
          <p:nvSpPr>
            <p:cNvPr id="1721" name="Shape 1851"/>
            <p:cNvSpPr/>
            <p:nvPr/>
          </p:nvSpPr>
          <p:spPr>
            <a:xfrm>
              <a:off x="1301760" y="2533680"/>
              <a:ext cx="1431720" cy="1080"/>
            </a:xfrm>
            <a:custGeom>
              <a:avLst/>
              <a:gdLst/>
              <a:ahLst/>
              <a:rect l="l" t="t" r="r" b="b"/>
              <a:pathLst>
                <a:path w="901" h="7">
                  <a:moveTo>
                    <a:pt x="0" y="7"/>
                  </a:moveTo>
                  <a:lnTo>
                    <a:pt x="90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22" name="Shape 1852"/>
            <p:cNvSpPr/>
            <p:nvPr/>
          </p:nvSpPr>
          <p:spPr>
            <a:xfrm>
              <a:off x="803160" y="22953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23" name="Shape 1853"/>
            <p:cNvSpPr/>
            <p:nvPr/>
          </p:nvSpPr>
          <p:spPr>
            <a:xfrm>
              <a:off x="870120" y="22464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724" name="Shape 1854"/>
            <p:cNvSpPr/>
            <p:nvPr/>
          </p:nvSpPr>
          <p:spPr>
            <a:xfrm>
              <a:off x="2736720" y="230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25" name="Shape 1855"/>
            <p:cNvSpPr/>
            <p:nvPr/>
          </p:nvSpPr>
          <p:spPr>
            <a:xfrm>
              <a:off x="2803680" y="225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grpSp>
          <p:nvGrpSpPr>
            <p:cNvPr id="1726" name="Shape 1856"/>
            <p:cNvGrpSpPr/>
            <p:nvPr/>
          </p:nvGrpSpPr>
          <p:grpSpPr>
            <a:xfrm>
              <a:off x="795240" y="2692800"/>
              <a:ext cx="2457360" cy="1888560"/>
              <a:chOff x="795240" y="2692800"/>
              <a:chExt cx="2457360" cy="1888560"/>
            </a:xfrm>
          </p:grpSpPr>
          <p:sp>
            <p:nvSpPr>
              <p:cNvPr id="1727" name="Shape 1857"/>
              <p:cNvSpPr/>
              <p:nvPr/>
            </p:nvSpPr>
            <p:spPr>
              <a:xfrm>
                <a:off x="1052640" y="2795760"/>
                <a:ext cx="360" cy="1272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28" name="Shape 1858"/>
              <p:cNvSpPr/>
              <p:nvPr/>
            </p:nvSpPr>
            <p:spPr>
              <a:xfrm>
                <a:off x="1270080" y="4303800"/>
                <a:ext cx="1474560" cy="1080"/>
              </a:xfrm>
              <a:custGeom>
                <a:avLst/>
                <a:gdLst/>
                <a:ahLst/>
                <a:rect l="l" t="t" r="r" b="b"/>
                <a:pathLst>
                  <a:path w="901" h="5">
                    <a:moveTo>
                      <a:pt x="0" y="0"/>
                    </a:moveTo>
                    <a:lnTo>
                      <a:pt x="901" y="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29" name="Shape 1859"/>
              <p:cNvSpPr/>
              <p:nvPr/>
            </p:nvSpPr>
            <p:spPr>
              <a:xfrm rot="10800000">
                <a:off x="1240200" y="2692800"/>
                <a:ext cx="1566360" cy="13935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30" name="Shape 1860"/>
              <p:cNvSpPr/>
              <p:nvPr/>
            </p:nvSpPr>
            <p:spPr>
              <a:xfrm>
                <a:off x="795240" y="40356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31" name="Shape 1861"/>
              <p:cNvSpPr/>
              <p:nvPr/>
            </p:nvSpPr>
            <p:spPr>
              <a:xfrm>
                <a:off x="861840" y="39862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2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1732" name="Shape 1862"/>
              <p:cNvSpPr/>
              <p:nvPr/>
            </p:nvSpPr>
            <p:spPr>
              <a:xfrm>
                <a:off x="2722680" y="403236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33" name="Shape 1863"/>
              <p:cNvSpPr/>
              <p:nvPr/>
            </p:nvSpPr>
            <p:spPr>
              <a:xfrm>
                <a:off x="2789280" y="398304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3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1734" name="Shape 1864"/>
          <p:cNvGrpSpPr/>
          <p:nvPr/>
        </p:nvGrpSpPr>
        <p:grpSpPr>
          <a:xfrm>
            <a:off x="4575240" y="1584360"/>
            <a:ext cx="3596760" cy="555120"/>
            <a:chOff x="4575240" y="1584360"/>
            <a:chExt cx="3596760" cy="555120"/>
          </a:xfrm>
        </p:grpSpPr>
        <p:sp>
          <p:nvSpPr>
            <p:cNvPr id="1735" name="Shape 1865"/>
            <p:cNvSpPr/>
            <p:nvPr/>
          </p:nvSpPr>
          <p:spPr>
            <a:xfrm>
              <a:off x="5932440" y="1584360"/>
              <a:ext cx="2239560" cy="547200"/>
            </a:xfrm>
            <a:prstGeom prst="rect">
              <a:avLst/>
            </a:pr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26000" r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  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  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736" name="Shape 1866"/>
            <p:cNvSpPr/>
            <p:nvPr/>
          </p:nvSpPr>
          <p:spPr>
            <a:xfrm>
              <a:off x="649764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7" name="Shape 1867"/>
            <p:cNvSpPr/>
            <p:nvPr/>
          </p:nvSpPr>
          <p:spPr>
            <a:xfrm>
              <a:off x="706284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8" name="Shape 1868"/>
            <p:cNvSpPr/>
            <p:nvPr/>
          </p:nvSpPr>
          <p:spPr>
            <a:xfrm>
              <a:off x="761220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9" name="Shape 1869"/>
            <p:cNvSpPr/>
            <p:nvPr/>
          </p:nvSpPr>
          <p:spPr>
            <a:xfrm>
              <a:off x="4575240" y="1620720"/>
              <a:ext cx="1342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vertex=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740" name="Shape 1870"/>
          <p:cNvGrpSpPr/>
          <p:nvPr/>
        </p:nvGrpSpPr>
        <p:grpSpPr>
          <a:xfrm>
            <a:off x="4532400" y="2235240"/>
            <a:ext cx="3793680" cy="2736360"/>
            <a:chOff x="4532400" y="2235240"/>
            <a:chExt cx="3793680" cy="2736360"/>
          </a:xfrm>
        </p:grpSpPr>
        <p:sp>
          <p:nvSpPr>
            <p:cNvPr id="1741" name="Shape 1871"/>
            <p:cNvSpPr/>
            <p:nvPr/>
          </p:nvSpPr>
          <p:spPr>
            <a:xfrm>
              <a:off x="6083280" y="2589120"/>
              <a:ext cx="2198160" cy="238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10800" bIns="10800" anchor="t">
              <a:noAutofit/>
            </a:bodyPr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0    1    1    0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0    0    0    0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0    0    0    1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1    0    0    0 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1742" name="Shape 1872"/>
            <p:cNvSpPr/>
            <p:nvPr/>
          </p:nvSpPr>
          <p:spPr>
            <a:xfrm>
              <a:off x="5959440" y="2757600"/>
              <a:ext cx="2317320" cy="2104560"/>
            </a:xfrm>
            <a:prstGeom prst="bracketPair">
              <a:avLst>
                <a:gd name="adj" fmla="val 16667"/>
              </a:avLst>
            </a:pr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3" name="Shape 1873"/>
            <p:cNvSpPr/>
            <p:nvPr/>
          </p:nvSpPr>
          <p:spPr>
            <a:xfrm>
              <a:off x="4532400" y="3451320"/>
              <a:ext cx="87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arc=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744" name="Shape 1874"/>
            <p:cNvSpPr/>
            <p:nvPr/>
          </p:nvSpPr>
          <p:spPr>
            <a:xfrm>
              <a:off x="6022800" y="2235240"/>
              <a:ext cx="230328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 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1745" name="Shape 1875"/>
            <p:cNvSpPr/>
            <p:nvPr/>
          </p:nvSpPr>
          <p:spPr>
            <a:xfrm>
              <a:off x="5446800" y="2557440"/>
              <a:ext cx="601200" cy="235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</p:grpSp>
      <p:grpSp>
        <p:nvGrpSpPr>
          <p:cNvPr id="1746" name="Shape 1876"/>
          <p:cNvGrpSpPr/>
          <p:nvPr/>
        </p:nvGrpSpPr>
        <p:grpSpPr>
          <a:xfrm>
            <a:off x="579600" y="5092560"/>
            <a:ext cx="7666920" cy="518760"/>
            <a:chOff x="579600" y="5092560"/>
            <a:chExt cx="7666920" cy="518760"/>
          </a:xfrm>
        </p:grpSpPr>
        <p:sp>
          <p:nvSpPr>
            <p:cNvPr id="1747" name="Shape 1877"/>
            <p:cNvSpPr/>
            <p:nvPr/>
          </p:nvSpPr>
          <p:spPr>
            <a:xfrm>
              <a:off x="1220760" y="5092560"/>
              <a:ext cx="70257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有向图的邻接矩阵一定不对称吗？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1748" name="Shape 1878" descr=""/>
            <p:cNvPicPr/>
            <p:nvPr/>
          </p:nvPicPr>
          <p:blipFill>
            <a:blip r:embed="rId1"/>
            <a:stretch/>
          </p:blipFill>
          <p:spPr>
            <a:xfrm>
              <a:off x="579600" y="510840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749" name="Shape 1879"/>
          <p:cNvSpPr/>
          <p:nvPr/>
        </p:nvSpPr>
        <p:spPr>
          <a:xfrm>
            <a:off x="615960" y="5813280"/>
            <a:ext cx="7691040" cy="547200"/>
          </a:xfrm>
          <a:prstGeom prst="rect">
            <a:avLst/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不一定，例如有向完全图。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82" dur="indefinite" restart="never" nodeType="tmRoot">
          <p:childTnLst>
            <p:seq>
              <p:cTn id="683" dur="indefinite" nodeType="mainSeq">
                <p:childTnLst>
                  <p:par>
                    <p:cTn id="684" fill="hold">
                      <p:stCondLst>
                        <p:cond delay="indefinite"/>
                      </p:stCondLst>
                      <p:childTnLst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id="68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Shape 1884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51" name="Shape 1885"/>
          <p:cNvSpPr/>
          <p:nvPr/>
        </p:nvSpPr>
        <p:spPr>
          <a:xfrm>
            <a:off x="318960" y="1279440"/>
            <a:ext cx="44193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003399"/>
                </a:solidFill>
                <a:latin typeface="Times New Roman"/>
                <a:ea typeface="Times New Roman"/>
              </a:rPr>
              <a:t>有向图的邻接矩阵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1752" name="Shape 1886"/>
          <p:cNvGrpSpPr/>
          <p:nvPr/>
        </p:nvGrpSpPr>
        <p:grpSpPr>
          <a:xfrm>
            <a:off x="579600" y="5092560"/>
            <a:ext cx="7666920" cy="518760"/>
            <a:chOff x="579600" y="5092560"/>
            <a:chExt cx="7666920" cy="518760"/>
          </a:xfrm>
        </p:grpSpPr>
        <p:sp>
          <p:nvSpPr>
            <p:cNvPr id="1753" name="Shape 1887"/>
            <p:cNvSpPr/>
            <p:nvPr/>
          </p:nvSpPr>
          <p:spPr>
            <a:xfrm>
              <a:off x="1220760" y="5092560"/>
              <a:ext cx="70257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如何求顶点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 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的出度？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1754" name="Shape 1888" descr=""/>
            <p:cNvPicPr/>
            <p:nvPr/>
          </p:nvPicPr>
          <p:blipFill>
            <a:blip r:embed="rId1"/>
            <a:stretch/>
          </p:blipFill>
          <p:spPr>
            <a:xfrm>
              <a:off x="579600" y="510840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755" name="Shape 1889"/>
          <p:cNvSpPr/>
          <p:nvPr/>
        </p:nvSpPr>
        <p:spPr>
          <a:xfrm>
            <a:off x="615960" y="5813280"/>
            <a:ext cx="7691040" cy="547200"/>
          </a:xfrm>
          <a:prstGeom prst="rect">
            <a:avLst/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邻接矩阵的第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行元素之和。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1756" name="Shape 1890"/>
          <p:cNvGrpSpPr/>
          <p:nvPr/>
        </p:nvGrpSpPr>
        <p:grpSpPr>
          <a:xfrm>
            <a:off x="6056280" y="4084560"/>
            <a:ext cx="2209320" cy="46440"/>
            <a:chOff x="6056280" y="4084560"/>
            <a:chExt cx="2209320" cy="46440"/>
          </a:xfrm>
        </p:grpSpPr>
        <p:sp>
          <p:nvSpPr>
            <p:cNvPr id="1757" name="Shape 1891"/>
            <p:cNvSpPr/>
            <p:nvPr/>
          </p:nvSpPr>
          <p:spPr>
            <a:xfrm>
              <a:off x="6056280" y="4084560"/>
              <a:ext cx="22093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8" name="Shape 1892"/>
            <p:cNvSpPr/>
            <p:nvPr/>
          </p:nvSpPr>
          <p:spPr>
            <a:xfrm>
              <a:off x="6056280" y="4130640"/>
              <a:ext cx="22093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59" name="Shape 1893"/>
          <p:cNvGrpSpPr/>
          <p:nvPr/>
        </p:nvGrpSpPr>
        <p:grpSpPr>
          <a:xfrm>
            <a:off x="795240" y="2246400"/>
            <a:ext cx="2471760" cy="2334960"/>
            <a:chOff x="795240" y="2246400"/>
            <a:chExt cx="2471760" cy="2334960"/>
          </a:xfrm>
        </p:grpSpPr>
        <p:sp>
          <p:nvSpPr>
            <p:cNvPr id="1760" name="Shape 1894"/>
            <p:cNvSpPr/>
            <p:nvPr/>
          </p:nvSpPr>
          <p:spPr>
            <a:xfrm>
              <a:off x="1301760" y="2533680"/>
              <a:ext cx="1431720" cy="1080"/>
            </a:xfrm>
            <a:custGeom>
              <a:avLst/>
              <a:gdLst/>
              <a:ahLst/>
              <a:rect l="l" t="t" r="r" b="b"/>
              <a:pathLst>
                <a:path w="901" h="7">
                  <a:moveTo>
                    <a:pt x="0" y="7"/>
                  </a:moveTo>
                  <a:lnTo>
                    <a:pt x="90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1" name="Shape 1895"/>
            <p:cNvSpPr/>
            <p:nvPr/>
          </p:nvSpPr>
          <p:spPr>
            <a:xfrm>
              <a:off x="803160" y="22953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2" name="Shape 1896"/>
            <p:cNvSpPr/>
            <p:nvPr/>
          </p:nvSpPr>
          <p:spPr>
            <a:xfrm>
              <a:off x="870120" y="22464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763" name="Shape 1897"/>
            <p:cNvSpPr/>
            <p:nvPr/>
          </p:nvSpPr>
          <p:spPr>
            <a:xfrm>
              <a:off x="2736720" y="230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4" name="Shape 1898"/>
            <p:cNvSpPr/>
            <p:nvPr/>
          </p:nvSpPr>
          <p:spPr>
            <a:xfrm>
              <a:off x="2803680" y="225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grpSp>
          <p:nvGrpSpPr>
            <p:cNvPr id="1765" name="Shape 1899"/>
            <p:cNvGrpSpPr/>
            <p:nvPr/>
          </p:nvGrpSpPr>
          <p:grpSpPr>
            <a:xfrm>
              <a:off x="795240" y="2692800"/>
              <a:ext cx="2457360" cy="1888560"/>
              <a:chOff x="795240" y="2692800"/>
              <a:chExt cx="2457360" cy="1888560"/>
            </a:xfrm>
          </p:grpSpPr>
          <p:sp>
            <p:nvSpPr>
              <p:cNvPr id="1766" name="Shape 1900"/>
              <p:cNvSpPr/>
              <p:nvPr/>
            </p:nvSpPr>
            <p:spPr>
              <a:xfrm>
                <a:off x="1052640" y="2795760"/>
                <a:ext cx="360" cy="1272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67" name="Shape 1901"/>
              <p:cNvSpPr/>
              <p:nvPr/>
            </p:nvSpPr>
            <p:spPr>
              <a:xfrm>
                <a:off x="1270080" y="4303800"/>
                <a:ext cx="1474560" cy="1080"/>
              </a:xfrm>
              <a:custGeom>
                <a:avLst/>
                <a:gdLst/>
                <a:ahLst/>
                <a:rect l="l" t="t" r="r" b="b"/>
                <a:pathLst>
                  <a:path w="901" h="5">
                    <a:moveTo>
                      <a:pt x="0" y="0"/>
                    </a:moveTo>
                    <a:lnTo>
                      <a:pt x="901" y="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68" name="Shape 1902"/>
              <p:cNvSpPr/>
              <p:nvPr/>
            </p:nvSpPr>
            <p:spPr>
              <a:xfrm rot="10800000">
                <a:off x="1240200" y="2692800"/>
                <a:ext cx="1566360" cy="13935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69" name="Shape 1903"/>
              <p:cNvSpPr/>
              <p:nvPr/>
            </p:nvSpPr>
            <p:spPr>
              <a:xfrm>
                <a:off x="795240" y="40356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70" name="Shape 1904"/>
              <p:cNvSpPr/>
              <p:nvPr/>
            </p:nvSpPr>
            <p:spPr>
              <a:xfrm>
                <a:off x="861840" y="39862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2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1771" name="Shape 1905"/>
              <p:cNvSpPr/>
              <p:nvPr/>
            </p:nvSpPr>
            <p:spPr>
              <a:xfrm>
                <a:off x="2722680" y="403236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72" name="Shape 1906"/>
              <p:cNvSpPr/>
              <p:nvPr/>
            </p:nvSpPr>
            <p:spPr>
              <a:xfrm>
                <a:off x="2789280" y="398304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3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1773" name="Shape 1907"/>
          <p:cNvGrpSpPr/>
          <p:nvPr/>
        </p:nvGrpSpPr>
        <p:grpSpPr>
          <a:xfrm>
            <a:off x="4575240" y="1584360"/>
            <a:ext cx="3596760" cy="555120"/>
            <a:chOff x="4575240" y="1584360"/>
            <a:chExt cx="3596760" cy="555120"/>
          </a:xfrm>
        </p:grpSpPr>
        <p:sp>
          <p:nvSpPr>
            <p:cNvPr id="1774" name="Shape 1908"/>
            <p:cNvSpPr/>
            <p:nvPr/>
          </p:nvSpPr>
          <p:spPr>
            <a:xfrm>
              <a:off x="5932440" y="1584360"/>
              <a:ext cx="2239560" cy="547200"/>
            </a:xfrm>
            <a:prstGeom prst="rect">
              <a:avLst/>
            </a:pr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26000" r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  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  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775" name="Shape 1909"/>
            <p:cNvSpPr/>
            <p:nvPr/>
          </p:nvSpPr>
          <p:spPr>
            <a:xfrm>
              <a:off x="649764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6" name="Shape 1910"/>
            <p:cNvSpPr/>
            <p:nvPr/>
          </p:nvSpPr>
          <p:spPr>
            <a:xfrm>
              <a:off x="706284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7" name="Shape 1911"/>
            <p:cNvSpPr/>
            <p:nvPr/>
          </p:nvSpPr>
          <p:spPr>
            <a:xfrm>
              <a:off x="761220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8" name="Shape 1912"/>
            <p:cNvSpPr/>
            <p:nvPr/>
          </p:nvSpPr>
          <p:spPr>
            <a:xfrm>
              <a:off x="4575240" y="1620720"/>
              <a:ext cx="1342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vertex=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779" name="Shape 1913"/>
          <p:cNvGrpSpPr/>
          <p:nvPr/>
        </p:nvGrpSpPr>
        <p:grpSpPr>
          <a:xfrm>
            <a:off x="4532400" y="2235240"/>
            <a:ext cx="3793680" cy="2736360"/>
            <a:chOff x="4532400" y="2235240"/>
            <a:chExt cx="3793680" cy="2736360"/>
          </a:xfrm>
        </p:grpSpPr>
        <p:sp>
          <p:nvSpPr>
            <p:cNvPr id="1780" name="Shape 1914"/>
            <p:cNvSpPr/>
            <p:nvPr/>
          </p:nvSpPr>
          <p:spPr>
            <a:xfrm>
              <a:off x="6083280" y="2589120"/>
              <a:ext cx="2198160" cy="238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10800" bIns="10800" anchor="t">
              <a:noAutofit/>
            </a:bodyPr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0    1    1    0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0    0    0    0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0    0    0    1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1    0    0    0 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1781" name="Shape 1915"/>
            <p:cNvSpPr/>
            <p:nvPr/>
          </p:nvSpPr>
          <p:spPr>
            <a:xfrm>
              <a:off x="5959440" y="2757600"/>
              <a:ext cx="2317320" cy="2104560"/>
            </a:xfrm>
            <a:prstGeom prst="bracketPair">
              <a:avLst>
                <a:gd name="adj" fmla="val 16667"/>
              </a:avLst>
            </a:pr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2" name="Shape 1916"/>
            <p:cNvSpPr/>
            <p:nvPr/>
          </p:nvSpPr>
          <p:spPr>
            <a:xfrm>
              <a:off x="4532400" y="3451320"/>
              <a:ext cx="87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arc=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783" name="Shape 1917"/>
            <p:cNvSpPr/>
            <p:nvPr/>
          </p:nvSpPr>
          <p:spPr>
            <a:xfrm>
              <a:off x="6022800" y="2235240"/>
              <a:ext cx="230328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 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1784" name="Shape 1918"/>
            <p:cNvSpPr/>
            <p:nvPr/>
          </p:nvSpPr>
          <p:spPr>
            <a:xfrm>
              <a:off x="5446800" y="2557440"/>
              <a:ext cx="601200" cy="235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88" dur="indefinite" restart="never" nodeType="tmRoot">
          <p:childTnLst>
            <p:seq>
              <p:cTn id="689" dur="indefinite" nodeType="mainSeq">
                <p:childTnLst>
                  <p:par>
                    <p:cTn id="690" fill="hold">
                      <p:stCondLst>
                        <p:cond delay="indefinite"/>
                      </p:stCondLst>
                      <p:childTnLst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Shape 1923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86" name="Shape 1924"/>
          <p:cNvSpPr/>
          <p:nvPr/>
        </p:nvSpPr>
        <p:spPr>
          <a:xfrm>
            <a:off x="318960" y="1279440"/>
            <a:ext cx="44193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003399"/>
                </a:solidFill>
                <a:latin typeface="Times New Roman"/>
                <a:ea typeface="Times New Roman"/>
              </a:rPr>
              <a:t>有向图的邻接矩阵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1787" name="Shape 1925"/>
          <p:cNvGrpSpPr/>
          <p:nvPr/>
        </p:nvGrpSpPr>
        <p:grpSpPr>
          <a:xfrm>
            <a:off x="579600" y="5092560"/>
            <a:ext cx="7666920" cy="518760"/>
            <a:chOff x="579600" y="5092560"/>
            <a:chExt cx="7666920" cy="518760"/>
          </a:xfrm>
        </p:grpSpPr>
        <p:sp>
          <p:nvSpPr>
            <p:cNvPr id="1788" name="Shape 1926"/>
            <p:cNvSpPr/>
            <p:nvPr/>
          </p:nvSpPr>
          <p:spPr>
            <a:xfrm>
              <a:off x="1220760" y="5092560"/>
              <a:ext cx="70257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如何求顶点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 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的入度？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1789" name="Shape 1927" descr=""/>
            <p:cNvPicPr/>
            <p:nvPr/>
          </p:nvPicPr>
          <p:blipFill>
            <a:blip r:embed="rId1"/>
            <a:stretch/>
          </p:blipFill>
          <p:spPr>
            <a:xfrm>
              <a:off x="579600" y="510840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790" name="Shape 1928"/>
          <p:cNvSpPr/>
          <p:nvPr/>
        </p:nvSpPr>
        <p:spPr>
          <a:xfrm>
            <a:off x="615960" y="5813280"/>
            <a:ext cx="7691040" cy="547200"/>
          </a:xfrm>
          <a:prstGeom prst="rect">
            <a:avLst/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邻接矩阵的第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列元素之和。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1791" name="Shape 1929"/>
          <p:cNvGrpSpPr/>
          <p:nvPr/>
        </p:nvGrpSpPr>
        <p:grpSpPr>
          <a:xfrm>
            <a:off x="6159600" y="2666880"/>
            <a:ext cx="46440" cy="2287440"/>
            <a:chOff x="6159600" y="2666880"/>
            <a:chExt cx="46440" cy="2287440"/>
          </a:xfrm>
        </p:grpSpPr>
        <p:sp>
          <p:nvSpPr>
            <p:cNvPr id="1792" name="Shape 1930"/>
            <p:cNvSpPr/>
            <p:nvPr/>
          </p:nvSpPr>
          <p:spPr>
            <a:xfrm>
              <a:off x="6159600" y="2666880"/>
              <a:ext cx="360" cy="2285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93" name="Shape 1931"/>
            <p:cNvSpPr/>
            <p:nvPr/>
          </p:nvSpPr>
          <p:spPr>
            <a:xfrm>
              <a:off x="6205680" y="2668680"/>
              <a:ext cx="360" cy="2285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94" name="Shape 1932"/>
          <p:cNvGrpSpPr/>
          <p:nvPr/>
        </p:nvGrpSpPr>
        <p:grpSpPr>
          <a:xfrm>
            <a:off x="795240" y="2246400"/>
            <a:ext cx="2471760" cy="2334960"/>
            <a:chOff x="795240" y="2246400"/>
            <a:chExt cx="2471760" cy="2334960"/>
          </a:xfrm>
        </p:grpSpPr>
        <p:sp>
          <p:nvSpPr>
            <p:cNvPr id="1795" name="Shape 1933"/>
            <p:cNvSpPr/>
            <p:nvPr/>
          </p:nvSpPr>
          <p:spPr>
            <a:xfrm>
              <a:off x="1301760" y="2533680"/>
              <a:ext cx="1431720" cy="1080"/>
            </a:xfrm>
            <a:custGeom>
              <a:avLst/>
              <a:gdLst/>
              <a:ahLst/>
              <a:rect l="l" t="t" r="r" b="b"/>
              <a:pathLst>
                <a:path w="901" h="7">
                  <a:moveTo>
                    <a:pt x="0" y="7"/>
                  </a:moveTo>
                  <a:lnTo>
                    <a:pt x="90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96" name="Shape 1934"/>
            <p:cNvSpPr/>
            <p:nvPr/>
          </p:nvSpPr>
          <p:spPr>
            <a:xfrm>
              <a:off x="803160" y="22953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97" name="Shape 1935"/>
            <p:cNvSpPr/>
            <p:nvPr/>
          </p:nvSpPr>
          <p:spPr>
            <a:xfrm>
              <a:off x="870120" y="22464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798" name="Shape 1936"/>
            <p:cNvSpPr/>
            <p:nvPr/>
          </p:nvSpPr>
          <p:spPr>
            <a:xfrm>
              <a:off x="2736720" y="230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99" name="Shape 1937"/>
            <p:cNvSpPr/>
            <p:nvPr/>
          </p:nvSpPr>
          <p:spPr>
            <a:xfrm>
              <a:off x="2803680" y="225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grpSp>
          <p:nvGrpSpPr>
            <p:cNvPr id="1800" name="Shape 1938"/>
            <p:cNvGrpSpPr/>
            <p:nvPr/>
          </p:nvGrpSpPr>
          <p:grpSpPr>
            <a:xfrm>
              <a:off x="795240" y="2692800"/>
              <a:ext cx="2457360" cy="1888560"/>
              <a:chOff x="795240" y="2692800"/>
              <a:chExt cx="2457360" cy="1888560"/>
            </a:xfrm>
          </p:grpSpPr>
          <p:sp>
            <p:nvSpPr>
              <p:cNvPr id="1801" name="Shape 1939"/>
              <p:cNvSpPr/>
              <p:nvPr/>
            </p:nvSpPr>
            <p:spPr>
              <a:xfrm>
                <a:off x="1052640" y="2795760"/>
                <a:ext cx="360" cy="1272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02" name="Shape 1940"/>
              <p:cNvSpPr/>
              <p:nvPr/>
            </p:nvSpPr>
            <p:spPr>
              <a:xfrm>
                <a:off x="1270080" y="4303800"/>
                <a:ext cx="1474560" cy="1080"/>
              </a:xfrm>
              <a:custGeom>
                <a:avLst/>
                <a:gdLst/>
                <a:ahLst/>
                <a:rect l="l" t="t" r="r" b="b"/>
                <a:pathLst>
                  <a:path w="901" h="5">
                    <a:moveTo>
                      <a:pt x="0" y="0"/>
                    </a:moveTo>
                    <a:lnTo>
                      <a:pt x="901" y="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03" name="Shape 1941"/>
              <p:cNvSpPr/>
              <p:nvPr/>
            </p:nvSpPr>
            <p:spPr>
              <a:xfrm rot="10800000">
                <a:off x="1240200" y="2692800"/>
                <a:ext cx="1566360" cy="13935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04" name="Shape 1942"/>
              <p:cNvSpPr/>
              <p:nvPr/>
            </p:nvSpPr>
            <p:spPr>
              <a:xfrm>
                <a:off x="795240" y="40356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05" name="Shape 1943"/>
              <p:cNvSpPr/>
              <p:nvPr/>
            </p:nvSpPr>
            <p:spPr>
              <a:xfrm>
                <a:off x="861840" y="39862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2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1806" name="Shape 1944"/>
              <p:cNvSpPr/>
              <p:nvPr/>
            </p:nvSpPr>
            <p:spPr>
              <a:xfrm>
                <a:off x="2722680" y="403236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07" name="Shape 1945"/>
              <p:cNvSpPr/>
              <p:nvPr/>
            </p:nvSpPr>
            <p:spPr>
              <a:xfrm>
                <a:off x="2789280" y="398304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3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1808" name="Shape 1946"/>
          <p:cNvGrpSpPr/>
          <p:nvPr/>
        </p:nvGrpSpPr>
        <p:grpSpPr>
          <a:xfrm>
            <a:off x="4575240" y="1584360"/>
            <a:ext cx="3596760" cy="555120"/>
            <a:chOff x="4575240" y="1584360"/>
            <a:chExt cx="3596760" cy="555120"/>
          </a:xfrm>
        </p:grpSpPr>
        <p:sp>
          <p:nvSpPr>
            <p:cNvPr id="1809" name="Shape 1947"/>
            <p:cNvSpPr/>
            <p:nvPr/>
          </p:nvSpPr>
          <p:spPr>
            <a:xfrm>
              <a:off x="5932440" y="1584360"/>
              <a:ext cx="2239560" cy="547200"/>
            </a:xfrm>
            <a:prstGeom prst="rect">
              <a:avLst/>
            </a:pr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26000" r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  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  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810" name="Shape 1948"/>
            <p:cNvSpPr/>
            <p:nvPr/>
          </p:nvSpPr>
          <p:spPr>
            <a:xfrm>
              <a:off x="649764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1" name="Shape 1949"/>
            <p:cNvSpPr/>
            <p:nvPr/>
          </p:nvSpPr>
          <p:spPr>
            <a:xfrm>
              <a:off x="706284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2" name="Shape 1950"/>
            <p:cNvSpPr/>
            <p:nvPr/>
          </p:nvSpPr>
          <p:spPr>
            <a:xfrm>
              <a:off x="761220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3" name="Shape 1951"/>
            <p:cNvSpPr/>
            <p:nvPr/>
          </p:nvSpPr>
          <p:spPr>
            <a:xfrm>
              <a:off x="4575240" y="1620720"/>
              <a:ext cx="1342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vertex=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814" name="Shape 1952"/>
          <p:cNvGrpSpPr/>
          <p:nvPr/>
        </p:nvGrpSpPr>
        <p:grpSpPr>
          <a:xfrm>
            <a:off x="4532400" y="2235240"/>
            <a:ext cx="3793680" cy="2736360"/>
            <a:chOff x="4532400" y="2235240"/>
            <a:chExt cx="3793680" cy="2736360"/>
          </a:xfrm>
        </p:grpSpPr>
        <p:sp>
          <p:nvSpPr>
            <p:cNvPr id="1815" name="Shape 1953"/>
            <p:cNvSpPr/>
            <p:nvPr/>
          </p:nvSpPr>
          <p:spPr>
            <a:xfrm>
              <a:off x="6083280" y="2589120"/>
              <a:ext cx="2198160" cy="238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10800" bIns="10800" anchor="t">
              <a:noAutofit/>
            </a:bodyPr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0    1    1    0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0    0    0    0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0    0    0    1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1    0    0    0 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1816" name="Shape 1954"/>
            <p:cNvSpPr/>
            <p:nvPr/>
          </p:nvSpPr>
          <p:spPr>
            <a:xfrm>
              <a:off x="5959440" y="2757600"/>
              <a:ext cx="2317320" cy="2104560"/>
            </a:xfrm>
            <a:prstGeom prst="bracketPair">
              <a:avLst>
                <a:gd name="adj" fmla="val 16667"/>
              </a:avLst>
            </a:pr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7" name="Shape 1955"/>
            <p:cNvSpPr/>
            <p:nvPr/>
          </p:nvSpPr>
          <p:spPr>
            <a:xfrm>
              <a:off x="4532400" y="3451320"/>
              <a:ext cx="87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arc=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818" name="Shape 1956"/>
            <p:cNvSpPr/>
            <p:nvPr/>
          </p:nvSpPr>
          <p:spPr>
            <a:xfrm>
              <a:off x="6022800" y="2235240"/>
              <a:ext cx="230328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 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1819" name="Shape 1957"/>
            <p:cNvSpPr/>
            <p:nvPr/>
          </p:nvSpPr>
          <p:spPr>
            <a:xfrm>
              <a:off x="5446800" y="2557440"/>
              <a:ext cx="601200" cy="235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4" dur="indefinite" restart="never" nodeType="tmRoot">
          <p:childTnLst>
            <p:seq>
              <p:cTn id="695" dur="indefinite" nodeType="mainSeq">
                <p:childTnLst>
                  <p:par>
                    <p:cTn id="696" fill="hold">
                      <p:stCondLst>
                        <p:cond delay="indefinite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id="69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Shape 1962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21" name="Shape 1963"/>
          <p:cNvSpPr/>
          <p:nvPr/>
        </p:nvSpPr>
        <p:spPr>
          <a:xfrm>
            <a:off x="318960" y="1279440"/>
            <a:ext cx="44193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003399"/>
                </a:solidFill>
                <a:latin typeface="Times New Roman"/>
                <a:ea typeface="Times New Roman"/>
              </a:rPr>
              <a:t>有向图的邻接矩阵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1822" name="Shape 1964"/>
          <p:cNvGrpSpPr/>
          <p:nvPr/>
        </p:nvGrpSpPr>
        <p:grpSpPr>
          <a:xfrm>
            <a:off x="758880" y="5272200"/>
            <a:ext cx="7666920" cy="518760"/>
            <a:chOff x="758880" y="5272200"/>
            <a:chExt cx="7666920" cy="518760"/>
          </a:xfrm>
        </p:grpSpPr>
        <p:sp>
          <p:nvSpPr>
            <p:cNvPr id="1823" name="Shape 1965"/>
            <p:cNvSpPr/>
            <p:nvPr/>
          </p:nvSpPr>
          <p:spPr>
            <a:xfrm>
              <a:off x="1400040" y="5272200"/>
              <a:ext cx="70257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如何判断从顶点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 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到顶点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j 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是否存在边？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1824" name="Shape 1966" descr=""/>
            <p:cNvPicPr/>
            <p:nvPr/>
          </p:nvPicPr>
          <p:blipFill>
            <a:blip r:embed="rId1"/>
            <a:stretch/>
          </p:blipFill>
          <p:spPr>
            <a:xfrm>
              <a:off x="758880" y="528804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825" name="Shape 1967"/>
          <p:cNvSpPr/>
          <p:nvPr/>
        </p:nvSpPr>
        <p:spPr>
          <a:xfrm>
            <a:off x="716040" y="5992920"/>
            <a:ext cx="8178480" cy="547200"/>
          </a:xfrm>
          <a:prstGeom prst="rect">
            <a:avLst/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测试邻接矩阵中相应位置的元素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arc[i][j]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是否为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。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1826" name="Shape 1968"/>
          <p:cNvGrpSpPr/>
          <p:nvPr/>
        </p:nvGrpSpPr>
        <p:grpSpPr>
          <a:xfrm>
            <a:off x="795240" y="2246400"/>
            <a:ext cx="2471760" cy="2334960"/>
            <a:chOff x="795240" y="2246400"/>
            <a:chExt cx="2471760" cy="2334960"/>
          </a:xfrm>
        </p:grpSpPr>
        <p:sp>
          <p:nvSpPr>
            <p:cNvPr id="1827" name="Shape 1969"/>
            <p:cNvSpPr/>
            <p:nvPr/>
          </p:nvSpPr>
          <p:spPr>
            <a:xfrm>
              <a:off x="1301760" y="2533680"/>
              <a:ext cx="1431720" cy="1080"/>
            </a:xfrm>
            <a:custGeom>
              <a:avLst/>
              <a:gdLst/>
              <a:ahLst/>
              <a:rect l="l" t="t" r="r" b="b"/>
              <a:pathLst>
                <a:path w="901" h="7">
                  <a:moveTo>
                    <a:pt x="0" y="7"/>
                  </a:moveTo>
                  <a:lnTo>
                    <a:pt x="90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8" name="Shape 1970"/>
            <p:cNvSpPr/>
            <p:nvPr/>
          </p:nvSpPr>
          <p:spPr>
            <a:xfrm>
              <a:off x="803160" y="22953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9" name="Shape 1971"/>
            <p:cNvSpPr/>
            <p:nvPr/>
          </p:nvSpPr>
          <p:spPr>
            <a:xfrm>
              <a:off x="870120" y="22464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830" name="Shape 1972"/>
            <p:cNvSpPr/>
            <p:nvPr/>
          </p:nvSpPr>
          <p:spPr>
            <a:xfrm>
              <a:off x="2736720" y="230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1" name="Shape 1973"/>
            <p:cNvSpPr/>
            <p:nvPr/>
          </p:nvSpPr>
          <p:spPr>
            <a:xfrm>
              <a:off x="2803680" y="225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grpSp>
          <p:nvGrpSpPr>
            <p:cNvPr id="1832" name="Shape 1974"/>
            <p:cNvGrpSpPr/>
            <p:nvPr/>
          </p:nvGrpSpPr>
          <p:grpSpPr>
            <a:xfrm>
              <a:off x="795240" y="2692800"/>
              <a:ext cx="2457360" cy="1888560"/>
              <a:chOff x="795240" y="2692800"/>
              <a:chExt cx="2457360" cy="1888560"/>
            </a:xfrm>
          </p:grpSpPr>
          <p:sp>
            <p:nvSpPr>
              <p:cNvPr id="1833" name="Shape 1975"/>
              <p:cNvSpPr/>
              <p:nvPr/>
            </p:nvSpPr>
            <p:spPr>
              <a:xfrm>
                <a:off x="1052640" y="2795760"/>
                <a:ext cx="360" cy="1272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34" name="Shape 1976"/>
              <p:cNvSpPr/>
              <p:nvPr/>
            </p:nvSpPr>
            <p:spPr>
              <a:xfrm>
                <a:off x="1270080" y="4303800"/>
                <a:ext cx="1474560" cy="1080"/>
              </a:xfrm>
              <a:custGeom>
                <a:avLst/>
                <a:gdLst/>
                <a:ahLst/>
                <a:rect l="l" t="t" r="r" b="b"/>
                <a:pathLst>
                  <a:path w="901" h="5">
                    <a:moveTo>
                      <a:pt x="0" y="0"/>
                    </a:moveTo>
                    <a:lnTo>
                      <a:pt x="901" y="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35" name="Shape 1977"/>
              <p:cNvSpPr/>
              <p:nvPr/>
            </p:nvSpPr>
            <p:spPr>
              <a:xfrm rot="10800000">
                <a:off x="1240200" y="2692800"/>
                <a:ext cx="1566360" cy="13935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36" name="Shape 1978"/>
              <p:cNvSpPr/>
              <p:nvPr/>
            </p:nvSpPr>
            <p:spPr>
              <a:xfrm>
                <a:off x="795240" y="40356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37" name="Shape 1979"/>
              <p:cNvSpPr/>
              <p:nvPr/>
            </p:nvSpPr>
            <p:spPr>
              <a:xfrm>
                <a:off x="861840" y="39862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2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1838" name="Shape 1980"/>
              <p:cNvSpPr/>
              <p:nvPr/>
            </p:nvSpPr>
            <p:spPr>
              <a:xfrm>
                <a:off x="2722680" y="403236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39" name="Shape 1981"/>
              <p:cNvSpPr/>
              <p:nvPr/>
            </p:nvSpPr>
            <p:spPr>
              <a:xfrm>
                <a:off x="2789280" y="398304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3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1840" name="Shape 1982"/>
          <p:cNvGrpSpPr/>
          <p:nvPr/>
        </p:nvGrpSpPr>
        <p:grpSpPr>
          <a:xfrm>
            <a:off x="4575240" y="1584360"/>
            <a:ext cx="3596760" cy="555120"/>
            <a:chOff x="4575240" y="1584360"/>
            <a:chExt cx="3596760" cy="555120"/>
          </a:xfrm>
        </p:grpSpPr>
        <p:sp>
          <p:nvSpPr>
            <p:cNvPr id="1841" name="Shape 1983"/>
            <p:cNvSpPr/>
            <p:nvPr/>
          </p:nvSpPr>
          <p:spPr>
            <a:xfrm>
              <a:off x="5932440" y="1584360"/>
              <a:ext cx="2239560" cy="547200"/>
            </a:xfrm>
            <a:prstGeom prst="rect">
              <a:avLst/>
            </a:pr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26000" r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  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  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842" name="Shape 1984"/>
            <p:cNvSpPr/>
            <p:nvPr/>
          </p:nvSpPr>
          <p:spPr>
            <a:xfrm>
              <a:off x="649764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3" name="Shape 1985"/>
            <p:cNvSpPr/>
            <p:nvPr/>
          </p:nvSpPr>
          <p:spPr>
            <a:xfrm>
              <a:off x="706284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4" name="Shape 1986"/>
            <p:cNvSpPr/>
            <p:nvPr/>
          </p:nvSpPr>
          <p:spPr>
            <a:xfrm>
              <a:off x="7612200" y="1584360"/>
              <a:ext cx="360" cy="533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5" name="Shape 1987"/>
            <p:cNvSpPr/>
            <p:nvPr/>
          </p:nvSpPr>
          <p:spPr>
            <a:xfrm>
              <a:off x="4575240" y="1620720"/>
              <a:ext cx="1342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vertex=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846" name="Shape 1988"/>
          <p:cNvGrpSpPr/>
          <p:nvPr/>
        </p:nvGrpSpPr>
        <p:grpSpPr>
          <a:xfrm>
            <a:off x="4532400" y="2235240"/>
            <a:ext cx="3793680" cy="2736360"/>
            <a:chOff x="4532400" y="2235240"/>
            <a:chExt cx="3793680" cy="2736360"/>
          </a:xfrm>
        </p:grpSpPr>
        <p:sp>
          <p:nvSpPr>
            <p:cNvPr id="1847" name="Shape 1989"/>
            <p:cNvSpPr/>
            <p:nvPr/>
          </p:nvSpPr>
          <p:spPr>
            <a:xfrm>
              <a:off x="6083280" y="2589120"/>
              <a:ext cx="2198160" cy="238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10800" bIns="10800" anchor="t">
              <a:noAutofit/>
            </a:bodyPr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0    1    1    0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0    0    0    0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0    0    0    1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1    0    0    0 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1848" name="Shape 1990"/>
            <p:cNvSpPr/>
            <p:nvPr/>
          </p:nvSpPr>
          <p:spPr>
            <a:xfrm>
              <a:off x="5959440" y="2757600"/>
              <a:ext cx="2317320" cy="2104560"/>
            </a:xfrm>
            <a:prstGeom prst="bracketPair">
              <a:avLst>
                <a:gd name="adj" fmla="val 16667"/>
              </a:avLst>
            </a:pr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9" name="Shape 1991"/>
            <p:cNvSpPr/>
            <p:nvPr/>
          </p:nvSpPr>
          <p:spPr>
            <a:xfrm>
              <a:off x="4532400" y="3451320"/>
              <a:ext cx="87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arc=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850" name="Shape 1992"/>
            <p:cNvSpPr/>
            <p:nvPr/>
          </p:nvSpPr>
          <p:spPr>
            <a:xfrm>
              <a:off x="6022800" y="2235240"/>
              <a:ext cx="230328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 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1851" name="Shape 1993"/>
            <p:cNvSpPr/>
            <p:nvPr/>
          </p:nvSpPr>
          <p:spPr>
            <a:xfrm>
              <a:off x="5446800" y="2557440"/>
              <a:ext cx="601200" cy="235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55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</p:grpSp>
      <p:sp>
        <p:nvSpPr>
          <p:cNvPr id="1852" name="Shape 1994"/>
          <p:cNvSpPr/>
          <p:nvPr/>
        </p:nvSpPr>
        <p:spPr>
          <a:xfrm>
            <a:off x="7832880" y="3833640"/>
            <a:ext cx="356760" cy="509400"/>
          </a:xfrm>
          <a:prstGeom prst="ellipse">
            <a:avLst/>
          </a:prstGeom>
          <a:noFill/>
          <a:ln w="28575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00" dur="indefinite" restart="never" nodeType="tmRoot">
          <p:childTnLst>
            <p:seq>
              <p:cTn id="701" dur="indefinite" nodeType="mainSeq">
                <p:childTnLst>
                  <p:par>
                    <p:cTn id="702" fill="hold">
                      <p:stCondLst>
                        <p:cond delay="indefinite"/>
                      </p:stCondLst>
                      <p:childTnLst>
                        <p:par>
                          <p:cTn id="703" fill="hold">
                            <p:stCondLst>
                              <p:cond delay="0"/>
                            </p:stCondLst>
                            <p:childTnLst>
                              <p:par>
                                <p:cTn id="7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6" dur="500"/>
                                        <p:tgtEl>
                                          <p:spTgt spid="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7" fill="hold">
                      <p:stCondLst>
                        <p:cond delay="indefinite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id="7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Shape 1999"/>
          <p:cNvSpPr/>
          <p:nvPr/>
        </p:nvSpPr>
        <p:spPr>
          <a:xfrm>
            <a:off x="228600" y="1676520"/>
            <a:ext cx="28191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4" name="Shape 2000"/>
          <p:cNvSpPr/>
          <p:nvPr/>
        </p:nvSpPr>
        <p:spPr>
          <a:xfrm>
            <a:off x="318960" y="1279440"/>
            <a:ext cx="44193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网图的邻接矩阵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55" name="Shape 2001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56" name="Shape 2002"/>
          <p:cNvSpPr/>
          <p:nvPr/>
        </p:nvSpPr>
        <p:spPr>
          <a:xfrm>
            <a:off x="351000" y="1949400"/>
            <a:ext cx="7543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网图的邻接矩阵可定义为：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1857" name="Shape 2003"/>
          <p:cNvGrpSpPr/>
          <p:nvPr/>
        </p:nvGrpSpPr>
        <p:grpSpPr>
          <a:xfrm>
            <a:off x="425520" y="2463840"/>
            <a:ext cx="8278560" cy="1599840"/>
            <a:chOff x="425520" y="2463840"/>
            <a:chExt cx="8278560" cy="1599840"/>
          </a:xfrm>
        </p:grpSpPr>
        <p:sp>
          <p:nvSpPr>
            <p:cNvPr id="1858" name="Shape 2004"/>
            <p:cNvSpPr/>
            <p:nvPr/>
          </p:nvSpPr>
          <p:spPr>
            <a:xfrm>
              <a:off x="425520" y="3040200"/>
              <a:ext cx="1676160" cy="51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arc[i][j]</a:t>
              </a:r>
              <a:r>
                <a:rPr b="1" lang="ja-JP" sz="2800" spc="-1" strike="noStrike">
                  <a:solidFill>
                    <a:srgbClr val="000000"/>
                  </a:solidFill>
                  <a:latin typeface="Arial"/>
                  <a:ea typeface="Arial"/>
                </a:rPr>
                <a:t>＝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859" name="Shape 2005"/>
            <p:cNvSpPr/>
            <p:nvPr/>
          </p:nvSpPr>
          <p:spPr>
            <a:xfrm>
              <a:off x="2421000" y="2463840"/>
              <a:ext cx="6283080" cy="159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anchor="t">
              <a:noAutofit/>
            </a:bodyPr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w</a:t>
              </a:r>
              <a:r>
                <a:rPr b="1" i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ij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          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若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(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i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,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j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)∈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E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（或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&lt;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i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,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j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&gt;∈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E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）</a:t>
              </a:r>
              <a:endParaRPr b="0" lang="en-US" sz="28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     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若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=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j</a:t>
              </a:r>
              <a:endParaRPr b="0" lang="en-US" sz="28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∞       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其他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860" name="Shape 2006"/>
            <p:cNvSpPr/>
            <p:nvPr/>
          </p:nvSpPr>
          <p:spPr>
            <a:xfrm>
              <a:off x="2070000" y="2808360"/>
              <a:ext cx="212400" cy="102672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861" name="Shape 2007"/>
          <p:cNvGrpSpPr/>
          <p:nvPr/>
        </p:nvGrpSpPr>
        <p:grpSpPr>
          <a:xfrm>
            <a:off x="611280" y="4098960"/>
            <a:ext cx="2471400" cy="2523960"/>
            <a:chOff x="611280" y="4098960"/>
            <a:chExt cx="2471400" cy="2523960"/>
          </a:xfrm>
        </p:grpSpPr>
        <p:grpSp>
          <p:nvGrpSpPr>
            <p:cNvPr id="1862" name="Shape 2008"/>
            <p:cNvGrpSpPr/>
            <p:nvPr/>
          </p:nvGrpSpPr>
          <p:grpSpPr>
            <a:xfrm>
              <a:off x="611280" y="4287960"/>
              <a:ext cx="2471400" cy="2334960"/>
              <a:chOff x="611280" y="4287960"/>
              <a:chExt cx="2471400" cy="2334960"/>
            </a:xfrm>
          </p:grpSpPr>
          <p:grpSp>
            <p:nvGrpSpPr>
              <p:cNvPr id="1863" name="Shape 2009"/>
              <p:cNvGrpSpPr/>
              <p:nvPr/>
            </p:nvGrpSpPr>
            <p:grpSpPr>
              <a:xfrm>
                <a:off x="619200" y="4287960"/>
                <a:ext cx="2463480" cy="607680"/>
                <a:chOff x="619200" y="4287960"/>
                <a:chExt cx="2463480" cy="607680"/>
              </a:xfrm>
            </p:grpSpPr>
            <p:sp>
              <p:nvSpPr>
                <p:cNvPr id="1864" name="Shape 2010"/>
                <p:cNvSpPr/>
                <p:nvPr/>
              </p:nvSpPr>
              <p:spPr>
                <a:xfrm>
                  <a:off x="1117440" y="4575240"/>
                  <a:ext cx="1431720" cy="1080"/>
                </a:xfrm>
                <a:custGeom>
                  <a:avLst/>
                  <a:gdLst/>
                  <a:ahLst/>
                  <a:rect l="l" t="t" r="r" b="b"/>
                  <a:pathLst>
                    <a:path w="901" h="7">
                      <a:moveTo>
                        <a:pt x="0" y="7"/>
                      </a:moveTo>
                      <a:lnTo>
                        <a:pt x="901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  <a:tailEnd len="lg" type="stealth" w="lg"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865" name="Shape 2011"/>
                <p:cNvSpPr/>
                <p:nvPr/>
              </p:nvSpPr>
              <p:spPr>
                <a:xfrm>
                  <a:off x="619200" y="433692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866" name="Shape 2012"/>
                <p:cNvSpPr/>
                <p:nvPr/>
              </p:nvSpPr>
              <p:spPr>
                <a:xfrm>
                  <a:off x="685800" y="428796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0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  <p:sp>
              <p:nvSpPr>
                <p:cNvPr id="1867" name="Shape 2013"/>
                <p:cNvSpPr/>
                <p:nvPr/>
              </p:nvSpPr>
              <p:spPr>
                <a:xfrm>
                  <a:off x="2552760" y="434988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868" name="Shape 2014"/>
                <p:cNvSpPr/>
                <p:nvPr/>
              </p:nvSpPr>
              <p:spPr>
                <a:xfrm>
                  <a:off x="2619360" y="430056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1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</p:grpSp>
          <p:grpSp>
            <p:nvGrpSpPr>
              <p:cNvPr id="1869" name="Shape 2015"/>
              <p:cNvGrpSpPr/>
              <p:nvPr/>
            </p:nvGrpSpPr>
            <p:grpSpPr>
              <a:xfrm>
                <a:off x="611280" y="4734360"/>
                <a:ext cx="2457000" cy="1888560"/>
                <a:chOff x="611280" y="4734360"/>
                <a:chExt cx="2457000" cy="1888560"/>
              </a:xfrm>
            </p:grpSpPr>
            <p:sp>
              <p:nvSpPr>
                <p:cNvPr id="1870" name="Shape 2016"/>
                <p:cNvSpPr/>
                <p:nvPr/>
              </p:nvSpPr>
              <p:spPr>
                <a:xfrm>
                  <a:off x="868320" y="4836960"/>
                  <a:ext cx="360" cy="12729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2160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  <a:tailEnd len="lg" type="stealth" w="lg"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871" name="Shape 2017"/>
                <p:cNvSpPr/>
                <p:nvPr/>
              </p:nvSpPr>
              <p:spPr>
                <a:xfrm>
                  <a:off x="1085760" y="6345360"/>
                  <a:ext cx="1474560" cy="1080"/>
                </a:xfrm>
                <a:custGeom>
                  <a:avLst/>
                  <a:gdLst/>
                  <a:ahLst/>
                  <a:rect l="l" t="t" r="r" b="b"/>
                  <a:pathLst>
                    <a:path w="901" h="5">
                      <a:moveTo>
                        <a:pt x="0" y="0"/>
                      </a:moveTo>
                      <a:lnTo>
                        <a:pt x="901" y="5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  <a:tailEnd len="lg" type="stealth" w="lg"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872" name="Shape 2018"/>
                <p:cNvSpPr/>
                <p:nvPr/>
              </p:nvSpPr>
              <p:spPr>
                <a:xfrm rot="10800000">
                  <a:off x="1056240" y="4734360"/>
                  <a:ext cx="1566360" cy="13935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2160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  <a:tailEnd len="lg" type="stealth" w="lg"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873" name="Shape 2019"/>
                <p:cNvSpPr/>
                <p:nvPr/>
              </p:nvSpPr>
              <p:spPr>
                <a:xfrm>
                  <a:off x="611280" y="607680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874" name="Shape 2020"/>
                <p:cNvSpPr/>
                <p:nvPr/>
              </p:nvSpPr>
              <p:spPr>
                <a:xfrm>
                  <a:off x="677880" y="602784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2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  <p:sp>
              <p:nvSpPr>
                <p:cNvPr id="1875" name="Shape 2021"/>
                <p:cNvSpPr/>
                <p:nvPr/>
              </p:nvSpPr>
              <p:spPr>
                <a:xfrm>
                  <a:off x="2538360" y="607392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1876" name="Shape 2022"/>
                <p:cNvSpPr/>
                <p:nvPr/>
              </p:nvSpPr>
              <p:spPr>
                <a:xfrm>
                  <a:off x="2604960" y="602460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3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</p:grpSp>
        </p:grpSp>
        <p:sp>
          <p:nvSpPr>
            <p:cNvPr id="1877" name="Shape 2023"/>
            <p:cNvSpPr/>
            <p:nvPr/>
          </p:nvSpPr>
          <p:spPr>
            <a:xfrm>
              <a:off x="1500120" y="4098960"/>
              <a:ext cx="5792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878" name="Shape 2024"/>
            <p:cNvSpPr/>
            <p:nvPr/>
          </p:nvSpPr>
          <p:spPr>
            <a:xfrm>
              <a:off x="1743120" y="4967280"/>
              <a:ext cx="5792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879" name="Shape 2025"/>
            <p:cNvSpPr/>
            <p:nvPr/>
          </p:nvSpPr>
          <p:spPr>
            <a:xfrm>
              <a:off x="1393920" y="5851440"/>
              <a:ext cx="5792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8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880" name="Shape 2026"/>
            <p:cNvSpPr/>
            <p:nvPr/>
          </p:nvSpPr>
          <p:spPr>
            <a:xfrm>
              <a:off x="752400" y="5226120"/>
              <a:ext cx="5792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1881" name="Shape 2027"/>
          <p:cNvGrpSpPr/>
          <p:nvPr/>
        </p:nvGrpSpPr>
        <p:grpSpPr>
          <a:xfrm>
            <a:off x="4246560" y="4281480"/>
            <a:ext cx="3649320" cy="2382480"/>
            <a:chOff x="4246560" y="4281480"/>
            <a:chExt cx="3649320" cy="2382480"/>
          </a:xfrm>
        </p:grpSpPr>
        <p:sp>
          <p:nvSpPr>
            <p:cNvPr id="1882" name="Shape 2028"/>
            <p:cNvSpPr/>
            <p:nvPr/>
          </p:nvSpPr>
          <p:spPr>
            <a:xfrm>
              <a:off x="5378400" y="4281480"/>
              <a:ext cx="2517480" cy="2382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10800" bIns="10800" anchor="t">
              <a:noAutofit/>
            </a:bodyPr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2    5    ∞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∞   </a:t>
              </a: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∞   ∞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∞  ∞   </a:t>
              </a: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0     8 </a:t>
              </a:r>
              <a:endParaRPr b="0" lang="en-US" sz="3200" spc="-1" strike="noStrike">
                <a:latin typeface="Arial"/>
              </a:endParaRPr>
            </a:p>
            <a:p>
              <a:pPr algn="just"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7   ∞  ∞    0 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1883" name="Shape 2029"/>
            <p:cNvSpPr/>
            <p:nvPr/>
          </p:nvSpPr>
          <p:spPr>
            <a:xfrm>
              <a:off x="5254560" y="4449600"/>
              <a:ext cx="2607840" cy="2104560"/>
            </a:xfrm>
            <a:prstGeom prst="bracketPair">
              <a:avLst>
                <a:gd name="adj" fmla="val 16667"/>
              </a:avLst>
            </a:pr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4" name="Shape 2030"/>
            <p:cNvSpPr/>
            <p:nvPr/>
          </p:nvSpPr>
          <p:spPr>
            <a:xfrm>
              <a:off x="4246560" y="5219640"/>
              <a:ext cx="87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arc=</a:t>
              </a:r>
              <a:endParaRPr b="0" lang="en-US" sz="2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Shape 2035"/>
          <p:cNvSpPr/>
          <p:nvPr/>
        </p:nvSpPr>
        <p:spPr>
          <a:xfrm rot="5400000">
            <a:off x="-1565280" y="3715200"/>
            <a:ext cx="4780080" cy="67104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邻接矩阵存储</a:t>
            </a:r>
            <a:r>
              <a:rPr b="1" lang="ja-JP" sz="32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无向图</a:t>
            </a: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的类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86" name="Shape 2036"/>
          <p:cNvSpPr/>
          <p:nvPr/>
        </p:nvSpPr>
        <p:spPr>
          <a:xfrm>
            <a:off x="1630440" y="1243080"/>
            <a:ext cx="6857640" cy="53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0" bIns="0" anchor="t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const int MaxSize=10;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template &lt;class DataType&gt;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class Mgraph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public: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MGraph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DataType a[ ], int n, int e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;  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~MGraph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( )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void DFSTraverse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int v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;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void BFSTraverse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int v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;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private: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DataType vertex[MaxSize];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int arc[MaxSize][MaxSize];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int vertexNum, arcNum;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};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887" name="Shape 2037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Shape 2042"/>
          <p:cNvSpPr/>
          <p:nvPr/>
        </p:nvSpPr>
        <p:spPr>
          <a:xfrm>
            <a:off x="318960" y="1174680"/>
            <a:ext cx="760392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邻接矩阵中图的基本操作——构造函数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89" name="Shape 2043"/>
          <p:cNvSpPr/>
          <p:nvPr/>
        </p:nvSpPr>
        <p:spPr>
          <a:xfrm>
            <a:off x="754200" y="1962000"/>
            <a:ext cx="8076960" cy="35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Times New Roman"/>
              <a:buAutoNum type="arabicPeriod"/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确定图的顶点个数和边的个数；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输入顶点信息存储在一维数组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vertex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中；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初始化邻接矩阵；</a:t>
            </a:r>
            <a:endParaRPr b="0" lang="en-US" sz="28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4.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依次输入每条边存储在邻接矩阵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arc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中；</a:t>
            </a:r>
            <a:endParaRPr b="0" lang="en-US" sz="2800" spc="-1" strike="noStrike">
              <a:latin typeface="Arial"/>
            </a:endParaRPr>
          </a:p>
          <a:p>
            <a:pPr marL="457200" indent="-457200"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4.1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输入边依附的两个顶点的序号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i, 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800" spc="-1" strike="noStrike">
              <a:latin typeface="Arial"/>
            </a:endParaRPr>
          </a:p>
          <a:p>
            <a:pPr marL="457200" indent="-457200"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4.2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将邻接矩阵的第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行第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列的元素值置为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800" spc="-1" strike="noStrike">
              <a:latin typeface="Arial"/>
            </a:endParaRPr>
          </a:p>
          <a:p>
            <a:pPr marL="457200" indent="-457200"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4.3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将邻接矩阵的第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行第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列的元素值置为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890" name="Shape 2044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PlaceHolder 1"/>
          <p:cNvSpPr>
            <a:spLocks noGrp="1"/>
          </p:cNvSpPr>
          <p:nvPr>
            <p:ph/>
          </p:nvPr>
        </p:nvSpPr>
        <p:spPr>
          <a:xfrm>
            <a:off x="577800" y="1773360"/>
            <a:ext cx="7772040" cy="47797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anchor="t">
            <a:noAutofit/>
          </a:bodyPr>
          <a:p>
            <a:pPr marL="343080" indent="-34308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template &lt;class DataType&gt;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MGraph&lt;DataType&gt; :: MGraph(DataType a[ ], int n, int e)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vertexNum = n; arcNum = e;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for (i = 0; i &lt; vertexNum; i++)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vertex[i] = a[i];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for (i = 0; i &lt; vertexNum; i++)          //</a:t>
            </a:r>
            <a:r>
              <a:rPr b="1" lang="ja-JP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初始化邻接矩阵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for (j = 0; j &lt; vertexNum; j++)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arc[i][j] = 0;            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for (k = 0; k &lt; arcNum; k++)           //</a:t>
            </a:r>
            <a:r>
              <a:rPr b="1" lang="ja-JP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依次输入每一条边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cin &gt;&gt; i &gt;&gt; j;                      //</a:t>
            </a:r>
            <a:r>
              <a:rPr b="1" lang="ja-JP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输入边依附的两个顶点的编号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arc[i][j] = 1; arc[j][i] = 1;             //</a:t>
            </a:r>
            <a:r>
              <a:rPr b="1" lang="ja-JP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置有边标志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2" name="Shape 2050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893" name="Shape 2051"/>
          <p:cNvSpPr/>
          <p:nvPr/>
        </p:nvSpPr>
        <p:spPr>
          <a:xfrm>
            <a:off x="318960" y="1174680"/>
            <a:ext cx="760392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邻接矩阵中图的基本操作——构造函数 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Shape 2056"/>
          <p:cNvSpPr/>
          <p:nvPr/>
        </p:nvSpPr>
        <p:spPr>
          <a:xfrm>
            <a:off x="320760" y="1235160"/>
            <a:ext cx="81975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邻接矩阵中图的基本操作——</a:t>
            </a: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深度优先遍历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95" name="Shape 2057"/>
          <p:cNvSpPr/>
          <p:nvPr/>
        </p:nvSpPr>
        <p:spPr>
          <a:xfrm>
            <a:off x="579600" y="2103480"/>
            <a:ext cx="8070480" cy="265716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template &lt;class DataType&gt;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void MGraph&lt;DataType&gt; :: DFSTraverse(int v) 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cout &lt;&lt; vertex[v]; visited[v] = 1;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for (j = 0; j &lt; vertexNum; j++)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if (arc[v][j] == 1 &amp;&amp; visited[j] == 0) DFSTraverse( j );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96" name="Shape 2058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Shape 2063"/>
          <p:cNvSpPr/>
          <p:nvPr/>
        </p:nvSpPr>
        <p:spPr>
          <a:xfrm>
            <a:off x="304920" y="1295280"/>
            <a:ext cx="833544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邻接矩阵中图的基本操作——</a:t>
            </a: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广度优先遍历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98" name="Shape 2064"/>
          <p:cNvSpPr/>
          <p:nvPr/>
        </p:nvSpPr>
        <p:spPr>
          <a:xfrm>
            <a:off x="439560" y="1908000"/>
            <a:ext cx="8381520" cy="46098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tIns="0" bIns="0" anchor="t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template &lt;class DataType&gt;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void MGraph&lt;DataType&gt; :: BFSTraverse(int v)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front = rear = -1;   //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初始化顺序队列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cout &lt;&lt; vertex[v]; visited[v] = 1;  Q[++rear] = v;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while (front != rear)                   //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当队列非空时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 = Q[++front];                   //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将队头元素出队并送到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for (j = 0; j &lt; vertexNum; j++)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if (arc[v][j] == 1 &amp;&amp; visited[j] == 0 ) {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cout &lt;&lt; vertex[j]; visited[j] = 1; Q[++rear] = j;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99" name="Shape 2065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Shape 2070"/>
          <p:cNvSpPr/>
          <p:nvPr/>
        </p:nvSpPr>
        <p:spPr>
          <a:xfrm>
            <a:off x="304920" y="1219320"/>
            <a:ext cx="5105160" cy="57924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邻接表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01" name="Shape 2071"/>
          <p:cNvSpPr/>
          <p:nvPr/>
        </p:nvSpPr>
        <p:spPr>
          <a:xfrm>
            <a:off x="515880" y="4100400"/>
            <a:ext cx="8168760" cy="21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邻接表存储的基本思想：对于图的每个顶点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，将所有邻接于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的顶点链成一个单链表，称为顶点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边表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（对于有向图则称为出边表），所有边表的头指针和存储顶点信息的一维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数组构成了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顶点表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902" name="Shape 2072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1903" name="Shape 2073"/>
          <p:cNvGrpSpPr/>
          <p:nvPr/>
        </p:nvGrpSpPr>
        <p:grpSpPr>
          <a:xfrm>
            <a:off x="469800" y="1827360"/>
            <a:ext cx="8491320" cy="1117080"/>
            <a:chOff x="469800" y="1827360"/>
            <a:chExt cx="8491320" cy="1117080"/>
          </a:xfrm>
        </p:grpSpPr>
        <p:sp>
          <p:nvSpPr>
            <p:cNvPr id="1904" name="Shape 2074"/>
            <p:cNvSpPr/>
            <p:nvPr/>
          </p:nvSpPr>
          <p:spPr>
            <a:xfrm>
              <a:off x="1096920" y="1827360"/>
              <a:ext cx="7864200" cy="111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图的邻接矩阵存储结构的空间复杂度？</a:t>
              </a:r>
              <a:endParaRPr b="0" lang="en-US" sz="2800" spc="-1" strike="noStrike">
                <a:latin typeface="Arial"/>
              </a:endParaRPr>
            </a:p>
            <a:p>
              <a:pPr>
                <a:lnSpc>
                  <a:spcPct val="12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如果为稀疏图则会出现什么现象？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1905" name="Shape 2075" descr=""/>
            <p:cNvPicPr/>
            <p:nvPr/>
          </p:nvPicPr>
          <p:blipFill>
            <a:blip r:embed="rId1"/>
            <a:stretch/>
          </p:blipFill>
          <p:spPr>
            <a:xfrm>
              <a:off x="469800" y="216360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906" name="Shape 2076"/>
          <p:cNvSpPr/>
          <p:nvPr/>
        </p:nvSpPr>
        <p:spPr>
          <a:xfrm>
            <a:off x="453960" y="3184560"/>
            <a:ext cx="8137080" cy="632880"/>
          </a:xfrm>
          <a:prstGeom prst="rect">
            <a:avLst/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假设图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有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个顶点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条边，则存储该图需要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en-US" sz="280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。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11" dur="indefinite" restart="never" nodeType="tmRoot">
          <p:childTnLst>
            <p:seq>
              <p:cTn id="712" dur="indefinite" nodeType="mainSeq">
                <p:childTnLst>
                  <p:par>
                    <p:cTn id="713" fill="hold">
                      <p:stCondLst>
                        <p:cond delay="indefinite"/>
                      </p:stCondLst>
                      <p:childTnLst>
                        <p:par>
                          <p:cTn id="714" fill="hold">
                            <p:stCondLst>
                              <p:cond delay="0"/>
                            </p:stCondLst>
                            <p:childTnLst>
                              <p:par>
                                <p:cTn id="7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7" fill="hold">
                      <p:stCondLst>
                        <p:cond delay="indefinite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id="7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Shape 2081"/>
          <p:cNvSpPr/>
          <p:nvPr/>
        </p:nvSpPr>
        <p:spPr>
          <a:xfrm>
            <a:off x="533520" y="1600200"/>
            <a:ext cx="82292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邻接表有两种结点结构：顶点表结点和边表结点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。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1908" name="Shape 2082"/>
          <p:cNvGrpSpPr/>
          <p:nvPr/>
        </p:nvGrpSpPr>
        <p:grpSpPr>
          <a:xfrm>
            <a:off x="838080" y="2590920"/>
            <a:ext cx="6990840" cy="609120"/>
            <a:chOff x="838080" y="2590920"/>
            <a:chExt cx="6990840" cy="609120"/>
          </a:xfrm>
        </p:grpSpPr>
        <p:sp>
          <p:nvSpPr>
            <p:cNvPr id="1909" name="Shape 2083"/>
            <p:cNvSpPr/>
            <p:nvPr/>
          </p:nvSpPr>
          <p:spPr>
            <a:xfrm>
              <a:off x="838080" y="2590920"/>
              <a:ext cx="1426680" cy="6091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1910" name="Shape 2084"/>
            <p:cNvSpPr/>
            <p:nvPr/>
          </p:nvSpPr>
          <p:spPr>
            <a:xfrm>
              <a:off x="2265480" y="2590920"/>
              <a:ext cx="1847520" cy="6091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firstedge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1911" name="Shape 2085"/>
            <p:cNvSpPr/>
            <p:nvPr/>
          </p:nvSpPr>
          <p:spPr>
            <a:xfrm>
              <a:off x="4834080" y="2590920"/>
              <a:ext cx="1568160" cy="6091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adjvex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1912" name="Shape 2086"/>
            <p:cNvSpPr/>
            <p:nvPr/>
          </p:nvSpPr>
          <p:spPr>
            <a:xfrm>
              <a:off x="6402240" y="2590920"/>
              <a:ext cx="1426680" cy="6091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next</a:t>
              </a:r>
              <a:endParaRPr b="0" lang="en-US" sz="3200" spc="-1" strike="noStrike">
                <a:latin typeface="Arial"/>
              </a:endParaRPr>
            </a:p>
          </p:txBody>
        </p:sp>
      </p:grpSp>
      <p:sp>
        <p:nvSpPr>
          <p:cNvPr id="1913" name="Shape 2087"/>
          <p:cNvSpPr/>
          <p:nvPr/>
        </p:nvSpPr>
        <p:spPr>
          <a:xfrm>
            <a:off x="990720" y="3352680"/>
            <a:ext cx="685764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顶点表                              边   表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914" name="Shape 2088"/>
          <p:cNvSpPr/>
          <p:nvPr/>
        </p:nvSpPr>
        <p:spPr>
          <a:xfrm>
            <a:off x="669960" y="4084560"/>
            <a:ext cx="8152920" cy="22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vertex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：数据域，存放顶点信息。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839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firstedge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：指针域，指向边表中第一个结点。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839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adjvex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：邻接点域，边的终点在顶点表中的下标。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2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next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：指针域，指向边表中的下一个结点。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915" name="Shape 2089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Shape 2094"/>
          <p:cNvSpPr/>
          <p:nvPr/>
        </p:nvSpPr>
        <p:spPr>
          <a:xfrm>
            <a:off x="596880" y="1863720"/>
            <a:ext cx="4903560" cy="47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struct ArcNode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  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int adjvex;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ArcNode *next;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};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template &lt;class DataType&gt;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struct VertexNode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DataType vertex;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ArcNode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*firstedge;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};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917" name="Shape 2095"/>
          <p:cNvSpPr/>
          <p:nvPr/>
        </p:nvSpPr>
        <p:spPr>
          <a:xfrm>
            <a:off x="503280" y="1295280"/>
            <a:ext cx="3130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定义邻接表的结点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918" name="Shape 2096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1919" name="Shape 2097"/>
          <p:cNvGrpSpPr/>
          <p:nvPr/>
        </p:nvGrpSpPr>
        <p:grpSpPr>
          <a:xfrm>
            <a:off x="5089680" y="5105520"/>
            <a:ext cx="3274560" cy="609120"/>
            <a:chOff x="5089680" y="5105520"/>
            <a:chExt cx="3274560" cy="609120"/>
          </a:xfrm>
        </p:grpSpPr>
        <p:sp>
          <p:nvSpPr>
            <p:cNvPr id="1920" name="Shape 2098"/>
            <p:cNvSpPr/>
            <p:nvPr/>
          </p:nvSpPr>
          <p:spPr>
            <a:xfrm>
              <a:off x="5089680" y="5105520"/>
              <a:ext cx="1426680" cy="6091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1921" name="Shape 2099"/>
            <p:cNvSpPr/>
            <p:nvPr/>
          </p:nvSpPr>
          <p:spPr>
            <a:xfrm>
              <a:off x="6516720" y="5105520"/>
              <a:ext cx="1847520" cy="6091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firstedge</a:t>
              </a:r>
              <a:endParaRPr b="0" lang="en-US" sz="3200" spc="-1" strike="noStrike">
                <a:latin typeface="Arial"/>
              </a:endParaRPr>
            </a:p>
          </p:txBody>
        </p:sp>
      </p:grpSp>
      <p:grpSp>
        <p:nvGrpSpPr>
          <p:cNvPr id="1922" name="Shape 2100"/>
          <p:cNvGrpSpPr/>
          <p:nvPr/>
        </p:nvGrpSpPr>
        <p:grpSpPr>
          <a:xfrm>
            <a:off x="5126040" y="2514600"/>
            <a:ext cx="2995200" cy="609120"/>
            <a:chOff x="5126040" y="2514600"/>
            <a:chExt cx="2995200" cy="609120"/>
          </a:xfrm>
        </p:grpSpPr>
        <p:sp>
          <p:nvSpPr>
            <p:cNvPr id="1923" name="Shape 2101"/>
            <p:cNvSpPr/>
            <p:nvPr/>
          </p:nvSpPr>
          <p:spPr>
            <a:xfrm>
              <a:off x="5126040" y="2514600"/>
              <a:ext cx="1568160" cy="6091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adjvex</a:t>
              </a:r>
              <a:endParaRPr b="0" lang="en-US" sz="3200" spc="-1" strike="noStrike">
                <a:latin typeface="Arial"/>
              </a:endParaRPr>
            </a:p>
          </p:txBody>
        </p:sp>
        <p:sp>
          <p:nvSpPr>
            <p:cNvPr id="1924" name="Shape 2102"/>
            <p:cNvSpPr/>
            <p:nvPr/>
          </p:nvSpPr>
          <p:spPr>
            <a:xfrm>
              <a:off x="6694560" y="2514600"/>
              <a:ext cx="1426680" cy="6091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r>
                <a:rPr b="1" lang="en-US" sz="32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next</a:t>
              </a:r>
              <a:endParaRPr b="0" lang="en-US" sz="32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5" name="Shape 2107"/>
          <p:cNvGrpSpPr/>
          <p:nvPr/>
        </p:nvGrpSpPr>
        <p:grpSpPr>
          <a:xfrm>
            <a:off x="573120" y="4070520"/>
            <a:ext cx="7962480" cy="2480760"/>
            <a:chOff x="573120" y="4070520"/>
            <a:chExt cx="7962480" cy="2480760"/>
          </a:xfrm>
        </p:grpSpPr>
        <p:sp>
          <p:nvSpPr>
            <p:cNvPr id="1926" name="Shape 2108"/>
            <p:cNvSpPr/>
            <p:nvPr/>
          </p:nvSpPr>
          <p:spPr>
            <a:xfrm>
              <a:off x="3727440" y="458136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1927" name="Shape 2109"/>
            <p:cNvSpPr/>
            <p:nvPr/>
          </p:nvSpPr>
          <p:spPr>
            <a:xfrm>
              <a:off x="3727440" y="5079960"/>
              <a:ext cx="651960" cy="4474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1928" name="Shape 2110"/>
            <p:cNvSpPr/>
            <p:nvPr/>
          </p:nvSpPr>
          <p:spPr>
            <a:xfrm>
              <a:off x="4308480" y="5079960"/>
              <a:ext cx="572760" cy="4474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9" name="Shape 2111"/>
            <p:cNvSpPr/>
            <p:nvPr/>
          </p:nvSpPr>
          <p:spPr>
            <a:xfrm>
              <a:off x="5554800" y="458136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1930" name="Shape 2112"/>
            <p:cNvSpPr/>
            <p:nvPr/>
          </p:nvSpPr>
          <p:spPr>
            <a:xfrm>
              <a:off x="6156360" y="4581360"/>
              <a:ext cx="57420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1931" name="Shape 2113"/>
            <p:cNvSpPr/>
            <p:nvPr/>
          </p:nvSpPr>
          <p:spPr>
            <a:xfrm>
              <a:off x="5554800" y="5079960"/>
              <a:ext cx="651960" cy="4474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1932" name="Shape 2114"/>
            <p:cNvSpPr/>
            <p:nvPr/>
          </p:nvSpPr>
          <p:spPr>
            <a:xfrm>
              <a:off x="6156360" y="5079960"/>
              <a:ext cx="574200" cy="4474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3" name="Shape 2115"/>
            <p:cNvSpPr/>
            <p:nvPr/>
          </p:nvSpPr>
          <p:spPr>
            <a:xfrm>
              <a:off x="7440480" y="5079960"/>
              <a:ext cx="650520" cy="4474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1934" name="Shape 2116"/>
            <p:cNvSpPr/>
            <p:nvPr/>
          </p:nvSpPr>
          <p:spPr>
            <a:xfrm>
              <a:off x="7962840" y="5079960"/>
              <a:ext cx="572760" cy="4474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1935" name="Shape 2117"/>
            <p:cNvSpPr/>
            <p:nvPr/>
          </p:nvSpPr>
          <p:spPr>
            <a:xfrm>
              <a:off x="3727440" y="5575320"/>
              <a:ext cx="651960" cy="4903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1936" name="Shape 2118"/>
            <p:cNvSpPr/>
            <p:nvPr/>
          </p:nvSpPr>
          <p:spPr>
            <a:xfrm>
              <a:off x="4308480" y="5575320"/>
              <a:ext cx="572760" cy="4885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5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1937" name="Shape 2119"/>
            <p:cNvSpPr/>
            <p:nvPr/>
          </p:nvSpPr>
          <p:spPr>
            <a:xfrm>
              <a:off x="3727440" y="610560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1938" name="Shape 2120"/>
            <p:cNvSpPr/>
            <p:nvPr/>
          </p:nvSpPr>
          <p:spPr>
            <a:xfrm>
              <a:off x="4308480" y="6105600"/>
              <a:ext cx="5727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9" name="Shape 2121"/>
            <p:cNvSpPr/>
            <p:nvPr/>
          </p:nvSpPr>
          <p:spPr>
            <a:xfrm>
              <a:off x="4702320" y="5307120"/>
              <a:ext cx="8647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0" name="Shape 2122"/>
            <p:cNvSpPr/>
            <p:nvPr/>
          </p:nvSpPr>
          <p:spPr>
            <a:xfrm>
              <a:off x="6570720" y="5307120"/>
              <a:ext cx="8632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1" name="Shape 2123"/>
            <p:cNvSpPr/>
            <p:nvPr/>
          </p:nvSpPr>
          <p:spPr>
            <a:xfrm>
              <a:off x="5554800" y="610560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1942" name="Shape 2124"/>
            <p:cNvSpPr/>
            <p:nvPr/>
          </p:nvSpPr>
          <p:spPr>
            <a:xfrm>
              <a:off x="6156360" y="6105600"/>
              <a:ext cx="57420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1943" name="Shape 2125"/>
            <p:cNvSpPr/>
            <p:nvPr/>
          </p:nvSpPr>
          <p:spPr>
            <a:xfrm>
              <a:off x="4702320" y="6332400"/>
              <a:ext cx="8647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4" name="Shape 2126"/>
            <p:cNvSpPr/>
            <p:nvPr/>
          </p:nvSpPr>
          <p:spPr>
            <a:xfrm>
              <a:off x="979560" y="4551480"/>
              <a:ext cx="1017360" cy="5094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945" name="Shape 2127"/>
            <p:cNvSpPr/>
            <p:nvPr/>
          </p:nvSpPr>
          <p:spPr>
            <a:xfrm>
              <a:off x="1996920" y="4551480"/>
              <a:ext cx="1176120" cy="5094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6" name="Shape 2128"/>
            <p:cNvSpPr/>
            <p:nvPr/>
          </p:nvSpPr>
          <p:spPr>
            <a:xfrm>
              <a:off x="979560" y="5046840"/>
              <a:ext cx="1017360" cy="5122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947" name="Shape 2129"/>
            <p:cNvSpPr/>
            <p:nvPr/>
          </p:nvSpPr>
          <p:spPr>
            <a:xfrm>
              <a:off x="1996920" y="5046840"/>
              <a:ext cx="1176120" cy="5122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8" name="Shape 2130"/>
            <p:cNvSpPr/>
            <p:nvPr/>
          </p:nvSpPr>
          <p:spPr>
            <a:xfrm>
              <a:off x="979560" y="5533920"/>
              <a:ext cx="1017360" cy="5094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949" name="Shape 2131"/>
            <p:cNvSpPr/>
            <p:nvPr/>
          </p:nvSpPr>
          <p:spPr>
            <a:xfrm>
              <a:off x="1996920" y="5529240"/>
              <a:ext cx="1176120" cy="5108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0" name="Shape 2132"/>
            <p:cNvSpPr/>
            <p:nvPr/>
          </p:nvSpPr>
          <p:spPr>
            <a:xfrm>
              <a:off x="979560" y="6031080"/>
              <a:ext cx="1017360" cy="5108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951" name="Shape 2133"/>
            <p:cNvSpPr/>
            <p:nvPr/>
          </p:nvSpPr>
          <p:spPr>
            <a:xfrm>
              <a:off x="1996920" y="6031080"/>
              <a:ext cx="1176120" cy="5108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2" name="Shape 2134"/>
            <p:cNvSpPr/>
            <p:nvPr/>
          </p:nvSpPr>
          <p:spPr>
            <a:xfrm>
              <a:off x="573120" y="4476600"/>
              <a:ext cx="293400" cy="2031480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1953" name="Shape 2135"/>
            <p:cNvSpPr/>
            <p:nvPr/>
          </p:nvSpPr>
          <p:spPr>
            <a:xfrm>
              <a:off x="2720880" y="4780080"/>
              <a:ext cx="10029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4" name="Shape 2136"/>
            <p:cNvSpPr/>
            <p:nvPr/>
          </p:nvSpPr>
          <p:spPr>
            <a:xfrm>
              <a:off x="2720880" y="5292720"/>
              <a:ext cx="10029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5" name="Shape 2137"/>
            <p:cNvSpPr/>
            <p:nvPr/>
          </p:nvSpPr>
          <p:spPr>
            <a:xfrm>
              <a:off x="2678040" y="5846760"/>
              <a:ext cx="10584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6" name="Shape 2138"/>
            <p:cNvSpPr/>
            <p:nvPr/>
          </p:nvSpPr>
          <p:spPr>
            <a:xfrm>
              <a:off x="2720880" y="6345360"/>
              <a:ext cx="10029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7" name="Shape 2139"/>
            <p:cNvSpPr/>
            <p:nvPr/>
          </p:nvSpPr>
          <p:spPr>
            <a:xfrm>
              <a:off x="961920" y="4070520"/>
              <a:ext cx="2449080" cy="44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   firstedge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1958" name="Shape 2140"/>
            <p:cNvSpPr/>
            <p:nvPr/>
          </p:nvSpPr>
          <p:spPr>
            <a:xfrm>
              <a:off x="4308480" y="4581360"/>
              <a:ext cx="5727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9" name="Shape 2141"/>
            <p:cNvSpPr/>
            <p:nvPr/>
          </p:nvSpPr>
          <p:spPr>
            <a:xfrm>
              <a:off x="4702320" y="4809960"/>
              <a:ext cx="8647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960" name="Shape 2142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1961" name="Shape 2143"/>
          <p:cNvGrpSpPr/>
          <p:nvPr/>
        </p:nvGrpSpPr>
        <p:grpSpPr>
          <a:xfrm>
            <a:off x="6012000" y="1695600"/>
            <a:ext cx="2576160" cy="2282400"/>
            <a:chOff x="6012000" y="1695600"/>
            <a:chExt cx="2576160" cy="2282400"/>
          </a:xfrm>
        </p:grpSpPr>
        <p:sp>
          <p:nvSpPr>
            <p:cNvPr id="1962" name="Shape 2144"/>
            <p:cNvSpPr/>
            <p:nvPr/>
          </p:nvSpPr>
          <p:spPr>
            <a:xfrm>
              <a:off x="6086520" y="1771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3" name="Shape 2145"/>
            <p:cNvSpPr/>
            <p:nvPr/>
          </p:nvSpPr>
          <p:spPr>
            <a:xfrm>
              <a:off x="6153120" y="17226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964" name="Shape 2146"/>
            <p:cNvSpPr/>
            <p:nvPr/>
          </p:nvSpPr>
          <p:spPr>
            <a:xfrm>
              <a:off x="6556320" y="197640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5" name="Shape 2147"/>
            <p:cNvSpPr/>
            <p:nvPr/>
          </p:nvSpPr>
          <p:spPr>
            <a:xfrm>
              <a:off x="8053560" y="3425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6" name="Shape 2148"/>
            <p:cNvSpPr/>
            <p:nvPr/>
          </p:nvSpPr>
          <p:spPr>
            <a:xfrm>
              <a:off x="8120160" y="3376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967" name="Shape 2149"/>
            <p:cNvSpPr/>
            <p:nvPr/>
          </p:nvSpPr>
          <p:spPr>
            <a:xfrm>
              <a:off x="6418440" y="2128680"/>
              <a:ext cx="1684080" cy="1371240"/>
            </a:xfrm>
            <a:custGeom>
              <a:avLst/>
              <a:gdLst/>
              <a:ahLst/>
              <a:rect l="l" t="t" r="r" b="b"/>
              <a:pathLst>
                <a:path w="300" h="300">
                  <a:moveTo>
                    <a:pt x="300" y="0"/>
                  </a:moveTo>
                  <a:lnTo>
                    <a:pt x="0" y="3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8" name="Shape 2150"/>
            <p:cNvSpPr/>
            <p:nvPr/>
          </p:nvSpPr>
          <p:spPr>
            <a:xfrm>
              <a:off x="6229440" y="225108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9" name="Shape 2151"/>
            <p:cNvSpPr/>
            <p:nvPr/>
          </p:nvSpPr>
          <p:spPr>
            <a:xfrm>
              <a:off x="8058240" y="1744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0" name="Shape 2152"/>
            <p:cNvSpPr/>
            <p:nvPr/>
          </p:nvSpPr>
          <p:spPr>
            <a:xfrm>
              <a:off x="8124840" y="16956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971" name="Shape 2153"/>
            <p:cNvSpPr/>
            <p:nvPr/>
          </p:nvSpPr>
          <p:spPr>
            <a:xfrm>
              <a:off x="6012000" y="3432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2" name="Shape 2154"/>
            <p:cNvSpPr/>
            <p:nvPr/>
          </p:nvSpPr>
          <p:spPr>
            <a:xfrm>
              <a:off x="6078600" y="3382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973" name="Shape 2155"/>
            <p:cNvSpPr/>
            <p:nvPr/>
          </p:nvSpPr>
          <p:spPr>
            <a:xfrm>
              <a:off x="6526080" y="366876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974" name="Shape 2156"/>
          <p:cNvSpPr/>
          <p:nvPr/>
        </p:nvSpPr>
        <p:spPr>
          <a:xfrm>
            <a:off x="503280" y="1220760"/>
            <a:ext cx="314064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无向图的邻接表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1975" name="Shape 2157"/>
          <p:cNvGrpSpPr/>
          <p:nvPr/>
        </p:nvGrpSpPr>
        <p:grpSpPr>
          <a:xfrm>
            <a:off x="484200" y="2193840"/>
            <a:ext cx="7666920" cy="518760"/>
            <a:chOff x="484200" y="2193840"/>
            <a:chExt cx="7666920" cy="518760"/>
          </a:xfrm>
        </p:grpSpPr>
        <p:sp>
          <p:nvSpPr>
            <p:cNvPr id="1976" name="Shape 2158"/>
            <p:cNvSpPr/>
            <p:nvPr/>
          </p:nvSpPr>
          <p:spPr>
            <a:xfrm>
              <a:off x="1125360" y="2193840"/>
              <a:ext cx="70257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边表中的结点表示什么？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1977" name="Shape 2159" descr=""/>
            <p:cNvPicPr/>
            <p:nvPr/>
          </p:nvPicPr>
          <p:blipFill>
            <a:blip r:embed="rId1"/>
            <a:stretch/>
          </p:blipFill>
          <p:spPr>
            <a:xfrm>
              <a:off x="484200" y="220968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978" name="Shape 2160"/>
          <p:cNvSpPr/>
          <p:nvPr/>
        </p:nvSpPr>
        <p:spPr>
          <a:xfrm>
            <a:off x="465120" y="2928960"/>
            <a:ext cx="5135040" cy="974520"/>
          </a:xfrm>
          <a:prstGeom prst="rect">
            <a:avLst/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r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每个结点对应图中的一条边，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邻接表的空间复杂度为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+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。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21" dur="indefinite" restart="never" nodeType="tmRoot">
          <p:childTnLst>
            <p:seq>
              <p:cTn id="722" dur="indefinite" nodeType="mainSeq">
                <p:childTnLst>
                  <p:par>
                    <p:cTn id="723" fill="hold">
                      <p:stCondLst>
                        <p:cond delay="indefinite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Shape 2165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80" name="Shape 2166"/>
          <p:cNvSpPr/>
          <p:nvPr/>
        </p:nvSpPr>
        <p:spPr>
          <a:xfrm>
            <a:off x="503280" y="1220760"/>
            <a:ext cx="317160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无向图的邻接表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1981" name="Shape 2167"/>
          <p:cNvGrpSpPr/>
          <p:nvPr/>
        </p:nvGrpSpPr>
        <p:grpSpPr>
          <a:xfrm>
            <a:off x="484200" y="2193840"/>
            <a:ext cx="7666920" cy="518760"/>
            <a:chOff x="484200" y="2193840"/>
            <a:chExt cx="7666920" cy="518760"/>
          </a:xfrm>
        </p:grpSpPr>
        <p:sp>
          <p:nvSpPr>
            <p:cNvPr id="1982" name="Shape 2168"/>
            <p:cNvSpPr/>
            <p:nvPr/>
          </p:nvSpPr>
          <p:spPr>
            <a:xfrm>
              <a:off x="1125360" y="2193840"/>
              <a:ext cx="70257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如何求顶点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 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的度？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1983" name="Shape 2169" descr=""/>
            <p:cNvPicPr/>
            <p:nvPr/>
          </p:nvPicPr>
          <p:blipFill>
            <a:blip r:embed="rId1"/>
            <a:stretch/>
          </p:blipFill>
          <p:spPr>
            <a:xfrm>
              <a:off x="484200" y="220968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984" name="Shape 2170"/>
          <p:cNvSpPr/>
          <p:nvPr/>
        </p:nvSpPr>
        <p:spPr>
          <a:xfrm>
            <a:off x="465120" y="2928960"/>
            <a:ext cx="4860720" cy="547200"/>
          </a:xfrm>
          <a:prstGeom prst="rect">
            <a:avLst/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的边表中结点的个数。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1985" name="Shape 2171"/>
          <p:cNvGrpSpPr/>
          <p:nvPr/>
        </p:nvGrpSpPr>
        <p:grpSpPr>
          <a:xfrm>
            <a:off x="6012000" y="1695600"/>
            <a:ext cx="2576160" cy="2282400"/>
            <a:chOff x="6012000" y="1695600"/>
            <a:chExt cx="2576160" cy="2282400"/>
          </a:xfrm>
        </p:grpSpPr>
        <p:sp>
          <p:nvSpPr>
            <p:cNvPr id="1986" name="Shape 2172"/>
            <p:cNvSpPr/>
            <p:nvPr/>
          </p:nvSpPr>
          <p:spPr>
            <a:xfrm>
              <a:off x="6086520" y="1771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7" name="Shape 2173"/>
            <p:cNvSpPr/>
            <p:nvPr/>
          </p:nvSpPr>
          <p:spPr>
            <a:xfrm>
              <a:off x="6153120" y="17226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988" name="Shape 2174"/>
            <p:cNvSpPr/>
            <p:nvPr/>
          </p:nvSpPr>
          <p:spPr>
            <a:xfrm>
              <a:off x="6556320" y="197640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9" name="Shape 2175"/>
            <p:cNvSpPr/>
            <p:nvPr/>
          </p:nvSpPr>
          <p:spPr>
            <a:xfrm>
              <a:off x="8053560" y="3425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0" name="Shape 2176"/>
            <p:cNvSpPr/>
            <p:nvPr/>
          </p:nvSpPr>
          <p:spPr>
            <a:xfrm>
              <a:off x="8120160" y="3376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991" name="Shape 2177"/>
            <p:cNvSpPr/>
            <p:nvPr/>
          </p:nvSpPr>
          <p:spPr>
            <a:xfrm>
              <a:off x="6418440" y="2128680"/>
              <a:ext cx="1684080" cy="1371240"/>
            </a:xfrm>
            <a:custGeom>
              <a:avLst/>
              <a:gdLst/>
              <a:ahLst/>
              <a:rect l="l" t="t" r="r" b="b"/>
              <a:pathLst>
                <a:path w="300" h="300">
                  <a:moveTo>
                    <a:pt x="300" y="0"/>
                  </a:moveTo>
                  <a:lnTo>
                    <a:pt x="0" y="3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2" name="Shape 2178"/>
            <p:cNvSpPr/>
            <p:nvPr/>
          </p:nvSpPr>
          <p:spPr>
            <a:xfrm>
              <a:off x="6229440" y="225108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3" name="Shape 2179"/>
            <p:cNvSpPr/>
            <p:nvPr/>
          </p:nvSpPr>
          <p:spPr>
            <a:xfrm>
              <a:off x="8058240" y="1744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4" name="Shape 2180"/>
            <p:cNvSpPr/>
            <p:nvPr/>
          </p:nvSpPr>
          <p:spPr>
            <a:xfrm>
              <a:off x="8124840" y="16956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995" name="Shape 2181"/>
            <p:cNvSpPr/>
            <p:nvPr/>
          </p:nvSpPr>
          <p:spPr>
            <a:xfrm>
              <a:off x="6012000" y="3432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6" name="Shape 2182"/>
            <p:cNvSpPr/>
            <p:nvPr/>
          </p:nvSpPr>
          <p:spPr>
            <a:xfrm>
              <a:off x="6078600" y="3382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1997" name="Shape 2183"/>
            <p:cNvSpPr/>
            <p:nvPr/>
          </p:nvSpPr>
          <p:spPr>
            <a:xfrm>
              <a:off x="6526080" y="366876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998" name="Shape 2184"/>
          <p:cNvGrpSpPr/>
          <p:nvPr/>
        </p:nvGrpSpPr>
        <p:grpSpPr>
          <a:xfrm>
            <a:off x="573120" y="4070520"/>
            <a:ext cx="7962480" cy="2480760"/>
            <a:chOff x="573120" y="4070520"/>
            <a:chExt cx="7962480" cy="2480760"/>
          </a:xfrm>
        </p:grpSpPr>
        <p:sp>
          <p:nvSpPr>
            <p:cNvPr id="1999" name="Shape 2185"/>
            <p:cNvSpPr/>
            <p:nvPr/>
          </p:nvSpPr>
          <p:spPr>
            <a:xfrm>
              <a:off x="3727440" y="458136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00" name="Shape 2186"/>
            <p:cNvSpPr/>
            <p:nvPr/>
          </p:nvSpPr>
          <p:spPr>
            <a:xfrm>
              <a:off x="3727440" y="5079960"/>
              <a:ext cx="651960" cy="4474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01" name="Shape 2187"/>
            <p:cNvSpPr/>
            <p:nvPr/>
          </p:nvSpPr>
          <p:spPr>
            <a:xfrm>
              <a:off x="4308480" y="5079960"/>
              <a:ext cx="572760" cy="4474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02" name="Shape 2188"/>
            <p:cNvSpPr/>
            <p:nvPr/>
          </p:nvSpPr>
          <p:spPr>
            <a:xfrm>
              <a:off x="5554800" y="458136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03" name="Shape 2189"/>
            <p:cNvSpPr/>
            <p:nvPr/>
          </p:nvSpPr>
          <p:spPr>
            <a:xfrm>
              <a:off x="6156360" y="4581360"/>
              <a:ext cx="57420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004" name="Shape 2190"/>
            <p:cNvSpPr/>
            <p:nvPr/>
          </p:nvSpPr>
          <p:spPr>
            <a:xfrm>
              <a:off x="5554800" y="5079960"/>
              <a:ext cx="651960" cy="4474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05" name="Shape 2191"/>
            <p:cNvSpPr/>
            <p:nvPr/>
          </p:nvSpPr>
          <p:spPr>
            <a:xfrm>
              <a:off x="6156360" y="5079960"/>
              <a:ext cx="574200" cy="4474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06" name="Shape 2192"/>
            <p:cNvSpPr/>
            <p:nvPr/>
          </p:nvSpPr>
          <p:spPr>
            <a:xfrm>
              <a:off x="7440480" y="5079960"/>
              <a:ext cx="650520" cy="4474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07" name="Shape 2193"/>
            <p:cNvSpPr/>
            <p:nvPr/>
          </p:nvSpPr>
          <p:spPr>
            <a:xfrm>
              <a:off x="7962840" y="5079960"/>
              <a:ext cx="572760" cy="4474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008" name="Shape 2194"/>
            <p:cNvSpPr/>
            <p:nvPr/>
          </p:nvSpPr>
          <p:spPr>
            <a:xfrm>
              <a:off x="3727440" y="5575320"/>
              <a:ext cx="651960" cy="4903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09" name="Shape 2195"/>
            <p:cNvSpPr/>
            <p:nvPr/>
          </p:nvSpPr>
          <p:spPr>
            <a:xfrm>
              <a:off x="4308480" y="5575320"/>
              <a:ext cx="572760" cy="4885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5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010" name="Shape 2196"/>
            <p:cNvSpPr/>
            <p:nvPr/>
          </p:nvSpPr>
          <p:spPr>
            <a:xfrm>
              <a:off x="3727440" y="610560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11" name="Shape 2197"/>
            <p:cNvSpPr/>
            <p:nvPr/>
          </p:nvSpPr>
          <p:spPr>
            <a:xfrm>
              <a:off x="4308480" y="6105600"/>
              <a:ext cx="5727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2" name="Shape 2198"/>
            <p:cNvSpPr/>
            <p:nvPr/>
          </p:nvSpPr>
          <p:spPr>
            <a:xfrm>
              <a:off x="4702320" y="5307120"/>
              <a:ext cx="8647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3" name="Shape 2199"/>
            <p:cNvSpPr/>
            <p:nvPr/>
          </p:nvSpPr>
          <p:spPr>
            <a:xfrm>
              <a:off x="6570720" y="5307120"/>
              <a:ext cx="8632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4" name="Shape 2200"/>
            <p:cNvSpPr/>
            <p:nvPr/>
          </p:nvSpPr>
          <p:spPr>
            <a:xfrm>
              <a:off x="5554800" y="610560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15" name="Shape 2201"/>
            <p:cNvSpPr/>
            <p:nvPr/>
          </p:nvSpPr>
          <p:spPr>
            <a:xfrm>
              <a:off x="6156360" y="6105600"/>
              <a:ext cx="57420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016" name="Shape 2202"/>
            <p:cNvSpPr/>
            <p:nvPr/>
          </p:nvSpPr>
          <p:spPr>
            <a:xfrm>
              <a:off x="4702320" y="6332400"/>
              <a:ext cx="8647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7" name="Shape 2203"/>
            <p:cNvSpPr/>
            <p:nvPr/>
          </p:nvSpPr>
          <p:spPr>
            <a:xfrm>
              <a:off x="979560" y="4551480"/>
              <a:ext cx="1017360" cy="5094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018" name="Shape 2204"/>
            <p:cNvSpPr/>
            <p:nvPr/>
          </p:nvSpPr>
          <p:spPr>
            <a:xfrm>
              <a:off x="1996920" y="4551480"/>
              <a:ext cx="1176120" cy="5094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9" name="Shape 2205"/>
            <p:cNvSpPr/>
            <p:nvPr/>
          </p:nvSpPr>
          <p:spPr>
            <a:xfrm>
              <a:off x="979560" y="5046840"/>
              <a:ext cx="1017360" cy="5122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020" name="Shape 2206"/>
            <p:cNvSpPr/>
            <p:nvPr/>
          </p:nvSpPr>
          <p:spPr>
            <a:xfrm>
              <a:off x="1996920" y="5046840"/>
              <a:ext cx="1176120" cy="5122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21" name="Shape 2207"/>
            <p:cNvSpPr/>
            <p:nvPr/>
          </p:nvSpPr>
          <p:spPr>
            <a:xfrm>
              <a:off x="979560" y="5533920"/>
              <a:ext cx="1017360" cy="5094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022" name="Shape 2208"/>
            <p:cNvSpPr/>
            <p:nvPr/>
          </p:nvSpPr>
          <p:spPr>
            <a:xfrm>
              <a:off x="1996920" y="5529240"/>
              <a:ext cx="1176120" cy="5108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23" name="Shape 2209"/>
            <p:cNvSpPr/>
            <p:nvPr/>
          </p:nvSpPr>
          <p:spPr>
            <a:xfrm>
              <a:off x="979560" y="6031080"/>
              <a:ext cx="1017360" cy="5108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024" name="Shape 2210"/>
            <p:cNvSpPr/>
            <p:nvPr/>
          </p:nvSpPr>
          <p:spPr>
            <a:xfrm>
              <a:off x="1996920" y="6031080"/>
              <a:ext cx="1176120" cy="5108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25" name="Shape 2211"/>
            <p:cNvSpPr/>
            <p:nvPr/>
          </p:nvSpPr>
          <p:spPr>
            <a:xfrm>
              <a:off x="573120" y="4476600"/>
              <a:ext cx="293400" cy="2031480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26" name="Shape 2212"/>
            <p:cNvSpPr/>
            <p:nvPr/>
          </p:nvSpPr>
          <p:spPr>
            <a:xfrm>
              <a:off x="2720880" y="4780080"/>
              <a:ext cx="10029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27" name="Shape 2213"/>
            <p:cNvSpPr/>
            <p:nvPr/>
          </p:nvSpPr>
          <p:spPr>
            <a:xfrm>
              <a:off x="2720880" y="5292720"/>
              <a:ext cx="10029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28" name="Shape 2214"/>
            <p:cNvSpPr/>
            <p:nvPr/>
          </p:nvSpPr>
          <p:spPr>
            <a:xfrm>
              <a:off x="2678040" y="5846760"/>
              <a:ext cx="10584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29" name="Shape 2215"/>
            <p:cNvSpPr/>
            <p:nvPr/>
          </p:nvSpPr>
          <p:spPr>
            <a:xfrm>
              <a:off x="2720880" y="6345360"/>
              <a:ext cx="10029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30" name="Shape 2216"/>
            <p:cNvSpPr/>
            <p:nvPr/>
          </p:nvSpPr>
          <p:spPr>
            <a:xfrm>
              <a:off x="961920" y="4070520"/>
              <a:ext cx="2449080" cy="44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   firstedge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31" name="Shape 2217"/>
            <p:cNvSpPr/>
            <p:nvPr/>
          </p:nvSpPr>
          <p:spPr>
            <a:xfrm>
              <a:off x="4308480" y="4581360"/>
              <a:ext cx="5727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32" name="Shape 2218"/>
            <p:cNvSpPr/>
            <p:nvPr/>
          </p:nvSpPr>
          <p:spPr>
            <a:xfrm>
              <a:off x="4702320" y="4809960"/>
              <a:ext cx="8647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033" name="Shape 2219"/>
          <p:cNvSpPr/>
          <p:nvPr/>
        </p:nvSpPr>
        <p:spPr>
          <a:xfrm>
            <a:off x="3657600" y="4530600"/>
            <a:ext cx="3171600" cy="51084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27" dur="indefinite" restart="never" nodeType="tmRoot">
          <p:childTnLst>
            <p:seq>
              <p:cTn id="728" dur="indefinite" nodeType="mainSeq">
                <p:childTnLst>
                  <p:par>
                    <p:cTn id="729" fill="hold">
                      <p:stCondLst>
                        <p:cond delay="indefinite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3" dur="500"/>
                                        <p:tgtEl>
                                          <p:spTgt spid="2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4" fill="hold">
                      <p:stCondLst>
                        <p:cond delay="indefinite"/>
                      </p:stCondLst>
                      <p:childTnLst>
                        <p:par>
                          <p:cTn id="735" fill="hold">
                            <p:stCondLst>
                              <p:cond delay="0"/>
                            </p:stCondLst>
                            <p:childTnLst>
                              <p:par>
                                <p:cTn id="73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4" name="Shape 2224"/>
          <p:cNvGrpSpPr/>
          <p:nvPr/>
        </p:nvGrpSpPr>
        <p:grpSpPr>
          <a:xfrm>
            <a:off x="722160" y="1900080"/>
            <a:ext cx="4987800" cy="945720"/>
            <a:chOff x="722160" y="1900080"/>
            <a:chExt cx="4987800" cy="945720"/>
          </a:xfrm>
        </p:grpSpPr>
        <p:sp>
          <p:nvSpPr>
            <p:cNvPr id="2035" name="Shape 2225"/>
            <p:cNvSpPr/>
            <p:nvPr/>
          </p:nvSpPr>
          <p:spPr>
            <a:xfrm>
              <a:off x="1289160" y="1900080"/>
              <a:ext cx="4420800" cy="94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如何判断顶点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 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和顶点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j</a:t>
              </a:r>
              <a:endParaRPr b="0" lang="en-US" sz="2800" spc="-1" strike="noStrike">
                <a:latin typeface="Arial"/>
              </a:endParaRPr>
            </a:p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之间是否存在边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2036" name="Shape 2226" descr=""/>
            <p:cNvPicPr/>
            <p:nvPr/>
          </p:nvPicPr>
          <p:blipFill>
            <a:blip r:embed="rId1"/>
            <a:stretch/>
          </p:blipFill>
          <p:spPr>
            <a:xfrm>
              <a:off x="722160" y="213048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037" name="Shape 2227"/>
          <p:cNvSpPr/>
          <p:nvPr/>
        </p:nvSpPr>
        <p:spPr>
          <a:xfrm>
            <a:off x="828720" y="2908440"/>
            <a:ext cx="4617720" cy="974520"/>
          </a:xfrm>
          <a:prstGeom prst="rect">
            <a:avLst/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测试顶点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的边表中是否存在终点为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j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的结点。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038" name="Shape 2228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39" name="Shape 2229"/>
          <p:cNvSpPr/>
          <p:nvPr/>
        </p:nvSpPr>
        <p:spPr>
          <a:xfrm>
            <a:off x="506520" y="1193760"/>
            <a:ext cx="324504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无向图的邻接表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2040" name="Shape 2230"/>
          <p:cNvGrpSpPr/>
          <p:nvPr/>
        </p:nvGrpSpPr>
        <p:grpSpPr>
          <a:xfrm>
            <a:off x="6012000" y="1695600"/>
            <a:ext cx="2576160" cy="2282400"/>
            <a:chOff x="6012000" y="1695600"/>
            <a:chExt cx="2576160" cy="2282400"/>
          </a:xfrm>
        </p:grpSpPr>
        <p:sp>
          <p:nvSpPr>
            <p:cNvPr id="2041" name="Shape 2231"/>
            <p:cNvSpPr/>
            <p:nvPr/>
          </p:nvSpPr>
          <p:spPr>
            <a:xfrm>
              <a:off x="6086520" y="1771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2" name="Shape 2232"/>
            <p:cNvSpPr/>
            <p:nvPr/>
          </p:nvSpPr>
          <p:spPr>
            <a:xfrm>
              <a:off x="6153120" y="17226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043" name="Shape 2233"/>
            <p:cNvSpPr/>
            <p:nvPr/>
          </p:nvSpPr>
          <p:spPr>
            <a:xfrm>
              <a:off x="6556320" y="197640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4" name="Shape 2234"/>
            <p:cNvSpPr/>
            <p:nvPr/>
          </p:nvSpPr>
          <p:spPr>
            <a:xfrm>
              <a:off x="8053560" y="3425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5" name="Shape 2235"/>
            <p:cNvSpPr/>
            <p:nvPr/>
          </p:nvSpPr>
          <p:spPr>
            <a:xfrm>
              <a:off x="8120160" y="3376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046" name="Shape 2236"/>
            <p:cNvSpPr/>
            <p:nvPr/>
          </p:nvSpPr>
          <p:spPr>
            <a:xfrm>
              <a:off x="6418440" y="2128680"/>
              <a:ext cx="1684080" cy="1371240"/>
            </a:xfrm>
            <a:custGeom>
              <a:avLst/>
              <a:gdLst/>
              <a:ahLst/>
              <a:rect l="l" t="t" r="r" b="b"/>
              <a:pathLst>
                <a:path w="300" h="300">
                  <a:moveTo>
                    <a:pt x="300" y="0"/>
                  </a:moveTo>
                  <a:lnTo>
                    <a:pt x="0" y="3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7" name="Shape 2237"/>
            <p:cNvSpPr/>
            <p:nvPr/>
          </p:nvSpPr>
          <p:spPr>
            <a:xfrm>
              <a:off x="6229440" y="225108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8" name="Shape 2238"/>
            <p:cNvSpPr/>
            <p:nvPr/>
          </p:nvSpPr>
          <p:spPr>
            <a:xfrm>
              <a:off x="8058240" y="1744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49" name="Shape 2239"/>
            <p:cNvSpPr/>
            <p:nvPr/>
          </p:nvSpPr>
          <p:spPr>
            <a:xfrm>
              <a:off x="8124840" y="16956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050" name="Shape 2240"/>
            <p:cNvSpPr/>
            <p:nvPr/>
          </p:nvSpPr>
          <p:spPr>
            <a:xfrm>
              <a:off x="6012000" y="3432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51" name="Shape 2241"/>
            <p:cNvSpPr/>
            <p:nvPr/>
          </p:nvSpPr>
          <p:spPr>
            <a:xfrm>
              <a:off x="6078600" y="3382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052" name="Shape 2242"/>
            <p:cNvSpPr/>
            <p:nvPr/>
          </p:nvSpPr>
          <p:spPr>
            <a:xfrm>
              <a:off x="6526080" y="366876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053" name="Shape 2243"/>
          <p:cNvGrpSpPr/>
          <p:nvPr/>
        </p:nvGrpSpPr>
        <p:grpSpPr>
          <a:xfrm>
            <a:off x="573120" y="4070520"/>
            <a:ext cx="7962480" cy="2480760"/>
            <a:chOff x="573120" y="4070520"/>
            <a:chExt cx="7962480" cy="2480760"/>
          </a:xfrm>
        </p:grpSpPr>
        <p:sp>
          <p:nvSpPr>
            <p:cNvPr id="2054" name="Shape 2244"/>
            <p:cNvSpPr/>
            <p:nvPr/>
          </p:nvSpPr>
          <p:spPr>
            <a:xfrm>
              <a:off x="3727440" y="458136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55" name="Shape 2245"/>
            <p:cNvSpPr/>
            <p:nvPr/>
          </p:nvSpPr>
          <p:spPr>
            <a:xfrm>
              <a:off x="3727440" y="5079960"/>
              <a:ext cx="651960" cy="4474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56" name="Shape 2246"/>
            <p:cNvSpPr/>
            <p:nvPr/>
          </p:nvSpPr>
          <p:spPr>
            <a:xfrm>
              <a:off x="4308480" y="5079960"/>
              <a:ext cx="572760" cy="4474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57" name="Shape 2247"/>
            <p:cNvSpPr/>
            <p:nvPr/>
          </p:nvSpPr>
          <p:spPr>
            <a:xfrm>
              <a:off x="5554800" y="458136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58" name="Shape 2248"/>
            <p:cNvSpPr/>
            <p:nvPr/>
          </p:nvSpPr>
          <p:spPr>
            <a:xfrm>
              <a:off x="6156360" y="4581360"/>
              <a:ext cx="57420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059" name="Shape 2249"/>
            <p:cNvSpPr/>
            <p:nvPr/>
          </p:nvSpPr>
          <p:spPr>
            <a:xfrm>
              <a:off x="5554800" y="5079960"/>
              <a:ext cx="651960" cy="4474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60" name="Shape 2250"/>
            <p:cNvSpPr/>
            <p:nvPr/>
          </p:nvSpPr>
          <p:spPr>
            <a:xfrm>
              <a:off x="6156360" y="5079960"/>
              <a:ext cx="574200" cy="4474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1" name="Shape 2251"/>
            <p:cNvSpPr/>
            <p:nvPr/>
          </p:nvSpPr>
          <p:spPr>
            <a:xfrm>
              <a:off x="7440480" y="5079960"/>
              <a:ext cx="650520" cy="4474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62" name="Shape 2252"/>
            <p:cNvSpPr/>
            <p:nvPr/>
          </p:nvSpPr>
          <p:spPr>
            <a:xfrm>
              <a:off x="7962840" y="5079960"/>
              <a:ext cx="572760" cy="4474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063" name="Shape 2253"/>
            <p:cNvSpPr/>
            <p:nvPr/>
          </p:nvSpPr>
          <p:spPr>
            <a:xfrm>
              <a:off x="3727440" y="5575320"/>
              <a:ext cx="651960" cy="4903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64" name="Shape 2254"/>
            <p:cNvSpPr/>
            <p:nvPr/>
          </p:nvSpPr>
          <p:spPr>
            <a:xfrm>
              <a:off x="4308480" y="5575320"/>
              <a:ext cx="572760" cy="4885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5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065" name="Shape 2255"/>
            <p:cNvSpPr/>
            <p:nvPr/>
          </p:nvSpPr>
          <p:spPr>
            <a:xfrm>
              <a:off x="3727440" y="610560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66" name="Shape 2256"/>
            <p:cNvSpPr/>
            <p:nvPr/>
          </p:nvSpPr>
          <p:spPr>
            <a:xfrm>
              <a:off x="4308480" y="6105600"/>
              <a:ext cx="5727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7" name="Shape 2257"/>
            <p:cNvSpPr/>
            <p:nvPr/>
          </p:nvSpPr>
          <p:spPr>
            <a:xfrm>
              <a:off x="4702320" y="5307120"/>
              <a:ext cx="8647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8" name="Shape 2258"/>
            <p:cNvSpPr/>
            <p:nvPr/>
          </p:nvSpPr>
          <p:spPr>
            <a:xfrm>
              <a:off x="6570720" y="5307120"/>
              <a:ext cx="8632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9" name="Shape 2259"/>
            <p:cNvSpPr/>
            <p:nvPr/>
          </p:nvSpPr>
          <p:spPr>
            <a:xfrm>
              <a:off x="5554800" y="610560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70" name="Shape 2260"/>
            <p:cNvSpPr/>
            <p:nvPr/>
          </p:nvSpPr>
          <p:spPr>
            <a:xfrm>
              <a:off x="6156360" y="6105600"/>
              <a:ext cx="57420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071" name="Shape 2261"/>
            <p:cNvSpPr/>
            <p:nvPr/>
          </p:nvSpPr>
          <p:spPr>
            <a:xfrm>
              <a:off x="4702320" y="6332400"/>
              <a:ext cx="8647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72" name="Shape 2262"/>
            <p:cNvSpPr/>
            <p:nvPr/>
          </p:nvSpPr>
          <p:spPr>
            <a:xfrm>
              <a:off x="979560" y="4551480"/>
              <a:ext cx="1017360" cy="5094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073" name="Shape 2263"/>
            <p:cNvSpPr/>
            <p:nvPr/>
          </p:nvSpPr>
          <p:spPr>
            <a:xfrm>
              <a:off x="1996920" y="4551480"/>
              <a:ext cx="1176120" cy="5094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74" name="Shape 2264"/>
            <p:cNvSpPr/>
            <p:nvPr/>
          </p:nvSpPr>
          <p:spPr>
            <a:xfrm>
              <a:off x="979560" y="5046840"/>
              <a:ext cx="1017360" cy="5122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075" name="Shape 2265"/>
            <p:cNvSpPr/>
            <p:nvPr/>
          </p:nvSpPr>
          <p:spPr>
            <a:xfrm>
              <a:off x="1996920" y="5046840"/>
              <a:ext cx="1176120" cy="5122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76" name="Shape 2266"/>
            <p:cNvSpPr/>
            <p:nvPr/>
          </p:nvSpPr>
          <p:spPr>
            <a:xfrm>
              <a:off x="979560" y="5533920"/>
              <a:ext cx="1017360" cy="5094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077" name="Shape 2267"/>
            <p:cNvSpPr/>
            <p:nvPr/>
          </p:nvSpPr>
          <p:spPr>
            <a:xfrm>
              <a:off x="1996920" y="5529240"/>
              <a:ext cx="1176120" cy="5108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78" name="Shape 2268"/>
            <p:cNvSpPr/>
            <p:nvPr/>
          </p:nvSpPr>
          <p:spPr>
            <a:xfrm>
              <a:off x="979560" y="6031080"/>
              <a:ext cx="1017360" cy="5108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079" name="Shape 2269"/>
            <p:cNvSpPr/>
            <p:nvPr/>
          </p:nvSpPr>
          <p:spPr>
            <a:xfrm>
              <a:off x="1996920" y="6031080"/>
              <a:ext cx="1176120" cy="5108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0" name="Shape 2270"/>
            <p:cNvSpPr/>
            <p:nvPr/>
          </p:nvSpPr>
          <p:spPr>
            <a:xfrm>
              <a:off x="573120" y="4476600"/>
              <a:ext cx="293400" cy="2031480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81" name="Shape 2271"/>
            <p:cNvSpPr/>
            <p:nvPr/>
          </p:nvSpPr>
          <p:spPr>
            <a:xfrm>
              <a:off x="2720880" y="4780080"/>
              <a:ext cx="10029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2" name="Shape 2272"/>
            <p:cNvSpPr/>
            <p:nvPr/>
          </p:nvSpPr>
          <p:spPr>
            <a:xfrm>
              <a:off x="2720880" y="5292720"/>
              <a:ext cx="10029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3" name="Shape 2273"/>
            <p:cNvSpPr/>
            <p:nvPr/>
          </p:nvSpPr>
          <p:spPr>
            <a:xfrm>
              <a:off x="2678040" y="5846760"/>
              <a:ext cx="10584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4" name="Shape 2274"/>
            <p:cNvSpPr/>
            <p:nvPr/>
          </p:nvSpPr>
          <p:spPr>
            <a:xfrm>
              <a:off x="2720880" y="6345360"/>
              <a:ext cx="10029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5" name="Shape 2275"/>
            <p:cNvSpPr/>
            <p:nvPr/>
          </p:nvSpPr>
          <p:spPr>
            <a:xfrm>
              <a:off x="961920" y="4070520"/>
              <a:ext cx="2449080" cy="44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   firstedge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086" name="Shape 2276"/>
            <p:cNvSpPr/>
            <p:nvPr/>
          </p:nvSpPr>
          <p:spPr>
            <a:xfrm>
              <a:off x="4308480" y="4581360"/>
              <a:ext cx="5727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7" name="Shape 2277"/>
            <p:cNvSpPr/>
            <p:nvPr/>
          </p:nvSpPr>
          <p:spPr>
            <a:xfrm>
              <a:off x="4702320" y="4809960"/>
              <a:ext cx="8647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38" dur="indefinite" restart="never" nodeType="tmRoot">
          <p:childTnLst>
            <p:seq>
              <p:cTn id="739" dur="indefinite" nodeType="mainSeq">
                <p:childTnLst>
                  <p:par>
                    <p:cTn id="740" fill="hold">
                      <p:stCondLst>
                        <p:cond delay="indefinite"/>
                      </p:stCondLst>
                      <p:childTnLst>
                        <p:par>
                          <p:cTn id="741" fill="hold">
                            <p:stCondLst>
                              <p:cond delay="0"/>
                            </p:stCondLst>
                            <p:childTnLst>
                              <p:par>
                                <p:cTn id="74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Shape 2282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089" name="Shape 2283"/>
          <p:cNvSpPr/>
          <p:nvPr/>
        </p:nvSpPr>
        <p:spPr>
          <a:xfrm>
            <a:off x="506520" y="1193760"/>
            <a:ext cx="319104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有向图的邻接表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2090" name="Shape 2284"/>
          <p:cNvGrpSpPr/>
          <p:nvPr/>
        </p:nvGrpSpPr>
        <p:grpSpPr>
          <a:xfrm>
            <a:off x="5992920" y="1835280"/>
            <a:ext cx="2471400" cy="2334960"/>
            <a:chOff x="5992920" y="1835280"/>
            <a:chExt cx="2471400" cy="2334960"/>
          </a:xfrm>
        </p:grpSpPr>
        <p:sp>
          <p:nvSpPr>
            <p:cNvPr id="2091" name="Shape 2285"/>
            <p:cNvSpPr/>
            <p:nvPr/>
          </p:nvSpPr>
          <p:spPr>
            <a:xfrm>
              <a:off x="6499080" y="2122560"/>
              <a:ext cx="1431720" cy="1080"/>
            </a:xfrm>
            <a:custGeom>
              <a:avLst/>
              <a:gdLst/>
              <a:ahLst/>
              <a:rect l="l" t="t" r="r" b="b"/>
              <a:pathLst>
                <a:path w="901" h="7">
                  <a:moveTo>
                    <a:pt x="0" y="7"/>
                  </a:moveTo>
                  <a:lnTo>
                    <a:pt x="90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92" name="Shape 2286"/>
            <p:cNvSpPr/>
            <p:nvPr/>
          </p:nvSpPr>
          <p:spPr>
            <a:xfrm>
              <a:off x="6000840" y="1884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93" name="Shape 2287"/>
            <p:cNvSpPr/>
            <p:nvPr/>
          </p:nvSpPr>
          <p:spPr>
            <a:xfrm>
              <a:off x="6067440" y="18352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094" name="Shape 2288"/>
            <p:cNvSpPr/>
            <p:nvPr/>
          </p:nvSpPr>
          <p:spPr>
            <a:xfrm>
              <a:off x="7934400" y="18972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95" name="Shape 2289"/>
            <p:cNvSpPr/>
            <p:nvPr/>
          </p:nvSpPr>
          <p:spPr>
            <a:xfrm>
              <a:off x="8001000" y="18478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grpSp>
          <p:nvGrpSpPr>
            <p:cNvPr id="2096" name="Shape 2290"/>
            <p:cNvGrpSpPr/>
            <p:nvPr/>
          </p:nvGrpSpPr>
          <p:grpSpPr>
            <a:xfrm>
              <a:off x="5992920" y="2281680"/>
              <a:ext cx="2457000" cy="1888560"/>
              <a:chOff x="5992920" y="2281680"/>
              <a:chExt cx="2457000" cy="1888560"/>
            </a:xfrm>
          </p:grpSpPr>
          <p:sp>
            <p:nvSpPr>
              <p:cNvPr id="2097" name="Shape 2291"/>
              <p:cNvSpPr/>
              <p:nvPr/>
            </p:nvSpPr>
            <p:spPr>
              <a:xfrm>
                <a:off x="6249960" y="2384280"/>
                <a:ext cx="360" cy="1272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98" name="Shape 2292"/>
              <p:cNvSpPr/>
              <p:nvPr/>
            </p:nvSpPr>
            <p:spPr>
              <a:xfrm>
                <a:off x="6467400" y="3892680"/>
                <a:ext cx="1474560" cy="1080"/>
              </a:xfrm>
              <a:custGeom>
                <a:avLst/>
                <a:gdLst/>
                <a:ahLst/>
                <a:rect l="l" t="t" r="r" b="b"/>
                <a:pathLst>
                  <a:path w="901" h="5">
                    <a:moveTo>
                      <a:pt x="0" y="0"/>
                    </a:moveTo>
                    <a:lnTo>
                      <a:pt x="901" y="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99" name="Shape 2293"/>
              <p:cNvSpPr/>
              <p:nvPr/>
            </p:nvSpPr>
            <p:spPr>
              <a:xfrm rot="10800000">
                <a:off x="6437880" y="2281680"/>
                <a:ext cx="1566360" cy="13935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00" name="Shape 2294"/>
              <p:cNvSpPr/>
              <p:nvPr/>
            </p:nvSpPr>
            <p:spPr>
              <a:xfrm>
                <a:off x="5992920" y="362412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01" name="Shape 2295"/>
              <p:cNvSpPr/>
              <p:nvPr/>
            </p:nvSpPr>
            <p:spPr>
              <a:xfrm>
                <a:off x="6059520" y="357516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2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2102" name="Shape 2296"/>
              <p:cNvSpPr/>
              <p:nvPr/>
            </p:nvSpPr>
            <p:spPr>
              <a:xfrm>
                <a:off x="7920000" y="36212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03" name="Shape 2297"/>
              <p:cNvSpPr/>
              <p:nvPr/>
            </p:nvSpPr>
            <p:spPr>
              <a:xfrm>
                <a:off x="7986600" y="357192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3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2104" name="Shape 2298"/>
          <p:cNvGrpSpPr/>
          <p:nvPr/>
        </p:nvGrpSpPr>
        <p:grpSpPr>
          <a:xfrm>
            <a:off x="633240" y="4114800"/>
            <a:ext cx="6157440" cy="2480760"/>
            <a:chOff x="633240" y="4114800"/>
            <a:chExt cx="6157440" cy="2480760"/>
          </a:xfrm>
        </p:grpSpPr>
        <p:sp>
          <p:nvSpPr>
            <p:cNvPr id="2105" name="Shape 2299"/>
            <p:cNvSpPr/>
            <p:nvPr/>
          </p:nvSpPr>
          <p:spPr>
            <a:xfrm>
              <a:off x="3787920" y="462600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106" name="Shape 2300"/>
            <p:cNvSpPr/>
            <p:nvPr/>
          </p:nvSpPr>
          <p:spPr>
            <a:xfrm>
              <a:off x="5614920" y="462600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107" name="Shape 2301"/>
            <p:cNvSpPr/>
            <p:nvPr/>
          </p:nvSpPr>
          <p:spPr>
            <a:xfrm>
              <a:off x="6216480" y="4626000"/>
              <a:ext cx="57420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108" name="Shape 2302"/>
            <p:cNvSpPr/>
            <p:nvPr/>
          </p:nvSpPr>
          <p:spPr>
            <a:xfrm>
              <a:off x="3787920" y="5587920"/>
              <a:ext cx="651960" cy="4903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109" name="Shape 2303"/>
            <p:cNvSpPr/>
            <p:nvPr/>
          </p:nvSpPr>
          <p:spPr>
            <a:xfrm>
              <a:off x="4368960" y="5587920"/>
              <a:ext cx="587160" cy="4885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5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110" name="Shape 2304"/>
            <p:cNvSpPr/>
            <p:nvPr/>
          </p:nvSpPr>
          <p:spPr>
            <a:xfrm>
              <a:off x="3789360" y="614988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111" name="Shape 2305"/>
            <p:cNvSpPr/>
            <p:nvPr/>
          </p:nvSpPr>
          <p:spPr>
            <a:xfrm>
              <a:off x="4375080" y="6149880"/>
              <a:ext cx="57420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112" name="Shape 2306"/>
            <p:cNvSpPr/>
            <p:nvPr/>
          </p:nvSpPr>
          <p:spPr>
            <a:xfrm>
              <a:off x="1039680" y="4595760"/>
              <a:ext cx="1017360" cy="5094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113" name="Shape 2307"/>
            <p:cNvSpPr/>
            <p:nvPr/>
          </p:nvSpPr>
          <p:spPr>
            <a:xfrm>
              <a:off x="2057400" y="4595760"/>
              <a:ext cx="1176120" cy="5094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14" name="Shape 2308"/>
            <p:cNvSpPr/>
            <p:nvPr/>
          </p:nvSpPr>
          <p:spPr>
            <a:xfrm>
              <a:off x="1039680" y="5091120"/>
              <a:ext cx="1017360" cy="5122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115" name="Shape 2309"/>
            <p:cNvSpPr/>
            <p:nvPr/>
          </p:nvSpPr>
          <p:spPr>
            <a:xfrm>
              <a:off x="2057400" y="5091120"/>
              <a:ext cx="1176120" cy="5122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16" name="Shape 2310"/>
            <p:cNvSpPr/>
            <p:nvPr/>
          </p:nvSpPr>
          <p:spPr>
            <a:xfrm>
              <a:off x="1039680" y="5578560"/>
              <a:ext cx="1017360" cy="5094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117" name="Shape 2311"/>
            <p:cNvSpPr/>
            <p:nvPr/>
          </p:nvSpPr>
          <p:spPr>
            <a:xfrm>
              <a:off x="2057400" y="5573880"/>
              <a:ext cx="1176120" cy="5108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18" name="Shape 2312"/>
            <p:cNvSpPr/>
            <p:nvPr/>
          </p:nvSpPr>
          <p:spPr>
            <a:xfrm>
              <a:off x="1039680" y="6075360"/>
              <a:ext cx="1017360" cy="5108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119" name="Shape 2313"/>
            <p:cNvSpPr/>
            <p:nvPr/>
          </p:nvSpPr>
          <p:spPr>
            <a:xfrm>
              <a:off x="2057400" y="6075360"/>
              <a:ext cx="1176120" cy="5108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0" name="Shape 2314"/>
            <p:cNvSpPr/>
            <p:nvPr/>
          </p:nvSpPr>
          <p:spPr>
            <a:xfrm>
              <a:off x="633240" y="4521240"/>
              <a:ext cx="293400" cy="2031480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121" name="Shape 2315"/>
            <p:cNvSpPr/>
            <p:nvPr/>
          </p:nvSpPr>
          <p:spPr>
            <a:xfrm>
              <a:off x="2781360" y="4824360"/>
              <a:ext cx="10029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2" name="Shape 2316"/>
            <p:cNvSpPr/>
            <p:nvPr/>
          </p:nvSpPr>
          <p:spPr>
            <a:xfrm>
              <a:off x="2738520" y="5859360"/>
              <a:ext cx="10584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3" name="Shape 2317"/>
            <p:cNvSpPr/>
            <p:nvPr/>
          </p:nvSpPr>
          <p:spPr>
            <a:xfrm>
              <a:off x="2781360" y="6389640"/>
              <a:ext cx="10029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4" name="Shape 2318"/>
            <p:cNvSpPr/>
            <p:nvPr/>
          </p:nvSpPr>
          <p:spPr>
            <a:xfrm>
              <a:off x="1022400" y="4114800"/>
              <a:ext cx="2449080" cy="44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   firstedge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125" name="Shape 2319"/>
            <p:cNvSpPr/>
            <p:nvPr/>
          </p:nvSpPr>
          <p:spPr>
            <a:xfrm>
              <a:off x="4368960" y="4626000"/>
              <a:ext cx="5727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6" name="Shape 2320"/>
            <p:cNvSpPr/>
            <p:nvPr/>
          </p:nvSpPr>
          <p:spPr>
            <a:xfrm>
              <a:off x="4762440" y="4854600"/>
              <a:ext cx="8647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7" name="Shape 2321"/>
            <p:cNvSpPr/>
            <p:nvPr/>
          </p:nvSpPr>
          <p:spPr>
            <a:xfrm>
              <a:off x="2498760" y="5129280"/>
              <a:ext cx="574200" cy="35352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2128" name="Shape 2322"/>
          <p:cNvGrpSpPr/>
          <p:nvPr/>
        </p:nvGrpSpPr>
        <p:grpSpPr>
          <a:xfrm>
            <a:off x="617400" y="2174760"/>
            <a:ext cx="7667280" cy="518760"/>
            <a:chOff x="617400" y="2174760"/>
            <a:chExt cx="7667280" cy="518760"/>
          </a:xfrm>
        </p:grpSpPr>
        <p:sp>
          <p:nvSpPr>
            <p:cNvPr id="2129" name="Shape 2323"/>
            <p:cNvSpPr/>
            <p:nvPr/>
          </p:nvSpPr>
          <p:spPr>
            <a:xfrm>
              <a:off x="1258920" y="2174760"/>
              <a:ext cx="70257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如何求顶点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 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的出度？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2130" name="Shape 2324" descr=""/>
            <p:cNvPicPr/>
            <p:nvPr/>
          </p:nvPicPr>
          <p:blipFill>
            <a:blip r:embed="rId1"/>
            <a:stretch/>
          </p:blipFill>
          <p:spPr>
            <a:xfrm>
              <a:off x="617400" y="219060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131" name="Shape 2325"/>
          <p:cNvSpPr/>
          <p:nvPr/>
        </p:nvSpPr>
        <p:spPr>
          <a:xfrm>
            <a:off x="674640" y="2925720"/>
            <a:ext cx="5181120" cy="547200"/>
          </a:xfrm>
          <a:prstGeom prst="rect">
            <a:avLst/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顶点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的出边表中结点的个数。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44" dur="indefinite" restart="never" nodeType="tmRoot">
          <p:childTnLst>
            <p:seq>
              <p:cTn id="745" dur="indefinite" nodeType="mainSeq">
                <p:childTnLst>
                  <p:par>
                    <p:cTn id="746" fill="hold">
                      <p:stCondLst>
                        <p:cond delay="indefinite"/>
                      </p:stCondLst>
                      <p:childTnLst>
                        <p:par>
                          <p:cTn id="747" fill="hold">
                            <p:stCondLst>
                              <p:cond delay="0"/>
                            </p:stCondLst>
                            <p:childTnLst>
                              <p:par>
                                <p:cTn id="74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Shape 2330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33" name="Shape 2331"/>
          <p:cNvSpPr/>
          <p:nvPr/>
        </p:nvSpPr>
        <p:spPr>
          <a:xfrm>
            <a:off x="506520" y="1193760"/>
            <a:ext cx="321804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有向图的邻接表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2134" name="Shape 2332"/>
          <p:cNvGrpSpPr/>
          <p:nvPr/>
        </p:nvGrpSpPr>
        <p:grpSpPr>
          <a:xfrm>
            <a:off x="617400" y="2174760"/>
            <a:ext cx="7667280" cy="518760"/>
            <a:chOff x="617400" y="2174760"/>
            <a:chExt cx="7667280" cy="518760"/>
          </a:xfrm>
        </p:grpSpPr>
        <p:sp>
          <p:nvSpPr>
            <p:cNvPr id="2135" name="Shape 2333"/>
            <p:cNvSpPr/>
            <p:nvPr/>
          </p:nvSpPr>
          <p:spPr>
            <a:xfrm>
              <a:off x="1258920" y="2174760"/>
              <a:ext cx="70257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如何求顶点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 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的入度？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2136" name="Shape 2334" descr=""/>
            <p:cNvPicPr/>
            <p:nvPr/>
          </p:nvPicPr>
          <p:blipFill>
            <a:blip r:embed="rId1"/>
            <a:stretch/>
          </p:blipFill>
          <p:spPr>
            <a:xfrm>
              <a:off x="617400" y="219060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137" name="Shape 2335"/>
          <p:cNvSpPr/>
          <p:nvPr/>
        </p:nvSpPr>
        <p:spPr>
          <a:xfrm>
            <a:off x="689040" y="2819520"/>
            <a:ext cx="5044680" cy="974520"/>
          </a:xfrm>
          <a:prstGeom prst="rect">
            <a:avLst/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各顶点的出边表中以顶点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为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终点的结点个数。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2138" name="Shape 2336"/>
          <p:cNvGrpSpPr/>
          <p:nvPr/>
        </p:nvGrpSpPr>
        <p:grpSpPr>
          <a:xfrm>
            <a:off x="5992920" y="1835280"/>
            <a:ext cx="2471400" cy="2334960"/>
            <a:chOff x="5992920" y="1835280"/>
            <a:chExt cx="2471400" cy="2334960"/>
          </a:xfrm>
        </p:grpSpPr>
        <p:sp>
          <p:nvSpPr>
            <p:cNvPr id="2139" name="Shape 2337"/>
            <p:cNvSpPr/>
            <p:nvPr/>
          </p:nvSpPr>
          <p:spPr>
            <a:xfrm>
              <a:off x="6499080" y="2122560"/>
              <a:ext cx="1431720" cy="1080"/>
            </a:xfrm>
            <a:custGeom>
              <a:avLst/>
              <a:gdLst/>
              <a:ahLst/>
              <a:rect l="l" t="t" r="r" b="b"/>
              <a:pathLst>
                <a:path w="901" h="7">
                  <a:moveTo>
                    <a:pt x="0" y="7"/>
                  </a:moveTo>
                  <a:lnTo>
                    <a:pt x="90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0" name="Shape 2338"/>
            <p:cNvSpPr/>
            <p:nvPr/>
          </p:nvSpPr>
          <p:spPr>
            <a:xfrm>
              <a:off x="6000840" y="1884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1" name="Shape 2339"/>
            <p:cNvSpPr/>
            <p:nvPr/>
          </p:nvSpPr>
          <p:spPr>
            <a:xfrm>
              <a:off x="6067440" y="18352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142" name="Shape 2340"/>
            <p:cNvSpPr/>
            <p:nvPr/>
          </p:nvSpPr>
          <p:spPr>
            <a:xfrm>
              <a:off x="7934400" y="18972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3" name="Shape 2341"/>
            <p:cNvSpPr/>
            <p:nvPr/>
          </p:nvSpPr>
          <p:spPr>
            <a:xfrm>
              <a:off x="8001000" y="18478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grpSp>
          <p:nvGrpSpPr>
            <p:cNvPr id="2144" name="Shape 2342"/>
            <p:cNvGrpSpPr/>
            <p:nvPr/>
          </p:nvGrpSpPr>
          <p:grpSpPr>
            <a:xfrm>
              <a:off x="5992920" y="2281680"/>
              <a:ext cx="2457000" cy="1888560"/>
              <a:chOff x="5992920" y="2281680"/>
              <a:chExt cx="2457000" cy="1888560"/>
            </a:xfrm>
          </p:grpSpPr>
          <p:sp>
            <p:nvSpPr>
              <p:cNvPr id="2145" name="Shape 2343"/>
              <p:cNvSpPr/>
              <p:nvPr/>
            </p:nvSpPr>
            <p:spPr>
              <a:xfrm>
                <a:off x="6249960" y="2384280"/>
                <a:ext cx="360" cy="1272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46" name="Shape 2344"/>
              <p:cNvSpPr/>
              <p:nvPr/>
            </p:nvSpPr>
            <p:spPr>
              <a:xfrm>
                <a:off x="6467400" y="3892680"/>
                <a:ext cx="1474560" cy="1080"/>
              </a:xfrm>
              <a:custGeom>
                <a:avLst/>
                <a:gdLst/>
                <a:ahLst/>
                <a:rect l="l" t="t" r="r" b="b"/>
                <a:pathLst>
                  <a:path w="901" h="5">
                    <a:moveTo>
                      <a:pt x="0" y="0"/>
                    </a:moveTo>
                    <a:lnTo>
                      <a:pt x="901" y="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47" name="Shape 2345"/>
              <p:cNvSpPr/>
              <p:nvPr/>
            </p:nvSpPr>
            <p:spPr>
              <a:xfrm rot="10800000">
                <a:off x="6437880" y="2281680"/>
                <a:ext cx="1566360" cy="13935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48" name="Shape 2346"/>
              <p:cNvSpPr/>
              <p:nvPr/>
            </p:nvSpPr>
            <p:spPr>
              <a:xfrm>
                <a:off x="5992920" y="362412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49" name="Shape 2347"/>
              <p:cNvSpPr/>
              <p:nvPr/>
            </p:nvSpPr>
            <p:spPr>
              <a:xfrm>
                <a:off x="6059520" y="357516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2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2150" name="Shape 2348"/>
              <p:cNvSpPr/>
              <p:nvPr/>
            </p:nvSpPr>
            <p:spPr>
              <a:xfrm>
                <a:off x="7920000" y="36212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51" name="Shape 2349"/>
              <p:cNvSpPr/>
              <p:nvPr/>
            </p:nvSpPr>
            <p:spPr>
              <a:xfrm>
                <a:off x="7986600" y="357192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3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2152" name="Shape 2350"/>
          <p:cNvGrpSpPr/>
          <p:nvPr/>
        </p:nvGrpSpPr>
        <p:grpSpPr>
          <a:xfrm>
            <a:off x="633240" y="4114800"/>
            <a:ext cx="6157440" cy="2480760"/>
            <a:chOff x="633240" y="4114800"/>
            <a:chExt cx="6157440" cy="2480760"/>
          </a:xfrm>
        </p:grpSpPr>
        <p:sp>
          <p:nvSpPr>
            <p:cNvPr id="2153" name="Shape 2351"/>
            <p:cNvSpPr/>
            <p:nvPr/>
          </p:nvSpPr>
          <p:spPr>
            <a:xfrm>
              <a:off x="3787920" y="462600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154" name="Shape 2352"/>
            <p:cNvSpPr/>
            <p:nvPr/>
          </p:nvSpPr>
          <p:spPr>
            <a:xfrm>
              <a:off x="5614920" y="462600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155" name="Shape 2353"/>
            <p:cNvSpPr/>
            <p:nvPr/>
          </p:nvSpPr>
          <p:spPr>
            <a:xfrm>
              <a:off x="6216480" y="4626000"/>
              <a:ext cx="57420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156" name="Shape 2354"/>
            <p:cNvSpPr/>
            <p:nvPr/>
          </p:nvSpPr>
          <p:spPr>
            <a:xfrm>
              <a:off x="3787920" y="5587920"/>
              <a:ext cx="651960" cy="4903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157" name="Shape 2355"/>
            <p:cNvSpPr/>
            <p:nvPr/>
          </p:nvSpPr>
          <p:spPr>
            <a:xfrm>
              <a:off x="4368960" y="5587920"/>
              <a:ext cx="587160" cy="4885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5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158" name="Shape 2356"/>
            <p:cNvSpPr/>
            <p:nvPr/>
          </p:nvSpPr>
          <p:spPr>
            <a:xfrm>
              <a:off x="3789360" y="614988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159" name="Shape 2357"/>
            <p:cNvSpPr/>
            <p:nvPr/>
          </p:nvSpPr>
          <p:spPr>
            <a:xfrm>
              <a:off x="4375080" y="6149880"/>
              <a:ext cx="57420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160" name="Shape 2358"/>
            <p:cNvSpPr/>
            <p:nvPr/>
          </p:nvSpPr>
          <p:spPr>
            <a:xfrm>
              <a:off x="1039680" y="4595760"/>
              <a:ext cx="1017360" cy="5094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161" name="Shape 2359"/>
            <p:cNvSpPr/>
            <p:nvPr/>
          </p:nvSpPr>
          <p:spPr>
            <a:xfrm>
              <a:off x="2057400" y="4595760"/>
              <a:ext cx="1176120" cy="5094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62" name="Shape 2360"/>
            <p:cNvSpPr/>
            <p:nvPr/>
          </p:nvSpPr>
          <p:spPr>
            <a:xfrm>
              <a:off x="1039680" y="5091120"/>
              <a:ext cx="1017360" cy="5122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163" name="Shape 2361"/>
            <p:cNvSpPr/>
            <p:nvPr/>
          </p:nvSpPr>
          <p:spPr>
            <a:xfrm>
              <a:off x="2057400" y="5091120"/>
              <a:ext cx="1176120" cy="5122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64" name="Shape 2362"/>
            <p:cNvSpPr/>
            <p:nvPr/>
          </p:nvSpPr>
          <p:spPr>
            <a:xfrm>
              <a:off x="1039680" y="5578560"/>
              <a:ext cx="1017360" cy="5094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165" name="Shape 2363"/>
            <p:cNvSpPr/>
            <p:nvPr/>
          </p:nvSpPr>
          <p:spPr>
            <a:xfrm>
              <a:off x="2057400" y="5573880"/>
              <a:ext cx="1176120" cy="5108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66" name="Shape 2364"/>
            <p:cNvSpPr/>
            <p:nvPr/>
          </p:nvSpPr>
          <p:spPr>
            <a:xfrm>
              <a:off x="1039680" y="6075360"/>
              <a:ext cx="1017360" cy="5108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167" name="Shape 2365"/>
            <p:cNvSpPr/>
            <p:nvPr/>
          </p:nvSpPr>
          <p:spPr>
            <a:xfrm>
              <a:off x="2057400" y="6075360"/>
              <a:ext cx="1176120" cy="5108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68" name="Shape 2366"/>
            <p:cNvSpPr/>
            <p:nvPr/>
          </p:nvSpPr>
          <p:spPr>
            <a:xfrm>
              <a:off x="633240" y="4521240"/>
              <a:ext cx="293400" cy="2031480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169" name="Shape 2367"/>
            <p:cNvSpPr/>
            <p:nvPr/>
          </p:nvSpPr>
          <p:spPr>
            <a:xfrm>
              <a:off x="2781360" y="4824360"/>
              <a:ext cx="10029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0" name="Shape 2368"/>
            <p:cNvSpPr/>
            <p:nvPr/>
          </p:nvSpPr>
          <p:spPr>
            <a:xfrm>
              <a:off x="2738520" y="5859360"/>
              <a:ext cx="10584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1" name="Shape 2369"/>
            <p:cNvSpPr/>
            <p:nvPr/>
          </p:nvSpPr>
          <p:spPr>
            <a:xfrm>
              <a:off x="2781360" y="6389640"/>
              <a:ext cx="10029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2" name="Shape 2370"/>
            <p:cNvSpPr/>
            <p:nvPr/>
          </p:nvSpPr>
          <p:spPr>
            <a:xfrm>
              <a:off x="1022400" y="4114800"/>
              <a:ext cx="2449080" cy="44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   firstedge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173" name="Shape 2371"/>
            <p:cNvSpPr/>
            <p:nvPr/>
          </p:nvSpPr>
          <p:spPr>
            <a:xfrm>
              <a:off x="4368960" y="4626000"/>
              <a:ext cx="5727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4" name="Shape 2372"/>
            <p:cNvSpPr/>
            <p:nvPr/>
          </p:nvSpPr>
          <p:spPr>
            <a:xfrm>
              <a:off x="4762440" y="4854600"/>
              <a:ext cx="8647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5" name="Shape 2373"/>
            <p:cNvSpPr/>
            <p:nvPr/>
          </p:nvSpPr>
          <p:spPr>
            <a:xfrm>
              <a:off x="2498760" y="5129280"/>
              <a:ext cx="574200" cy="35352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0" dur="indefinite" restart="never" nodeType="tmRoot">
          <p:childTnLst>
            <p:seq>
              <p:cTn id="751" dur="indefinite" nodeType="mainSeq">
                <p:childTnLst>
                  <p:par>
                    <p:cTn id="752" fill="hold">
                      <p:stCondLst>
                        <p:cond delay="indefinite"/>
                      </p:stCondLst>
                      <p:childTnLst>
                        <p:par>
                          <p:cTn id="753" fill="hold">
                            <p:stCondLst>
                              <p:cond delay="0"/>
                            </p:stCondLst>
                            <p:childTnLst>
                              <p:par>
                                <p:cTn id="75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Shape 2378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77" name="Shape 2379"/>
          <p:cNvSpPr/>
          <p:nvPr/>
        </p:nvSpPr>
        <p:spPr>
          <a:xfrm>
            <a:off x="506520" y="1193760"/>
            <a:ext cx="319104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有向图的邻接表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2178" name="Shape 2380"/>
          <p:cNvGrpSpPr/>
          <p:nvPr/>
        </p:nvGrpSpPr>
        <p:grpSpPr>
          <a:xfrm>
            <a:off x="617400" y="2128680"/>
            <a:ext cx="7667280" cy="518760"/>
            <a:chOff x="617400" y="2128680"/>
            <a:chExt cx="7667280" cy="518760"/>
          </a:xfrm>
        </p:grpSpPr>
        <p:sp>
          <p:nvSpPr>
            <p:cNvPr id="2179" name="Shape 2381"/>
            <p:cNvSpPr/>
            <p:nvPr/>
          </p:nvSpPr>
          <p:spPr>
            <a:xfrm>
              <a:off x="1258920" y="2128680"/>
              <a:ext cx="70257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如何求顶点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 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的所有邻接点？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2180" name="Shape 2382" descr=""/>
            <p:cNvPicPr/>
            <p:nvPr/>
          </p:nvPicPr>
          <p:blipFill>
            <a:blip r:embed="rId1"/>
            <a:stretch/>
          </p:blipFill>
          <p:spPr>
            <a:xfrm>
              <a:off x="617400" y="214488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181" name="Shape 2383"/>
          <p:cNvSpPr/>
          <p:nvPr/>
        </p:nvSpPr>
        <p:spPr>
          <a:xfrm>
            <a:off x="609480" y="2819520"/>
            <a:ext cx="5227200" cy="974520"/>
          </a:xfrm>
          <a:prstGeom prst="rect">
            <a:avLst/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遍历顶点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的边表，该边表中的所有终点都是顶点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的邻接点。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2182" name="Shape 2384"/>
          <p:cNvGrpSpPr/>
          <p:nvPr/>
        </p:nvGrpSpPr>
        <p:grpSpPr>
          <a:xfrm>
            <a:off x="5992920" y="1835280"/>
            <a:ext cx="2471400" cy="2334960"/>
            <a:chOff x="5992920" y="1835280"/>
            <a:chExt cx="2471400" cy="2334960"/>
          </a:xfrm>
        </p:grpSpPr>
        <p:sp>
          <p:nvSpPr>
            <p:cNvPr id="2183" name="Shape 2385"/>
            <p:cNvSpPr/>
            <p:nvPr/>
          </p:nvSpPr>
          <p:spPr>
            <a:xfrm>
              <a:off x="6499080" y="2122560"/>
              <a:ext cx="1431720" cy="1080"/>
            </a:xfrm>
            <a:custGeom>
              <a:avLst/>
              <a:gdLst/>
              <a:ahLst/>
              <a:rect l="l" t="t" r="r" b="b"/>
              <a:pathLst>
                <a:path w="901" h="7">
                  <a:moveTo>
                    <a:pt x="0" y="7"/>
                  </a:moveTo>
                  <a:lnTo>
                    <a:pt x="90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84" name="Shape 2386"/>
            <p:cNvSpPr/>
            <p:nvPr/>
          </p:nvSpPr>
          <p:spPr>
            <a:xfrm>
              <a:off x="6000840" y="1884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85" name="Shape 2387"/>
            <p:cNvSpPr/>
            <p:nvPr/>
          </p:nvSpPr>
          <p:spPr>
            <a:xfrm>
              <a:off x="6067440" y="18352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186" name="Shape 2388"/>
            <p:cNvSpPr/>
            <p:nvPr/>
          </p:nvSpPr>
          <p:spPr>
            <a:xfrm>
              <a:off x="7934400" y="18972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87" name="Shape 2389"/>
            <p:cNvSpPr/>
            <p:nvPr/>
          </p:nvSpPr>
          <p:spPr>
            <a:xfrm>
              <a:off x="8001000" y="18478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grpSp>
          <p:nvGrpSpPr>
            <p:cNvPr id="2188" name="Shape 2390"/>
            <p:cNvGrpSpPr/>
            <p:nvPr/>
          </p:nvGrpSpPr>
          <p:grpSpPr>
            <a:xfrm>
              <a:off x="5992920" y="2281680"/>
              <a:ext cx="2457000" cy="1888560"/>
              <a:chOff x="5992920" y="2281680"/>
              <a:chExt cx="2457000" cy="1888560"/>
            </a:xfrm>
          </p:grpSpPr>
          <p:sp>
            <p:nvSpPr>
              <p:cNvPr id="2189" name="Shape 2391"/>
              <p:cNvSpPr/>
              <p:nvPr/>
            </p:nvSpPr>
            <p:spPr>
              <a:xfrm>
                <a:off x="6249960" y="2384280"/>
                <a:ext cx="360" cy="12729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90" name="Shape 2392"/>
              <p:cNvSpPr/>
              <p:nvPr/>
            </p:nvSpPr>
            <p:spPr>
              <a:xfrm>
                <a:off x="6467400" y="3892680"/>
                <a:ext cx="1474560" cy="1080"/>
              </a:xfrm>
              <a:custGeom>
                <a:avLst/>
                <a:gdLst/>
                <a:ahLst/>
                <a:rect l="l" t="t" r="r" b="b"/>
                <a:pathLst>
                  <a:path w="901" h="5">
                    <a:moveTo>
                      <a:pt x="0" y="0"/>
                    </a:moveTo>
                    <a:lnTo>
                      <a:pt x="901" y="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91" name="Shape 2393"/>
              <p:cNvSpPr/>
              <p:nvPr/>
            </p:nvSpPr>
            <p:spPr>
              <a:xfrm rot="10800000">
                <a:off x="6437880" y="2281680"/>
                <a:ext cx="1566360" cy="139356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92" name="Shape 2394"/>
              <p:cNvSpPr/>
              <p:nvPr/>
            </p:nvSpPr>
            <p:spPr>
              <a:xfrm>
                <a:off x="5992920" y="362412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93" name="Shape 2395"/>
              <p:cNvSpPr/>
              <p:nvPr/>
            </p:nvSpPr>
            <p:spPr>
              <a:xfrm>
                <a:off x="6059520" y="357516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2</a:t>
                </a:r>
                <a:endParaRPr b="0" lang="en-US" sz="2800" spc="-1" strike="noStrike">
                  <a:latin typeface="Arial"/>
                </a:endParaRPr>
              </a:p>
            </p:txBody>
          </p:sp>
          <p:sp>
            <p:nvSpPr>
              <p:cNvPr id="2194" name="Shape 2396"/>
              <p:cNvSpPr/>
              <p:nvPr/>
            </p:nvSpPr>
            <p:spPr>
              <a:xfrm>
                <a:off x="7920000" y="36212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95" name="Shape 2397"/>
              <p:cNvSpPr/>
              <p:nvPr/>
            </p:nvSpPr>
            <p:spPr>
              <a:xfrm>
                <a:off x="7986600" y="357192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800" rIns="0" tIns="288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3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2196" name="Shape 2398"/>
          <p:cNvGrpSpPr/>
          <p:nvPr/>
        </p:nvGrpSpPr>
        <p:grpSpPr>
          <a:xfrm>
            <a:off x="633240" y="4114800"/>
            <a:ext cx="6157440" cy="2480760"/>
            <a:chOff x="633240" y="4114800"/>
            <a:chExt cx="6157440" cy="2480760"/>
          </a:xfrm>
        </p:grpSpPr>
        <p:sp>
          <p:nvSpPr>
            <p:cNvPr id="2197" name="Shape 2399"/>
            <p:cNvSpPr/>
            <p:nvPr/>
          </p:nvSpPr>
          <p:spPr>
            <a:xfrm>
              <a:off x="3787920" y="462600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198" name="Shape 2400"/>
            <p:cNvSpPr/>
            <p:nvPr/>
          </p:nvSpPr>
          <p:spPr>
            <a:xfrm>
              <a:off x="5614920" y="462600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199" name="Shape 2401"/>
            <p:cNvSpPr/>
            <p:nvPr/>
          </p:nvSpPr>
          <p:spPr>
            <a:xfrm>
              <a:off x="6216480" y="4626000"/>
              <a:ext cx="57420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200" name="Shape 2402"/>
            <p:cNvSpPr/>
            <p:nvPr/>
          </p:nvSpPr>
          <p:spPr>
            <a:xfrm>
              <a:off x="3787920" y="5587920"/>
              <a:ext cx="651960" cy="4903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201" name="Shape 2403"/>
            <p:cNvSpPr/>
            <p:nvPr/>
          </p:nvSpPr>
          <p:spPr>
            <a:xfrm>
              <a:off x="4368960" y="5587920"/>
              <a:ext cx="587160" cy="4885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rIns="5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202" name="Shape 2404"/>
            <p:cNvSpPr/>
            <p:nvPr/>
          </p:nvSpPr>
          <p:spPr>
            <a:xfrm>
              <a:off x="3789360" y="6149880"/>
              <a:ext cx="6519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203" name="Shape 2405"/>
            <p:cNvSpPr/>
            <p:nvPr/>
          </p:nvSpPr>
          <p:spPr>
            <a:xfrm>
              <a:off x="4375080" y="6149880"/>
              <a:ext cx="57420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204" name="Shape 2406"/>
            <p:cNvSpPr/>
            <p:nvPr/>
          </p:nvSpPr>
          <p:spPr>
            <a:xfrm>
              <a:off x="1039680" y="4595760"/>
              <a:ext cx="1017360" cy="5094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205" name="Shape 2407"/>
            <p:cNvSpPr/>
            <p:nvPr/>
          </p:nvSpPr>
          <p:spPr>
            <a:xfrm>
              <a:off x="2057400" y="4595760"/>
              <a:ext cx="1176120" cy="5094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06" name="Shape 2408"/>
            <p:cNvSpPr/>
            <p:nvPr/>
          </p:nvSpPr>
          <p:spPr>
            <a:xfrm>
              <a:off x="1039680" y="5091120"/>
              <a:ext cx="1017360" cy="5122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207" name="Shape 2409"/>
            <p:cNvSpPr/>
            <p:nvPr/>
          </p:nvSpPr>
          <p:spPr>
            <a:xfrm>
              <a:off x="2057400" y="5091120"/>
              <a:ext cx="1176120" cy="5122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08" name="Shape 2410"/>
            <p:cNvSpPr/>
            <p:nvPr/>
          </p:nvSpPr>
          <p:spPr>
            <a:xfrm>
              <a:off x="1039680" y="5578560"/>
              <a:ext cx="1017360" cy="5094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209" name="Shape 2411"/>
            <p:cNvSpPr/>
            <p:nvPr/>
          </p:nvSpPr>
          <p:spPr>
            <a:xfrm>
              <a:off x="2057400" y="5573880"/>
              <a:ext cx="1176120" cy="5108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10" name="Shape 2412"/>
            <p:cNvSpPr/>
            <p:nvPr/>
          </p:nvSpPr>
          <p:spPr>
            <a:xfrm>
              <a:off x="1039680" y="6075360"/>
              <a:ext cx="1017360" cy="5108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211" name="Shape 2413"/>
            <p:cNvSpPr/>
            <p:nvPr/>
          </p:nvSpPr>
          <p:spPr>
            <a:xfrm>
              <a:off x="2057400" y="6075360"/>
              <a:ext cx="1176120" cy="5108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12" name="Shape 2414"/>
            <p:cNvSpPr/>
            <p:nvPr/>
          </p:nvSpPr>
          <p:spPr>
            <a:xfrm>
              <a:off x="633240" y="4521240"/>
              <a:ext cx="293400" cy="2031480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213" name="Shape 2415"/>
            <p:cNvSpPr/>
            <p:nvPr/>
          </p:nvSpPr>
          <p:spPr>
            <a:xfrm>
              <a:off x="2781360" y="4824360"/>
              <a:ext cx="10029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14" name="Shape 2416"/>
            <p:cNvSpPr/>
            <p:nvPr/>
          </p:nvSpPr>
          <p:spPr>
            <a:xfrm>
              <a:off x="2738520" y="5859360"/>
              <a:ext cx="10584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15" name="Shape 2417"/>
            <p:cNvSpPr/>
            <p:nvPr/>
          </p:nvSpPr>
          <p:spPr>
            <a:xfrm>
              <a:off x="2781360" y="6389640"/>
              <a:ext cx="10029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16" name="Shape 2418"/>
            <p:cNvSpPr/>
            <p:nvPr/>
          </p:nvSpPr>
          <p:spPr>
            <a:xfrm>
              <a:off x="1022400" y="4114800"/>
              <a:ext cx="2449080" cy="44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   firstedge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217" name="Shape 2419"/>
            <p:cNvSpPr/>
            <p:nvPr/>
          </p:nvSpPr>
          <p:spPr>
            <a:xfrm>
              <a:off x="4368960" y="4626000"/>
              <a:ext cx="572760" cy="44568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18" name="Shape 2420"/>
            <p:cNvSpPr/>
            <p:nvPr/>
          </p:nvSpPr>
          <p:spPr>
            <a:xfrm>
              <a:off x="4762440" y="4854600"/>
              <a:ext cx="8647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19" name="Shape 2421"/>
            <p:cNvSpPr/>
            <p:nvPr/>
          </p:nvSpPr>
          <p:spPr>
            <a:xfrm>
              <a:off x="2498760" y="5129280"/>
              <a:ext cx="574200" cy="35352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6" dur="indefinite" restart="never" nodeType="tmRoot">
          <p:childTnLst>
            <p:seq>
              <p:cTn id="757" dur="indefinite" nodeType="mainSeq">
                <p:childTnLst>
                  <p:par>
                    <p:cTn id="758" fill="hold">
                      <p:stCondLst>
                        <p:cond delay="indefinite"/>
                      </p:stCondLst>
                      <p:childTnLst>
                        <p:par>
                          <p:cTn id="759" fill="hold">
                            <p:stCondLst>
                              <p:cond delay="0"/>
                            </p:stCondLst>
                            <p:childTnLst>
                              <p:par>
                                <p:cTn id="76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Shape 2426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21" name="Shape 2427"/>
          <p:cNvSpPr/>
          <p:nvPr/>
        </p:nvSpPr>
        <p:spPr>
          <a:xfrm>
            <a:off x="506520" y="1193760"/>
            <a:ext cx="281448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网图的邻接表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2222" name="Shape 2428"/>
          <p:cNvGrpSpPr/>
          <p:nvPr/>
        </p:nvGrpSpPr>
        <p:grpSpPr>
          <a:xfrm>
            <a:off x="6335640" y="3459240"/>
            <a:ext cx="2471760" cy="2523960"/>
            <a:chOff x="6335640" y="3459240"/>
            <a:chExt cx="2471760" cy="2523960"/>
          </a:xfrm>
        </p:grpSpPr>
        <p:grpSp>
          <p:nvGrpSpPr>
            <p:cNvPr id="2223" name="Shape 2429"/>
            <p:cNvGrpSpPr/>
            <p:nvPr/>
          </p:nvGrpSpPr>
          <p:grpSpPr>
            <a:xfrm>
              <a:off x="6335640" y="3648240"/>
              <a:ext cx="2471760" cy="2334960"/>
              <a:chOff x="6335640" y="3648240"/>
              <a:chExt cx="2471760" cy="2334960"/>
            </a:xfrm>
          </p:grpSpPr>
          <p:grpSp>
            <p:nvGrpSpPr>
              <p:cNvPr id="2224" name="Shape 2430"/>
              <p:cNvGrpSpPr/>
              <p:nvPr/>
            </p:nvGrpSpPr>
            <p:grpSpPr>
              <a:xfrm>
                <a:off x="6343560" y="3648240"/>
                <a:ext cx="2463840" cy="607680"/>
                <a:chOff x="6343560" y="3648240"/>
                <a:chExt cx="2463840" cy="607680"/>
              </a:xfrm>
            </p:grpSpPr>
            <p:sp>
              <p:nvSpPr>
                <p:cNvPr id="2225" name="Shape 2431"/>
                <p:cNvSpPr/>
                <p:nvPr/>
              </p:nvSpPr>
              <p:spPr>
                <a:xfrm>
                  <a:off x="6842160" y="3935520"/>
                  <a:ext cx="1431720" cy="1080"/>
                </a:xfrm>
                <a:custGeom>
                  <a:avLst/>
                  <a:gdLst/>
                  <a:ahLst/>
                  <a:rect l="l" t="t" r="r" b="b"/>
                  <a:pathLst>
                    <a:path w="901" h="7">
                      <a:moveTo>
                        <a:pt x="0" y="7"/>
                      </a:moveTo>
                      <a:lnTo>
                        <a:pt x="901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  <a:tailEnd len="lg" type="stealth" w="lg"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226" name="Shape 2432"/>
                <p:cNvSpPr/>
                <p:nvPr/>
              </p:nvSpPr>
              <p:spPr>
                <a:xfrm>
                  <a:off x="6343560" y="369720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227" name="Shape 2433"/>
                <p:cNvSpPr/>
                <p:nvPr/>
              </p:nvSpPr>
              <p:spPr>
                <a:xfrm>
                  <a:off x="6410160" y="364824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0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  <p:sp>
              <p:nvSpPr>
                <p:cNvPr id="2228" name="Shape 2434"/>
                <p:cNvSpPr/>
                <p:nvPr/>
              </p:nvSpPr>
              <p:spPr>
                <a:xfrm>
                  <a:off x="8277120" y="371016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229" name="Shape 2435"/>
                <p:cNvSpPr/>
                <p:nvPr/>
              </p:nvSpPr>
              <p:spPr>
                <a:xfrm>
                  <a:off x="8344080" y="366084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1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</p:grpSp>
          <p:grpSp>
            <p:nvGrpSpPr>
              <p:cNvPr id="2230" name="Shape 2436"/>
              <p:cNvGrpSpPr/>
              <p:nvPr/>
            </p:nvGrpSpPr>
            <p:grpSpPr>
              <a:xfrm>
                <a:off x="6335640" y="4094280"/>
                <a:ext cx="2457360" cy="1888920"/>
                <a:chOff x="6335640" y="4094280"/>
                <a:chExt cx="2457360" cy="1888920"/>
              </a:xfrm>
            </p:grpSpPr>
            <p:sp>
              <p:nvSpPr>
                <p:cNvPr id="2231" name="Shape 2437"/>
                <p:cNvSpPr/>
                <p:nvPr/>
              </p:nvSpPr>
              <p:spPr>
                <a:xfrm>
                  <a:off x="6593040" y="4197240"/>
                  <a:ext cx="360" cy="12729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2160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  <a:tailEnd len="lg" type="stealth" w="lg"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232" name="Shape 2438"/>
                <p:cNvSpPr/>
                <p:nvPr/>
              </p:nvSpPr>
              <p:spPr>
                <a:xfrm>
                  <a:off x="6810480" y="5705640"/>
                  <a:ext cx="1474560" cy="1080"/>
                </a:xfrm>
                <a:custGeom>
                  <a:avLst/>
                  <a:gdLst/>
                  <a:ahLst/>
                  <a:rect l="l" t="t" r="r" b="b"/>
                  <a:pathLst>
                    <a:path w="901" h="5">
                      <a:moveTo>
                        <a:pt x="0" y="0"/>
                      </a:moveTo>
                      <a:lnTo>
                        <a:pt x="901" y="5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  <a:tailEnd len="lg" type="stealth" w="lg"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233" name="Shape 2439"/>
                <p:cNvSpPr/>
                <p:nvPr/>
              </p:nvSpPr>
              <p:spPr>
                <a:xfrm rot="10800000">
                  <a:off x="6780600" y="4094280"/>
                  <a:ext cx="1566360" cy="1393560"/>
                </a:xfrm>
                <a:custGeom>
                  <a:avLst/>
                  <a:gdLst/>
                  <a:ahLst/>
                  <a:rect l="l" t="t" r="r" b="b"/>
                  <a:pathLst>
                    <a:path w="21600" h="21600">
                      <a:moveTo>
                        <a:pt x="0" y="0"/>
                      </a:moveTo>
                      <a:lnTo>
                        <a:pt x="21600" y="2160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miter/>
                  <a:tailEnd len="lg" type="stealth" w="lg"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234" name="Shape 2440"/>
                <p:cNvSpPr/>
                <p:nvPr/>
              </p:nvSpPr>
              <p:spPr>
                <a:xfrm>
                  <a:off x="6335640" y="543708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235" name="Shape 2441"/>
                <p:cNvSpPr/>
                <p:nvPr/>
              </p:nvSpPr>
              <p:spPr>
                <a:xfrm>
                  <a:off x="6402240" y="538812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2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  <p:sp>
              <p:nvSpPr>
                <p:cNvPr id="2236" name="Shape 2442"/>
                <p:cNvSpPr/>
                <p:nvPr/>
              </p:nvSpPr>
              <p:spPr>
                <a:xfrm>
                  <a:off x="8263080" y="543384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2237" name="Shape 2443"/>
                <p:cNvSpPr/>
                <p:nvPr/>
              </p:nvSpPr>
              <p:spPr>
                <a:xfrm>
                  <a:off x="8329680" y="538488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10800" rIns="0" tIns="288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V</a:t>
                  </a:r>
                  <a:r>
                    <a:rPr b="1" lang="en-US" sz="2800" spc="-1" strike="noStrike" baseline="-25000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3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</p:grpSp>
        </p:grpSp>
        <p:sp>
          <p:nvSpPr>
            <p:cNvPr id="2238" name="Shape 2444"/>
            <p:cNvSpPr/>
            <p:nvPr/>
          </p:nvSpPr>
          <p:spPr>
            <a:xfrm>
              <a:off x="7224840" y="3459240"/>
              <a:ext cx="5792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239" name="Shape 2445"/>
            <p:cNvSpPr/>
            <p:nvPr/>
          </p:nvSpPr>
          <p:spPr>
            <a:xfrm>
              <a:off x="7467480" y="4327560"/>
              <a:ext cx="5792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240" name="Shape 2446"/>
            <p:cNvSpPr/>
            <p:nvPr/>
          </p:nvSpPr>
          <p:spPr>
            <a:xfrm>
              <a:off x="7118280" y="5211720"/>
              <a:ext cx="5792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8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241" name="Shape 2447"/>
            <p:cNvSpPr/>
            <p:nvPr/>
          </p:nvSpPr>
          <p:spPr>
            <a:xfrm>
              <a:off x="6477120" y="4586400"/>
              <a:ext cx="5792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242" name="Shape 2448"/>
          <p:cNvGrpSpPr/>
          <p:nvPr/>
        </p:nvGrpSpPr>
        <p:grpSpPr>
          <a:xfrm>
            <a:off x="344520" y="2119320"/>
            <a:ext cx="5868360" cy="2442600"/>
            <a:chOff x="344520" y="2119320"/>
            <a:chExt cx="5868360" cy="2442600"/>
          </a:xfrm>
        </p:grpSpPr>
        <p:sp>
          <p:nvSpPr>
            <p:cNvPr id="2243" name="Shape 2449"/>
            <p:cNvSpPr/>
            <p:nvPr/>
          </p:nvSpPr>
          <p:spPr>
            <a:xfrm>
              <a:off x="3544920" y="2574720"/>
              <a:ext cx="1150560" cy="4363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08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3333cc"/>
                  </a:solidFill>
                  <a:latin typeface="Times New Roman"/>
                  <a:ea typeface="Times New Roman"/>
                </a:rPr>
                <a:t>2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 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244" name="Shape 2450"/>
            <p:cNvSpPr/>
            <p:nvPr/>
          </p:nvSpPr>
          <p:spPr>
            <a:xfrm>
              <a:off x="750960" y="2586960"/>
              <a:ext cx="1017360" cy="4950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245" name="Shape 2451"/>
            <p:cNvSpPr/>
            <p:nvPr/>
          </p:nvSpPr>
          <p:spPr>
            <a:xfrm>
              <a:off x="1768320" y="2586960"/>
              <a:ext cx="1176120" cy="4950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46" name="Shape 2452"/>
            <p:cNvSpPr/>
            <p:nvPr/>
          </p:nvSpPr>
          <p:spPr>
            <a:xfrm>
              <a:off x="750960" y="3068640"/>
              <a:ext cx="1017360" cy="4982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247" name="Shape 2453"/>
            <p:cNvSpPr/>
            <p:nvPr/>
          </p:nvSpPr>
          <p:spPr>
            <a:xfrm>
              <a:off x="1768320" y="3068640"/>
              <a:ext cx="1176120" cy="4982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48" name="Shape 2454"/>
            <p:cNvSpPr/>
            <p:nvPr/>
          </p:nvSpPr>
          <p:spPr>
            <a:xfrm>
              <a:off x="750960" y="3542400"/>
              <a:ext cx="1017360" cy="49500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249" name="Shape 2455"/>
            <p:cNvSpPr/>
            <p:nvPr/>
          </p:nvSpPr>
          <p:spPr>
            <a:xfrm>
              <a:off x="1768320" y="3537720"/>
              <a:ext cx="1176120" cy="4964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50" name="Shape 2456"/>
            <p:cNvSpPr/>
            <p:nvPr/>
          </p:nvSpPr>
          <p:spPr>
            <a:xfrm>
              <a:off x="750960" y="4025520"/>
              <a:ext cx="1017360" cy="4964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251" name="Shape 2457"/>
            <p:cNvSpPr/>
            <p:nvPr/>
          </p:nvSpPr>
          <p:spPr>
            <a:xfrm>
              <a:off x="1768320" y="4025520"/>
              <a:ext cx="1176120" cy="49644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52" name="Shape 2458"/>
            <p:cNvSpPr/>
            <p:nvPr/>
          </p:nvSpPr>
          <p:spPr>
            <a:xfrm>
              <a:off x="344520" y="2514240"/>
              <a:ext cx="293400" cy="1975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253" name="Shape 2459"/>
            <p:cNvSpPr/>
            <p:nvPr/>
          </p:nvSpPr>
          <p:spPr>
            <a:xfrm>
              <a:off x="2492280" y="2809080"/>
              <a:ext cx="10029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54" name="Shape 2460"/>
            <p:cNvSpPr/>
            <p:nvPr/>
          </p:nvSpPr>
          <p:spPr>
            <a:xfrm>
              <a:off x="2449440" y="3815640"/>
              <a:ext cx="10584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55" name="Shape 2461"/>
            <p:cNvSpPr/>
            <p:nvPr/>
          </p:nvSpPr>
          <p:spPr>
            <a:xfrm>
              <a:off x="2492280" y="4330800"/>
              <a:ext cx="10029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56" name="Shape 2462"/>
            <p:cNvSpPr/>
            <p:nvPr/>
          </p:nvSpPr>
          <p:spPr>
            <a:xfrm>
              <a:off x="733320" y="2119320"/>
              <a:ext cx="2449080" cy="42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   firstedge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257" name="Shape 2463"/>
            <p:cNvSpPr/>
            <p:nvPr/>
          </p:nvSpPr>
          <p:spPr>
            <a:xfrm>
              <a:off x="4552920" y="2841480"/>
              <a:ext cx="46944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58" name="Shape 2464"/>
            <p:cNvSpPr/>
            <p:nvPr/>
          </p:nvSpPr>
          <p:spPr>
            <a:xfrm>
              <a:off x="2209680" y="3105360"/>
              <a:ext cx="574200" cy="34380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259" name="Shape 2465"/>
            <p:cNvSpPr/>
            <p:nvPr/>
          </p:nvSpPr>
          <p:spPr>
            <a:xfrm>
              <a:off x="3946680" y="2579400"/>
              <a:ext cx="360" cy="430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60" name="Shape 2466"/>
            <p:cNvSpPr/>
            <p:nvPr/>
          </p:nvSpPr>
          <p:spPr>
            <a:xfrm>
              <a:off x="4329000" y="2563920"/>
              <a:ext cx="360" cy="430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61" name="Shape 2467"/>
            <p:cNvSpPr/>
            <p:nvPr/>
          </p:nvSpPr>
          <p:spPr>
            <a:xfrm>
              <a:off x="5054760" y="2588400"/>
              <a:ext cx="1150560" cy="4363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08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3333cc"/>
                  </a:solidFill>
                  <a:latin typeface="Times New Roman"/>
                  <a:ea typeface="Times New Roman"/>
                </a:rPr>
                <a:t>5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 2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262" name="Shape 2468"/>
            <p:cNvSpPr/>
            <p:nvPr/>
          </p:nvSpPr>
          <p:spPr>
            <a:xfrm>
              <a:off x="5456160" y="2593080"/>
              <a:ext cx="360" cy="430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63" name="Shape 2469"/>
            <p:cNvSpPr/>
            <p:nvPr/>
          </p:nvSpPr>
          <p:spPr>
            <a:xfrm>
              <a:off x="5838840" y="2577600"/>
              <a:ext cx="360" cy="430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64" name="Shape 2470"/>
            <p:cNvSpPr/>
            <p:nvPr/>
          </p:nvSpPr>
          <p:spPr>
            <a:xfrm>
              <a:off x="5883120" y="2664000"/>
              <a:ext cx="329760" cy="37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265" name="Shape 2471"/>
            <p:cNvSpPr/>
            <p:nvPr/>
          </p:nvSpPr>
          <p:spPr>
            <a:xfrm>
              <a:off x="3530520" y="3565440"/>
              <a:ext cx="1150560" cy="4363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08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3333cc"/>
                  </a:solidFill>
                  <a:latin typeface="Times New Roman"/>
                  <a:ea typeface="Times New Roman"/>
                </a:rPr>
                <a:t>8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 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266" name="Shape 2472"/>
            <p:cNvSpPr/>
            <p:nvPr/>
          </p:nvSpPr>
          <p:spPr>
            <a:xfrm>
              <a:off x="3932280" y="3570120"/>
              <a:ext cx="360" cy="430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67" name="Shape 2473"/>
            <p:cNvSpPr/>
            <p:nvPr/>
          </p:nvSpPr>
          <p:spPr>
            <a:xfrm>
              <a:off x="4314960" y="3554640"/>
              <a:ext cx="360" cy="430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68" name="Shape 2474"/>
            <p:cNvSpPr/>
            <p:nvPr/>
          </p:nvSpPr>
          <p:spPr>
            <a:xfrm>
              <a:off x="4359240" y="3641040"/>
              <a:ext cx="329760" cy="37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269" name="Shape 2475"/>
            <p:cNvSpPr/>
            <p:nvPr/>
          </p:nvSpPr>
          <p:spPr>
            <a:xfrm>
              <a:off x="3530520" y="4113360"/>
              <a:ext cx="1150560" cy="4363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08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3333cc"/>
                  </a:solidFill>
                  <a:latin typeface="Times New Roman"/>
                  <a:ea typeface="Times New Roman"/>
                </a:rPr>
                <a:t>7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 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270" name="Shape 2476"/>
            <p:cNvSpPr/>
            <p:nvPr/>
          </p:nvSpPr>
          <p:spPr>
            <a:xfrm>
              <a:off x="3932280" y="4118040"/>
              <a:ext cx="360" cy="430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71" name="Shape 2477"/>
            <p:cNvSpPr/>
            <p:nvPr/>
          </p:nvSpPr>
          <p:spPr>
            <a:xfrm>
              <a:off x="4314960" y="4102560"/>
              <a:ext cx="360" cy="430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72" name="Shape 2478"/>
            <p:cNvSpPr/>
            <p:nvPr/>
          </p:nvSpPr>
          <p:spPr>
            <a:xfrm>
              <a:off x="4359240" y="4188960"/>
              <a:ext cx="329760" cy="37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Shape 2483"/>
          <p:cNvSpPr/>
          <p:nvPr/>
        </p:nvSpPr>
        <p:spPr>
          <a:xfrm rot="5400000">
            <a:off x="-1450440" y="3540240"/>
            <a:ext cx="4430520" cy="67104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邻接表存储</a:t>
            </a:r>
            <a:r>
              <a:rPr b="1" lang="ja-JP" sz="32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有向图</a:t>
            </a: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的类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274" name="Shape 2484"/>
          <p:cNvSpPr/>
          <p:nvPr/>
        </p:nvSpPr>
        <p:spPr>
          <a:xfrm>
            <a:off x="1403280" y="1231920"/>
            <a:ext cx="7467120" cy="50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const int MaxSize = 10;    //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图的最大顶点数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template &lt;class DataType&gt;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class ALGraph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   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public: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ALGraph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DataType a[ ], int n, int e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;  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~ALGraph;   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void DFSTraverse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int v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;     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void BFSTraverse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int v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;     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private: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VertexNode adjlist[MaxSize];  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int vertexNum, arcNum;      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};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275" name="Shape 2485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Shape 2490"/>
          <p:cNvSpPr/>
          <p:nvPr/>
        </p:nvSpPr>
        <p:spPr>
          <a:xfrm>
            <a:off x="304920" y="1295280"/>
            <a:ext cx="708624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邻接表中图的基本操作——</a:t>
            </a: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构造函数</a:t>
            </a:r>
            <a:r>
              <a:rPr b="0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277" name="Shape 2491"/>
          <p:cNvSpPr/>
          <p:nvPr/>
        </p:nvSpPr>
        <p:spPr>
          <a:xfrm>
            <a:off x="533520" y="2141640"/>
            <a:ext cx="8076960" cy="30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确定图的顶点个数和边的个数；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输入顶点信息，初始化该顶点的边表；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依次输入边的信息并存储在边表中；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3.1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输入边所依附的两个顶点的序号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3.2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生成邻接点序号为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的边表结点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3.3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将结点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插入到第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个边表的头部；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278" name="Shape 2492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9" name="Shape 2497"/>
          <p:cNvSpPr/>
          <p:nvPr/>
        </p:nvSpPr>
        <p:spPr>
          <a:xfrm>
            <a:off x="473040" y="2114640"/>
            <a:ext cx="8381520" cy="375264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template &lt;class DataType&gt;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ALGraph&lt;DataType&gt; :: ALGraph(DataType a[ ], int n, int e)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vertexNum = n; arcNum = e;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for (i = 0; i &lt; vertexNum; i++)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                                             //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输入顶点信息，初始化顶点表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adjlist[i].vertex = a[i];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adjlist[i].firstedge = NULL;     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2280" name="Shape 2498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281" name="Shape 2499"/>
          <p:cNvSpPr/>
          <p:nvPr/>
        </p:nvSpPr>
        <p:spPr>
          <a:xfrm>
            <a:off x="304920" y="1295280"/>
            <a:ext cx="708624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邻接表中图的基本操作——</a:t>
            </a: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构造函数</a:t>
            </a:r>
            <a:r>
              <a:rPr b="0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Shape 2504"/>
          <p:cNvSpPr/>
          <p:nvPr/>
        </p:nvSpPr>
        <p:spPr>
          <a:xfrm>
            <a:off x="7886880" y="3214800"/>
            <a:ext cx="30132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283" name="Shape 2505"/>
          <p:cNvSpPr/>
          <p:nvPr/>
        </p:nvSpPr>
        <p:spPr>
          <a:xfrm>
            <a:off x="474840" y="1900080"/>
            <a:ext cx="8322840" cy="393192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for (k = 0; k &lt; arcNum; k++) //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输入边的信息存储在边表中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cin&gt;&gt;i&gt;&gt;j;   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 = new ArcNode; s-&gt;adjvex = j;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	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s-&gt;next = adjlist[i].firstedge;   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adjlist[i].firstedge = s;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2284" name="Shape 2506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2285" name="Shape 2507"/>
          <p:cNvGrpSpPr/>
          <p:nvPr/>
        </p:nvGrpSpPr>
        <p:grpSpPr>
          <a:xfrm>
            <a:off x="4548240" y="3067200"/>
            <a:ext cx="4308120" cy="3146040"/>
            <a:chOff x="4548240" y="3067200"/>
            <a:chExt cx="4308120" cy="3146040"/>
          </a:xfrm>
        </p:grpSpPr>
        <p:sp>
          <p:nvSpPr>
            <p:cNvPr id="2286" name="Shape 2508"/>
            <p:cNvSpPr/>
            <p:nvPr/>
          </p:nvSpPr>
          <p:spPr>
            <a:xfrm>
              <a:off x="7702560" y="4311360"/>
              <a:ext cx="651960" cy="43236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287" name="Shape 2509"/>
            <p:cNvSpPr/>
            <p:nvPr/>
          </p:nvSpPr>
          <p:spPr>
            <a:xfrm>
              <a:off x="7029360" y="3372120"/>
              <a:ext cx="651960" cy="43236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288" name="Shape 2510"/>
            <p:cNvSpPr/>
            <p:nvPr/>
          </p:nvSpPr>
          <p:spPr>
            <a:xfrm>
              <a:off x="7631280" y="3372120"/>
              <a:ext cx="574200" cy="43236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89" name="Shape 2511"/>
            <p:cNvSpPr/>
            <p:nvPr/>
          </p:nvSpPr>
          <p:spPr>
            <a:xfrm>
              <a:off x="4954680" y="4282200"/>
              <a:ext cx="1017360" cy="4939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290" name="Shape 2512"/>
            <p:cNvSpPr/>
            <p:nvPr/>
          </p:nvSpPr>
          <p:spPr>
            <a:xfrm>
              <a:off x="5972040" y="4282200"/>
              <a:ext cx="1176120" cy="4939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91" name="Shape 2513"/>
            <p:cNvSpPr/>
            <p:nvPr/>
          </p:nvSpPr>
          <p:spPr>
            <a:xfrm>
              <a:off x="4954680" y="4762800"/>
              <a:ext cx="1017360" cy="49716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292" name="Shape 2514"/>
            <p:cNvSpPr/>
            <p:nvPr/>
          </p:nvSpPr>
          <p:spPr>
            <a:xfrm>
              <a:off x="5972040" y="4762800"/>
              <a:ext cx="1176120" cy="49716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93" name="Shape 2515"/>
            <p:cNvSpPr/>
            <p:nvPr/>
          </p:nvSpPr>
          <p:spPr>
            <a:xfrm>
              <a:off x="4954680" y="5235480"/>
              <a:ext cx="1017360" cy="4939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294" name="Shape 2516"/>
            <p:cNvSpPr/>
            <p:nvPr/>
          </p:nvSpPr>
          <p:spPr>
            <a:xfrm>
              <a:off x="5972040" y="5230800"/>
              <a:ext cx="1176120" cy="4957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95" name="Shape 2517"/>
            <p:cNvSpPr/>
            <p:nvPr/>
          </p:nvSpPr>
          <p:spPr>
            <a:xfrm>
              <a:off x="4954680" y="5717520"/>
              <a:ext cx="1017360" cy="4957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296" name="Shape 2518"/>
            <p:cNvSpPr/>
            <p:nvPr/>
          </p:nvSpPr>
          <p:spPr>
            <a:xfrm>
              <a:off x="5972040" y="5717520"/>
              <a:ext cx="1176120" cy="49572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97" name="Shape 2519"/>
            <p:cNvSpPr/>
            <p:nvPr/>
          </p:nvSpPr>
          <p:spPr>
            <a:xfrm>
              <a:off x="4548240" y="4209840"/>
              <a:ext cx="293400" cy="197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35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298" name="Shape 2520"/>
            <p:cNvSpPr/>
            <p:nvPr/>
          </p:nvSpPr>
          <p:spPr>
            <a:xfrm>
              <a:off x="6696000" y="4503960"/>
              <a:ext cx="10029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99" name="Shape 2521"/>
            <p:cNvSpPr/>
            <p:nvPr/>
          </p:nvSpPr>
          <p:spPr>
            <a:xfrm>
              <a:off x="8283600" y="4311360"/>
              <a:ext cx="572760" cy="43236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00" name="Shape 2522"/>
            <p:cNvSpPr/>
            <p:nvPr/>
          </p:nvSpPr>
          <p:spPr>
            <a:xfrm>
              <a:off x="6413400" y="4799520"/>
              <a:ext cx="574200" cy="34308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301" name="Shape 2523"/>
            <p:cNvSpPr/>
            <p:nvPr/>
          </p:nvSpPr>
          <p:spPr>
            <a:xfrm>
              <a:off x="6413400" y="5288040"/>
              <a:ext cx="574200" cy="34308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302" name="Shape 2524"/>
            <p:cNvSpPr/>
            <p:nvPr/>
          </p:nvSpPr>
          <p:spPr>
            <a:xfrm>
              <a:off x="6413400" y="5776200"/>
              <a:ext cx="574200" cy="34308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303" name="Shape 2525"/>
            <p:cNvSpPr/>
            <p:nvPr/>
          </p:nvSpPr>
          <p:spPr>
            <a:xfrm>
              <a:off x="8271000" y="4314600"/>
              <a:ext cx="574200" cy="432360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4400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304" name="Shape 2526"/>
            <p:cNvSpPr/>
            <p:nvPr/>
          </p:nvSpPr>
          <p:spPr>
            <a:xfrm>
              <a:off x="7466040" y="3067200"/>
              <a:ext cx="151920" cy="295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05" name="Shape 2527"/>
            <p:cNvSpPr/>
            <p:nvPr/>
          </p:nvSpPr>
          <p:spPr>
            <a:xfrm>
              <a:off x="7958160" y="3670920"/>
              <a:ext cx="360" cy="604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06" name="Shape 2528"/>
            <p:cNvSpPr/>
            <p:nvPr/>
          </p:nvSpPr>
          <p:spPr>
            <a:xfrm flipH="1" rot="10800000">
              <a:off x="6708600" y="3832920"/>
              <a:ext cx="488520" cy="621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07" name="Shape 2529"/>
            <p:cNvSpPr/>
            <p:nvPr/>
          </p:nvSpPr>
          <p:spPr>
            <a:xfrm>
              <a:off x="7302600" y="4349880"/>
              <a:ext cx="242640" cy="3106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08" name="Shape 2530"/>
            <p:cNvSpPr/>
            <p:nvPr/>
          </p:nvSpPr>
          <p:spPr>
            <a:xfrm flipH="1">
              <a:off x="7346160" y="4305240"/>
              <a:ext cx="153720" cy="370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09" name="Shape 2531"/>
            <p:cNvSpPr/>
            <p:nvPr/>
          </p:nvSpPr>
          <p:spPr>
            <a:xfrm>
              <a:off x="8056440" y="3832560"/>
              <a:ext cx="301320" cy="40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ff0000"/>
                  </a:solidFill>
                  <a:latin typeface="Times New Roman"/>
                  <a:ea typeface="Times New Roman"/>
                </a:rPr>
                <a:t>①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310" name="Shape 2532"/>
            <p:cNvSpPr/>
            <p:nvPr/>
          </p:nvSpPr>
          <p:spPr>
            <a:xfrm>
              <a:off x="6608880" y="3801600"/>
              <a:ext cx="301320" cy="40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ff0000"/>
                  </a:solidFill>
                  <a:latin typeface="Times New Roman"/>
                  <a:ea typeface="Times New Roman"/>
                </a:rPr>
                <a:t>②</a:t>
              </a:r>
              <a:endParaRPr b="0" lang="en-US" sz="2400" spc="-1" strike="noStrike">
                <a:latin typeface="Arial"/>
              </a:endParaRPr>
            </a:p>
          </p:txBody>
        </p:sp>
      </p:grpSp>
      <p:sp>
        <p:nvSpPr>
          <p:cNvPr id="2311" name="Shape 2533"/>
          <p:cNvSpPr/>
          <p:nvPr/>
        </p:nvSpPr>
        <p:spPr>
          <a:xfrm>
            <a:off x="304920" y="1295280"/>
            <a:ext cx="708624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邻接表中图的基本操作——</a:t>
            </a: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构造函数</a:t>
            </a:r>
            <a:r>
              <a:rPr b="0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Shape 2538"/>
          <p:cNvSpPr/>
          <p:nvPr/>
        </p:nvSpPr>
        <p:spPr>
          <a:xfrm>
            <a:off x="304920" y="1204920"/>
            <a:ext cx="816732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邻接表中图的基本操作——</a:t>
            </a: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深度优先遍历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313" name="Shape 2539"/>
          <p:cNvSpPr/>
          <p:nvPr/>
        </p:nvSpPr>
        <p:spPr>
          <a:xfrm>
            <a:off x="533520" y="1879560"/>
            <a:ext cx="8208720" cy="40446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template &lt;class DataType&gt;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void ALGraph&lt;DataType&gt; :: DFSTraverse(int v)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cout &lt;&lt; adjlist[v].vertex;  visited[v] = 1;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 = adjlist[v].firstedge;       //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工作指针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指向顶点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的边表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while (p != NULL)              //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依次搜索顶点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的邻接点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j = p-&gt;adjvex;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if (visited[j] == 0) DFSTraverse(j);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 = p-&gt;next;          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314" name="Shape 2540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Shape 2545"/>
          <p:cNvSpPr/>
          <p:nvPr/>
        </p:nvSpPr>
        <p:spPr>
          <a:xfrm>
            <a:off x="320760" y="1187280"/>
            <a:ext cx="803088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邻接表中图的基本操作——</a:t>
            </a: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广度优先遍历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316" name="Shape 2546"/>
          <p:cNvSpPr/>
          <p:nvPr/>
        </p:nvSpPr>
        <p:spPr>
          <a:xfrm>
            <a:off x="458640" y="1658880"/>
            <a:ext cx="8199000" cy="519876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template &lt;class DataType&gt;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void ALGraph&lt;DataType&gt; :: BFSTraverse(int v)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front = rear = -1;   //</a:t>
            </a:r>
            <a:r>
              <a:rPr b="1" lang="ja-JP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初始化顺序队列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cout &lt;&lt; adjlist[v].vertex; visited[v] = 1; Q[++rear] = v;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while (front != rear)           //</a:t>
            </a:r>
            <a:r>
              <a:rPr b="1" lang="ja-JP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当队列非空时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 = Q[++front];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 = adjlist[v].firstarc;       //</a:t>
            </a:r>
            <a:r>
              <a:rPr b="1" lang="ja-JP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工作指针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b="1" lang="ja-JP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指向顶点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的边表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while (p != NULL)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j = p-&gt;adjvex;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if (visited[j] == 0) {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cout &lt;&lt; adjlist[j].vertex; visited[j] = 1;Q[++rear] = j;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p=p-&gt;next;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317" name="Shape 2547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Shape 2552"/>
          <p:cNvSpPr/>
          <p:nvPr/>
        </p:nvSpPr>
        <p:spPr>
          <a:xfrm>
            <a:off x="304920" y="1219320"/>
            <a:ext cx="3352320" cy="57924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ff"/>
                </a:solidFill>
                <a:latin typeface="Times New Roman"/>
                <a:ea typeface="Times New Roman"/>
              </a:rPr>
              <a:t>十字链表 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2319" name="Shape 2553"/>
          <p:cNvGrpSpPr/>
          <p:nvPr/>
        </p:nvGrpSpPr>
        <p:grpSpPr>
          <a:xfrm>
            <a:off x="3139920" y="2087640"/>
            <a:ext cx="1276200" cy="771120"/>
            <a:chOff x="3139920" y="2087640"/>
            <a:chExt cx="1276200" cy="771120"/>
          </a:xfrm>
        </p:grpSpPr>
        <p:sp>
          <p:nvSpPr>
            <p:cNvPr id="2320" name="Shape 2554"/>
            <p:cNvSpPr/>
            <p:nvPr/>
          </p:nvSpPr>
          <p:spPr>
            <a:xfrm>
              <a:off x="3139920" y="2676600"/>
              <a:ext cx="1265040" cy="18216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21" name="Shape 2555"/>
            <p:cNvSpPr/>
            <p:nvPr/>
          </p:nvSpPr>
          <p:spPr>
            <a:xfrm>
              <a:off x="3197160" y="2087640"/>
              <a:ext cx="1218960" cy="42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3333ff"/>
                  </a:solidFill>
                  <a:latin typeface="Times New Roman"/>
                  <a:ea typeface="Times New Roman"/>
                </a:rPr>
                <a:t>邻接表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2322" name="Shape 2556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2323" name="Shape 2557"/>
          <p:cNvGrpSpPr/>
          <p:nvPr/>
        </p:nvGrpSpPr>
        <p:grpSpPr>
          <a:xfrm>
            <a:off x="2949480" y="4232160"/>
            <a:ext cx="1676160" cy="784080"/>
            <a:chOff x="2949480" y="4232160"/>
            <a:chExt cx="1676160" cy="784080"/>
          </a:xfrm>
        </p:grpSpPr>
        <p:sp>
          <p:nvSpPr>
            <p:cNvPr id="2324" name="Shape 2558"/>
            <p:cNvSpPr/>
            <p:nvPr/>
          </p:nvSpPr>
          <p:spPr>
            <a:xfrm>
              <a:off x="2949480" y="4497480"/>
              <a:ext cx="16761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3333ff"/>
                  </a:solidFill>
                  <a:latin typeface="Times New Roman"/>
                  <a:ea typeface="Times New Roman"/>
                </a:rPr>
                <a:t>逆邻接表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325" name="Shape 2559"/>
            <p:cNvSpPr/>
            <p:nvPr/>
          </p:nvSpPr>
          <p:spPr>
            <a:xfrm>
              <a:off x="3139920" y="4232160"/>
              <a:ext cx="1265040" cy="18216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326" name="Shape 2560"/>
          <p:cNvGrpSpPr/>
          <p:nvPr/>
        </p:nvGrpSpPr>
        <p:grpSpPr>
          <a:xfrm>
            <a:off x="403200" y="5837400"/>
            <a:ext cx="8389440" cy="523440"/>
            <a:chOff x="403200" y="5837400"/>
            <a:chExt cx="8389440" cy="523440"/>
          </a:xfrm>
        </p:grpSpPr>
        <p:sp>
          <p:nvSpPr>
            <p:cNvPr id="2327" name="Shape 2561"/>
            <p:cNvSpPr/>
            <p:nvPr/>
          </p:nvSpPr>
          <p:spPr>
            <a:xfrm>
              <a:off x="930240" y="5837400"/>
              <a:ext cx="78624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将邻接表与逆邻接表合二为一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?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为什么要合并？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2328" name="Shape 2562" descr=""/>
            <p:cNvPicPr/>
            <p:nvPr/>
          </p:nvPicPr>
          <p:blipFill>
            <a:blip r:embed="rId1"/>
            <a:stretch/>
          </p:blipFill>
          <p:spPr>
            <a:xfrm>
              <a:off x="403200" y="586440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2329" name="Shape 2563"/>
          <p:cNvGrpSpPr/>
          <p:nvPr/>
        </p:nvGrpSpPr>
        <p:grpSpPr>
          <a:xfrm>
            <a:off x="404640" y="2322360"/>
            <a:ext cx="2471760" cy="2334960"/>
            <a:chOff x="404640" y="2322360"/>
            <a:chExt cx="2471760" cy="2334960"/>
          </a:xfrm>
        </p:grpSpPr>
        <p:sp>
          <p:nvSpPr>
            <p:cNvPr id="2330" name="Shape 2564"/>
            <p:cNvSpPr/>
            <p:nvPr/>
          </p:nvSpPr>
          <p:spPr>
            <a:xfrm>
              <a:off x="911160" y="2610000"/>
              <a:ext cx="1431720" cy="1080"/>
            </a:xfrm>
            <a:custGeom>
              <a:avLst/>
              <a:gdLst/>
              <a:ahLst/>
              <a:rect l="l" t="t" r="r" b="b"/>
              <a:pathLst>
                <a:path w="901" h="7">
                  <a:moveTo>
                    <a:pt x="0" y="7"/>
                  </a:moveTo>
                  <a:lnTo>
                    <a:pt x="90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31" name="Shape 2565"/>
            <p:cNvSpPr/>
            <p:nvPr/>
          </p:nvSpPr>
          <p:spPr>
            <a:xfrm>
              <a:off x="412920" y="2371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32" name="Shape 2566"/>
            <p:cNvSpPr/>
            <p:nvPr/>
          </p:nvSpPr>
          <p:spPr>
            <a:xfrm>
              <a:off x="479520" y="23223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333" name="Shape 2567"/>
            <p:cNvSpPr/>
            <p:nvPr/>
          </p:nvSpPr>
          <p:spPr>
            <a:xfrm>
              <a:off x="2346480" y="23842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34" name="Shape 2568"/>
            <p:cNvSpPr/>
            <p:nvPr/>
          </p:nvSpPr>
          <p:spPr>
            <a:xfrm>
              <a:off x="2413080" y="2335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335" name="Shape 2569"/>
            <p:cNvSpPr/>
            <p:nvPr/>
          </p:nvSpPr>
          <p:spPr>
            <a:xfrm>
              <a:off x="662040" y="2871720"/>
              <a:ext cx="360" cy="1272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36" name="Shape 2570"/>
            <p:cNvSpPr/>
            <p:nvPr/>
          </p:nvSpPr>
          <p:spPr>
            <a:xfrm>
              <a:off x="879480" y="4379760"/>
              <a:ext cx="1474560" cy="1080"/>
            </a:xfrm>
            <a:custGeom>
              <a:avLst/>
              <a:gdLst/>
              <a:ahLst/>
              <a:rect l="l" t="t" r="r" b="b"/>
              <a:pathLst>
                <a:path w="901" h="5">
                  <a:moveTo>
                    <a:pt x="0" y="0"/>
                  </a:moveTo>
                  <a:lnTo>
                    <a:pt x="901" y="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37" name="Shape 2571"/>
            <p:cNvSpPr/>
            <p:nvPr/>
          </p:nvSpPr>
          <p:spPr>
            <a:xfrm rot="10800000">
              <a:off x="849960" y="2768760"/>
              <a:ext cx="1566360" cy="1393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38" name="Shape 2572"/>
            <p:cNvSpPr/>
            <p:nvPr/>
          </p:nvSpPr>
          <p:spPr>
            <a:xfrm>
              <a:off x="404640" y="4111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39" name="Shape 2573"/>
            <p:cNvSpPr/>
            <p:nvPr/>
          </p:nvSpPr>
          <p:spPr>
            <a:xfrm>
              <a:off x="471600" y="4062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340" name="Shape 2574"/>
            <p:cNvSpPr/>
            <p:nvPr/>
          </p:nvSpPr>
          <p:spPr>
            <a:xfrm>
              <a:off x="2332080" y="410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1" name="Shape 2575"/>
            <p:cNvSpPr/>
            <p:nvPr/>
          </p:nvSpPr>
          <p:spPr>
            <a:xfrm>
              <a:off x="2398680" y="40593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342" name="Shape 2576"/>
            <p:cNvSpPr/>
            <p:nvPr/>
          </p:nvSpPr>
          <p:spPr>
            <a:xfrm>
              <a:off x="2612880" y="2871720"/>
              <a:ext cx="360" cy="1272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headEnd len="lg" type="stealth" w="lg"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343" name="Shape 2577"/>
          <p:cNvGrpSpPr/>
          <p:nvPr/>
        </p:nvGrpSpPr>
        <p:grpSpPr>
          <a:xfrm>
            <a:off x="4649760" y="1660680"/>
            <a:ext cx="4225680" cy="1723320"/>
            <a:chOff x="4649760" y="1660680"/>
            <a:chExt cx="4225680" cy="1723320"/>
          </a:xfrm>
        </p:grpSpPr>
        <p:sp>
          <p:nvSpPr>
            <p:cNvPr id="2344" name="Shape 2578"/>
            <p:cNvSpPr/>
            <p:nvPr/>
          </p:nvSpPr>
          <p:spPr>
            <a:xfrm>
              <a:off x="5035680" y="1714680"/>
              <a:ext cx="1142640" cy="163476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5" name="Shape 2579"/>
            <p:cNvSpPr/>
            <p:nvPr/>
          </p:nvSpPr>
          <p:spPr>
            <a:xfrm>
              <a:off x="5640480" y="1714680"/>
              <a:ext cx="360" cy="1622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6" name="Shape 2580"/>
            <p:cNvSpPr/>
            <p:nvPr/>
          </p:nvSpPr>
          <p:spPr>
            <a:xfrm flipH="1" rot="10800000">
              <a:off x="6009840" y="2742120"/>
              <a:ext cx="666360" cy="1080"/>
            </a:xfrm>
            <a:custGeom>
              <a:avLst/>
              <a:gdLst/>
              <a:ahLst/>
              <a:rect l="l" t="t" r="r" b="b"/>
              <a:pathLst>
                <a:path w="534" h="3">
                  <a:moveTo>
                    <a:pt x="0" y="0"/>
                  </a:moveTo>
                  <a:lnTo>
                    <a:pt x="534" y="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7" name="Shape 2581"/>
            <p:cNvSpPr/>
            <p:nvPr/>
          </p:nvSpPr>
          <p:spPr>
            <a:xfrm>
              <a:off x="5029200" y="2143080"/>
              <a:ext cx="112824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8" name="Shape 2582"/>
            <p:cNvSpPr/>
            <p:nvPr/>
          </p:nvSpPr>
          <p:spPr>
            <a:xfrm>
              <a:off x="5041800" y="2946240"/>
              <a:ext cx="11250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9" name="Shape 2583"/>
            <p:cNvSpPr/>
            <p:nvPr/>
          </p:nvSpPr>
          <p:spPr>
            <a:xfrm>
              <a:off x="5041800" y="2540160"/>
              <a:ext cx="11124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50" name="Shape 2584"/>
            <p:cNvSpPr/>
            <p:nvPr/>
          </p:nvSpPr>
          <p:spPr>
            <a:xfrm>
              <a:off x="6661080" y="1736640"/>
              <a:ext cx="948960" cy="38376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0" tIns="0" bIns="10800" anchor="t">
              <a:noAutofit/>
            </a:bodyPr>
            <a:p>
              <a:pPr algn="just">
                <a:lnSpc>
                  <a:spcPct val="9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351" name="Shape 2585"/>
            <p:cNvSpPr/>
            <p:nvPr/>
          </p:nvSpPr>
          <p:spPr>
            <a:xfrm>
              <a:off x="7147080" y="1736640"/>
              <a:ext cx="360" cy="383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52" name="Shape 2586"/>
            <p:cNvSpPr/>
            <p:nvPr/>
          </p:nvSpPr>
          <p:spPr>
            <a:xfrm>
              <a:off x="7970760" y="1736640"/>
              <a:ext cx="904680" cy="38376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0" tIns="0" bIns="10800" anchor="t">
              <a:noAutofit/>
            </a:bodyPr>
            <a:p>
              <a:pPr algn="just">
                <a:lnSpc>
                  <a:spcPct val="9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 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353" name="Shape 2587"/>
            <p:cNvSpPr/>
            <p:nvPr/>
          </p:nvSpPr>
          <p:spPr>
            <a:xfrm>
              <a:off x="8423280" y="1736640"/>
              <a:ext cx="360" cy="383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54" name="Shape 2588"/>
            <p:cNvSpPr/>
            <p:nvPr/>
          </p:nvSpPr>
          <p:spPr>
            <a:xfrm>
              <a:off x="7469280" y="1911240"/>
              <a:ext cx="4521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55" name="Shape 2589"/>
            <p:cNvSpPr/>
            <p:nvPr/>
          </p:nvSpPr>
          <p:spPr>
            <a:xfrm>
              <a:off x="6678720" y="2525760"/>
              <a:ext cx="914040" cy="38232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0" tIns="0" bIns="10800" anchor="t">
              <a:noAutofit/>
            </a:bodyPr>
            <a:p>
              <a:pPr algn="just">
                <a:lnSpc>
                  <a:spcPct val="9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 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356" name="Shape 2590"/>
            <p:cNvSpPr/>
            <p:nvPr/>
          </p:nvSpPr>
          <p:spPr>
            <a:xfrm>
              <a:off x="7129440" y="2525760"/>
              <a:ext cx="360" cy="382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57" name="Shape 2591"/>
            <p:cNvSpPr/>
            <p:nvPr/>
          </p:nvSpPr>
          <p:spPr>
            <a:xfrm>
              <a:off x="6675480" y="2973240"/>
              <a:ext cx="917280" cy="38376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0" tIns="0" bIns="10800" anchor="t">
              <a:noAutofit/>
            </a:bodyPr>
            <a:p>
              <a:pPr algn="just">
                <a:lnSpc>
                  <a:spcPct val="9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358" name="Shape 2592"/>
            <p:cNvSpPr/>
            <p:nvPr/>
          </p:nvSpPr>
          <p:spPr>
            <a:xfrm>
              <a:off x="7128000" y="2973240"/>
              <a:ext cx="360" cy="383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59" name="Shape 2593"/>
            <p:cNvSpPr/>
            <p:nvPr/>
          </p:nvSpPr>
          <p:spPr>
            <a:xfrm>
              <a:off x="5202360" y="1660680"/>
              <a:ext cx="380520" cy="42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360" name="Shape 2594"/>
            <p:cNvSpPr/>
            <p:nvPr/>
          </p:nvSpPr>
          <p:spPr>
            <a:xfrm>
              <a:off x="5202360" y="2035080"/>
              <a:ext cx="380520" cy="42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361" name="Shape 2595"/>
            <p:cNvSpPr/>
            <p:nvPr/>
          </p:nvSpPr>
          <p:spPr>
            <a:xfrm>
              <a:off x="5199120" y="2460600"/>
              <a:ext cx="380520" cy="42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362" name="Shape 2596"/>
            <p:cNvSpPr/>
            <p:nvPr/>
          </p:nvSpPr>
          <p:spPr>
            <a:xfrm>
              <a:off x="5211720" y="2870280"/>
              <a:ext cx="380520" cy="42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363" name="Shape 2597"/>
            <p:cNvSpPr/>
            <p:nvPr/>
          </p:nvSpPr>
          <p:spPr>
            <a:xfrm>
              <a:off x="5688000" y="2171880"/>
              <a:ext cx="456840" cy="39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364" name="Shape 2598"/>
            <p:cNvSpPr/>
            <p:nvPr/>
          </p:nvSpPr>
          <p:spPr>
            <a:xfrm>
              <a:off x="4649760" y="1685880"/>
              <a:ext cx="304560" cy="169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1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1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1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1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365" name="Shape 2599"/>
            <p:cNvSpPr/>
            <p:nvPr/>
          </p:nvSpPr>
          <p:spPr>
            <a:xfrm flipH="1" rot="10800000">
              <a:off x="5979960" y="1933920"/>
              <a:ext cx="666360" cy="1080"/>
            </a:xfrm>
            <a:custGeom>
              <a:avLst/>
              <a:gdLst/>
              <a:ahLst/>
              <a:rect l="l" t="t" r="r" b="b"/>
              <a:pathLst>
                <a:path w="534" h="3">
                  <a:moveTo>
                    <a:pt x="0" y="0"/>
                  </a:moveTo>
                  <a:lnTo>
                    <a:pt x="534" y="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66" name="Shape 2600"/>
            <p:cNvSpPr/>
            <p:nvPr/>
          </p:nvSpPr>
          <p:spPr>
            <a:xfrm flipH="1" rot="10800000">
              <a:off x="6011640" y="3167640"/>
              <a:ext cx="666360" cy="1080"/>
            </a:xfrm>
            <a:custGeom>
              <a:avLst/>
              <a:gdLst/>
              <a:ahLst/>
              <a:rect l="l" t="t" r="r" b="b"/>
              <a:pathLst>
                <a:path w="534" h="3">
                  <a:moveTo>
                    <a:pt x="0" y="0"/>
                  </a:moveTo>
                  <a:lnTo>
                    <a:pt x="534" y="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67" name="Shape 2601"/>
            <p:cNvSpPr/>
            <p:nvPr/>
          </p:nvSpPr>
          <p:spPr>
            <a:xfrm>
              <a:off x="7954920" y="2973240"/>
              <a:ext cx="917280" cy="38376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0" tIns="0" bIns="10800" anchor="t">
              <a:noAutofit/>
            </a:bodyPr>
            <a:p>
              <a:pPr algn="just">
                <a:lnSpc>
                  <a:spcPct val="9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∧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368" name="Shape 2602"/>
            <p:cNvSpPr/>
            <p:nvPr/>
          </p:nvSpPr>
          <p:spPr>
            <a:xfrm>
              <a:off x="8407440" y="2973240"/>
              <a:ext cx="360" cy="383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69" name="Shape 2603"/>
            <p:cNvSpPr/>
            <p:nvPr/>
          </p:nvSpPr>
          <p:spPr>
            <a:xfrm>
              <a:off x="7469280" y="3174840"/>
              <a:ext cx="4521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370" name="Shape 2604"/>
          <p:cNvGrpSpPr/>
          <p:nvPr/>
        </p:nvGrpSpPr>
        <p:grpSpPr>
          <a:xfrm>
            <a:off x="4676760" y="3676680"/>
            <a:ext cx="4187520" cy="1744200"/>
            <a:chOff x="4676760" y="3676680"/>
            <a:chExt cx="4187520" cy="1744200"/>
          </a:xfrm>
        </p:grpSpPr>
        <p:sp>
          <p:nvSpPr>
            <p:cNvPr id="2371" name="Shape 2605"/>
            <p:cNvSpPr/>
            <p:nvPr/>
          </p:nvSpPr>
          <p:spPr>
            <a:xfrm>
              <a:off x="5048280" y="3746520"/>
              <a:ext cx="1142640" cy="163476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72" name="Shape 2606"/>
            <p:cNvSpPr/>
            <p:nvPr/>
          </p:nvSpPr>
          <p:spPr>
            <a:xfrm>
              <a:off x="5653080" y="3746520"/>
              <a:ext cx="360" cy="1609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73" name="Shape 2607"/>
            <p:cNvSpPr/>
            <p:nvPr/>
          </p:nvSpPr>
          <p:spPr>
            <a:xfrm>
              <a:off x="5041800" y="4175280"/>
              <a:ext cx="112824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74" name="Shape 2608"/>
            <p:cNvSpPr/>
            <p:nvPr/>
          </p:nvSpPr>
          <p:spPr>
            <a:xfrm>
              <a:off x="5054760" y="4978440"/>
              <a:ext cx="11250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75" name="Shape 2609"/>
            <p:cNvSpPr/>
            <p:nvPr/>
          </p:nvSpPr>
          <p:spPr>
            <a:xfrm>
              <a:off x="5054760" y="4572000"/>
              <a:ext cx="11124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76" name="Shape 2610"/>
            <p:cNvSpPr/>
            <p:nvPr/>
          </p:nvSpPr>
          <p:spPr>
            <a:xfrm>
              <a:off x="6670800" y="3720960"/>
              <a:ext cx="918720" cy="38376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0" tIns="0" bIns="10800" anchor="t">
              <a:noAutofit/>
            </a:bodyPr>
            <a:p>
              <a:pPr algn="just">
                <a:lnSpc>
                  <a:spcPct val="9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  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377" name="Shape 2611"/>
            <p:cNvSpPr/>
            <p:nvPr/>
          </p:nvSpPr>
          <p:spPr>
            <a:xfrm>
              <a:off x="7122960" y="3720960"/>
              <a:ext cx="360" cy="383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78" name="Shape 2612"/>
            <p:cNvSpPr/>
            <p:nvPr/>
          </p:nvSpPr>
          <p:spPr>
            <a:xfrm>
              <a:off x="6675480" y="4605480"/>
              <a:ext cx="914040" cy="38232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0" tIns="0" bIns="10800" anchor="t">
              <a:noAutofit/>
            </a:bodyPr>
            <a:p>
              <a:pPr algn="just">
                <a:lnSpc>
                  <a:spcPct val="9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379" name="Shape 2613"/>
            <p:cNvSpPr/>
            <p:nvPr/>
          </p:nvSpPr>
          <p:spPr>
            <a:xfrm>
              <a:off x="7110360" y="4605480"/>
              <a:ext cx="360" cy="382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80" name="Shape 2614"/>
            <p:cNvSpPr/>
            <p:nvPr/>
          </p:nvSpPr>
          <p:spPr>
            <a:xfrm>
              <a:off x="6672240" y="5037120"/>
              <a:ext cx="917280" cy="38376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0" tIns="0" bIns="10800" anchor="t">
              <a:noAutofit/>
            </a:bodyPr>
            <a:p>
              <a:pPr algn="just">
                <a:lnSpc>
                  <a:spcPct val="9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 ∧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381" name="Shape 2615"/>
            <p:cNvSpPr/>
            <p:nvPr/>
          </p:nvSpPr>
          <p:spPr>
            <a:xfrm>
              <a:off x="7108920" y="5037120"/>
              <a:ext cx="360" cy="383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82" name="Shape 2616"/>
            <p:cNvSpPr/>
            <p:nvPr/>
          </p:nvSpPr>
          <p:spPr>
            <a:xfrm>
              <a:off x="5199120" y="3676680"/>
              <a:ext cx="380520" cy="42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383" name="Shape 2617"/>
            <p:cNvSpPr/>
            <p:nvPr/>
          </p:nvSpPr>
          <p:spPr>
            <a:xfrm>
              <a:off x="5199120" y="4098960"/>
              <a:ext cx="380520" cy="42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384" name="Shape 2618"/>
            <p:cNvSpPr/>
            <p:nvPr/>
          </p:nvSpPr>
          <p:spPr>
            <a:xfrm>
              <a:off x="5195880" y="4492800"/>
              <a:ext cx="380520" cy="42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385" name="Shape 2619"/>
            <p:cNvSpPr/>
            <p:nvPr/>
          </p:nvSpPr>
          <p:spPr>
            <a:xfrm>
              <a:off x="5208480" y="4902120"/>
              <a:ext cx="380520" cy="42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386" name="Shape 2620"/>
            <p:cNvSpPr/>
            <p:nvPr/>
          </p:nvSpPr>
          <p:spPr>
            <a:xfrm>
              <a:off x="5700600" y="4203720"/>
              <a:ext cx="456840" cy="39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87" name="Shape 2621"/>
            <p:cNvSpPr/>
            <p:nvPr/>
          </p:nvSpPr>
          <p:spPr>
            <a:xfrm>
              <a:off x="4676760" y="3705120"/>
              <a:ext cx="350640" cy="169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1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1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1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  <a:p>
              <a:pPr>
                <a:lnSpc>
                  <a:spcPct val="11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388" name="Shape 2622"/>
            <p:cNvSpPr/>
            <p:nvPr/>
          </p:nvSpPr>
          <p:spPr>
            <a:xfrm>
              <a:off x="6678720" y="4165560"/>
              <a:ext cx="904680" cy="38376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0" tIns="0" bIns="10800" anchor="t">
              <a:noAutofit/>
            </a:bodyPr>
            <a:p>
              <a:pPr algn="just">
                <a:lnSpc>
                  <a:spcPct val="9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389" name="Shape 2623"/>
            <p:cNvSpPr/>
            <p:nvPr/>
          </p:nvSpPr>
          <p:spPr>
            <a:xfrm>
              <a:off x="7115040" y="4165560"/>
              <a:ext cx="360" cy="383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0" name="Shape 2624"/>
            <p:cNvSpPr/>
            <p:nvPr/>
          </p:nvSpPr>
          <p:spPr>
            <a:xfrm flipH="1" rot="10800000">
              <a:off x="5976720" y="3959640"/>
              <a:ext cx="666360" cy="1080"/>
            </a:xfrm>
            <a:custGeom>
              <a:avLst/>
              <a:gdLst/>
              <a:ahLst/>
              <a:rect l="l" t="t" r="r" b="b"/>
              <a:pathLst>
                <a:path w="534" h="3">
                  <a:moveTo>
                    <a:pt x="0" y="0"/>
                  </a:moveTo>
                  <a:lnTo>
                    <a:pt x="534" y="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1" name="Shape 2625"/>
            <p:cNvSpPr/>
            <p:nvPr/>
          </p:nvSpPr>
          <p:spPr>
            <a:xfrm flipH="1" rot="10800000">
              <a:off x="5962320" y="4798080"/>
              <a:ext cx="666360" cy="1080"/>
            </a:xfrm>
            <a:custGeom>
              <a:avLst/>
              <a:gdLst/>
              <a:ahLst/>
              <a:rect l="l" t="t" r="r" b="b"/>
              <a:pathLst>
                <a:path w="534" h="3">
                  <a:moveTo>
                    <a:pt x="0" y="0"/>
                  </a:moveTo>
                  <a:lnTo>
                    <a:pt x="534" y="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2" name="Shape 2626"/>
            <p:cNvSpPr/>
            <p:nvPr/>
          </p:nvSpPr>
          <p:spPr>
            <a:xfrm flipH="1" rot="10800000">
              <a:off x="5976720" y="5194800"/>
              <a:ext cx="666360" cy="1080"/>
            </a:xfrm>
            <a:custGeom>
              <a:avLst/>
              <a:gdLst/>
              <a:ahLst/>
              <a:rect l="l" t="t" r="r" b="b"/>
              <a:pathLst>
                <a:path w="534" h="3">
                  <a:moveTo>
                    <a:pt x="0" y="0"/>
                  </a:moveTo>
                  <a:lnTo>
                    <a:pt x="534" y="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3" name="Shape 2627"/>
            <p:cNvSpPr/>
            <p:nvPr/>
          </p:nvSpPr>
          <p:spPr>
            <a:xfrm flipH="1" rot="10800000">
              <a:off x="5960880" y="4386600"/>
              <a:ext cx="666360" cy="1080"/>
            </a:xfrm>
            <a:custGeom>
              <a:avLst/>
              <a:gdLst/>
              <a:ahLst/>
              <a:rect l="l" t="t" r="r" b="b"/>
              <a:pathLst>
                <a:path w="534" h="3">
                  <a:moveTo>
                    <a:pt x="0" y="0"/>
                  </a:moveTo>
                  <a:lnTo>
                    <a:pt x="534" y="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4" name="Shape 2628"/>
            <p:cNvSpPr/>
            <p:nvPr/>
          </p:nvSpPr>
          <p:spPr>
            <a:xfrm>
              <a:off x="7959600" y="4179960"/>
              <a:ext cx="904680" cy="38376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08000" rIns="0" tIns="0" bIns="10800" anchor="t">
              <a:noAutofit/>
            </a:bodyPr>
            <a:p>
              <a:pPr algn="just">
                <a:lnSpc>
                  <a:spcPct val="9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  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395" name="Shape 2629"/>
            <p:cNvSpPr/>
            <p:nvPr/>
          </p:nvSpPr>
          <p:spPr>
            <a:xfrm>
              <a:off x="8396280" y="4179960"/>
              <a:ext cx="360" cy="3837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6" name="Shape 2630"/>
            <p:cNvSpPr/>
            <p:nvPr/>
          </p:nvSpPr>
          <p:spPr>
            <a:xfrm flipH="1" rot="10800000">
              <a:off x="7482240" y="4359960"/>
              <a:ext cx="431280" cy="1080"/>
            </a:xfrm>
            <a:custGeom>
              <a:avLst/>
              <a:gdLst/>
              <a:ahLst/>
              <a:rect l="l" t="t" r="r" b="b"/>
              <a:pathLst>
                <a:path w="534" h="3">
                  <a:moveTo>
                    <a:pt x="0" y="0"/>
                  </a:moveTo>
                  <a:lnTo>
                    <a:pt x="534" y="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Shape 2635"/>
          <p:cNvSpPr/>
          <p:nvPr/>
        </p:nvSpPr>
        <p:spPr>
          <a:xfrm>
            <a:off x="457200" y="1279440"/>
            <a:ext cx="53337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十字链表的结点结构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2398" name="Shape 2636"/>
          <p:cNvGrpSpPr/>
          <p:nvPr/>
        </p:nvGrpSpPr>
        <p:grpSpPr>
          <a:xfrm>
            <a:off x="650880" y="1981080"/>
            <a:ext cx="3187440" cy="1079280"/>
            <a:chOff x="650880" y="1981080"/>
            <a:chExt cx="3187440" cy="1079280"/>
          </a:xfrm>
        </p:grpSpPr>
        <p:sp>
          <p:nvSpPr>
            <p:cNvPr id="2399" name="Shape 2637"/>
            <p:cNvSpPr/>
            <p:nvPr/>
          </p:nvSpPr>
          <p:spPr>
            <a:xfrm>
              <a:off x="650880" y="1981080"/>
              <a:ext cx="1029960" cy="5220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rIns="0" t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400" name="Shape 2638"/>
            <p:cNvSpPr/>
            <p:nvPr/>
          </p:nvSpPr>
          <p:spPr>
            <a:xfrm>
              <a:off x="1685880" y="1981080"/>
              <a:ext cx="1009440" cy="5220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rIns="0" t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firstin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401" name="Shape 2639"/>
            <p:cNvSpPr/>
            <p:nvPr/>
          </p:nvSpPr>
          <p:spPr>
            <a:xfrm>
              <a:off x="2687760" y="1981080"/>
              <a:ext cx="1150560" cy="5220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rIns="0" t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firstout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402" name="Shape 2640"/>
            <p:cNvSpPr/>
            <p:nvPr/>
          </p:nvSpPr>
          <p:spPr>
            <a:xfrm>
              <a:off x="1374840" y="2684520"/>
              <a:ext cx="1856880" cy="37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10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顶点表结点</a:t>
              </a:r>
              <a:endParaRPr b="0" lang="en-US" sz="2400" spc="-1" strike="noStrike">
                <a:latin typeface="Arial"/>
              </a:endParaRPr>
            </a:p>
          </p:txBody>
        </p:sp>
      </p:grpSp>
      <p:grpSp>
        <p:nvGrpSpPr>
          <p:cNvPr id="2403" name="Shape 2641"/>
          <p:cNvGrpSpPr/>
          <p:nvPr/>
        </p:nvGrpSpPr>
        <p:grpSpPr>
          <a:xfrm>
            <a:off x="4024440" y="1986120"/>
            <a:ext cx="4555440" cy="1078920"/>
            <a:chOff x="4024440" y="1986120"/>
            <a:chExt cx="4555440" cy="1078920"/>
          </a:xfrm>
        </p:grpSpPr>
        <p:sp>
          <p:nvSpPr>
            <p:cNvPr id="2404" name="Shape 2642"/>
            <p:cNvSpPr/>
            <p:nvPr/>
          </p:nvSpPr>
          <p:spPr>
            <a:xfrm>
              <a:off x="4024440" y="1986120"/>
              <a:ext cx="1039320" cy="5220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rIns="0" tIns="10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tailvex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405" name="Shape 2643"/>
            <p:cNvSpPr/>
            <p:nvPr/>
          </p:nvSpPr>
          <p:spPr>
            <a:xfrm>
              <a:off x="5070600" y="1986120"/>
              <a:ext cx="1176120" cy="5220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54000" rIns="0" tIns="10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headvex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406" name="Shape 2644"/>
            <p:cNvSpPr/>
            <p:nvPr/>
          </p:nvSpPr>
          <p:spPr>
            <a:xfrm>
              <a:off x="6243480" y="1986120"/>
              <a:ext cx="1255320" cy="5220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54000" rIns="0" tIns="10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headlink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407" name="Shape 2645"/>
            <p:cNvSpPr/>
            <p:nvPr/>
          </p:nvSpPr>
          <p:spPr>
            <a:xfrm>
              <a:off x="7502400" y="1986120"/>
              <a:ext cx="1077480" cy="5220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54000" rIns="0" tIns="10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taillink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408" name="Shape 2646"/>
            <p:cNvSpPr/>
            <p:nvPr/>
          </p:nvSpPr>
          <p:spPr>
            <a:xfrm>
              <a:off x="5494320" y="2689200"/>
              <a:ext cx="1498320" cy="37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10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边表结点</a:t>
              </a:r>
              <a:endParaRPr b="0" lang="en-US" sz="2400" spc="-1" strike="noStrike">
                <a:latin typeface="Arial"/>
              </a:endParaRPr>
            </a:p>
          </p:txBody>
        </p:sp>
      </p:grpSp>
      <p:sp>
        <p:nvSpPr>
          <p:cNvPr id="2409" name="Shape 2647"/>
          <p:cNvSpPr/>
          <p:nvPr/>
        </p:nvSpPr>
        <p:spPr>
          <a:xfrm>
            <a:off x="345960" y="4724280"/>
            <a:ext cx="8381520" cy="15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tailvex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：弧的起点在顶点表中的下标；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headvex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：弧的终点在顶点表中的下标；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headlink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：入边表指针域；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taillink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：出边表指针域。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410" name="Shape 2648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411" name="Shape 2649"/>
          <p:cNvSpPr/>
          <p:nvPr/>
        </p:nvSpPr>
        <p:spPr>
          <a:xfrm>
            <a:off x="361800" y="3287880"/>
            <a:ext cx="53067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vertex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：数据域，存放顶点信息；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firstin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：入边表头指针；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firstout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：出边表头指针；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2" name="Shape 2654"/>
          <p:cNvGrpSpPr/>
          <p:nvPr/>
        </p:nvGrpSpPr>
        <p:grpSpPr>
          <a:xfrm>
            <a:off x="1298520" y="5438880"/>
            <a:ext cx="2879280" cy="396360"/>
            <a:chOff x="1298520" y="5438880"/>
            <a:chExt cx="2879280" cy="396360"/>
          </a:xfrm>
        </p:grpSpPr>
        <p:sp>
          <p:nvSpPr>
            <p:cNvPr id="2413" name="Shape 2655"/>
            <p:cNvSpPr/>
            <p:nvPr/>
          </p:nvSpPr>
          <p:spPr>
            <a:xfrm>
              <a:off x="1690560" y="5440320"/>
              <a:ext cx="1099800" cy="39492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3  0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414" name="Shape 2656"/>
            <p:cNvSpPr/>
            <p:nvPr/>
          </p:nvSpPr>
          <p:spPr>
            <a:xfrm>
              <a:off x="1968480" y="544032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15" name="Shape 2657"/>
            <p:cNvSpPr/>
            <p:nvPr/>
          </p:nvSpPr>
          <p:spPr>
            <a:xfrm>
              <a:off x="2241720" y="544032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16" name="Shape 2658"/>
            <p:cNvSpPr/>
            <p:nvPr/>
          </p:nvSpPr>
          <p:spPr>
            <a:xfrm>
              <a:off x="2519280" y="544032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17" name="Shape 2659"/>
            <p:cNvSpPr/>
            <p:nvPr/>
          </p:nvSpPr>
          <p:spPr>
            <a:xfrm>
              <a:off x="1298520" y="5648400"/>
              <a:ext cx="377640" cy="360"/>
            </a:xfrm>
            <a:custGeom>
              <a:avLst/>
              <a:gdLst/>
              <a:ahLst/>
              <a:rect l="l" t="t" r="r" b="b"/>
              <a:pathLst>
                <a:path w="567" h="5">
                  <a:moveTo>
                    <a:pt x="0" y="0"/>
                  </a:moveTo>
                  <a:lnTo>
                    <a:pt x="567" y="0"/>
                  </a:lnTo>
                </a:path>
              </a:pathLst>
            </a:custGeom>
            <a:noFill/>
            <a:ln w="38100">
              <a:solidFill>
                <a:srgbClr val="8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18" name="Shape 2660"/>
            <p:cNvSpPr/>
            <p:nvPr/>
          </p:nvSpPr>
          <p:spPr>
            <a:xfrm>
              <a:off x="3078000" y="5438880"/>
              <a:ext cx="1099800" cy="39492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3  1    </a:t>
              </a: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419" name="Shape 2661"/>
            <p:cNvSpPr/>
            <p:nvPr/>
          </p:nvSpPr>
          <p:spPr>
            <a:xfrm>
              <a:off x="3355920" y="543888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0" name="Shape 2662"/>
            <p:cNvSpPr/>
            <p:nvPr/>
          </p:nvSpPr>
          <p:spPr>
            <a:xfrm>
              <a:off x="3629160" y="543888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1" name="Shape 2663"/>
            <p:cNvSpPr/>
            <p:nvPr/>
          </p:nvSpPr>
          <p:spPr>
            <a:xfrm>
              <a:off x="3906720" y="543888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2" name="Shape 2664"/>
            <p:cNvSpPr/>
            <p:nvPr/>
          </p:nvSpPr>
          <p:spPr>
            <a:xfrm>
              <a:off x="2671920" y="5648400"/>
              <a:ext cx="377640" cy="360"/>
            </a:xfrm>
            <a:custGeom>
              <a:avLst/>
              <a:gdLst/>
              <a:ahLst/>
              <a:rect l="l" t="t" r="r" b="b"/>
              <a:pathLst>
                <a:path w="567" h="5">
                  <a:moveTo>
                    <a:pt x="0" y="0"/>
                  </a:moveTo>
                  <a:lnTo>
                    <a:pt x="567" y="0"/>
                  </a:lnTo>
                </a:path>
              </a:pathLst>
            </a:custGeom>
            <a:noFill/>
            <a:ln w="38100">
              <a:solidFill>
                <a:srgbClr val="8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423" name="Shape 2665"/>
          <p:cNvGrpSpPr/>
          <p:nvPr/>
        </p:nvGrpSpPr>
        <p:grpSpPr>
          <a:xfrm>
            <a:off x="245880" y="3111480"/>
            <a:ext cx="1169640" cy="2746080"/>
            <a:chOff x="245880" y="3111480"/>
            <a:chExt cx="1169640" cy="2746080"/>
          </a:xfrm>
        </p:grpSpPr>
        <p:sp>
          <p:nvSpPr>
            <p:cNvPr id="2424" name="Shape 2666"/>
            <p:cNvSpPr/>
            <p:nvPr/>
          </p:nvSpPr>
          <p:spPr>
            <a:xfrm rot="60000">
              <a:off x="257040" y="5475240"/>
              <a:ext cx="212400" cy="38052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425" name="Shape 2667"/>
            <p:cNvSpPr/>
            <p:nvPr/>
          </p:nvSpPr>
          <p:spPr>
            <a:xfrm rot="60000">
              <a:off x="249120" y="4660920"/>
              <a:ext cx="212400" cy="38232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426" name="Shape 2668"/>
            <p:cNvSpPr/>
            <p:nvPr/>
          </p:nvSpPr>
          <p:spPr>
            <a:xfrm rot="60000">
              <a:off x="272880" y="3908160"/>
              <a:ext cx="209160" cy="38232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427" name="Shape 2669"/>
            <p:cNvSpPr/>
            <p:nvPr/>
          </p:nvSpPr>
          <p:spPr>
            <a:xfrm rot="60000">
              <a:off x="272880" y="3115800"/>
              <a:ext cx="209160" cy="382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428" name="Shape 2670"/>
            <p:cNvSpPr/>
            <p:nvPr/>
          </p:nvSpPr>
          <p:spPr>
            <a:xfrm>
              <a:off x="531720" y="3111480"/>
              <a:ext cx="880560" cy="39492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90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429" name="Shape 2671"/>
            <p:cNvSpPr/>
            <p:nvPr/>
          </p:nvSpPr>
          <p:spPr>
            <a:xfrm>
              <a:off x="863640" y="311148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0" name="Shape 2672"/>
            <p:cNvSpPr/>
            <p:nvPr/>
          </p:nvSpPr>
          <p:spPr>
            <a:xfrm>
              <a:off x="1138320" y="311148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1" name="Shape 2673"/>
            <p:cNvSpPr/>
            <p:nvPr/>
          </p:nvSpPr>
          <p:spPr>
            <a:xfrm>
              <a:off x="531720" y="3865680"/>
              <a:ext cx="880560" cy="39492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90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432" name="Shape 2674"/>
            <p:cNvSpPr/>
            <p:nvPr/>
          </p:nvSpPr>
          <p:spPr>
            <a:xfrm>
              <a:off x="863640" y="386568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3" name="Shape 2675"/>
            <p:cNvSpPr/>
            <p:nvPr/>
          </p:nvSpPr>
          <p:spPr>
            <a:xfrm>
              <a:off x="1138320" y="386568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4" name="Shape 2676"/>
            <p:cNvSpPr/>
            <p:nvPr/>
          </p:nvSpPr>
          <p:spPr>
            <a:xfrm>
              <a:off x="534960" y="4651200"/>
              <a:ext cx="880560" cy="39492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90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435" name="Shape 2677"/>
            <p:cNvSpPr/>
            <p:nvPr/>
          </p:nvSpPr>
          <p:spPr>
            <a:xfrm>
              <a:off x="865080" y="465120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6" name="Shape 2678"/>
            <p:cNvSpPr/>
            <p:nvPr/>
          </p:nvSpPr>
          <p:spPr>
            <a:xfrm>
              <a:off x="1141560" y="465120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7" name="Shape 2679"/>
            <p:cNvSpPr/>
            <p:nvPr/>
          </p:nvSpPr>
          <p:spPr>
            <a:xfrm>
              <a:off x="531720" y="5435640"/>
              <a:ext cx="880560" cy="39492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90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438" name="Shape 2680"/>
            <p:cNvSpPr/>
            <p:nvPr/>
          </p:nvSpPr>
          <p:spPr>
            <a:xfrm>
              <a:off x="863640" y="543564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9" name="Shape 2681"/>
            <p:cNvSpPr/>
            <p:nvPr/>
          </p:nvSpPr>
          <p:spPr>
            <a:xfrm>
              <a:off x="1138320" y="543564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440" name="Shape 2682"/>
          <p:cNvGrpSpPr/>
          <p:nvPr/>
        </p:nvGrpSpPr>
        <p:grpSpPr>
          <a:xfrm>
            <a:off x="1311480" y="4683240"/>
            <a:ext cx="5527080" cy="394920"/>
            <a:chOff x="1311480" y="4683240"/>
            <a:chExt cx="5527080" cy="394920"/>
          </a:xfrm>
        </p:grpSpPr>
        <p:sp>
          <p:nvSpPr>
            <p:cNvPr id="2441" name="Shape 2683"/>
            <p:cNvSpPr/>
            <p:nvPr/>
          </p:nvSpPr>
          <p:spPr>
            <a:xfrm>
              <a:off x="5737320" y="4683240"/>
              <a:ext cx="1101240" cy="39492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0" tIns="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2  3</a:t>
              </a:r>
              <a:r>
                <a:rPr b="1" lang="en-US" sz="1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   </a:t>
              </a: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442" name="Shape 2684"/>
            <p:cNvSpPr/>
            <p:nvPr/>
          </p:nvSpPr>
          <p:spPr>
            <a:xfrm>
              <a:off x="6013440" y="468324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43" name="Shape 2685"/>
            <p:cNvSpPr/>
            <p:nvPr/>
          </p:nvSpPr>
          <p:spPr>
            <a:xfrm>
              <a:off x="6288120" y="468324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44" name="Shape 2686"/>
            <p:cNvSpPr/>
            <p:nvPr/>
          </p:nvSpPr>
          <p:spPr>
            <a:xfrm>
              <a:off x="6564240" y="468324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45" name="Shape 2687"/>
            <p:cNvSpPr/>
            <p:nvPr/>
          </p:nvSpPr>
          <p:spPr>
            <a:xfrm flipH="1" rot="10800000">
              <a:off x="1311120" y="4887000"/>
              <a:ext cx="4425480" cy="1080"/>
            </a:xfrm>
            <a:custGeom>
              <a:avLst/>
              <a:gdLst/>
              <a:ahLst/>
              <a:rect l="l" t="t" r="r" b="b"/>
              <a:pathLst>
                <a:path w="330" h="1">
                  <a:moveTo>
                    <a:pt x="0" y="0"/>
                  </a:moveTo>
                  <a:lnTo>
                    <a:pt x="330" y="0"/>
                  </a:lnTo>
                </a:path>
              </a:pathLst>
            </a:custGeom>
            <a:noFill/>
            <a:ln w="38100">
              <a:solidFill>
                <a:srgbClr val="8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446" name="Shape 2688"/>
          <p:cNvGrpSpPr/>
          <p:nvPr/>
        </p:nvGrpSpPr>
        <p:grpSpPr>
          <a:xfrm>
            <a:off x="1274760" y="3095640"/>
            <a:ext cx="4490640" cy="394920"/>
            <a:chOff x="1274760" y="3095640"/>
            <a:chExt cx="4490640" cy="394920"/>
          </a:xfrm>
        </p:grpSpPr>
        <p:sp>
          <p:nvSpPr>
            <p:cNvPr id="2447" name="Shape 2689"/>
            <p:cNvSpPr/>
            <p:nvPr/>
          </p:nvSpPr>
          <p:spPr>
            <a:xfrm>
              <a:off x="3108240" y="3095640"/>
              <a:ext cx="1099800" cy="39492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0" tIns="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448" name="Shape 2690"/>
            <p:cNvSpPr/>
            <p:nvPr/>
          </p:nvSpPr>
          <p:spPr>
            <a:xfrm>
              <a:off x="3386160" y="309564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49" name="Shape 2691"/>
            <p:cNvSpPr/>
            <p:nvPr/>
          </p:nvSpPr>
          <p:spPr>
            <a:xfrm>
              <a:off x="3657600" y="309564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50" name="Shape 2692"/>
            <p:cNvSpPr/>
            <p:nvPr/>
          </p:nvSpPr>
          <p:spPr>
            <a:xfrm>
              <a:off x="3935520" y="309564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51" name="Shape 2693"/>
            <p:cNvSpPr/>
            <p:nvPr/>
          </p:nvSpPr>
          <p:spPr>
            <a:xfrm flipH="1" rot="10800000">
              <a:off x="1274400" y="3279960"/>
              <a:ext cx="1837800" cy="28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8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52" name="Shape 2694"/>
            <p:cNvSpPr/>
            <p:nvPr/>
          </p:nvSpPr>
          <p:spPr>
            <a:xfrm>
              <a:off x="4665600" y="3095640"/>
              <a:ext cx="1099800" cy="39492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36000" rIns="0" tIns="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0  2    </a:t>
              </a: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453" name="Shape 2695"/>
            <p:cNvSpPr/>
            <p:nvPr/>
          </p:nvSpPr>
          <p:spPr>
            <a:xfrm>
              <a:off x="4940280" y="309564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54" name="Shape 2696"/>
            <p:cNvSpPr/>
            <p:nvPr/>
          </p:nvSpPr>
          <p:spPr>
            <a:xfrm>
              <a:off x="5216400" y="309564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55" name="Shape 2697"/>
            <p:cNvSpPr/>
            <p:nvPr/>
          </p:nvSpPr>
          <p:spPr>
            <a:xfrm>
              <a:off x="5478480" y="3095640"/>
              <a:ext cx="360" cy="394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56" name="Shape 2698"/>
            <p:cNvSpPr/>
            <p:nvPr/>
          </p:nvSpPr>
          <p:spPr>
            <a:xfrm>
              <a:off x="4083120" y="3278160"/>
              <a:ext cx="595080" cy="360"/>
            </a:xfrm>
            <a:custGeom>
              <a:avLst/>
              <a:gdLst/>
              <a:ahLst/>
              <a:rect l="l" t="t" r="r" b="b"/>
              <a:pathLst>
                <a:path w="567" h="5">
                  <a:moveTo>
                    <a:pt x="0" y="0"/>
                  </a:moveTo>
                  <a:lnTo>
                    <a:pt x="567" y="0"/>
                  </a:lnTo>
                </a:path>
              </a:pathLst>
            </a:custGeom>
            <a:noFill/>
            <a:ln w="38100">
              <a:solidFill>
                <a:srgbClr val="8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457" name="Shape 2699"/>
          <p:cNvGrpSpPr/>
          <p:nvPr/>
        </p:nvGrpSpPr>
        <p:grpSpPr>
          <a:xfrm>
            <a:off x="981000" y="3508560"/>
            <a:ext cx="2577600" cy="958320"/>
            <a:chOff x="981000" y="3508560"/>
            <a:chExt cx="2577600" cy="958320"/>
          </a:xfrm>
        </p:grpSpPr>
        <p:sp>
          <p:nvSpPr>
            <p:cNvPr id="2458" name="Shape 2700"/>
            <p:cNvSpPr/>
            <p:nvPr/>
          </p:nvSpPr>
          <p:spPr>
            <a:xfrm>
              <a:off x="981000" y="4464000"/>
              <a:ext cx="2577600" cy="2880"/>
            </a:xfrm>
            <a:custGeom>
              <a:avLst/>
              <a:gdLst/>
              <a:ahLst/>
              <a:rect l="l" t="t" r="r" b="b"/>
              <a:pathLst>
                <a:path w="2457" h="1">
                  <a:moveTo>
                    <a:pt x="0" y="0"/>
                  </a:moveTo>
                  <a:lnTo>
                    <a:pt x="2457" y="0"/>
                  </a:lnTo>
                </a:path>
              </a:pathLst>
            </a:custGeom>
            <a:noFill/>
            <a:ln w="28575">
              <a:solidFill>
                <a:srgbClr val="00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59" name="Shape 2701"/>
            <p:cNvSpPr/>
            <p:nvPr/>
          </p:nvSpPr>
          <p:spPr>
            <a:xfrm rot="10800000">
              <a:off x="3548520" y="3508560"/>
              <a:ext cx="2880" cy="955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66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60" name="Shape 2702"/>
            <p:cNvSpPr/>
            <p:nvPr/>
          </p:nvSpPr>
          <p:spPr>
            <a:xfrm>
              <a:off x="988920" y="4140360"/>
              <a:ext cx="360" cy="313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461" name="Shape 2703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462" name="Shape 2704"/>
          <p:cNvSpPr/>
          <p:nvPr/>
        </p:nvSpPr>
        <p:spPr>
          <a:xfrm>
            <a:off x="304920" y="1219320"/>
            <a:ext cx="4073040" cy="57924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ff"/>
                </a:solidFill>
                <a:latin typeface="Times New Roman"/>
                <a:ea typeface="Times New Roman"/>
              </a:rPr>
              <a:t>十字链表存储有向图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463" name="Shape 2705"/>
          <p:cNvSpPr/>
          <p:nvPr/>
        </p:nvSpPr>
        <p:spPr>
          <a:xfrm>
            <a:off x="1050840" y="3859200"/>
            <a:ext cx="29160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∧</a:t>
            </a:r>
            <a:endParaRPr b="0" lang="en-US" sz="2000" spc="-1" strike="noStrike">
              <a:latin typeface="Arial"/>
            </a:endParaRPr>
          </a:p>
        </p:txBody>
      </p:sp>
      <p:grpSp>
        <p:nvGrpSpPr>
          <p:cNvPr id="2464" name="Shape 2706"/>
          <p:cNvGrpSpPr/>
          <p:nvPr/>
        </p:nvGrpSpPr>
        <p:grpSpPr>
          <a:xfrm>
            <a:off x="1006560" y="3397320"/>
            <a:ext cx="1429920" cy="2444040"/>
            <a:chOff x="1006560" y="3397320"/>
            <a:chExt cx="1429920" cy="2444040"/>
          </a:xfrm>
        </p:grpSpPr>
        <p:sp>
          <p:nvSpPr>
            <p:cNvPr id="2465" name="Shape 2707"/>
            <p:cNvSpPr/>
            <p:nvPr/>
          </p:nvSpPr>
          <p:spPr>
            <a:xfrm>
              <a:off x="1006560" y="3397320"/>
              <a:ext cx="360" cy="290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66" name="Shape 2708"/>
            <p:cNvSpPr/>
            <p:nvPr/>
          </p:nvSpPr>
          <p:spPr>
            <a:xfrm>
              <a:off x="1006560" y="3687840"/>
              <a:ext cx="133956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67" name="Shape 2709"/>
            <p:cNvSpPr/>
            <p:nvPr/>
          </p:nvSpPr>
          <p:spPr>
            <a:xfrm>
              <a:off x="2343240" y="3701880"/>
              <a:ext cx="360" cy="1692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66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68" name="Shape 2710"/>
            <p:cNvSpPr/>
            <p:nvPr/>
          </p:nvSpPr>
          <p:spPr>
            <a:xfrm>
              <a:off x="2144880" y="5445000"/>
              <a:ext cx="291600" cy="39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2469" name="Shape 2711"/>
          <p:cNvGrpSpPr/>
          <p:nvPr/>
        </p:nvGrpSpPr>
        <p:grpSpPr>
          <a:xfrm>
            <a:off x="6318360" y="1257480"/>
            <a:ext cx="2471400" cy="2334960"/>
            <a:chOff x="6318360" y="1257480"/>
            <a:chExt cx="2471400" cy="2334960"/>
          </a:xfrm>
        </p:grpSpPr>
        <p:sp>
          <p:nvSpPr>
            <p:cNvPr id="2470" name="Shape 2712"/>
            <p:cNvSpPr/>
            <p:nvPr/>
          </p:nvSpPr>
          <p:spPr>
            <a:xfrm>
              <a:off x="6824520" y="1544760"/>
              <a:ext cx="1431720" cy="1080"/>
            </a:xfrm>
            <a:custGeom>
              <a:avLst/>
              <a:gdLst/>
              <a:ahLst/>
              <a:rect l="l" t="t" r="r" b="b"/>
              <a:pathLst>
                <a:path w="901" h="7">
                  <a:moveTo>
                    <a:pt x="0" y="7"/>
                  </a:moveTo>
                  <a:lnTo>
                    <a:pt x="90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71" name="Shape 2713"/>
            <p:cNvSpPr/>
            <p:nvPr/>
          </p:nvSpPr>
          <p:spPr>
            <a:xfrm>
              <a:off x="6326280" y="13064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72" name="Shape 2714"/>
            <p:cNvSpPr/>
            <p:nvPr/>
          </p:nvSpPr>
          <p:spPr>
            <a:xfrm>
              <a:off x="6392880" y="12574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473" name="Shape 2715"/>
            <p:cNvSpPr/>
            <p:nvPr/>
          </p:nvSpPr>
          <p:spPr>
            <a:xfrm>
              <a:off x="8259840" y="13190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74" name="Shape 2716"/>
            <p:cNvSpPr/>
            <p:nvPr/>
          </p:nvSpPr>
          <p:spPr>
            <a:xfrm>
              <a:off x="8326440" y="1270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475" name="Shape 2717"/>
            <p:cNvSpPr/>
            <p:nvPr/>
          </p:nvSpPr>
          <p:spPr>
            <a:xfrm>
              <a:off x="6575400" y="1806480"/>
              <a:ext cx="360" cy="1272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76" name="Shape 2718"/>
            <p:cNvSpPr/>
            <p:nvPr/>
          </p:nvSpPr>
          <p:spPr>
            <a:xfrm>
              <a:off x="6792840" y="3314880"/>
              <a:ext cx="1474560" cy="1080"/>
            </a:xfrm>
            <a:custGeom>
              <a:avLst/>
              <a:gdLst/>
              <a:ahLst/>
              <a:rect l="l" t="t" r="r" b="b"/>
              <a:pathLst>
                <a:path w="901" h="5">
                  <a:moveTo>
                    <a:pt x="0" y="0"/>
                  </a:moveTo>
                  <a:lnTo>
                    <a:pt x="901" y="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77" name="Shape 2719"/>
            <p:cNvSpPr/>
            <p:nvPr/>
          </p:nvSpPr>
          <p:spPr>
            <a:xfrm rot="10800000">
              <a:off x="6763320" y="1703520"/>
              <a:ext cx="1566360" cy="1393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78" name="Shape 2720"/>
            <p:cNvSpPr/>
            <p:nvPr/>
          </p:nvSpPr>
          <p:spPr>
            <a:xfrm>
              <a:off x="6318360" y="3046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79" name="Shape 2721"/>
            <p:cNvSpPr/>
            <p:nvPr/>
          </p:nvSpPr>
          <p:spPr>
            <a:xfrm>
              <a:off x="6384960" y="29973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480" name="Shape 2722"/>
            <p:cNvSpPr/>
            <p:nvPr/>
          </p:nvSpPr>
          <p:spPr>
            <a:xfrm>
              <a:off x="8245440" y="3043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81" name="Shape 2723"/>
            <p:cNvSpPr/>
            <p:nvPr/>
          </p:nvSpPr>
          <p:spPr>
            <a:xfrm>
              <a:off x="8312040" y="29941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482" name="Shape 2724"/>
            <p:cNvSpPr/>
            <p:nvPr/>
          </p:nvSpPr>
          <p:spPr>
            <a:xfrm>
              <a:off x="8526600" y="1806480"/>
              <a:ext cx="360" cy="1272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headEnd len="lg" type="stealth" w="lg"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483" name="Shape 2725"/>
          <p:cNvGrpSpPr/>
          <p:nvPr/>
        </p:nvGrpSpPr>
        <p:grpSpPr>
          <a:xfrm>
            <a:off x="3549600" y="3375000"/>
            <a:ext cx="291600" cy="2464920"/>
            <a:chOff x="3549600" y="3375000"/>
            <a:chExt cx="291600" cy="2464920"/>
          </a:xfrm>
        </p:grpSpPr>
        <p:sp>
          <p:nvSpPr>
            <p:cNvPr id="2484" name="Shape 2726"/>
            <p:cNvSpPr/>
            <p:nvPr/>
          </p:nvSpPr>
          <p:spPr>
            <a:xfrm flipH="1">
              <a:off x="3780720" y="3375000"/>
              <a:ext cx="1080" cy="2015640"/>
            </a:xfrm>
            <a:custGeom>
              <a:avLst/>
              <a:gdLst/>
              <a:ahLst/>
              <a:rect l="l" t="t" r="r" b="b"/>
              <a:pathLst>
                <a:path w="1" h="1749">
                  <a:moveTo>
                    <a:pt x="0" y="0"/>
                  </a:moveTo>
                  <a:lnTo>
                    <a:pt x="1" y="1749"/>
                  </a:lnTo>
                </a:path>
              </a:pathLst>
            </a:custGeom>
            <a:noFill/>
            <a:ln w="28575">
              <a:solidFill>
                <a:srgbClr val="0066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85" name="Shape 2727"/>
            <p:cNvSpPr/>
            <p:nvPr/>
          </p:nvSpPr>
          <p:spPr>
            <a:xfrm>
              <a:off x="3549600" y="5443560"/>
              <a:ext cx="291600" cy="39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2486" name="Shape 2728"/>
          <p:cNvGrpSpPr/>
          <p:nvPr/>
        </p:nvGrpSpPr>
        <p:grpSpPr>
          <a:xfrm>
            <a:off x="1015920" y="3097080"/>
            <a:ext cx="4392360" cy="2095200"/>
            <a:chOff x="1015920" y="3097080"/>
            <a:chExt cx="4392360" cy="2095200"/>
          </a:xfrm>
        </p:grpSpPr>
        <p:sp>
          <p:nvSpPr>
            <p:cNvPr id="2487" name="Shape 2729"/>
            <p:cNvSpPr/>
            <p:nvPr/>
          </p:nvSpPr>
          <p:spPr>
            <a:xfrm>
              <a:off x="1020600" y="4962600"/>
              <a:ext cx="360" cy="215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2488" name="Shape 2730"/>
            <p:cNvGrpSpPr/>
            <p:nvPr/>
          </p:nvGrpSpPr>
          <p:grpSpPr>
            <a:xfrm>
              <a:off x="1015920" y="3097080"/>
              <a:ext cx="4392360" cy="2095200"/>
              <a:chOff x="1015920" y="3097080"/>
              <a:chExt cx="4392360" cy="2095200"/>
            </a:xfrm>
          </p:grpSpPr>
          <p:sp>
            <p:nvSpPr>
              <p:cNvPr id="2489" name="Shape 2731"/>
              <p:cNvSpPr/>
              <p:nvPr/>
            </p:nvSpPr>
            <p:spPr>
              <a:xfrm flipH="1" rot="10800000">
                <a:off x="1015560" y="5178960"/>
                <a:ext cx="4168440" cy="1080"/>
              </a:xfrm>
              <a:custGeom>
                <a:avLst/>
                <a:gdLst/>
                <a:ahLst/>
                <a:rect l="l" t="t" r="r" b="b"/>
                <a:pathLst>
                  <a:path w="3915" h="10">
                    <a:moveTo>
                      <a:pt x="3915" y="0"/>
                    </a:moveTo>
                    <a:lnTo>
                      <a:pt x="0" y="10"/>
                    </a:lnTo>
                  </a:path>
                </a:pathLst>
              </a:custGeom>
              <a:noFill/>
              <a:ln w="28575">
                <a:solidFill>
                  <a:srgbClr val="0066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90" name="Shape 2732"/>
              <p:cNvSpPr/>
              <p:nvPr/>
            </p:nvSpPr>
            <p:spPr>
              <a:xfrm>
                <a:off x="5181480" y="3508200"/>
                <a:ext cx="1080" cy="1684080"/>
              </a:xfrm>
              <a:custGeom>
                <a:avLst/>
                <a:gdLst/>
                <a:ahLst/>
                <a:rect l="l" t="t" r="r" b="b"/>
                <a:pathLst>
                  <a:path w="3" h="1439">
                    <a:moveTo>
                      <a:pt x="0" y="1439"/>
                    </a:moveTo>
                    <a:lnTo>
                      <a:pt x="3" y="0"/>
                    </a:lnTo>
                  </a:path>
                </a:pathLst>
              </a:custGeom>
              <a:noFill/>
              <a:ln w="28575">
                <a:solidFill>
                  <a:srgbClr val="0066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91" name="Shape 2733"/>
              <p:cNvSpPr/>
              <p:nvPr/>
            </p:nvSpPr>
            <p:spPr>
              <a:xfrm>
                <a:off x="5116680" y="3097080"/>
                <a:ext cx="291600" cy="396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n-US" sz="20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∧</a:t>
                </a:r>
                <a:endParaRPr b="0" lang="en-US" sz="2000" spc="-1" strike="noStrike">
                  <a:latin typeface="Arial"/>
                </a:endParaRPr>
              </a:p>
            </p:txBody>
          </p:sp>
        </p:grpSp>
      </p:grpSp>
      <p:grpSp>
        <p:nvGrpSpPr>
          <p:cNvPr id="2492" name="Shape 2734"/>
          <p:cNvGrpSpPr/>
          <p:nvPr/>
        </p:nvGrpSpPr>
        <p:grpSpPr>
          <a:xfrm>
            <a:off x="987480" y="4681440"/>
            <a:ext cx="5519160" cy="1504800"/>
            <a:chOff x="987480" y="4681440"/>
            <a:chExt cx="5519160" cy="1504800"/>
          </a:xfrm>
        </p:grpSpPr>
        <p:sp>
          <p:nvSpPr>
            <p:cNvPr id="2493" name="Shape 2735"/>
            <p:cNvSpPr/>
            <p:nvPr/>
          </p:nvSpPr>
          <p:spPr>
            <a:xfrm flipH="1" rot="10800000">
              <a:off x="987120" y="6182280"/>
              <a:ext cx="5363640" cy="1080"/>
            </a:xfrm>
            <a:custGeom>
              <a:avLst/>
              <a:gdLst/>
              <a:ahLst/>
              <a:rect l="l" t="t" r="r" b="b"/>
              <a:pathLst>
                <a:path w="5260" h="1">
                  <a:moveTo>
                    <a:pt x="5260" y="0"/>
                  </a:moveTo>
                  <a:lnTo>
                    <a:pt x="0" y="1"/>
                  </a:lnTo>
                </a:path>
              </a:pathLst>
            </a:custGeom>
            <a:noFill/>
            <a:ln w="28575">
              <a:solidFill>
                <a:srgbClr val="00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94" name="Shape 2736"/>
            <p:cNvSpPr/>
            <p:nvPr/>
          </p:nvSpPr>
          <p:spPr>
            <a:xfrm>
              <a:off x="6329520" y="5079960"/>
              <a:ext cx="1080" cy="1106280"/>
            </a:xfrm>
            <a:custGeom>
              <a:avLst/>
              <a:gdLst/>
              <a:ahLst/>
              <a:rect l="l" t="t" r="r" b="b"/>
              <a:pathLst>
                <a:path w="7" h="898">
                  <a:moveTo>
                    <a:pt x="0" y="898"/>
                  </a:moveTo>
                  <a:lnTo>
                    <a:pt x="7" y="0"/>
                  </a:lnTo>
                </a:path>
              </a:pathLst>
            </a:custGeom>
            <a:noFill/>
            <a:ln w="28575">
              <a:solidFill>
                <a:srgbClr val="0066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95" name="Shape 2737"/>
            <p:cNvSpPr/>
            <p:nvPr/>
          </p:nvSpPr>
          <p:spPr>
            <a:xfrm>
              <a:off x="1003320" y="5734080"/>
              <a:ext cx="360" cy="431280"/>
            </a:xfrm>
            <a:custGeom>
              <a:avLst/>
              <a:gdLst/>
              <a:ahLst/>
              <a:rect l="l" t="t" r="r" b="b"/>
              <a:pathLst>
                <a:path w="1" h="387">
                  <a:moveTo>
                    <a:pt x="0" y="387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96" name="Shape 2738"/>
            <p:cNvSpPr/>
            <p:nvPr/>
          </p:nvSpPr>
          <p:spPr>
            <a:xfrm>
              <a:off x="6215040" y="4681440"/>
              <a:ext cx="291600" cy="39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∧</a:t>
              </a:r>
              <a:endParaRPr b="0" lang="en-US" sz="2000" spc="-1" strike="noStrike">
                <a:latin typeface="Arial"/>
              </a:endParaRPr>
            </a:p>
          </p:txBody>
        </p:sp>
      </p:grpSp>
      <p:grpSp>
        <p:nvGrpSpPr>
          <p:cNvPr id="2497" name="Shape 2739"/>
          <p:cNvGrpSpPr/>
          <p:nvPr/>
        </p:nvGrpSpPr>
        <p:grpSpPr>
          <a:xfrm>
            <a:off x="1954080" y="2641680"/>
            <a:ext cx="4732200" cy="3547800"/>
            <a:chOff x="1954080" y="2641680"/>
            <a:chExt cx="4732200" cy="3547800"/>
          </a:xfrm>
        </p:grpSpPr>
        <p:sp>
          <p:nvSpPr>
            <p:cNvPr id="2498" name="Shape 2740"/>
            <p:cNvSpPr/>
            <p:nvPr/>
          </p:nvSpPr>
          <p:spPr>
            <a:xfrm>
              <a:off x="5924520" y="4241880"/>
              <a:ext cx="7617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0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r>
                <a:rPr b="0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0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499" name="Shape 2741"/>
            <p:cNvSpPr/>
            <p:nvPr/>
          </p:nvSpPr>
          <p:spPr>
            <a:xfrm>
              <a:off x="1954080" y="5700600"/>
              <a:ext cx="7617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0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r>
                <a:rPr b="0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0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500" name="Shape 2742"/>
            <p:cNvSpPr/>
            <p:nvPr/>
          </p:nvSpPr>
          <p:spPr>
            <a:xfrm>
              <a:off x="3333600" y="2641680"/>
              <a:ext cx="7617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0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r>
                <a:rPr b="0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0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501" name="Shape 2743"/>
            <p:cNvSpPr/>
            <p:nvPr/>
          </p:nvSpPr>
          <p:spPr>
            <a:xfrm>
              <a:off x="4857840" y="2641680"/>
              <a:ext cx="7617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0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r>
                <a:rPr b="0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0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502" name="Shape 2744"/>
            <p:cNvSpPr/>
            <p:nvPr/>
          </p:nvSpPr>
          <p:spPr>
            <a:xfrm>
              <a:off x="3370320" y="5732640"/>
              <a:ext cx="7617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0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r>
                <a:rPr b="0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0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4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62" dur="indefinite" restart="never" nodeType="tmRoot">
          <p:childTnLst>
            <p:seq>
              <p:cTn id="763" dur="indefinite" nodeType="mainSeq">
                <p:childTnLst>
                  <p:par>
                    <p:cTn id="764" fill="hold">
                      <p:stCondLst>
                        <p:cond delay="indefinite"/>
                      </p:stCondLst>
                      <p:childTnLst>
                        <p:par>
                          <p:cTn id="765" fill="hold">
                            <p:stCondLst>
                              <p:cond delay="0"/>
                            </p:stCondLst>
                            <p:childTnLst>
                              <p:par>
                                <p:cTn id="76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Shape 2749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504" name="Shape 2750"/>
          <p:cNvSpPr/>
          <p:nvPr/>
        </p:nvSpPr>
        <p:spPr>
          <a:xfrm>
            <a:off x="304920" y="1219320"/>
            <a:ext cx="4462200" cy="57924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ff"/>
                </a:solidFill>
                <a:latin typeface="Times New Roman"/>
                <a:ea typeface="Times New Roman"/>
              </a:rPr>
              <a:t>邻接多重表存储无向图 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2505" name="Shape 2751"/>
          <p:cNvGrpSpPr/>
          <p:nvPr/>
        </p:nvGrpSpPr>
        <p:grpSpPr>
          <a:xfrm>
            <a:off x="644400" y="2198520"/>
            <a:ext cx="7896240" cy="1042920"/>
            <a:chOff x="644400" y="2198520"/>
            <a:chExt cx="7896240" cy="1042920"/>
          </a:xfrm>
        </p:grpSpPr>
        <p:sp>
          <p:nvSpPr>
            <p:cNvPr id="2506" name="Shape 2752"/>
            <p:cNvSpPr/>
            <p:nvPr/>
          </p:nvSpPr>
          <p:spPr>
            <a:xfrm>
              <a:off x="4219560" y="2198520"/>
              <a:ext cx="1090080" cy="48528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ivex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507" name="Shape 2753"/>
            <p:cNvSpPr/>
            <p:nvPr/>
          </p:nvSpPr>
          <p:spPr>
            <a:xfrm>
              <a:off x="5310360" y="2198520"/>
              <a:ext cx="1049040" cy="48528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ilink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508" name="Shape 2754"/>
            <p:cNvSpPr/>
            <p:nvPr/>
          </p:nvSpPr>
          <p:spPr>
            <a:xfrm>
              <a:off x="6364440" y="2198520"/>
              <a:ext cx="1130040" cy="48528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jvex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509" name="Shape 2755"/>
            <p:cNvSpPr/>
            <p:nvPr/>
          </p:nvSpPr>
          <p:spPr>
            <a:xfrm>
              <a:off x="7499520" y="2198520"/>
              <a:ext cx="1041120" cy="48528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jlink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510" name="Shape 2756"/>
            <p:cNvSpPr/>
            <p:nvPr/>
          </p:nvSpPr>
          <p:spPr>
            <a:xfrm>
              <a:off x="768240" y="2198520"/>
              <a:ext cx="1157040" cy="48528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511" name="Shape 2757"/>
            <p:cNvSpPr/>
            <p:nvPr/>
          </p:nvSpPr>
          <p:spPr>
            <a:xfrm>
              <a:off x="1925640" y="2198520"/>
              <a:ext cx="1355400" cy="48528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firstedge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512" name="Shape 2758"/>
            <p:cNvSpPr/>
            <p:nvPr/>
          </p:nvSpPr>
          <p:spPr>
            <a:xfrm>
              <a:off x="644400" y="2773440"/>
              <a:ext cx="7284600" cy="46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0" bIns="0" anchor="t">
              <a:noAutofit/>
            </a:bodyPr>
            <a:p>
              <a:pPr lvl="1" marL="457200" algn="just">
                <a:lnSpc>
                  <a:spcPct val="100000"/>
                </a:lnSpc>
                <a:buClr>
                  <a:srgbClr val="000000"/>
                </a:buClr>
                <a:buFont typeface="Times New Roman"/>
                <a:buChar char="("/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a)</a:t>
              </a: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顶点表结点                             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(b) </a:t>
              </a: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边表结点         </a:t>
              </a:r>
              <a:endParaRPr b="0" lang="en-US" sz="2400" spc="-1" strike="noStrike">
                <a:latin typeface="Arial"/>
              </a:endParaRPr>
            </a:p>
          </p:txBody>
        </p:sp>
      </p:grpSp>
      <p:sp>
        <p:nvSpPr>
          <p:cNvPr id="2513" name="Shape 2759"/>
          <p:cNvSpPr/>
          <p:nvPr/>
        </p:nvSpPr>
        <p:spPr>
          <a:xfrm>
            <a:off x="612720" y="3684600"/>
            <a:ext cx="7954560" cy="22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vertex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：数据域，存储有关顶点的数据信息；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firstedge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：边表头指针，指向依附于该顶点的边表；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ivex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、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jvex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：与某条边依附的两个顶点在顶点表中的下标；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ilink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：指针域，指向依附于顶点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ivex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的下一条边；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jlink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：指针域，指向依附于顶点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jvex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的下一条边。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Shape 2764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515" name="Shape 2765"/>
          <p:cNvSpPr/>
          <p:nvPr/>
        </p:nvSpPr>
        <p:spPr>
          <a:xfrm>
            <a:off x="304920" y="1219320"/>
            <a:ext cx="4462200" cy="57924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ff"/>
                </a:solidFill>
                <a:latin typeface="Times New Roman"/>
                <a:ea typeface="Times New Roman"/>
              </a:rPr>
              <a:t>邻接多重表存储无向图 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2516" name="Shape 2766"/>
          <p:cNvGrpSpPr/>
          <p:nvPr/>
        </p:nvGrpSpPr>
        <p:grpSpPr>
          <a:xfrm>
            <a:off x="6012000" y="1695600"/>
            <a:ext cx="2576160" cy="2282400"/>
            <a:chOff x="6012000" y="1695600"/>
            <a:chExt cx="2576160" cy="2282400"/>
          </a:xfrm>
        </p:grpSpPr>
        <p:sp>
          <p:nvSpPr>
            <p:cNvPr id="2517" name="Shape 2767"/>
            <p:cNvSpPr/>
            <p:nvPr/>
          </p:nvSpPr>
          <p:spPr>
            <a:xfrm>
              <a:off x="6086520" y="1771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18" name="Shape 2768"/>
            <p:cNvSpPr/>
            <p:nvPr/>
          </p:nvSpPr>
          <p:spPr>
            <a:xfrm>
              <a:off x="6153120" y="17226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519" name="Shape 2769"/>
            <p:cNvSpPr/>
            <p:nvPr/>
          </p:nvSpPr>
          <p:spPr>
            <a:xfrm>
              <a:off x="6556320" y="197640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20" name="Shape 2770"/>
            <p:cNvSpPr/>
            <p:nvPr/>
          </p:nvSpPr>
          <p:spPr>
            <a:xfrm>
              <a:off x="8053560" y="3425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21" name="Shape 2771"/>
            <p:cNvSpPr/>
            <p:nvPr/>
          </p:nvSpPr>
          <p:spPr>
            <a:xfrm>
              <a:off x="8120160" y="3376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522" name="Shape 2772"/>
            <p:cNvSpPr/>
            <p:nvPr/>
          </p:nvSpPr>
          <p:spPr>
            <a:xfrm>
              <a:off x="6418440" y="2128680"/>
              <a:ext cx="1684080" cy="1371240"/>
            </a:xfrm>
            <a:custGeom>
              <a:avLst/>
              <a:gdLst/>
              <a:ahLst/>
              <a:rect l="l" t="t" r="r" b="b"/>
              <a:pathLst>
                <a:path w="300" h="300">
                  <a:moveTo>
                    <a:pt x="300" y="0"/>
                  </a:moveTo>
                  <a:lnTo>
                    <a:pt x="0" y="3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23" name="Shape 2773"/>
            <p:cNvSpPr/>
            <p:nvPr/>
          </p:nvSpPr>
          <p:spPr>
            <a:xfrm>
              <a:off x="6229440" y="2251080"/>
              <a:ext cx="360" cy="1206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24" name="Shape 2774"/>
            <p:cNvSpPr/>
            <p:nvPr/>
          </p:nvSpPr>
          <p:spPr>
            <a:xfrm>
              <a:off x="8058240" y="1744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25" name="Shape 2775"/>
            <p:cNvSpPr/>
            <p:nvPr/>
          </p:nvSpPr>
          <p:spPr>
            <a:xfrm>
              <a:off x="8124840" y="16956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526" name="Shape 2776"/>
            <p:cNvSpPr/>
            <p:nvPr/>
          </p:nvSpPr>
          <p:spPr>
            <a:xfrm>
              <a:off x="6012000" y="3432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27" name="Shape 2777"/>
            <p:cNvSpPr/>
            <p:nvPr/>
          </p:nvSpPr>
          <p:spPr>
            <a:xfrm>
              <a:off x="6078600" y="3382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528" name="Shape 2778"/>
            <p:cNvSpPr/>
            <p:nvPr/>
          </p:nvSpPr>
          <p:spPr>
            <a:xfrm>
              <a:off x="6526080" y="3668760"/>
              <a:ext cx="15109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2529" name="Shape 2779" descr=""/>
          <p:cNvPicPr/>
          <p:nvPr/>
        </p:nvPicPr>
        <p:blipFill>
          <a:blip r:embed="rId1"/>
          <a:stretch/>
        </p:blipFill>
        <p:spPr>
          <a:xfrm>
            <a:off x="544680" y="2935440"/>
            <a:ext cx="4846320" cy="3117600"/>
          </a:xfrm>
          <a:prstGeom prst="rect">
            <a:avLst/>
          </a:prstGeom>
          <a:ln w="28575">
            <a:solidFill>
              <a:srgbClr val="000000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Shape 2784"/>
          <p:cNvSpPr/>
          <p:nvPr/>
        </p:nvSpPr>
        <p:spPr>
          <a:xfrm>
            <a:off x="228600" y="1219320"/>
            <a:ext cx="8610120" cy="57924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ff"/>
                </a:solidFill>
                <a:latin typeface="Arial"/>
                <a:ea typeface="Arial"/>
              </a:rPr>
              <a:t>图的存储结构的比较——邻接矩阵和邻接表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531" name="Shape 2785"/>
          <p:cNvSpPr/>
          <p:nvPr/>
        </p:nvSpPr>
        <p:spPr>
          <a:xfrm>
            <a:off x="1387440" y="330840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（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en-US" sz="280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）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532" name="Shape 2786"/>
          <p:cNvSpPr/>
          <p:nvPr/>
        </p:nvSpPr>
        <p:spPr>
          <a:xfrm>
            <a:off x="1387440" y="5226120"/>
            <a:ext cx="187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（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n+e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）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2533" name="Shape 2787"/>
          <p:cNvGrpSpPr/>
          <p:nvPr/>
        </p:nvGrpSpPr>
        <p:grpSpPr>
          <a:xfrm>
            <a:off x="3063960" y="3308400"/>
            <a:ext cx="2059200" cy="2374560"/>
            <a:chOff x="3063960" y="3308400"/>
            <a:chExt cx="2059200" cy="2374560"/>
          </a:xfrm>
        </p:grpSpPr>
        <p:sp>
          <p:nvSpPr>
            <p:cNvPr id="2534" name="Shape 2788"/>
            <p:cNvSpPr/>
            <p:nvPr/>
          </p:nvSpPr>
          <p:spPr>
            <a:xfrm>
              <a:off x="3063960" y="3308400"/>
              <a:ext cx="159984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O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（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n</a:t>
              </a:r>
              <a:r>
                <a:rPr b="1" lang="en-US" sz="2800" spc="-1" strike="noStrike" baseline="30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）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535" name="Shape 2789"/>
            <p:cNvSpPr/>
            <p:nvPr/>
          </p:nvSpPr>
          <p:spPr>
            <a:xfrm>
              <a:off x="3063960" y="5226120"/>
              <a:ext cx="205920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O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（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n+e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）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536" name="Shape 2790"/>
          <p:cNvGrpSpPr/>
          <p:nvPr/>
        </p:nvGrpSpPr>
        <p:grpSpPr>
          <a:xfrm>
            <a:off x="1311120" y="2089080"/>
            <a:ext cx="6781320" cy="533160"/>
            <a:chOff x="1311120" y="2089080"/>
            <a:chExt cx="6781320" cy="533160"/>
          </a:xfrm>
        </p:grpSpPr>
        <p:sp>
          <p:nvSpPr>
            <p:cNvPr id="2537" name="Shape 2791"/>
            <p:cNvSpPr/>
            <p:nvPr/>
          </p:nvSpPr>
          <p:spPr>
            <a:xfrm>
              <a:off x="1311120" y="2089080"/>
              <a:ext cx="1676160" cy="533160"/>
            </a:xfrm>
            <a:prstGeom prst="rect">
              <a:avLst/>
            </a:prstGeom>
            <a:gradFill rotWithShape="0">
              <a:gsLst>
                <a:gs pos="0">
                  <a:srgbClr val="ffefd1"/>
                </a:gs>
                <a:gs pos="100000">
                  <a:srgbClr val="d1c39f"/>
                </a:gs>
              </a:gsLst>
              <a:path path="circle">
                <a:fillToRect l="50000" t="50000" r="50000" b="50000"/>
              </a:path>
            </a:gradFill>
            <a:ln w="28575">
              <a:solidFill>
                <a:srgbClr val="66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ff0000"/>
                  </a:solidFill>
                  <a:latin typeface="Times New Roman"/>
                  <a:ea typeface="Times New Roman"/>
                </a:rPr>
                <a:t>空间性能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538" name="Shape 2792"/>
            <p:cNvSpPr/>
            <p:nvPr/>
          </p:nvSpPr>
          <p:spPr>
            <a:xfrm>
              <a:off x="2987640" y="2089080"/>
              <a:ext cx="1676160" cy="533160"/>
            </a:xfrm>
            <a:prstGeom prst="rect">
              <a:avLst/>
            </a:prstGeom>
            <a:gradFill rotWithShape="0">
              <a:gsLst>
                <a:gs pos="0">
                  <a:srgbClr val="ffefd1"/>
                </a:gs>
                <a:gs pos="100000">
                  <a:srgbClr val="d1c39f"/>
                </a:gs>
              </a:gsLst>
              <a:path path="circle">
                <a:fillToRect l="50000" t="50000" r="50000" b="50000"/>
              </a:path>
            </a:gradFill>
            <a:ln w="28575">
              <a:solidFill>
                <a:srgbClr val="66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ff0000"/>
                  </a:solidFill>
                  <a:latin typeface="Times New Roman"/>
                  <a:ea typeface="Times New Roman"/>
                </a:rPr>
                <a:t>时间性能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539" name="Shape 2793"/>
            <p:cNvSpPr/>
            <p:nvPr/>
          </p:nvSpPr>
          <p:spPr>
            <a:xfrm>
              <a:off x="4664160" y="2089080"/>
              <a:ext cx="1676160" cy="533160"/>
            </a:xfrm>
            <a:prstGeom prst="rect">
              <a:avLst/>
            </a:prstGeom>
            <a:gradFill rotWithShape="0">
              <a:gsLst>
                <a:gs pos="0">
                  <a:srgbClr val="ffefd1"/>
                </a:gs>
                <a:gs pos="100000">
                  <a:srgbClr val="d1c39f"/>
                </a:gs>
              </a:gsLst>
              <a:path path="circle">
                <a:fillToRect l="50000" t="50000" r="50000" b="50000"/>
              </a:path>
            </a:gradFill>
            <a:ln w="28575">
              <a:solidFill>
                <a:srgbClr val="66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ff0000"/>
                  </a:solidFill>
                  <a:latin typeface="Times New Roman"/>
                  <a:ea typeface="Times New Roman"/>
                </a:rPr>
                <a:t>适用范围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540" name="Shape 2794"/>
            <p:cNvSpPr/>
            <p:nvPr/>
          </p:nvSpPr>
          <p:spPr>
            <a:xfrm>
              <a:off x="6340320" y="2089080"/>
              <a:ext cx="1752120" cy="533160"/>
            </a:xfrm>
            <a:prstGeom prst="rect">
              <a:avLst/>
            </a:prstGeom>
            <a:gradFill rotWithShape="0">
              <a:gsLst>
                <a:gs pos="0">
                  <a:srgbClr val="ffefd1"/>
                </a:gs>
                <a:gs pos="100000">
                  <a:srgbClr val="d1c39f"/>
                </a:gs>
              </a:gsLst>
              <a:path path="circle">
                <a:fillToRect l="50000" t="50000" r="50000" b="50000"/>
              </a:path>
            </a:gradFill>
            <a:ln w="28575">
              <a:solidFill>
                <a:srgbClr val="66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ff0000"/>
                  </a:solidFill>
                  <a:latin typeface="Times New Roman"/>
                  <a:ea typeface="Times New Roman"/>
                </a:rPr>
                <a:t>唯一性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541" name="Shape 2795"/>
          <p:cNvGrpSpPr/>
          <p:nvPr/>
        </p:nvGrpSpPr>
        <p:grpSpPr>
          <a:xfrm>
            <a:off x="689040" y="2641680"/>
            <a:ext cx="609120" cy="3701880"/>
            <a:chOff x="689040" y="2641680"/>
            <a:chExt cx="609120" cy="3701880"/>
          </a:xfrm>
        </p:grpSpPr>
        <p:sp>
          <p:nvSpPr>
            <p:cNvPr id="2542" name="Shape 2796"/>
            <p:cNvSpPr/>
            <p:nvPr/>
          </p:nvSpPr>
          <p:spPr>
            <a:xfrm>
              <a:off x="689040" y="2641680"/>
              <a:ext cx="609120" cy="1812960"/>
            </a:xfrm>
            <a:prstGeom prst="rect">
              <a:avLst/>
            </a:prstGeom>
            <a:gradFill rotWithShape="0">
              <a:gsLst>
                <a:gs pos="0">
                  <a:srgbClr val="ffefd1"/>
                </a:gs>
                <a:gs pos="100000">
                  <a:srgbClr val="d1c39f"/>
                </a:gs>
              </a:gsLst>
              <a:path path="circle">
                <a:fillToRect l="50000" t="50000" r="50000" b="50000"/>
              </a:path>
            </a:gradFill>
            <a:ln w="28575">
              <a:solidFill>
                <a:srgbClr val="33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邻</a:t>
              </a:r>
              <a:endParaRPr b="0" lang="en-US" sz="2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接</a:t>
              </a:r>
              <a:endParaRPr b="0" lang="en-US" sz="2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矩</a:t>
              </a:r>
              <a:endParaRPr b="0" lang="en-US" sz="2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阵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543" name="Shape 2797"/>
            <p:cNvSpPr/>
            <p:nvPr/>
          </p:nvSpPr>
          <p:spPr>
            <a:xfrm>
              <a:off x="689040" y="4455000"/>
              <a:ext cx="609120" cy="1888560"/>
            </a:xfrm>
            <a:prstGeom prst="rect">
              <a:avLst/>
            </a:prstGeom>
            <a:gradFill rotWithShape="0">
              <a:gsLst>
                <a:gs pos="0">
                  <a:srgbClr val="ffefd1"/>
                </a:gs>
                <a:gs pos="100000">
                  <a:srgbClr val="d1c39f"/>
                </a:gs>
              </a:gsLst>
              <a:path path="circle">
                <a:fillToRect l="50000" t="50000" r="50000" b="50000"/>
              </a:path>
            </a:gradFill>
            <a:ln w="28575">
              <a:solidFill>
                <a:srgbClr val="33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邻</a:t>
              </a:r>
              <a:endParaRPr b="0" lang="en-US" sz="2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接</a:t>
              </a:r>
              <a:endParaRPr b="0" lang="en-US" sz="28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表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544" name="Shape 2798"/>
          <p:cNvGrpSpPr/>
          <p:nvPr/>
        </p:nvGrpSpPr>
        <p:grpSpPr>
          <a:xfrm>
            <a:off x="4816440" y="3308400"/>
            <a:ext cx="1523520" cy="2347560"/>
            <a:chOff x="4816440" y="3308400"/>
            <a:chExt cx="1523520" cy="2347560"/>
          </a:xfrm>
        </p:grpSpPr>
        <p:sp>
          <p:nvSpPr>
            <p:cNvPr id="2545" name="Shape 2799"/>
            <p:cNvSpPr/>
            <p:nvPr/>
          </p:nvSpPr>
          <p:spPr>
            <a:xfrm>
              <a:off x="4816440" y="3308400"/>
              <a:ext cx="13712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稠密图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546" name="Shape 2800"/>
            <p:cNvSpPr/>
            <p:nvPr/>
          </p:nvSpPr>
          <p:spPr>
            <a:xfrm>
              <a:off x="4816440" y="5137200"/>
              <a:ext cx="15235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稀疏图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547" name="Shape 2801"/>
          <p:cNvGrpSpPr/>
          <p:nvPr/>
        </p:nvGrpSpPr>
        <p:grpSpPr>
          <a:xfrm>
            <a:off x="6568920" y="3384720"/>
            <a:ext cx="1371240" cy="2271240"/>
            <a:chOff x="6568920" y="3384720"/>
            <a:chExt cx="1371240" cy="2271240"/>
          </a:xfrm>
        </p:grpSpPr>
        <p:sp>
          <p:nvSpPr>
            <p:cNvPr id="2548" name="Shape 2802"/>
            <p:cNvSpPr/>
            <p:nvPr/>
          </p:nvSpPr>
          <p:spPr>
            <a:xfrm>
              <a:off x="6645240" y="3384720"/>
              <a:ext cx="10663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唯一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549" name="Shape 2803"/>
            <p:cNvSpPr/>
            <p:nvPr/>
          </p:nvSpPr>
          <p:spPr>
            <a:xfrm>
              <a:off x="6568920" y="5137200"/>
              <a:ext cx="13712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不唯一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550" name="Shape 2804"/>
          <p:cNvGrpSpPr/>
          <p:nvPr/>
        </p:nvGrpSpPr>
        <p:grpSpPr>
          <a:xfrm>
            <a:off x="1311120" y="2622600"/>
            <a:ext cx="6782400" cy="3734280"/>
            <a:chOff x="1311120" y="2622600"/>
            <a:chExt cx="6782400" cy="3734280"/>
          </a:xfrm>
        </p:grpSpPr>
        <p:sp>
          <p:nvSpPr>
            <p:cNvPr id="2551" name="Shape 2805"/>
            <p:cNvSpPr/>
            <p:nvPr/>
          </p:nvSpPr>
          <p:spPr>
            <a:xfrm>
              <a:off x="1311120" y="6356520"/>
              <a:ext cx="67813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66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52" name="Shape 2806"/>
            <p:cNvSpPr/>
            <p:nvPr/>
          </p:nvSpPr>
          <p:spPr>
            <a:xfrm>
              <a:off x="8093160" y="2622600"/>
              <a:ext cx="360" cy="3733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66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53" name="Shape 2807"/>
            <p:cNvSpPr/>
            <p:nvPr/>
          </p:nvSpPr>
          <p:spPr>
            <a:xfrm>
              <a:off x="1311120" y="4438800"/>
              <a:ext cx="67813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66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54" name="Shape 2808"/>
            <p:cNvSpPr/>
            <p:nvPr/>
          </p:nvSpPr>
          <p:spPr>
            <a:xfrm>
              <a:off x="2987640" y="2622600"/>
              <a:ext cx="360" cy="3733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66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55" name="Shape 2809"/>
            <p:cNvSpPr/>
            <p:nvPr/>
          </p:nvSpPr>
          <p:spPr>
            <a:xfrm>
              <a:off x="4664160" y="2622600"/>
              <a:ext cx="360" cy="3733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66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56" name="Shape 2810"/>
            <p:cNvSpPr/>
            <p:nvPr/>
          </p:nvSpPr>
          <p:spPr>
            <a:xfrm>
              <a:off x="6340320" y="2622600"/>
              <a:ext cx="360" cy="37335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660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557" name="Shape 2811"/>
          <p:cNvSpPr/>
          <p:nvPr/>
        </p:nvSpPr>
        <p:spPr>
          <a:xfrm>
            <a:off x="2225520" y="380880"/>
            <a:ext cx="51051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6.2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图的存储结构及实现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8" name="Shape 2816"/>
          <p:cNvSpPr/>
          <p:nvPr/>
        </p:nvSpPr>
        <p:spPr>
          <a:xfrm>
            <a:off x="311040" y="2209680"/>
            <a:ext cx="862596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Clr>
                <a:srgbClr val="000000"/>
              </a:buClr>
              <a:buFont typeface="Noto Sans Symbols"/>
              <a:buChar char="•"/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 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生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成树的代价：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设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 = (V, E)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是一个无向连通网，生成树上各边的权值之和称为该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生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成树的代价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559" name="Shape 2817"/>
          <p:cNvSpPr/>
          <p:nvPr/>
        </p:nvSpPr>
        <p:spPr>
          <a:xfrm>
            <a:off x="380880" y="3382920"/>
            <a:ext cx="845784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noAutofit/>
          </a:bodyPr>
          <a:p>
            <a:pPr algn="just">
              <a:lnSpc>
                <a:spcPct val="100000"/>
              </a:lnSpc>
              <a:buClr>
                <a:srgbClr val="000000"/>
              </a:buClr>
              <a:buFont typeface="Noto Sans Symbols"/>
              <a:buChar char="•"/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 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最小生成树：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在图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所有生成树中，代价最小的生成树称为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最小生成树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。 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560" name="Shape 2818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561" name="Shape 2819"/>
          <p:cNvSpPr/>
          <p:nvPr/>
        </p:nvSpPr>
        <p:spPr>
          <a:xfrm>
            <a:off x="365040" y="1193760"/>
            <a:ext cx="5105160" cy="57924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最小生成树的定义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562" name="Shape 2820"/>
          <p:cNvSpPr/>
          <p:nvPr/>
        </p:nvSpPr>
        <p:spPr>
          <a:xfrm>
            <a:off x="347760" y="4513320"/>
            <a:ext cx="8542080" cy="1999800"/>
          </a:xfrm>
          <a:prstGeom prst="rect">
            <a:avLst/>
          </a:prstGeom>
          <a:noFill/>
          <a:ln w="2857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最小生成树的概念可以应用到许多实际问题中。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例：在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个城市之间建造通信网络，至少要架设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-1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条通信线路，而每两个城市之间架设通信线路的造价是不一样的，那么如何设计才能使得总造价最小？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3" name="Shape 2825"/>
          <p:cNvSpPr/>
          <p:nvPr/>
        </p:nvSpPr>
        <p:spPr>
          <a:xfrm>
            <a:off x="425520" y="1125360"/>
            <a:ext cx="28191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99"/>
                </a:solidFill>
                <a:latin typeface="Times New Roman"/>
                <a:ea typeface="Times New Roman"/>
              </a:rPr>
              <a:t>MST</a:t>
            </a:r>
            <a:r>
              <a:rPr b="1" lang="ja-JP" sz="3200" spc="-1" strike="noStrike">
                <a:solidFill>
                  <a:srgbClr val="003399"/>
                </a:solidFill>
                <a:latin typeface="Arial"/>
                <a:ea typeface="Arial"/>
              </a:rPr>
              <a:t>性质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564" name="Shape 2826"/>
          <p:cNvSpPr/>
          <p:nvPr/>
        </p:nvSpPr>
        <p:spPr>
          <a:xfrm>
            <a:off x="396720" y="1925640"/>
            <a:ext cx="8381520" cy="18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假设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是一个无向连通网，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是顶点集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的一个非空子集。若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是一条具有最小权值的边，其中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∈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∈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－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，则必存在一棵包含边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的最小生成树。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2565" name="Shape 2827"/>
          <p:cNvGrpSpPr/>
          <p:nvPr/>
        </p:nvGrpSpPr>
        <p:grpSpPr>
          <a:xfrm>
            <a:off x="549360" y="4022640"/>
            <a:ext cx="8183160" cy="2401560"/>
            <a:chOff x="549360" y="4022640"/>
            <a:chExt cx="8183160" cy="2401560"/>
          </a:xfrm>
        </p:grpSpPr>
        <p:sp>
          <p:nvSpPr>
            <p:cNvPr id="2566" name="Shape 2828"/>
            <p:cNvSpPr/>
            <p:nvPr/>
          </p:nvSpPr>
          <p:spPr>
            <a:xfrm>
              <a:off x="5059800" y="4022640"/>
              <a:ext cx="3645000" cy="240156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67" name="Shape 2829"/>
            <p:cNvSpPr/>
            <p:nvPr/>
          </p:nvSpPr>
          <p:spPr>
            <a:xfrm>
              <a:off x="549360" y="4022640"/>
              <a:ext cx="3262680" cy="240156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68" name="Shape 2830"/>
            <p:cNvSpPr/>
            <p:nvPr/>
          </p:nvSpPr>
          <p:spPr>
            <a:xfrm>
              <a:off x="981000" y="4771800"/>
              <a:ext cx="310320" cy="100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10800" bIns="10800" anchor="t">
              <a:noAutofit/>
            </a:bodyPr>
            <a:p>
              <a:pPr algn="just">
                <a:lnSpc>
                  <a:spcPct val="80000"/>
                </a:lnSpc>
                <a:buNone/>
                <a:tabLst>
                  <a:tab algn="l" pos="0"/>
                </a:tabLst>
              </a:pP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顶点集</a:t>
              </a:r>
              <a:r>
                <a:rPr b="1" i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U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569" name="Shape 2831"/>
            <p:cNvSpPr/>
            <p:nvPr/>
          </p:nvSpPr>
          <p:spPr>
            <a:xfrm>
              <a:off x="7759080" y="5530680"/>
              <a:ext cx="973440" cy="30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10800" bIns="10800" anchor="t">
              <a:noAutofit/>
            </a:bodyPr>
            <a:p>
              <a:pPr algn="just">
                <a:lnSpc>
                  <a:spcPct val="104000"/>
                </a:lnSpc>
                <a:buNone/>
                <a:tabLst>
                  <a:tab algn="l" pos="0"/>
                </a:tabLst>
              </a:pPr>
              <a:r>
                <a:rPr b="1" i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－</a:t>
              </a:r>
              <a:r>
                <a:rPr b="1" i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U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570" name="Shape 2832"/>
            <p:cNvSpPr/>
            <p:nvPr/>
          </p:nvSpPr>
          <p:spPr>
            <a:xfrm>
              <a:off x="4284720" y="5970960"/>
              <a:ext cx="312120" cy="293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71" name="Shape 2833"/>
            <p:cNvSpPr/>
            <p:nvPr/>
          </p:nvSpPr>
          <p:spPr>
            <a:xfrm flipH="1">
              <a:off x="4284000" y="5951160"/>
              <a:ext cx="275400" cy="294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72" name="Shape 2834"/>
            <p:cNvSpPr/>
            <p:nvPr/>
          </p:nvSpPr>
          <p:spPr>
            <a:xfrm>
              <a:off x="2950560" y="5926320"/>
              <a:ext cx="269640" cy="19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64000"/>
                </a:lnSpc>
                <a:buNone/>
                <a:tabLst>
                  <a:tab algn="l" pos="0"/>
                </a:tabLst>
              </a:pPr>
              <a:r>
                <a:rPr b="1" i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u</a:t>
              </a: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'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573" name="Shape 2835"/>
            <p:cNvSpPr/>
            <p:nvPr/>
          </p:nvSpPr>
          <p:spPr>
            <a:xfrm>
              <a:off x="6009840" y="4529160"/>
              <a:ext cx="269640" cy="212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72000"/>
                </a:lnSpc>
                <a:buNone/>
                <a:tabLst>
                  <a:tab algn="l" pos="0"/>
                </a:tabLst>
              </a:pPr>
              <a:r>
                <a:rPr b="1" i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574" name="Shape 2836"/>
            <p:cNvSpPr/>
            <p:nvPr/>
          </p:nvSpPr>
          <p:spPr>
            <a:xfrm>
              <a:off x="5897880" y="5764680"/>
              <a:ext cx="308160" cy="23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72000"/>
                </a:lnSpc>
                <a:buNone/>
                <a:tabLst>
                  <a:tab algn="l" pos="0"/>
                </a:tabLst>
              </a:pPr>
              <a:r>
                <a:rPr b="1" i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'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575" name="Shape 2837"/>
            <p:cNvSpPr/>
            <p:nvPr/>
          </p:nvSpPr>
          <p:spPr>
            <a:xfrm>
              <a:off x="2945160" y="4380840"/>
              <a:ext cx="251280" cy="23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72000"/>
                </a:lnSpc>
                <a:buNone/>
                <a:tabLst>
                  <a:tab algn="l" pos="0"/>
                </a:tabLst>
              </a:pPr>
              <a:r>
                <a:rPr b="1" i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u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576" name="Shape 2838"/>
            <p:cNvSpPr/>
            <p:nvPr/>
          </p:nvSpPr>
          <p:spPr>
            <a:xfrm>
              <a:off x="3206160" y="5716800"/>
              <a:ext cx="2735280" cy="390600"/>
            </a:xfrm>
            <a:custGeom>
              <a:avLst/>
              <a:gdLst/>
              <a:ahLst/>
              <a:rect l="l" t="t" r="r" b="b"/>
              <a:pathLst>
                <a:path w="2235" h="315">
                  <a:moveTo>
                    <a:pt x="0" y="90"/>
                  </a:moveTo>
                  <a:cubicBezTo>
                    <a:pt x="180" y="122"/>
                    <a:pt x="707" y="315"/>
                    <a:pt x="1080" y="300"/>
                  </a:cubicBezTo>
                  <a:cubicBezTo>
                    <a:pt x="1453" y="285"/>
                    <a:pt x="1995" y="62"/>
                    <a:pt x="2235" y="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77" name="Shape 2839"/>
            <p:cNvSpPr/>
            <p:nvPr/>
          </p:nvSpPr>
          <p:spPr>
            <a:xfrm>
              <a:off x="7986960" y="4722120"/>
              <a:ext cx="254880" cy="771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80000"/>
                </a:lnSpc>
                <a:buNone/>
                <a:tabLst>
                  <a:tab algn="l" pos="0"/>
                </a:tabLst>
              </a:pP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顶点集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578" name="Shape 2840"/>
            <p:cNvSpPr/>
            <p:nvPr/>
          </p:nvSpPr>
          <p:spPr>
            <a:xfrm>
              <a:off x="3149280" y="4341240"/>
              <a:ext cx="2939400" cy="519120"/>
            </a:xfrm>
            <a:custGeom>
              <a:avLst/>
              <a:gdLst/>
              <a:ahLst/>
              <a:rect l="l" t="t" r="r" b="b"/>
              <a:pathLst>
                <a:path w="2402" h="418">
                  <a:moveTo>
                    <a:pt x="0" y="249"/>
                  </a:moveTo>
                  <a:cubicBezTo>
                    <a:pt x="195" y="212"/>
                    <a:pt x="772" y="0"/>
                    <a:pt x="1172" y="28"/>
                  </a:cubicBezTo>
                  <a:cubicBezTo>
                    <a:pt x="1504" y="28"/>
                    <a:pt x="2146" y="337"/>
                    <a:pt x="2402" y="418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79" name="Shape 2841"/>
            <p:cNvSpPr/>
            <p:nvPr/>
          </p:nvSpPr>
          <p:spPr>
            <a:xfrm flipH="1">
              <a:off x="2653200" y="4712400"/>
              <a:ext cx="403920" cy="352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0" name="Shape 2842"/>
            <p:cNvSpPr/>
            <p:nvPr/>
          </p:nvSpPr>
          <p:spPr>
            <a:xfrm>
              <a:off x="2636640" y="5159160"/>
              <a:ext cx="457200" cy="613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1" name="Shape 2843"/>
            <p:cNvSpPr/>
            <p:nvPr/>
          </p:nvSpPr>
          <p:spPr>
            <a:xfrm>
              <a:off x="3040560" y="4636440"/>
              <a:ext cx="89640" cy="11196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2" name="Shape 2844"/>
            <p:cNvSpPr/>
            <p:nvPr/>
          </p:nvSpPr>
          <p:spPr>
            <a:xfrm>
              <a:off x="3114360" y="5735160"/>
              <a:ext cx="89640" cy="11196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3" name="Shape 2845"/>
            <p:cNvSpPr/>
            <p:nvPr/>
          </p:nvSpPr>
          <p:spPr>
            <a:xfrm>
              <a:off x="2562840" y="5047200"/>
              <a:ext cx="89640" cy="11196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4" name="Shape 2846"/>
            <p:cNvSpPr/>
            <p:nvPr/>
          </p:nvSpPr>
          <p:spPr>
            <a:xfrm>
              <a:off x="2212200" y="5419800"/>
              <a:ext cx="91440" cy="11016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5" name="Shape 2847"/>
            <p:cNvSpPr/>
            <p:nvPr/>
          </p:nvSpPr>
          <p:spPr>
            <a:xfrm>
              <a:off x="2304000" y="5921640"/>
              <a:ext cx="91440" cy="11196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6" name="Shape 2848"/>
            <p:cNvSpPr/>
            <p:nvPr/>
          </p:nvSpPr>
          <p:spPr>
            <a:xfrm>
              <a:off x="1532160" y="5604840"/>
              <a:ext cx="89640" cy="11196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7" name="Shape 2849"/>
            <p:cNvSpPr/>
            <p:nvPr/>
          </p:nvSpPr>
          <p:spPr>
            <a:xfrm>
              <a:off x="1679400" y="4804560"/>
              <a:ext cx="89640" cy="11196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8" name="Shape 2850"/>
            <p:cNvSpPr/>
            <p:nvPr/>
          </p:nvSpPr>
          <p:spPr>
            <a:xfrm>
              <a:off x="1773000" y="4897080"/>
              <a:ext cx="459000" cy="5587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89" name="Shape 2851"/>
            <p:cNvSpPr/>
            <p:nvPr/>
          </p:nvSpPr>
          <p:spPr>
            <a:xfrm flipH="1">
              <a:off x="1589040" y="4916880"/>
              <a:ext cx="128160" cy="687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90" name="Shape 2852"/>
            <p:cNvSpPr/>
            <p:nvPr/>
          </p:nvSpPr>
          <p:spPr>
            <a:xfrm>
              <a:off x="2269080" y="5530680"/>
              <a:ext cx="73080" cy="4104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91" name="Shape 2853"/>
            <p:cNvSpPr/>
            <p:nvPr/>
          </p:nvSpPr>
          <p:spPr>
            <a:xfrm>
              <a:off x="1773000" y="4860720"/>
              <a:ext cx="789840" cy="2224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92" name="Shape 2854"/>
            <p:cNvSpPr/>
            <p:nvPr/>
          </p:nvSpPr>
          <p:spPr>
            <a:xfrm flipH="1">
              <a:off x="7023960" y="4730400"/>
              <a:ext cx="403920" cy="3528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93" name="Shape 2855"/>
            <p:cNvSpPr/>
            <p:nvPr/>
          </p:nvSpPr>
          <p:spPr>
            <a:xfrm>
              <a:off x="7007400" y="5177520"/>
              <a:ext cx="457200" cy="613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94" name="Shape 2856"/>
            <p:cNvSpPr/>
            <p:nvPr/>
          </p:nvSpPr>
          <p:spPr>
            <a:xfrm>
              <a:off x="7409880" y="4656240"/>
              <a:ext cx="91440" cy="11016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95" name="Shape 2857"/>
            <p:cNvSpPr/>
            <p:nvPr/>
          </p:nvSpPr>
          <p:spPr>
            <a:xfrm>
              <a:off x="7483320" y="5754960"/>
              <a:ext cx="91440" cy="11016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96" name="Shape 2858"/>
            <p:cNvSpPr/>
            <p:nvPr/>
          </p:nvSpPr>
          <p:spPr>
            <a:xfrm>
              <a:off x="6933960" y="5065200"/>
              <a:ext cx="89640" cy="11196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97" name="Shape 2859"/>
            <p:cNvSpPr/>
            <p:nvPr/>
          </p:nvSpPr>
          <p:spPr>
            <a:xfrm>
              <a:off x="5903280" y="5624640"/>
              <a:ext cx="89640" cy="11016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98" name="Shape 2860"/>
            <p:cNvSpPr/>
            <p:nvPr/>
          </p:nvSpPr>
          <p:spPr>
            <a:xfrm>
              <a:off x="6050160" y="4822920"/>
              <a:ext cx="89640" cy="11196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99" name="Shape 2861"/>
            <p:cNvSpPr/>
            <p:nvPr/>
          </p:nvSpPr>
          <p:spPr>
            <a:xfrm flipH="1">
              <a:off x="5957640" y="4934880"/>
              <a:ext cx="129960" cy="6890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00" name="Shape 2862"/>
            <p:cNvSpPr/>
            <p:nvPr/>
          </p:nvSpPr>
          <p:spPr>
            <a:xfrm>
              <a:off x="6142320" y="4878720"/>
              <a:ext cx="791640" cy="223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01" name="Shape 2863"/>
            <p:cNvSpPr/>
            <p:nvPr/>
          </p:nvSpPr>
          <p:spPr>
            <a:xfrm>
              <a:off x="1824480" y="4194360"/>
              <a:ext cx="527040" cy="23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72000"/>
                </a:lnSpc>
                <a:buNone/>
                <a:tabLst>
                  <a:tab algn="l" pos="0"/>
                </a:tabLst>
              </a:pPr>
              <a:r>
                <a:rPr b="1" i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T</a:t>
              </a:r>
              <a:r>
                <a:rPr b="1" lang="en-US" sz="20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2602" name="Shape 2864"/>
            <p:cNvSpPr/>
            <p:nvPr/>
          </p:nvSpPr>
          <p:spPr>
            <a:xfrm>
              <a:off x="6599520" y="4176000"/>
              <a:ext cx="525240" cy="23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72000"/>
                </a:lnSpc>
                <a:buNone/>
                <a:tabLst>
                  <a:tab algn="l" pos="0"/>
                </a:tabLst>
              </a:pPr>
              <a:r>
                <a:rPr b="1" i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T</a:t>
              </a:r>
              <a:r>
                <a:rPr b="1" lang="en-US" sz="20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000" spc="-1" strike="noStrike">
                <a:latin typeface="Arial"/>
              </a:endParaRPr>
            </a:p>
          </p:txBody>
        </p:sp>
      </p:grpSp>
      <p:sp>
        <p:nvSpPr>
          <p:cNvPr id="2603" name="Shape 2865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Shape 2870"/>
          <p:cNvSpPr/>
          <p:nvPr/>
        </p:nvSpPr>
        <p:spPr>
          <a:xfrm>
            <a:off x="387360" y="1905120"/>
            <a:ext cx="8340480" cy="15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基本思想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：设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=(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是具有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个顶点的连通网，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=(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TE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ja-JP" sz="2400" spc="-1" strike="noStrike">
                <a:solidFill>
                  <a:srgbClr val="000000"/>
                </a:solidFill>
                <a:latin typeface="Arial"/>
                <a:ea typeface="Arial"/>
              </a:rPr>
              <a:t>的最小生成树，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b="1" lang="ja-JP" sz="2400" spc="-1" strike="noStrike">
                <a:solidFill>
                  <a:srgbClr val="000000"/>
                </a:solidFill>
                <a:latin typeface="Arial"/>
                <a:ea typeface="Arial"/>
              </a:rPr>
              <a:t>的</a:t>
            </a:r>
            <a:r>
              <a:rPr b="1" lang="ja-JP" sz="2400" spc="-1" strike="noStrike">
                <a:solidFill>
                  <a:srgbClr val="ff0000"/>
                </a:solidFill>
                <a:latin typeface="Arial"/>
                <a:ea typeface="Arial"/>
              </a:rPr>
              <a:t>初始状态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为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={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（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∈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），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TE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={ }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，重复执行下述操作：在所有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∈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∈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的边中找一条代价最小的边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并入集合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TE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，同时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并入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，直至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605" name="Shape 2871"/>
          <p:cNvSpPr/>
          <p:nvPr/>
        </p:nvSpPr>
        <p:spPr>
          <a:xfrm>
            <a:off x="380880" y="1295280"/>
            <a:ext cx="67053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6" name="Shape 2872"/>
          <p:cNvSpPr/>
          <p:nvPr/>
        </p:nvSpPr>
        <p:spPr>
          <a:xfrm>
            <a:off x="380880" y="1231920"/>
            <a:ext cx="5257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普里姆（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Prim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）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算法</a:t>
            </a:r>
            <a:r>
              <a:rPr b="0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07" name="Shape 2873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608" name="Shape 2874"/>
          <p:cNvSpPr/>
          <p:nvPr/>
        </p:nvSpPr>
        <p:spPr>
          <a:xfrm>
            <a:off x="160200" y="3478320"/>
            <a:ext cx="5986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Prim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算法的基本思想用伪代码描述如下：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609" name="Shape 2875"/>
          <p:cNvSpPr/>
          <p:nvPr/>
        </p:nvSpPr>
        <p:spPr>
          <a:xfrm>
            <a:off x="873000" y="3981600"/>
            <a:ext cx="7934400" cy="2091960"/>
          </a:xfrm>
          <a:prstGeom prst="rect">
            <a:avLst/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初始化：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 = {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0}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TE={ }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重复下述操作直到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 = 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2.1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中寻找最短边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v)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，且满足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∈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∈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2.2 U = U + {v}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2.3 TE = TE + {(u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v)}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2610" name="Shape 2876"/>
          <p:cNvGrpSpPr/>
          <p:nvPr/>
        </p:nvGrpSpPr>
        <p:grpSpPr>
          <a:xfrm>
            <a:off x="1689120" y="5210280"/>
            <a:ext cx="5730480" cy="1428120"/>
            <a:chOff x="1689120" y="5210280"/>
            <a:chExt cx="5730480" cy="1428120"/>
          </a:xfrm>
        </p:grpSpPr>
        <p:sp>
          <p:nvSpPr>
            <p:cNvPr id="2611" name="Shape 2877"/>
            <p:cNvSpPr/>
            <p:nvPr/>
          </p:nvSpPr>
          <p:spPr>
            <a:xfrm>
              <a:off x="1689120" y="6153120"/>
              <a:ext cx="5730480" cy="485280"/>
            </a:xfrm>
            <a:prstGeom prst="rect">
              <a:avLst/>
            </a:pr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关键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:</a:t>
              </a: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是如何找到连接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U</a:t>
              </a: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和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-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U</a:t>
              </a: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的最短边</a:t>
              </a:r>
              <a:r>
                <a:rPr b="1" lang="ja-JP" sz="2400" spc="-1" strike="noStrike">
                  <a:solidFill>
                    <a:srgbClr val="000000"/>
                  </a:solidFill>
                  <a:latin typeface="Arial"/>
                  <a:ea typeface="Arial"/>
                </a:rPr>
                <a:t>。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612" name="Shape 2878"/>
            <p:cNvSpPr/>
            <p:nvPr/>
          </p:nvSpPr>
          <p:spPr>
            <a:xfrm>
              <a:off x="1814400" y="5210280"/>
              <a:ext cx="30762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3" name="Shape 2883"/>
          <p:cNvSpPr/>
          <p:nvPr/>
        </p:nvSpPr>
        <p:spPr>
          <a:xfrm>
            <a:off x="4740120" y="2836800"/>
            <a:ext cx="4403520" cy="22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U={A}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V-U={B, C, D, E, F}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cost={(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)34, 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)46,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)∞,(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)∞,(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)19}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14" name="Shape 2884"/>
          <p:cNvSpPr/>
          <p:nvPr/>
        </p:nvSpPr>
        <p:spPr>
          <a:xfrm>
            <a:off x="915840" y="2624040"/>
            <a:ext cx="1267920" cy="826560"/>
          </a:xfrm>
          <a:custGeom>
            <a:avLst/>
            <a:gdLst/>
            <a:ahLst/>
            <a:rect l="l" t="t" r="r" b="b"/>
            <a:pathLst>
              <a:path w="666" h="426">
                <a:moveTo>
                  <a:pt x="666" y="0"/>
                </a:moveTo>
                <a:lnTo>
                  <a:pt x="0" y="426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15" name="Shape 2885"/>
          <p:cNvSpPr/>
          <p:nvPr/>
        </p:nvSpPr>
        <p:spPr>
          <a:xfrm>
            <a:off x="3378240" y="3789360"/>
            <a:ext cx="674280" cy="1420560"/>
          </a:xfrm>
          <a:custGeom>
            <a:avLst/>
            <a:gdLst/>
            <a:ahLst/>
            <a:rect l="l" t="t" r="r" b="b"/>
            <a:pathLst>
              <a:path w="345" h="810">
                <a:moveTo>
                  <a:pt x="345" y="0"/>
                </a:moveTo>
                <a:lnTo>
                  <a:pt x="0" y="81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16" name="Shape 2886"/>
          <p:cNvSpPr/>
          <p:nvPr/>
        </p:nvSpPr>
        <p:spPr>
          <a:xfrm>
            <a:off x="2513160" y="4232160"/>
            <a:ext cx="597960" cy="1004400"/>
          </a:xfrm>
          <a:custGeom>
            <a:avLst/>
            <a:gdLst/>
            <a:ahLst/>
            <a:rect l="l" t="t" r="r" b="b"/>
            <a:pathLst>
              <a:path w="291" h="556">
                <a:moveTo>
                  <a:pt x="291" y="55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17" name="Shape 2887"/>
          <p:cNvSpPr/>
          <p:nvPr/>
        </p:nvSpPr>
        <p:spPr>
          <a:xfrm>
            <a:off x="1778040" y="5372280"/>
            <a:ext cx="124092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18" name="Shape 2888"/>
          <p:cNvSpPr/>
          <p:nvPr/>
        </p:nvSpPr>
        <p:spPr>
          <a:xfrm>
            <a:off x="782640" y="3759120"/>
            <a:ext cx="630000" cy="1375920"/>
          </a:xfrm>
          <a:custGeom>
            <a:avLst/>
            <a:gdLst/>
            <a:ahLst/>
            <a:rect l="l" t="t" r="r" b="b"/>
            <a:pathLst>
              <a:path w="309" h="758">
                <a:moveTo>
                  <a:pt x="0" y="0"/>
                </a:moveTo>
                <a:lnTo>
                  <a:pt x="309" y="758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19" name="Shape 2889"/>
          <p:cNvSpPr/>
          <p:nvPr/>
        </p:nvSpPr>
        <p:spPr>
          <a:xfrm>
            <a:off x="2862360" y="4352760"/>
            <a:ext cx="4125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20" name="Shape 2890"/>
          <p:cNvSpPr/>
          <p:nvPr/>
        </p:nvSpPr>
        <p:spPr>
          <a:xfrm>
            <a:off x="3287880" y="253692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21" name="Shape 2891"/>
          <p:cNvSpPr/>
          <p:nvPr/>
        </p:nvSpPr>
        <p:spPr>
          <a:xfrm>
            <a:off x="1312920" y="2565360"/>
            <a:ext cx="40752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22" name="Shape 2892"/>
          <p:cNvSpPr/>
          <p:nvPr/>
        </p:nvSpPr>
        <p:spPr>
          <a:xfrm>
            <a:off x="1531800" y="334656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23" name="Shape 2893"/>
          <p:cNvSpPr/>
          <p:nvPr/>
        </p:nvSpPr>
        <p:spPr>
          <a:xfrm>
            <a:off x="2981160" y="334800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24" name="Shape 2894"/>
          <p:cNvSpPr/>
          <p:nvPr/>
        </p:nvSpPr>
        <p:spPr>
          <a:xfrm>
            <a:off x="657360" y="4264200"/>
            <a:ext cx="4075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25" name="Shape 2895"/>
          <p:cNvSpPr/>
          <p:nvPr/>
        </p:nvSpPr>
        <p:spPr>
          <a:xfrm>
            <a:off x="3805200" y="4325760"/>
            <a:ext cx="4060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26" name="Shape 2896"/>
          <p:cNvSpPr/>
          <p:nvPr/>
        </p:nvSpPr>
        <p:spPr>
          <a:xfrm>
            <a:off x="2249640" y="544356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27" name="Shape 2897"/>
          <p:cNvSpPr/>
          <p:nvPr/>
        </p:nvSpPr>
        <p:spPr>
          <a:xfrm>
            <a:off x="1546200" y="4359240"/>
            <a:ext cx="4107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28" name="Shape 2898"/>
          <p:cNvSpPr/>
          <p:nvPr/>
        </p:nvSpPr>
        <p:spPr>
          <a:xfrm>
            <a:off x="1633680" y="4235400"/>
            <a:ext cx="630000" cy="915480"/>
          </a:xfrm>
          <a:custGeom>
            <a:avLst/>
            <a:gdLst/>
            <a:ahLst/>
            <a:rect l="l" t="t" r="r" b="b"/>
            <a:pathLst>
              <a:path w="321" h="521">
                <a:moveTo>
                  <a:pt x="321" y="0"/>
                </a:moveTo>
                <a:lnTo>
                  <a:pt x="0" y="521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29" name="Shape 2899"/>
          <p:cNvSpPr/>
          <p:nvPr/>
        </p:nvSpPr>
        <p:spPr>
          <a:xfrm>
            <a:off x="2608200" y="3576600"/>
            <a:ext cx="1293480" cy="491760"/>
          </a:xfrm>
          <a:custGeom>
            <a:avLst/>
            <a:gdLst/>
            <a:ahLst/>
            <a:rect l="l" t="t" r="r" b="b"/>
            <a:pathLst>
              <a:path w="615" h="270">
                <a:moveTo>
                  <a:pt x="615" y="0"/>
                </a:moveTo>
                <a:lnTo>
                  <a:pt x="0" y="27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30" name="Shape 2900"/>
          <p:cNvSpPr/>
          <p:nvPr/>
        </p:nvSpPr>
        <p:spPr>
          <a:xfrm>
            <a:off x="2660760" y="2619360"/>
            <a:ext cx="1314000" cy="785520"/>
          </a:xfrm>
          <a:custGeom>
            <a:avLst/>
            <a:gdLst/>
            <a:ahLst/>
            <a:rect l="l" t="t" r="r" b="b"/>
            <a:pathLst>
              <a:path w="633" h="420">
                <a:moveTo>
                  <a:pt x="0" y="0"/>
                </a:moveTo>
                <a:lnTo>
                  <a:pt x="633" y="42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31" name="Shape 2901"/>
          <p:cNvSpPr/>
          <p:nvPr/>
        </p:nvSpPr>
        <p:spPr>
          <a:xfrm>
            <a:off x="915840" y="3576600"/>
            <a:ext cx="1230120" cy="450360"/>
          </a:xfrm>
          <a:custGeom>
            <a:avLst/>
            <a:gdLst/>
            <a:ahLst/>
            <a:rect l="l" t="t" r="r" b="b"/>
            <a:pathLst>
              <a:path w="630" h="255">
                <a:moveTo>
                  <a:pt x="630" y="255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632" name="Shape 2902"/>
          <p:cNvGrpSpPr/>
          <p:nvPr/>
        </p:nvGrpSpPr>
        <p:grpSpPr>
          <a:xfrm>
            <a:off x="425520" y="3260880"/>
            <a:ext cx="529920" cy="595080"/>
            <a:chOff x="425520" y="3260880"/>
            <a:chExt cx="529920" cy="595080"/>
          </a:xfrm>
        </p:grpSpPr>
        <p:sp>
          <p:nvSpPr>
            <p:cNvPr id="2633" name="Shape 2903"/>
            <p:cNvSpPr/>
            <p:nvPr/>
          </p:nvSpPr>
          <p:spPr>
            <a:xfrm>
              <a:off x="425520" y="3309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34" name="Shape 2904"/>
            <p:cNvSpPr/>
            <p:nvPr/>
          </p:nvSpPr>
          <p:spPr>
            <a:xfrm>
              <a:off x="492120" y="32608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635" name="Shape 2905"/>
          <p:cNvGrpSpPr/>
          <p:nvPr/>
        </p:nvGrpSpPr>
        <p:grpSpPr>
          <a:xfrm>
            <a:off x="2160720" y="2301840"/>
            <a:ext cx="529920" cy="595080"/>
            <a:chOff x="2160720" y="2301840"/>
            <a:chExt cx="529920" cy="595080"/>
          </a:xfrm>
        </p:grpSpPr>
        <p:sp>
          <p:nvSpPr>
            <p:cNvPr id="2636" name="Shape 2906"/>
            <p:cNvSpPr/>
            <p:nvPr/>
          </p:nvSpPr>
          <p:spPr>
            <a:xfrm>
              <a:off x="2160720" y="2351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37" name="Shape 2907"/>
            <p:cNvSpPr/>
            <p:nvPr/>
          </p:nvSpPr>
          <p:spPr>
            <a:xfrm>
              <a:off x="2227320" y="2301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638" name="Shape 2908"/>
          <p:cNvGrpSpPr/>
          <p:nvPr/>
        </p:nvGrpSpPr>
        <p:grpSpPr>
          <a:xfrm>
            <a:off x="3854520" y="3276720"/>
            <a:ext cx="529920" cy="595080"/>
            <a:chOff x="3854520" y="3276720"/>
            <a:chExt cx="529920" cy="595080"/>
          </a:xfrm>
        </p:grpSpPr>
        <p:sp>
          <p:nvSpPr>
            <p:cNvPr id="2639" name="Shape 2909"/>
            <p:cNvSpPr/>
            <p:nvPr/>
          </p:nvSpPr>
          <p:spPr>
            <a:xfrm>
              <a:off x="3854520" y="3325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40" name="Shape 2910"/>
            <p:cNvSpPr/>
            <p:nvPr/>
          </p:nvSpPr>
          <p:spPr>
            <a:xfrm>
              <a:off x="3921120" y="3276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641" name="Shape 2911"/>
          <p:cNvGrpSpPr/>
          <p:nvPr/>
        </p:nvGrpSpPr>
        <p:grpSpPr>
          <a:xfrm>
            <a:off x="3002040" y="5121360"/>
            <a:ext cx="529920" cy="595080"/>
            <a:chOff x="3002040" y="5121360"/>
            <a:chExt cx="529920" cy="595080"/>
          </a:xfrm>
        </p:grpSpPr>
        <p:sp>
          <p:nvSpPr>
            <p:cNvPr id="2642" name="Shape 2912"/>
            <p:cNvSpPr/>
            <p:nvPr/>
          </p:nvSpPr>
          <p:spPr>
            <a:xfrm>
              <a:off x="3002040" y="5170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43" name="Shape 2913"/>
            <p:cNvSpPr/>
            <p:nvPr/>
          </p:nvSpPr>
          <p:spPr>
            <a:xfrm>
              <a:off x="3068640" y="51213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644" name="Shape 2914"/>
          <p:cNvGrpSpPr/>
          <p:nvPr/>
        </p:nvGrpSpPr>
        <p:grpSpPr>
          <a:xfrm>
            <a:off x="1263600" y="5059440"/>
            <a:ext cx="529920" cy="595080"/>
            <a:chOff x="1263600" y="5059440"/>
            <a:chExt cx="529920" cy="595080"/>
          </a:xfrm>
        </p:grpSpPr>
        <p:sp>
          <p:nvSpPr>
            <p:cNvPr id="2645" name="Shape 2915"/>
            <p:cNvSpPr/>
            <p:nvPr/>
          </p:nvSpPr>
          <p:spPr>
            <a:xfrm>
              <a:off x="1263600" y="510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46" name="Shape 2916"/>
            <p:cNvSpPr/>
            <p:nvPr/>
          </p:nvSpPr>
          <p:spPr>
            <a:xfrm>
              <a:off x="1330200" y="5059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647" name="Shape 2917"/>
          <p:cNvGrpSpPr/>
          <p:nvPr/>
        </p:nvGrpSpPr>
        <p:grpSpPr>
          <a:xfrm>
            <a:off x="2133720" y="3719520"/>
            <a:ext cx="529920" cy="595080"/>
            <a:chOff x="2133720" y="3719520"/>
            <a:chExt cx="529920" cy="595080"/>
          </a:xfrm>
        </p:grpSpPr>
        <p:sp>
          <p:nvSpPr>
            <p:cNvPr id="2648" name="Shape 2918"/>
            <p:cNvSpPr/>
            <p:nvPr/>
          </p:nvSpPr>
          <p:spPr>
            <a:xfrm>
              <a:off x="2133720" y="3768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49" name="Shape 2919"/>
            <p:cNvSpPr/>
            <p:nvPr/>
          </p:nvSpPr>
          <p:spPr>
            <a:xfrm>
              <a:off x="2200320" y="3719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2650" name="Shape 2920"/>
          <p:cNvSpPr/>
          <p:nvPr/>
        </p:nvSpPr>
        <p:spPr>
          <a:xfrm>
            <a:off x="380880" y="1333440"/>
            <a:ext cx="5257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Prim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算法</a:t>
            </a:r>
            <a:r>
              <a:rPr b="0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51" name="Shape 2921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652" name="Shape 2922"/>
          <p:cNvSpPr/>
          <p:nvPr/>
        </p:nvSpPr>
        <p:spPr>
          <a:xfrm>
            <a:off x="189000" y="3005280"/>
            <a:ext cx="928440" cy="1087200"/>
          </a:xfrm>
          <a:prstGeom prst="ellipse">
            <a:avLst/>
          </a:prstGeom>
          <a:noFill/>
          <a:ln w="381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68" dur="indefinite" restart="never" nodeType="tmRoot">
          <p:childTnLst>
            <p:seq>
              <p:cTn id="769" dur="indefinite" nodeType="mainSeq">
                <p:childTnLst>
                  <p:par>
                    <p:cTn id="770" fill="hold">
                      <p:stCondLst>
                        <p:cond delay="indefinite"/>
                      </p:stCondLst>
                      <p:childTnLst>
                        <p:par>
                          <p:cTn id="771" fill="hold">
                            <p:stCondLst>
                              <p:cond delay="0"/>
                            </p:stCondLst>
                            <p:childTnLst>
                              <p:par>
                                <p:cTn id="77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4" fill="hold">
                      <p:stCondLst>
                        <p:cond delay="indefinite"/>
                      </p:stCondLst>
                      <p:childTnLst>
                        <p:par>
                          <p:cTn id="775" fill="hold">
                            <p:stCondLst>
                              <p:cond delay="0"/>
                            </p:stCondLst>
                            <p:childTnLst>
                              <p:par>
                                <p:cTn id="77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8" fill="hold">
                      <p:stCondLst>
                        <p:cond delay="indefinite"/>
                      </p:stCondLst>
                      <p:childTnLst>
                        <p:par>
                          <p:cTn id="779" fill="hold">
                            <p:stCondLst>
                              <p:cond delay="0"/>
                            </p:stCondLst>
                            <p:childTnLst>
                              <p:par>
                                <p:cTn id="78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2" fill="hold">
                      <p:stCondLst>
                        <p:cond delay="indefinite"/>
                      </p:stCondLst>
                      <p:childTnLst>
                        <p:par>
                          <p:cTn id="783" fill="hold">
                            <p:stCondLst>
                              <p:cond delay="0"/>
                            </p:stCondLst>
                            <p:childTnLst>
                              <p:par>
                                <p:cTn id="78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3" name="Shape 2927"/>
          <p:cNvSpPr/>
          <p:nvPr/>
        </p:nvSpPr>
        <p:spPr>
          <a:xfrm>
            <a:off x="380880" y="1333440"/>
            <a:ext cx="5257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Prim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算法</a:t>
            </a:r>
            <a:r>
              <a:rPr b="0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54" name="Shape 2928"/>
          <p:cNvSpPr/>
          <p:nvPr/>
        </p:nvSpPr>
        <p:spPr>
          <a:xfrm>
            <a:off x="915840" y="2624040"/>
            <a:ext cx="1267920" cy="826560"/>
          </a:xfrm>
          <a:custGeom>
            <a:avLst/>
            <a:gdLst/>
            <a:ahLst/>
            <a:rect l="l" t="t" r="r" b="b"/>
            <a:pathLst>
              <a:path w="666" h="426">
                <a:moveTo>
                  <a:pt x="666" y="0"/>
                </a:moveTo>
                <a:lnTo>
                  <a:pt x="0" y="426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55" name="Shape 2929"/>
          <p:cNvSpPr/>
          <p:nvPr/>
        </p:nvSpPr>
        <p:spPr>
          <a:xfrm>
            <a:off x="3378240" y="3789360"/>
            <a:ext cx="674280" cy="1420560"/>
          </a:xfrm>
          <a:custGeom>
            <a:avLst/>
            <a:gdLst/>
            <a:ahLst/>
            <a:rect l="l" t="t" r="r" b="b"/>
            <a:pathLst>
              <a:path w="345" h="810">
                <a:moveTo>
                  <a:pt x="345" y="0"/>
                </a:moveTo>
                <a:lnTo>
                  <a:pt x="0" y="81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56" name="Shape 2930"/>
          <p:cNvSpPr/>
          <p:nvPr/>
        </p:nvSpPr>
        <p:spPr>
          <a:xfrm>
            <a:off x="2513160" y="4232160"/>
            <a:ext cx="597960" cy="1004400"/>
          </a:xfrm>
          <a:custGeom>
            <a:avLst/>
            <a:gdLst/>
            <a:ahLst/>
            <a:rect l="l" t="t" r="r" b="b"/>
            <a:pathLst>
              <a:path w="291" h="556">
                <a:moveTo>
                  <a:pt x="291" y="55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57" name="Shape 2931"/>
          <p:cNvSpPr/>
          <p:nvPr/>
        </p:nvSpPr>
        <p:spPr>
          <a:xfrm>
            <a:off x="1778040" y="5372280"/>
            <a:ext cx="124092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58" name="Shape 2932"/>
          <p:cNvSpPr/>
          <p:nvPr/>
        </p:nvSpPr>
        <p:spPr>
          <a:xfrm>
            <a:off x="812880" y="3773520"/>
            <a:ext cx="599760" cy="1344240"/>
          </a:xfrm>
          <a:custGeom>
            <a:avLst/>
            <a:gdLst/>
            <a:ahLst/>
            <a:rect l="l" t="t" r="r" b="b"/>
            <a:pathLst>
              <a:path w="309" h="758">
                <a:moveTo>
                  <a:pt x="0" y="0"/>
                </a:moveTo>
                <a:lnTo>
                  <a:pt x="309" y="758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59" name="Shape 2933"/>
          <p:cNvSpPr/>
          <p:nvPr/>
        </p:nvSpPr>
        <p:spPr>
          <a:xfrm>
            <a:off x="2862360" y="4352760"/>
            <a:ext cx="4125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60" name="Shape 2934"/>
          <p:cNvSpPr/>
          <p:nvPr/>
        </p:nvSpPr>
        <p:spPr>
          <a:xfrm>
            <a:off x="3287880" y="253692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61" name="Shape 2935"/>
          <p:cNvSpPr/>
          <p:nvPr/>
        </p:nvSpPr>
        <p:spPr>
          <a:xfrm>
            <a:off x="1312920" y="2565360"/>
            <a:ext cx="40752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62" name="Shape 2936"/>
          <p:cNvSpPr/>
          <p:nvPr/>
        </p:nvSpPr>
        <p:spPr>
          <a:xfrm>
            <a:off x="1531800" y="334656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63" name="Shape 2937"/>
          <p:cNvSpPr/>
          <p:nvPr/>
        </p:nvSpPr>
        <p:spPr>
          <a:xfrm>
            <a:off x="2981160" y="334800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64" name="Shape 2938"/>
          <p:cNvSpPr/>
          <p:nvPr/>
        </p:nvSpPr>
        <p:spPr>
          <a:xfrm>
            <a:off x="657360" y="4264200"/>
            <a:ext cx="4075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65" name="Shape 2939"/>
          <p:cNvSpPr/>
          <p:nvPr/>
        </p:nvSpPr>
        <p:spPr>
          <a:xfrm>
            <a:off x="3805200" y="4325760"/>
            <a:ext cx="4060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66" name="Shape 2940"/>
          <p:cNvSpPr/>
          <p:nvPr/>
        </p:nvSpPr>
        <p:spPr>
          <a:xfrm>
            <a:off x="2249640" y="544356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67" name="Shape 2941"/>
          <p:cNvSpPr/>
          <p:nvPr/>
        </p:nvSpPr>
        <p:spPr>
          <a:xfrm>
            <a:off x="1546200" y="4359240"/>
            <a:ext cx="4107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68" name="Shape 2942"/>
          <p:cNvSpPr/>
          <p:nvPr/>
        </p:nvSpPr>
        <p:spPr>
          <a:xfrm>
            <a:off x="1633680" y="4235400"/>
            <a:ext cx="630000" cy="915480"/>
          </a:xfrm>
          <a:custGeom>
            <a:avLst/>
            <a:gdLst/>
            <a:ahLst/>
            <a:rect l="l" t="t" r="r" b="b"/>
            <a:pathLst>
              <a:path w="321" h="521">
                <a:moveTo>
                  <a:pt x="321" y="0"/>
                </a:moveTo>
                <a:lnTo>
                  <a:pt x="0" y="521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69" name="Shape 2943"/>
          <p:cNvSpPr/>
          <p:nvPr/>
        </p:nvSpPr>
        <p:spPr>
          <a:xfrm>
            <a:off x="2608200" y="3576600"/>
            <a:ext cx="1293480" cy="491760"/>
          </a:xfrm>
          <a:custGeom>
            <a:avLst/>
            <a:gdLst/>
            <a:ahLst/>
            <a:rect l="l" t="t" r="r" b="b"/>
            <a:pathLst>
              <a:path w="615" h="270">
                <a:moveTo>
                  <a:pt x="615" y="0"/>
                </a:moveTo>
                <a:lnTo>
                  <a:pt x="0" y="27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70" name="Shape 2944"/>
          <p:cNvSpPr/>
          <p:nvPr/>
        </p:nvSpPr>
        <p:spPr>
          <a:xfrm>
            <a:off x="2660760" y="2619360"/>
            <a:ext cx="1314000" cy="785520"/>
          </a:xfrm>
          <a:custGeom>
            <a:avLst/>
            <a:gdLst/>
            <a:ahLst/>
            <a:rect l="l" t="t" r="r" b="b"/>
            <a:pathLst>
              <a:path w="633" h="420">
                <a:moveTo>
                  <a:pt x="0" y="0"/>
                </a:moveTo>
                <a:lnTo>
                  <a:pt x="633" y="42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71" name="Shape 2945"/>
          <p:cNvSpPr/>
          <p:nvPr/>
        </p:nvSpPr>
        <p:spPr>
          <a:xfrm>
            <a:off x="915840" y="3576600"/>
            <a:ext cx="1230120" cy="450360"/>
          </a:xfrm>
          <a:custGeom>
            <a:avLst/>
            <a:gdLst/>
            <a:ahLst/>
            <a:rect l="l" t="t" r="r" b="b"/>
            <a:pathLst>
              <a:path w="630" h="255">
                <a:moveTo>
                  <a:pt x="630" y="255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672" name="Shape 2946"/>
          <p:cNvGrpSpPr/>
          <p:nvPr/>
        </p:nvGrpSpPr>
        <p:grpSpPr>
          <a:xfrm>
            <a:off x="425520" y="3260880"/>
            <a:ext cx="529920" cy="595080"/>
            <a:chOff x="425520" y="3260880"/>
            <a:chExt cx="529920" cy="595080"/>
          </a:xfrm>
        </p:grpSpPr>
        <p:sp>
          <p:nvSpPr>
            <p:cNvPr id="2673" name="Shape 2947"/>
            <p:cNvSpPr/>
            <p:nvPr/>
          </p:nvSpPr>
          <p:spPr>
            <a:xfrm>
              <a:off x="425520" y="3309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74" name="Shape 2948"/>
            <p:cNvSpPr/>
            <p:nvPr/>
          </p:nvSpPr>
          <p:spPr>
            <a:xfrm>
              <a:off x="492120" y="32608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675" name="Shape 2949"/>
          <p:cNvGrpSpPr/>
          <p:nvPr/>
        </p:nvGrpSpPr>
        <p:grpSpPr>
          <a:xfrm>
            <a:off x="2160720" y="2301840"/>
            <a:ext cx="529920" cy="595080"/>
            <a:chOff x="2160720" y="2301840"/>
            <a:chExt cx="529920" cy="595080"/>
          </a:xfrm>
        </p:grpSpPr>
        <p:sp>
          <p:nvSpPr>
            <p:cNvPr id="2676" name="Shape 2950"/>
            <p:cNvSpPr/>
            <p:nvPr/>
          </p:nvSpPr>
          <p:spPr>
            <a:xfrm>
              <a:off x="2160720" y="2351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77" name="Shape 2951"/>
            <p:cNvSpPr/>
            <p:nvPr/>
          </p:nvSpPr>
          <p:spPr>
            <a:xfrm>
              <a:off x="2227320" y="2301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678" name="Shape 2952"/>
          <p:cNvGrpSpPr/>
          <p:nvPr/>
        </p:nvGrpSpPr>
        <p:grpSpPr>
          <a:xfrm>
            <a:off x="3854520" y="3276720"/>
            <a:ext cx="529920" cy="595080"/>
            <a:chOff x="3854520" y="3276720"/>
            <a:chExt cx="529920" cy="595080"/>
          </a:xfrm>
        </p:grpSpPr>
        <p:sp>
          <p:nvSpPr>
            <p:cNvPr id="2679" name="Shape 2953"/>
            <p:cNvSpPr/>
            <p:nvPr/>
          </p:nvSpPr>
          <p:spPr>
            <a:xfrm>
              <a:off x="3854520" y="3325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80" name="Shape 2954"/>
            <p:cNvSpPr/>
            <p:nvPr/>
          </p:nvSpPr>
          <p:spPr>
            <a:xfrm>
              <a:off x="3921120" y="3276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681" name="Shape 2955"/>
          <p:cNvGrpSpPr/>
          <p:nvPr/>
        </p:nvGrpSpPr>
        <p:grpSpPr>
          <a:xfrm>
            <a:off x="3002040" y="5121360"/>
            <a:ext cx="529920" cy="595080"/>
            <a:chOff x="3002040" y="5121360"/>
            <a:chExt cx="529920" cy="595080"/>
          </a:xfrm>
        </p:grpSpPr>
        <p:sp>
          <p:nvSpPr>
            <p:cNvPr id="2682" name="Shape 2956"/>
            <p:cNvSpPr/>
            <p:nvPr/>
          </p:nvSpPr>
          <p:spPr>
            <a:xfrm>
              <a:off x="3002040" y="5170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83" name="Shape 2957"/>
            <p:cNvSpPr/>
            <p:nvPr/>
          </p:nvSpPr>
          <p:spPr>
            <a:xfrm>
              <a:off x="3068640" y="51213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684" name="Shape 2958"/>
          <p:cNvGrpSpPr/>
          <p:nvPr/>
        </p:nvGrpSpPr>
        <p:grpSpPr>
          <a:xfrm>
            <a:off x="1263600" y="5059440"/>
            <a:ext cx="529920" cy="595080"/>
            <a:chOff x="1263600" y="5059440"/>
            <a:chExt cx="529920" cy="595080"/>
          </a:xfrm>
        </p:grpSpPr>
        <p:sp>
          <p:nvSpPr>
            <p:cNvPr id="2685" name="Shape 2959"/>
            <p:cNvSpPr/>
            <p:nvPr/>
          </p:nvSpPr>
          <p:spPr>
            <a:xfrm>
              <a:off x="1263600" y="510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86" name="Shape 2960"/>
            <p:cNvSpPr/>
            <p:nvPr/>
          </p:nvSpPr>
          <p:spPr>
            <a:xfrm>
              <a:off x="1330200" y="5059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687" name="Shape 2961"/>
          <p:cNvGrpSpPr/>
          <p:nvPr/>
        </p:nvGrpSpPr>
        <p:grpSpPr>
          <a:xfrm>
            <a:off x="2133720" y="3719520"/>
            <a:ext cx="529920" cy="595080"/>
            <a:chOff x="2133720" y="3719520"/>
            <a:chExt cx="529920" cy="595080"/>
          </a:xfrm>
        </p:grpSpPr>
        <p:sp>
          <p:nvSpPr>
            <p:cNvPr id="2688" name="Shape 2962"/>
            <p:cNvSpPr/>
            <p:nvPr/>
          </p:nvSpPr>
          <p:spPr>
            <a:xfrm>
              <a:off x="2133720" y="3768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89" name="Shape 2963"/>
            <p:cNvSpPr/>
            <p:nvPr/>
          </p:nvSpPr>
          <p:spPr>
            <a:xfrm>
              <a:off x="2200320" y="3719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2690" name="Shape 2964"/>
          <p:cNvSpPr/>
          <p:nvPr/>
        </p:nvSpPr>
        <p:spPr>
          <a:xfrm>
            <a:off x="4740120" y="2836800"/>
            <a:ext cx="4403520" cy="22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U={A, F}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V-U={B, C, D, E}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cost={(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)34,(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)25,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)25,(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)26}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91" name="Shape 2965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692" name="Shape 2966"/>
          <p:cNvSpPr/>
          <p:nvPr/>
        </p:nvSpPr>
        <p:spPr>
          <a:xfrm rot="17160000">
            <a:off x="1047600" y="2441880"/>
            <a:ext cx="1082160" cy="2688840"/>
          </a:xfrm>
          <a:prstGeom prst="ellipse">
            <a:avLst/>
          </a:prstGeom>
          <a:noFill/>
          <a:ln w="381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86" dur="indefinite" restart="never" nodeType="tmRoot">
          <p:childTnLst>
            <p:seq>
              <p:cTn id="787" dur="indefinite" nodeType="mainSeq">
                <p:childTnLst>
                  <p:par>
                    <p:cTn id="788" fill="hold">
                      <p:stCondLst>
                        <p:cond delay="indefinite"/>
                      </p:stCondLst>
                      <p:childTnLst>
                        <p:par>
                          <p:cTn id="789" fill="hold">
                            <p:stCondLst>
                              <p:cond delay="0"/>
                            </p:stCondLst>
                            <p:childTnLst>
                              <p:par>
                                <p:cTn id="79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2" fill="hold">
                      <p:stCondLst>
                        <p:cond delay="indefinite"/>
                      </p:stCondLst>
                      <p:childTnLst>
                        <p:par>
                          <p:cTn id="793" fill="hold">
                            <p:stCondLst>
                              <p:cond delay="0"/>
                            </p:stCondLst>
                            <p:childTnLst>
                              <p:par>
                                <p:cTn id="79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6" fill="hold">
                      <p:stCondLst>
                        <p:cond delay="indefinite"/>
                      </p:stCondLst>
                      <p:childTnLst>
                        <p:par>
                          <p:cTn id="797" fill="hold">
                            <p:stCondLst>
                              <p:cond delay="0"/>
                            </p:stCondLst>
                            <p:childTnLst>
                              <p:par>
                                <p:cTn id="79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0" fill="hold">
                      <p:stCondLst>
                        <p:cond delay="indefinite"/>
                      </p:stCondLst>
                      <p:childTnLst>
                        <p:par>
                          <p:cTn id="801" fill="hold">
                            <p:stCondLst>
                              <p:cond delay="0"/>
                            </p:stCondLst>
                            <p:childTnLst>
                              <p:par>
                                <p:cTn id="80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Shape 2971"/>
          <p:cNvSpPr/>
          <p:nvPr/>
        </p:nvSpPr>
        <p:spPr>
          <a:xfrm>
            <a:off x="380880" y="1333440"/>
            <a:ext cx="5257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Prim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算法</a:t>
            </a:r>
            <a:r>
              <a:rPr b="0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94" name="Shape 2972"/>
          <p:cNvSpPr/>
          <p:nvPr/>
        </p:nvSpPr>
        <p:spPr>
          <a:xfrm>
            <a:off x="915840" y="2624040"/>
            <a:ext cx="1267920" cy="826560"/>
          </a:xfrm>
          <a:custGeom>
            <a:avLst/>
            <a:gdLst/>
            <a:ahLst/>
            <a:rect l="l" t="t" r="r" b="b"/>
            <a:pathLst>
              <a:path w="666" h="426">
                <a:moveTo>
                  <a:pt x="666" y="0"/>
                </a:moveTo>
                <a:lnTo>
                  <a:pt x="0" y="426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95" name="Shape 2973"/>
          <p:cNvSpPr/>
          <p:nvPr/>
        </p:nvSpPr>
        <p:spPr>
          <a:xfrm>
            <a:off x="3378240" y="3789360"/>
            <a:ext cx="674280" cy="1420560"/>
          </a:xfrm>
          <a:custGeom>
            <a:avLst/>
            <a:gdLst/>
            <a:ahLst/>
            <a:rect l="l" t="t" r="r" b="b"/>
            <a:pathLst>
              <a:path w="345" h="810">
                <a:moveTo>
                  <a:pt x="345" y="0"/>
                </a:moveTo>
                <a:lnTo>
                  <a:pt x="0" y="81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96" name="Shape 2974"/>
          <p:cNvSpPr/>
          <p:nvPr/>
        </p:nvSpPr>
        <p:spPr>
          <a:xfrm>
            <a:off x="2513160" y="4232160"/>
            <a:ext cx="597960" cy="1004400"/>
          </a:xfrm>
          <a:custGeom>
            <a:avLst/>
            <a:gdLst/>
            <a:ahLst/>
            <a:rect l="l" t="t" r="r" b="b"/>
            <a:pathLst>
              <a:path w="291" h="556">
                <a:moveTo>
                  <a:pt x="291" y="55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97" name="Shape 2975"/>
          <p:cNvSpPr/>
          <p:nvPr/>
        </p:nvSpPr>
        <p:spPr>
          <a:xfrm>
            <a:off x="1778040" y="5372280"/>
            <a:ext cx="124092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698" name="Shape 2976"/>
          <p:cNvSpPr/>
          <p:nvPr/>
        </p:nvSpPr>
        <p:spPr>
          <a:xfrm>
            <a:off x="2862360" y="4352760"/>
            <a:ext cx="4125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99" name="Shape 2977"/>
          <p:cNvSpPr/>
          <p:nvPr/>
        </p:nvSpPr>
        <p:spPr>
          <a:xfrm>
            <a:off x="3287880" y="253692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00" name="Shape 2978"/>
          <p:cNvSpPr/>
          <p:nvPr/>
        </p:nvSpPr>
        <p:spPr>
          <a:xfrm>
            <a:off x="1312920" y="2565360"/>
            <a:ext cx="40752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01" name="Shape 2979"/>
          <p:cNvSpPr/>
          <p:nvPr/>
        </p:nvSpPr>
        <p:spPr>
          <a:xfrm>
            <a:off x="1531800" y="334656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02" name="Shape 2980"/>
          <p:cNvSpPr/>
          <p:nvPr/>
        </p:nvSpPr>
        <p:spPr>
          <a:xfrm>
            <a:off x="2981160" y="334800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03" name="Shape 2981"/>
          <p:cNvSpPr/>
          <p:nvPr/>
        </p:nvSpPr>
        <p:spPr>
          <a:xfrm>
            <a:off x="3805200" y="4325760"/>
            <a:ext cx="4060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04" name="Shape 2982"/>
          <p:cNvSpPr/>
          <p:nvPr/>
        </p:nvSpPr>
        <p:spPr>
          <a:xfrm>
            <a:off x="2249640" y="544356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05" name="Shape 2983"/>
          <p:cNvSpPr/>
          <p:nvPr/>
        </p:nvSpPr>
        <p:spPr>
          <a:xfrm>
            <a:off x="1546200" y="4359240"/>
            <a:ext cx="4107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06" name="Shape 2984"/>
          <p:cNvSpPr/>
          <p:nvPr/>
        </p:nvSpPr>
        <p:spPr>
          <a:xfrm>
            <a:off x="1633680" y="4235400"/>
            <a:ext cx="630000" cy="915480"/>
          </a:xfrm>
          <a:custGeom>
            <a:avLst/>
            <a:gdLst/>
            <a:ahLst/>
            <a:rect l="l" t="t" r="r" b="b"/>
            <a:pathLst>
              <a:path w="321" h="521">
                <a:moveTo>
                  <a:pt x="321" y="0"/>
                </a:moveTo>
                <a:lnTo>
                  <a:pt x="0" y="521"/>
                </a:lnTo>
              </a:path>
            </a:pathLst>
          </a:custGeom>
          <a:noFill/>
          <a:ln w="381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707" name="Shape 2985"/>
          <p:cNvSpPr/>
          <p:nvPr/>
        </p:nvSpPr>
        <p:spPr>
          <a:xfrm>
            <a:off x="2608200" y="3576600"/>
            <a:ext cx="1293480" cy="491760"/>
          </a:xfrm>
          <a:custGeom>
            <a:avLst/>
            <a:gdLst/>
            <a:ahLst/>
            <a:rect l="l" t="t" r="r" b="b"/>
            <a:pathLst>
              <a:path w="615" h="270">
                <a:moveTo>
                  <a:pt x="615" y="0"/>
                </a:moveTo>
                <a:lnTo>
                  <a:pt x="0" y="27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708" name="Shape 2986"/>
          <p:cNvSpPr/>
          <p:nvPr/>
        </p:nvSpPr>
        <p:spPr>
          <a:xfrm>
            <a:off x="2660760" y="2619360"/>
            <a:ext cx="1314000" cy="785520"/>
          </a:xfrm>
          <a:custGeom>
            <a:avLst/>
            <a:gdLst/>
            <a:ahLst/>
            <a:rect l="l" t="t" r="r" b="b"/>
            <a:pathLst>
              <a:path w="633" h="420">
                <a:moveTo>
                  <a:pt x="0" y="0"/>
                </a:moveTo>
                <a:lnTo>
                  <a:pt x="633" y="42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709" name="Shape 2987"/>
          <p:cNvSpPr/>
          <p:nvPr/>
        </p:nvSpPr>
        <p:spPr>
          <a:xfrm>
            <a:off x="915840" y="3576600"/>
            <a:ext cx="1230120" cy="450360"/>
          </a:xfrm>
          <a:custGeom>
            <a:avLst/>
            <a:gdLst/>
            <a:ahLst/>
            <a:rect l="l" t="t" r="r" b="b"/>
            <a:pathLst>
              <a:path w="630" h="255">
                <a:moveTo>
                  <a:pt x="630" y="255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710" name="Shape 2988"/>
          <p:cNvGrpSpPr/>
          <p:nvPr/>
        </p:nvGrpSpPr>
        <p:grpSpPr>
          <a:xfrm>
            <a:off x="425520" y="3260880"/>
            <a:ext cx="529920" cy="595080"/>
            <a:chOff x="425520" y="3260880"/>
            <a:chExt cx="529920" cy="595080"/>
          </a:xfrm>
        </p:grpSpPr>
        <p:sp>
          <p:nvSpPr>
            <p:cNvPr id="2711" name="Shape 2989"/>
            <p:cNvSpPr/>
            <p:nvPr/>
          </p:nvSpPr>
          <p:spPr>
            <a:xfrm>
              <a:off x="425520" y="3309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12" name="Shape 2990"/>
            <p:cNvSpPr/>
            <p:nvPr/>
          </p:nvSpPr>
          <p:spPr>
            <a:xfrm>
              <a:off x="492120" y="32608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713" name="Shape 2991"/>
          <p:cNvGrpSpPr/>
          <p:nvPr/>
        </p:nvGrpSpPr>
        <p:grpSpPr>
          <a:xfrm>
            <a:off x="2160720" y="2301840"/>
            <a:ext cx="529920" cy="595080"/>
            <a:chOff x="2160720" y="2301840"/>
            <a:chExt cx="529920" cy="595080"/>
          </a:xfrm>
        </p:grpSpPr>
        <p:sp>
          <p:nvSpPr>
            <p:cNvPr id="2714" name="Shape 2992"/>
            <p:cNvSpPr/>
            <p:nvPr/>
          </p:nvSpPr>
          <p:spPr>
            <a:xfrm>
              <a:off x="2160720" y="2351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15" name="Shape 2993"/>
            <p:cNvSpPr/>
            <p:nvPr/>
          </p:nvSpPr>
          <p:spPr>
            <a:xfrm>
              <a:off x="2227320" y="2301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716" name="Shape 2994"/>
          <p:cNvGrpSpPr/>
          <p:nvPr/>
        </p:nvGrpSpPr>
        <p:grpSpPr>
          <a:xfrm>
            <a:off x="3854520" y="3276720"/>
            <a:ext cx="529920" cy="595080"/>
            <a:chOff x="3854520" y="3276720"/>
            <a:chExt cx="529920" cy="595080"/>
          </a:xfrm>
        </p:grpSpPr>
        <p:sp>
          <p:nvSpPr>
            <p:cNvPr id="2717" name="Shape 2995"/>
            <p:cNvSpPr/>
            <p:nvPr/>
          </p:nvSpPr>
          <p:spPr>
            <a:xfrm>
              <a:off x="3854520" y="3325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18" name="Shape 2996"/>
            <p:cNvSpPr/>
            <p:nvPr/>
          </p:nvSpPr>
          <p:spPr>
            <a:xfrm>
              <a:off x="3921120" y="3276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719" name="Shape 2997"/>
          <p:cNvGrpSpPr/>
          <p:nvPr/>
        </p:nvGrpSpPr>
        <p:grpSpPr>
          <a:xfrm>
            <a:off x="3002040" y="5121360"/>
            <a:ext cx="529920" cy="595080"/>
            <a:chOff x="3002040" y="5121360"/>
            <a:chExt cx="529920" cy="595080"/>
          </a:xfrm>
        </p:grpSpPr>
        <p:sp>
          <p:nvSpPr>
            <p:cNvPr id="2720" name="Shape 2998"/>
            <p:cNvSpPr/>
            <p:nvPr/>
          </p:nvSpPr>
          <p:spPr>
            <a:xfrm>
              <a:off x="3002040" y="5170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21" name="Shape 2999"/>
            <p:cNvSpPr/>
            <p:nvPr/>
          </p:nvSpPr>
          <p:spPr>
            <a:xfrm>
              <a:off x="3068640" y="51213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722" name="Shape 3000"/>
          <p:cNvGrpSpPr/>
          <p:nvPr/>
        </p:nvGrpSpPr>
        <p:grpSpPr>
          <a:xfrm>
            <a:off x="1263600" y="5059440"/>
            <a:ext cx="529920" cy="595080"/>
            <a:chOff x="1263600" y="5059440"/>
            <a:chExt cx="529920" cy="595080"/>
          </a:xfrm>
        </p:grpSpPr>
        <p:sp>
          <p:nvSpPr>
            <p:cNvPr id="2723" name="Shape 3001"/>
            <p:cNvSpPr/>
            <p:nvPr/>
          </p:nvSpPr>
          <p:spPr>
            <a:xfrm>
              <a:off x="1263600" y="510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24" name="Shape 3002"/>
            <p:cNvSpPr/>
            <p:nvPr/>
          </p:nvSpPr>
          <p:spPr>
            <a:xfrm>
              <a:off x="1330200" y="5059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725" name="Shape 3003"/>
          <p:cNvGrpSpPr/>
          <p:nvPr/>
        </p:nvGrpSpPr>
        <p:grpSpPr>
          <a:xfrm>
            <a:off x="2133720" y="3719520"/>
            <a:ext cx="529920" cy="595080"/>
            <a:chOff x="2133720" y="3719520"/>
            <a:chExt cx="529920" cy="595080"/>
          </a:xfrm>
        </p:grpSpPr>
        <p:sp>
          <p:nvSpPr>
            <p:cNvPr id="2726" name="Shape 3004"/>
            <p:cNvSpPr/>
            <p:nvPr/>
          </p:nvSpPr>
          <p:spPr>
            <a:xfrm>
              <a:off x="2133720" y="3768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27" name="Shape 3005"/>
            <p:cNvSpPr/>
            <p:nvPr/>
          </p:nvSpPr>
          <p:spPr>
            <a:xfrm>
              <a:off x="2200320" y="3719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2728" name="Shape 3006"/>
          <p:cNvSpPr/>
          <p:nvPr/>
        </p:nvSpPr>
        <p:spPr>
          <a:xfrm>
            <a:off x="4740120" y="2836800"/>
            <a:ext cx="4403520" cy="22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U={A, F, C}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V-U={B, D, E}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cost={(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)34, 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)17,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)26}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29" name="Shape 3007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730" name="Shape 3008"/>
          <p:cNvSpPr/>
          <p:nvPr/>
        </p:nvSpPr>
        <p:spPr>
          <a:xfrm rot="17160000">
            <a:off x="77400" y="2999160"/>
            <a:ext cx="2606400" cy="2688840"/>
          </a:xfrm>
          <a:prstGeom prst="ellipse">
            <a:avLst/>
          </a:prstGeom>
          <a:noFill/>
          <a:ln w="381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04" dur="indefinite" restart="never" nodeType="tmRoot">
          <p:childTnLst>
            <p:seq>
              <p:cTn id="805" dur="indefinite" nodeType="mainSeq">
                <p:childTnLst>
                  <p:par>
                    <p:cTn id="806" fill="hold">
                      <p:stCondLst>
                        <p:cond delay="indefinite"/>
                      </p:stCondLst>
                      <p:childTnLst>
                        <p:par>
                          <p:cTn id="807" fill="hold">
                            <p:stCondLst>
                              <p:cond delay="0"/>
                            </p:stCondLst>
                            <p:childTnLst>
                              <p:par>
                                <p:cTn id="80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0" fill="hold">
                      <p:stCondLst>
                        <p:cond delay="indefinite"/>
                      </p:stCondLst>
                      <p:childTnLst>
                        <p:par>
                          <p:cTn id="811" fill="hold">
                            <p:stCondLst>
                              <p:cond delay="0"/>
                            </p:stCondLst>
                            <p:childTnLst>
                              <p:par>
                                <p:cTn id="81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4" fill="hold">
                      <p:stCondLst>
                        <p:cond delay="indefinite"/>
                      </p:stCondLst>
                      <p:childTnLst>
                        <p:par>
                          <p:cTn id="815" fill="hold">
                            <p:stCondLst>
                              <p:cond delay="0"/>
                            </p:stCondLst>
                            <p:childTnLst>
                              <p:par>
                                <p:cTn id="81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8" fill="hold">
                      <p:stCondLst>
                        <p:cond delay="indefinite"/>
                      </p:stCondLst>
                      <p:childTnLst>
                        <p:par>
                          <p:cTn id="819" fill="hold">
                            <p:stCondLst>
                              <p:cond delay="0"/>
                            </p:stCondLst>
                            <p:childTnLst>
                              <p:par>
                                <p:cTn id="82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1" name="Shape 3013"/>
          <p:cNvSpPr/>
          <p:nvPr/>
        </p:nvSpPr>
        <p:spPr>
          <a:xfrm>
            <a:off x="380880" y="1333440"/>
            <a:ext cx="5257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Prim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算法</a:t>
            </a:r>
            <a:r>
              <a:rPr b="0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32" name="Shape 3014"/>
          <p:cNvSpPr/>
          <p:nvPr/>
        </p:nvSpPr>
        <p:spPr>
          <a:xfrm>
            <a:off x="915840" y="2624040"/>
            <a:ext cx="1267920" cy="826560"/>
          </a:xfrm>
          <a:custGeom>
            <a:avLst/>
            <a:gdLst/>
            <a:ahLst/>
            <a:rect l="l" t="t" r="r" b="b"/>
            <a:pathLst>
              <a:path w="666" h="426">
                <a:moveTo>
                  <a:pt x="666" y="0"/>
                </a:moveTo>
                <a:lnTo>
                  <a:pt x="0" y="426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733" name="Shape 3015"/>
          <p:cNvSpPr/>
          <p:nvPr/>
        </p:nvSpPr>
        <p:spPr>
          <a:xfrm>
            <a:off x="3378240" y="3789360"/>
            <a:ext cx="674280" cy="1420560"/>
          </a:xfrm>
          <a:custGeom>
            <a:avLst/>
            <a:gdLst/>
            <a:ahLst/>
            <a:rect l="l" t="t" r="r" b="b"/>
            <a:pathLst>
              <a:path w="345" h="810">
                <a:moveTo>
                  <a:pt x="345" y="0"/>
                </a:moveTo>
                <a:lnTo>
                  <a:pt x="0" y="81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734" name="Shape 3016"/>
          <p:cNvSpPr/>
          <p:nvPr/>
        </p:nvSpPr>
        <p:spPr>
          <a:xfrm>
            <a:off x="1778040" y="5372280"/>
            <a:ext cx="124092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735" name="Shape 3017"/>
          <p:cNvSpPr/>
          <p:nvPr/>
        </p:nvSpPr>
        <p:spPr>
          <a:xfrm>
            <a:off x="3287880" y="253692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36" name="Shape 3018"/>
          <p:cNvSpPr/>
          <p:nvPr/>
        </p:nvSpPr>
        <p:spPr>
          <a:xfrm>
            <a:off x="1312920" y="2565360"/>
            <a:ext cx="40752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37" name="Shape 3019"/>
          <p:cNvSpPr/>
          <p:nvPr/>
        </p:nvSpPr>
        <p:spPr>
          <a:xfrm>
            <a:off x="1531800" y="334656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38" name="Shape 3020"/>
          <p:cNvSpPr/>
          <p:nvPr/>
        </p:nvSpPr>
        <p:spPr>
          <a:xfrm>
            <a:off x="2981160" y="334800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39" name="Shape 3021"/>
          <p:cNvSpPr/>
          <p:nvPr/>
        </p:nvSpPr>
        <p:spPr>
          <a:xfrm>
            <a:off x="3805200" y="4325760"/>
            <a:ext cx="4060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40" name="Shape 3022"/>
          <p:cNvSpPr/>
          <p:nvPr/>
        </p:nvSpPr>
        <p:spPr>
          <a:xfrm>
            <a:off x="2249640" y="544356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41" name="Shape 3023"/>
          <p:cNvSpPr/>
          <p:nvPr/>
        </p:nvSpPr>
        <p:spPr>
          <a:xfrm>
            <a:off x="1546200" y="4359240"/>
            <a:ext cx="4107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42" name="Shape 3024"/>
          <p:cNvSpPr/>
          <p:nvPr/>
        </p:nvSpPr>
        <p:spPr>
          <a:xfrm>
            <a:off x="1633680" y="4235400"/>
            <a:ext cx="630000" cy="915480"/>
          </a:xfrm>
          <a:custGeom>
            <a:avLst/>
            <a:gdLst/>
            <a:ahLst/>
            <a:rect l="l" t="t" r="r" b="b"/>
            <a:pathLst>
              <a:path w="321" h="521">
                <a:moveTo>
                  <a:pt x="321" y="0"/>
                </a:moveTo>
                <a:lnTo>
                  <a:pt x="0" y="521"/>
                </a:lnTo>
              </a:path>
            </a:pathLst>
          </a:custGeom>
          <a:noFill/>
          <a:ln w="381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743" name="Shape 3025"/>
          <p:cNvSpPr/>
          <p:nvPr/>
        </p:nvSpPr>
        <p:spPr>
          <a:xfrm>
            <a:off x="2608200" y="3576600"/>
            <a:ext cx="1293480" cy="491760"/>
          </a:xfrm>
          <a:custGeom>
            <a:avLst/>
            <a:gdLst/>
            <a:ahLst/>
            <a:rect l="l" t="t" r="r" b="b"/>
            <a:pathLst>
              <a:path w="615" h="270">
                <a:moveTo>
                  <a:pt x="615" y="0"/>
                </a:moveTo>
                <a:lnTo>
                  <a:pt x="0" y="27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744" name="Shape 3026"/>
          <p:cNvSpPr/>
          <p:nvPr/>
        </p:nvSpPr>
        <p:spPr>
          <a:xfrm>
            <a:off x="2660760" y="2619360"/>
            <a:ext cx="1314000" cy="785520"/>
          </a:xfrm>
          <a:custGeom>
            <a:avLst/>
            <a:gdLst/>
            <a:ahLst/>
            <a:rect l="l" t="t" r="r" b="b"/>
            <a:pathLst>
              <a:path w="633" h="420">
                <a:moveTo>
                  <a:pt x="0" y="0"/>
                </a:moveTo>
                <a:lnTo>
                  <a:pt x="633" y="42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745" name="Shape 3027"/>
          <p:cNvSpPr/>
          <p:nvPr/>
        </p:nvSpPr>
        <p:spPr>
          <a:xfrm>
            <a:off x="915840" y="3576600"/>
            <a:ext cx="1230120" cy="450360"/>
          </a:xfrm>
          <a:custGeom>
            <a:avLst/>
            <a:gdLst/>
            <a:ahLst/>
            <a:rect l="l" t="t" r="r" b="b"/>
            <a:pathLst>
              <a:path w="630" h="255">
                <a:moveTo>
                  <a:pt x="630" y="255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746" name="Shape 3028"/>
          <p:cNvGrpSpPr/>
          <p:nvPr/>
        </p:nvGrpSpPr>
        <p:grpSpPr>
          <a:xfrm>
            <a:off x="425520" y="3260880"/>
            <a:ext cx="529920" cy="595080"/>
            <a:chOff x="425520" y="3260880"/>
            <a:chExt cx="529920" cy="595080"/>
          </a:xfrm>
        </p:grpSpPr>
        <p:sp>
          <p:nvSpPr>
            <p:cNvPr id="2747" name="Shape 3029"/>
            <p:cNvSpPr/>
            <p:nvPr/>
          </p:nvSpPr>
          <p:spPr>
            <a:xfrm>
              <a:off x="425520" y="3309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48" name="Shape 3030"/>
            <p:cNvSpPr/>
            <p:nvPr/>
          </p:nvSpPr>
          <p:spPr>
            <a:xfrm>
              <a:off x="492120" y="32608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749" name="Shape 3031"/>
          <p:cNvGrpSpPr/>
          <p:nvPr/>
        </p:nvGrpSpPr>
        <p:grpSpPr>
          <a:xfrm>
            <a:off x="2160720" y="2301840"/>
            <a:ext cx="529920" cy="595080"/>
            <a:chOff x="2160720" y="2301840"/>
            <a:chExt cx="529920" cy="595080"/>
          </a:xfrm>
        </p:grpSpPr>
        <p:sp>
          <p:nvSpPr>
            <p:cNvPr id="2750" name="Shape 3032"/>
            <p:cNvSpPr/>
            <p:nvPr/>
          </p:nvSpPr>
          <p:spPr>
            <a:xfrm>
              <a:off x="2160720" y="2351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51" name="Shape 3033"/>
            <p:cNvSpPr/>
            <p:nvPr/>
          </p:nvSpPr>
          <p:spPr>
            <a:xfrm>
              <a:off x="2227320" y="2301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752" name="Shape 3034"/>
          <p:cNvGrpSpPr/>
          <p:nvPr/>
        </p:nvGrpSpPr>
        <p:grpSpPr>
          <a:xfrm>
            <a:off x="3854520" y="3276720"/>
            <a:ext cx="529920" cy="595080"/>
            <a:chOff x="3854520" y="3276720"/>
            <a:chExt cx="529920" cy="595080"/>
          </a:xfrm>
        </p:grpSpPr>
        <p:sp>
          <p:nvSpPr>
            <p:cNvPr id="2753" name="Shape 3035"/>
            <p:cNvSpPr/>
            <p:nvPr/>
          </p:nvSpPr>
          <p:spPr>
            <a:xfrm>
              <a:off x="3854520" y="3325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54" name="Shape 3036"/>
            <p:cNvSpPr/>
            <p:nvPr/>
          </p:nvSpPr>
          <p:spPr>
            <a:xfrm>
              <a:off x="3921120" y="3276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755" name="Shape 3037"/>
          <p:cNvGrpSpPr/>
          <p:nvPr/>
        </p:nvGrpSpPr>
        <p:grpSpPr>
          <a:xfrm>
            <a:off x="3002040" y="5121360"/>
            <a:ext cx="529920" cy="595080"/>
            <a:chOff x="3002040" y="5121360"/>
            <a:chExt cx="529920" cy="595080"/>
          </a:xfrm>
        </p:grpSpPr>
        <p:sp>
          <p:nvSpPr>
            <p:cNvPr id="2756" name="Shape 3038"/>
            <p:cNvSpPr/>
            <p:nvPr/>
          </p:nvSpPr>
          <p:spPr>
            <a:xfrm>
              <a:off x="3002040" y="5170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57" name="Shape 3039"/>
            <p:cNvSpPr/>
            <p:nvPr/>
          </p:nvSpPr>
          <p:spPr>
            <a:xfrm>
              <a:off x="3068640" y="51213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758" name="Shape 3040"/>
          <p:cNvGrpSpPr/>
          <p:nvPr/>
        </p:nvGrpSpPr>
        <p:grpSpPr>
          <a:xfrm>
            <a:off x="1263600" y="5059440"/>
            <a:ext cx="529920" cy="595080"/>
            <a:chOff x="1263600" y="5059440"/>
            <a:chExt cx="529920" cy="595080"/>
          </a:xfrm>
        </p:grpSpPr>
        <p:sp>
          <p:nvSpPr>
            <p:cNvPr id="2759" name="Shape 3041"/>
            <p:cNvSpPr/>
            <p:nvPr/>
          </p:nvSpPr>
          <p:spPr>
            <a:xfrm>
              <a:off x="1263600" y="510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60" name="Shape 3042"/>
            <p:cNvSpPr/>
            <p:nvPr/>
          </p:nvSpPr>
          <p:spPr>
            <a:xfrm>
              <a:off x="1330200" y="5059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761" name="Shape 3043"/>
          <p:cNvGrpSpPr/>
          <p:nvPr/>
        </p:nvGrpSpPr>
        <p:grpSpPr>
          <a:xfrm>
            <a:off x="2133720" y="3719520"/>
            <a:ext cx="529920" cy="595080"/>
            <a:chOff x="2133720" y="3719520"/>
            <a:chExt cx="529920" cy="595080"/>
          </a:xfrm>
        </p:grpSpPr>
        <p:sp>
          <p:nvSpPr>
            <p:cNvPr id="2762" name="Shape 3044"/>
            <p:cNvSpPr/>
            <p:nvPr/>
          </p:nvSpPr>
          <p:spPr>
            <a:xfrm>
              <a:off x="2133720" y="3768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63" name="Shape 3045"/>
            <p:cNvSpPr/>
            <p:nvPr/>
          </p:nvSpPr>
          <p:spPr>
            <a:xfrm>
              <a:off x="2200320" y="3719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2764" name="Shape 3046"/>
          <p:cNvSpPr/>
          <p:nvPr/>
        </p:nvSpPr>
        <p:spPr>
          <a:xfrm>
            <a:off x="4740120" y="2836800"/>
            <a:ext cx="4403520" cy="180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U={A, F, C, D}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V-U={B, E}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cost={(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)34, 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)26}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65" name="Shape 3047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766" name="Shape 3048"/>
          <p:cNvSpPr/>
          <p:nvPr/>
        </p:nvSpPr>
        <p:spPr>
          <a:xfrm rot="17460000">
            <a:off x="657000" y="2567160"/>
            <a:ext cx="2606400" cy="3901680"/>
          </a:xfrm>
          <a:prstGeom prst="ellipse">
            <a:avLst/>
          </a:prstGeom>
          <a:noFill/>
          <a:ln w="381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22" dur="indefinite" restart="never" nodeType="tmRoot">
          <p:childTnLst>
            <p:seq>
              <p:cTn id="823" dur="indefinite" nodeType="mainSeq">
                <p:childTnLst>
                  <p:par>
                    <p:cTn id="824" fill="hold">
                      <p:stCondLst>
                        <p:cond delay="indefinite"/>
                      </p:stCondLst>
                      <p:childTnLst>
                        <p:par>
                          <p:cTn id="825" fill="hold">
                            <p:stCondLst>
                              <p:cond delay="0"/>
                            </p:stCondLst>
                            <p:childTnLst>
                              <p:par>
                                <p:cTn id="82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8" fill="hold">
                      <p:stCondLst>
                        <p:cond delay="indefinite"/>
                      </p:stCondLst>
                      <p:childTnLst>
                        <p:par>
                          <p:cTn id="829" fill="hold">
                            <p:stCondLst>
                              <p:cond delay="0"/>
                            </p:stCondLst>
                            <p:childTnLst>
                              <p:par>
                                <p:cTn id="83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2" fill="hold">
                      <p:stCondLst>
                        <p:cond delay="indefinite"/>
                      </p:stCondLst>
                      <p:childTnLst>
                        <p:par>
                          <p:cTn id="833" fill="hold">
                            <p:stCondLst>
                              <p:cond delay="0"/>
                            </p:stCondLst>
                            <p:childTnLst>
                              <p:par>
                                <p:cTn id="83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Shape 3053"/>
          <p:cNvSpPr/>
          <p:nvPr/>
        </p:nvSpPr>
        <p:spPr>
          <a:xfrm>
            <a:off x="380880" y="1333440"/>
            <a:ext cx="5257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Prim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算法</a:t>
            </a:r>
            <a:r>
              <a:rPr b="0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68" name="Shape 3054"/>
          <p:cNvSpPr/>
          <p:nvPr/>
        </p:nvSpPr>
        <p:spPr>
          <a:xfrm>
            <a:off x="915840" y="2624040"/>
            <a:ext cx="1267920" cy="826560"/>
          </a:xfrm>
          <a:custGeom>
            <a:avLst/>
            <a:gdLst/>
            <a:ahLst/>
            <a:rect l="l" t="t" r="r" b="b"/>
            <a:pathLst>
              <a:path w="666" h="426">
                <a:moveTo>
                  <a:pt x="666" y="0"/>
                </a:moveTo>
                <a:lnTo>
                  <a:pt x="0" y="426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769" name="Shape 3055"/>
          <p:cNvSpPr/>
          <p:nvPr/>
        </p:nvSpPr>
        <p:spPr>
          <a:xfrm>
            <a:off x="1778040" y="5372280"/>
            <a:ext cx="124092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770" name="Shape 3056"/>
          <p:cNvSpPr/>
          <p:nvPr/>
        </p:nvSpPr>
        <p:spPr>
          <a:xfrm>
            <a:off x="3287880" y="253692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71" name="Shape 3057"/>
          <p:cNvSpPr/>
          <p:nvPr/>
        </p:nvSpPr>
        <p:spPr>
          <a:xfrm>
            <a:off x="1312920" y="2565360"/>
            <a:ext cx="40752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72" name="Shape 3058"/>
          <p:cNvSpPr/>
          <p:nvPr/>
        </p:nvSpPr>
        <p:spPr>
          <a:xfrm>
            <a:off x="1531800" y="334656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73" name="Shape 3059"/>
          <p:cNvSpPr/>
          <p:nvPr/>
        </p:nvSpPr>
        <p:spPr>
          <a:xfrm>
            <a:off x="2981160" y="334800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74" name="Shape 3060"/>
          <p:cNvSpPr/>
          <p:nvPr/>
        </p:nvSpPr>
        <p:spPr>
          <a:xfrm>
            <a:off x="2249640" y="544356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75" name="Shape 3061"/>
          <p:cNvSpPr/>
          <p:nvPr/>
        </p:nvSpPr>
        <p:spPr>
          <a:xfrm>
            <a:off x="1546200" y="4359240"/>
            <a:ext cx="4107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76" name="Shape 3062"/>
          <p:cNvSpPr/>
          <p:nvPr/>
        </p:nvSpPr>
        <p:spPr>
          <a:xfrm>
            <a:off x="1633680" y="4235400"/>
            <a:ext cx="630000" cy="915480"/>
          </a:xfrm>
          <a:custGeom>
            <a:avLst/>
            <a:gdLst/>
            <a:ahLst/>
            <a:rect l="l" t="t" r="r" b="b"/>
            <a:pathLst>
              <a:path w="321" h="521">
                <a:moveTo>
                  <a:pt x="321" y="0"/>
                </a:moveTo>
                <a:lnTo>
                  <a:pt x="0" y="521"/>
                </a:lnTo>
              </a:path>
            </a:pathLst>
          </a:custGeom>
          <a:noFill/>
          <a:ln w="381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777" name="Shape 3063"/>
          <p:cNvSpPr/>
          <p:nvPr/>
        </p:nvSpPr>
        <p:spPr>
          <a:xfrm>
            <a:off x="2608200" y="3576600"/>
            <a:ext cx="1293480" cy="491760"/>
          </a:xfrm>
          <a:custGeom>
            <a:avLst/>
            <a:gdLst/>
            <a:ahLst/>
            <a:rect l="l" t="t" r="r" b="b"/>
            <a:pathLst>
              <a:path w="615" h="270">
                <a:moveTo>
                  <a:pt x="615" y="0"/>
                </a:moveTo>
                <a:lnTo>
                  <a:pt x="0" y="270"/>
                </a:lnTo>
              </a:path>
            </a:pathLst>
          </a:custGeom>
          <a:noFill/>
          <a:ln w="381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778" name="Shape 3064"/>
          <p:cNvSpPr/>
          <p:nvPr/>
        </p:nvSpPr>
        <p:spPr>
          <a:xfrm>
            <a:off x="2660760" y="2619360"/>
            <a:ext cx="1314000" cy="785520"/>
          </a:xfrm>
          <a:custGeom>
            <a:avLst/>
            <a:gdLst/>
            <a:ahLst/>
            <a:rect l="l" t="t" r="r" b="b"/>
            <a:pathLst>
              <a:path w="633" h="420">
                <a:moveTo>
                  <a:pt x="0" y="0"/>
                </a:moveTo>
                <a:lnTo>
                  <a:pt x="633" y="42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779" name="Shape 3065"/>
          <p:cNvSpPr/>
          <p:nvPr/>
        </p:nvSpPr>
        <p:spPr>
          <a:xfrm>
            <a:off x="915840" y="3576600"/>
            <a:ext cx="1230120" cy="450360"/>
          </a:xfrm>
          <a:custGeom>
            <a:avLst/>
            <a:gdLst/>
            <a:ahLst/>
            <a:rect l="l" t="t" r="r" b="b"/>
            <a:pathLst>
              <a:path w="630" h="255">
                <a:moveTo>
                  <a:pt x="630" y="255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780" name="Shape 3066"/>
          <p:cNvGrpSpPr/>
          <p:nvPr/>
        </p:nvGrpSpPr>
        <p:grpSpPr>
          <a:xfrm>
            <a:off x="425520" y="3260880"/>
            <a:ext cx="529920" cy="595080"/>
            <a:chOff x="425520" y="3260880"/>
            <a:chExt cx="529920" cy="595080"/>
          </a:xfrm>
        </p:grpSpPr>
        <p:sp>
          <p:nvSpPr>
            <p:cNvPr id="2781" name="Shape 3067"/>
            <p:cNvSpPr/>
            <p:nvPr/>
          </p:nvSpPr>
          <p:spPr>
            <a:xfrm>
              <a:off x="425520" y="3309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82" name="Shape 3068"/>
            <p:cNvSpPr/>
            <p:nvPr/>
          </p:nvSpPr>
          <p:spPr>
            <a:xfrm>
              <a:off x="492120" y="32608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783" name="Shape 3069"/>
          <p:cNvGrpSpPr/>
          <p:nvPr/>
        </p:nvGrpSpPr>
        <p:grpSpPr>
          <a:xfrm>
            <a:off x="2160720" y="2301840"/>
            <a:ext cx="529920" cy="595080"/>
            <a:chOff x="2160720" y="2301840"/>
            <a:chExt cx="529920" cy="595080"/>
          </a:xfrm>
        </p:grpSpPr>
        <p:sp>
          <p:nvSpPr>
            <p:cNvPr id="2784" name="Shape 3070"/>
            <p:cNvSpPr/>
            <p:nvPr/>
          </p:nvSpPr>
          <p:spPr>
            <a:xfrm>
              <a:off x="2160720" y="2351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85" name="Shape 3071"/>
            <p:cNvSpPr/>
            <p:nvPr/>
          </p:nvSpPr>
          <p:spPr>
            <a:xfrm>
              <a:off x="2227320" y="2301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786" name="Shape 3072"/>
          <p:cNvGrpSpPr/>
          <p:nvPr/>
        </p:nvGrpSpPr>
        <p:grpSpPr>
          <a:xfrm>
            <a:off x="3854520" y="3276720"/>
            <a:ext cx="529920" cy="595080"/>
            <a:chOff x="3854520" y="3276720"/>
            <a:chExt cx="529920" cy="595080"/>
          </a:xfrm>
        </p:grpSpPr>
        <p:sp>
          <p:nvSpPr>
            <p:cNvPr id="2787" name="Shape 3073"/>
            <p:cNvSpPr/>
            <p:nvPr/>
          </p:nvSpPr>
          <p:spPr>
            <a:xfrm>
              <a:off x="3854520" y="3325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88" name="Shape 3074"/>
            <p:cNvSpPr/>
            <p:nvPr/>
          </p:nvSpPr>
          <p:spPr>
            <a:xfrm>
              <a:off x="3921120" y="3276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789" name="Shape 3075"/>
          <p:cNvGrpSpPr/>
          <p:nvPr/>
        </p:nvGrpSpPr>
        <p:grpSpPr>
          <a:xfrm>
            <a:off x="3002040" y="5121360"/>
            <a:ext cx="529920" cy="595080"/>
            <a:chOff x="3002040" y="5121360"/>
            <a:chExt cx="529920" cy="595080"/>
          </a:xfrm>
        </p:grpSpPr>
        <p:sp>
          <p:nvSpPr>
            <p:cNvPr id="2790" name="Shape 3076"/>
            <p:cNvSpPr/>
            <p:nvPr/>
          </p:nvSpPr>
          <p:spPr>
            <a:xfrm>
              <a:off x="3002040" y="5170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91" name="Shape 3077"/>
            <p:cNvSpPr/>
            <p:nvPr/>
          </p:nvSpPr>
          <p:spPr>
            <a:xfrm>
              <a:off x="3068640" y="51213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792" name="Shape 3078"/>
          <p:cNvGrpSpPr/>
          <p:nvPr/>
        </p:nvGrpSpPr>
        <p:grpSpPr>
          <a:xfrm>
            <a:off x="1263600" y="5059440"/>
            <a:ext cx="529920" cy="595080"/>
            <a:chOff x="1263600" y="5059440"/>
            <a:chExt cx="529920" cy="595080"/>
          </a:xfrm>
        </p:grpSpPr>
        <p:sp>
          <p:nvSpPr>
            <p:cNvPr id="2793" name="Shape 3079"/>
            <p:cNvSpPr/>
            <p:nvPr/>
          </p:nvSpPr>
          <p:spPr>
            <a:xfrm>
              <a:off x="1263600" y="510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94" name="Shape 3080"/>
            <p:cNvSpPr/>
            <p:nvPr/>
          </p:nvSpPr>
          <p:spPr>
            <a:xfrm>
              <a:off x="1330200" y="5059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795" name="Shape 3081"/>
          <p:cNvGrpSpPr/>
          <p:nvPr/>
        </p:nvGrpSpPr>
        <p:grpSpPr>
          <a:xfrm>
            <a:off x="2133720" y="3719520"/>
            <a:ext cx="529920" cy="595080"/>
            <a:chOff x="2133720" y="3719520"/>
            <a:chExt cx="529920" cy="595080"/>
          </a:xfrm>
        </p:grpSpPr>
        <p:sp>
          <p:nvSpPr>
            <p:cNvPr id="2796" name="Shape 3082"/>
            <p:cNvSpPr/>
            <p:nvPr/>
          </p:nvSpPr>
          <p:spPr>
            <a:xfrm>
              <a:off x="2133720" y="3768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97" name="Shape 3083"/>
            <p:cNvSpPr/>
            <p:nvPr/>
          </p:nvSpPr>
          <p:spPr>
            <a:xfrm>
              <a:off x="2200320" y="3719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2798" name="Shape 3084"/>
          <p:cNvSpPr/>
          <p:nvPr/>
        </p:nvSpPr>
        <p:spPr>
          <a:xfrm>
            <a:off x="4740120" y="2836800"/>
            <a:ext cx="4403520" cy="180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U={A, F, C, D, E}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V-U={B}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cost={(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)12}</a:t>
            </a:r>
            <a:r>
              <a:rPr b="0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99" name="Shape 3085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800" name="Shape 3086"/>
          <p:cNvSpPr/>
          <p:nvPr/>
        </p:nvSpPr>
        <p:spPr>
          <a:xfrm rot="15360000">
            <a:off x="627840" y="2138040"/>
            <a:ext cx="3153960" cy="4409640"/>
          </a:xfrm>
          <a:prstGeom prst="ellipse">
            <a:avLst/>
          </a:prstGeom>
          <a:noFill/>
          <a:ln w="381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36" dur="indefinite" restart="never" nodeType="tmRoot">
          <p:childTnLst>
            <p:seq>
              <p:cTn id="837" dur="indefinite" nodeType="mainSeq">
                <p:childTnLst>
                  <p:par>
                    <p:cTn id="838" fill="hold">
                      <p:stCondLst>
                        <p:cond delay="indefinite"/>
                      </p:stCondLst>
                      <p:childTnLst>
                        <p:par>
                          <p:cTn id="839" fill="hold">
                            <p:stCondLst>
                              <p:cond delay="0"/>
                            </p:stCondLst>
                            <p:childTnLst>
                              <p:par>
                                <p:cTn id="84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2" fill="hold">
                      <p:stCondLst>
                        <p:cond delay="indefinite"/>
                      </p:stCondLst>
                      <p:childTnLst>
                        <p:par>
                          <p:cTn id="843" fill="hold">
                            <p:stCondLst>
                              <p:cond delay="0"/>
                            </p:stCondLst>
                            <p:childTnLst>
                              <p:par>
                                <p:cTn id="84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6" fill="hold">
                      <p:stCondLst>
                        <p:cond delay="indefinite"/>
                      </p:stCondLst>
                      <p:childTnLst>
                        <p:par>
                          <p:cTn id="847" fill="hold">
                            <p:stCondLst>
                              <p:cond delay="0"/>
                            </p:stCondLst>
                            <p:childTnLst>
                              <p:par>
                                <p:cTn id="84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" name="Shape 3091"/>
          <p:cNvSpPr/>
          <p:nvPr/>
        </p:nvSpPr>
        <p:spPr>
          <a:xfrm>
            <a:off x="884160" y="3579840"/>
            <a:ext cx="1263240" cy="456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802" name="Shape 3092"/>
          <p:cNvSpPr/>
          <p:nvPr/>
        </p:nvSpPr>
        <p:spPr>
          <a:xfrm flipH="1">
            <a:off x="1616040" y="4189320"/>
            <a:ext cx="639360" cy="944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803" name="Shape 3093"/>
          <p:cNvSpPr/>
          <p:nvPr/>
        </p:nvSpPr>
        <p:spPr>
          <a:xfrm>
            <a:off x="1722600" y="5450040"/>
            <a:ext cx="12632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804" name="Shape 3094"/>
          <p:cNvSpPr/>
          <p:nvPr/>
        </p:nvSpPr>
        <p:spPr>
          <a:xfrm flipH="1" rot="10800000">
            <a:off x="2637000" y="3580200"/>
            <a:ext cx="1218960" cy="456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805" name="Shape 3095"/>
          <p:cNvSpPr/>
          <p:nvPr/>
        </p:nvSpPr>
        <p:spPr>
          <a:xfrm>
            <a:off x="2652840" y="2617920"/>
            <a:ext cx="1294920" cy="77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2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806" name="Shape 3096"/>
          <p:cNvSpPr/>
          <p:nvPr/>
        </p:nvSpPr>
        <p:spPr>
          <a:xfrm>
            <a:off x="380880" y="1333440"/>
            <a:ext cx="5257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Prim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算法</a:t>
            </a:r>
            <a:r>
              <a:rPr b="0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07" name="Shape 3097"/>
          <p:cNvSpPr/>
          <p:nvPr/>
        </p:nvSpPr>
        <p:spPr>
          <a:xfrm>
            <a:off x="3287880" y="253692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08" name="Shape 3098"/>
          <p:cNvSpPr/>
          <p:nvPr/>
        </p:nvSpPr>
        <p:spPr>
          <a:xfrm>
            <a:off x="1531800" y="334656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09" name="Shape 3099"/>
          <p:cNvSpPr/>
          <p:nvPr/>
        </p:nvSpPr>
        <p:spPr>
          <a:xfrm>
            <a:off x="2981160" y="334800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10" name="Shape 3100"/>
          <p:cNvSpPr/>
          <p:nvPr/>
        </p:nvSpPr>
        <p:spPr>
          <a:xfrm>
            <a:off x="2249640" y="544356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11" name="Shape 3101"/>
          <p:cNvSpPr/>
          <p:nvPr/>
        </p:nvSpPr>
        <p:spPr>
          <a:xfrm>
            <a:off x="1546200" y="4359240"/>
            <a:ext cx="4107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2812" name="Shape 3102"/>
          <p:cNvGrpSpPr/>
          <p:nvPr/>
        </p:nvGrpSpPr>
        <p:grpSpPr>
          <a:xfrm>
            <a:off x="425520" y="3260880"/>
            <a:ext cx="529920" cy="595080"/>
            <a:chOff x="425520" y="3260880"/>
            <a:chExt cx="529920" cy="595080"/>
          </a:xfrm>
        </p:grpSpPr>
        <p:sp>
          <p:nvSpPr>
            <p:cNvPr id="2813" name="Shape 3103"/>
            <p:cNvSpPr/>
            <p:nvPr/>
          </p:nvSpPr>
          <p:spPr>
            <a:xfrm>
              <a:off x="425520" y="3309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14" name="Shape 3104"/>
            <p:cNvSpPr/>
            <p:nvPr/>
          </p:nvSpPr>
          <p:spPr>
            <a:xfrm>
              <a:off x="492120" y="32608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815" name="Shape 3105"/>
          <p:cNvGrpSpPr/>
          <p:nvPr/>
        </p:nvGrpSpPr>
        <p:grpSpPr>
          <a:xfrm>
            <a:off x="2160720" y="2301840"/>
            <a:ext cx="529920" cy="595080"/>
            <a:chOff x="2160720" y="2301840"/>
            <a:chExt cx="529920" cy="595080"/>
          </a:xfrm>
        </p:grpSpPr>
        <p:sp>
          <p:nvSpPr>
            <p:cNvPr id="2816" name="Shape 3106"/>
            <p:cNvSpPr/>
            <p:nvPr/>
          </p:nvSpPr>
          <p:spPr>
            <a:xfrm>
              <a:off x="2160720" y="2351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17" name="Shape 3107"/>
            <p:cNvSpPr/>
            <p:nvPr/>
          </p:nvSpPr>
          <p:spPr>
            <a:xfrm>
              <a:off x="2227320" y="2301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818" name="Shape 3108"/>
          <p:cNvGrpSpPr/>
          <p:nvPr/>
        </p:nvGrpSpPr>
        <p:grpSpPr>
          <a:xfrm>
            <a:off x="3854520" y="3276720"/>
            <a:ext cx="529920" cy="595080"/>
            <a:chOff x="3854520" y="3276720"/>
            <a:chExt cx="529920" cy="595080"/>
          </a:xfrm>
        </p:grpSpPr>
        <p:sp>
          <p:nvSpPr>
            <p:cNvPr id="2819" name="Shape 3109"/>
            <p:cNvSpPr/>
            <p:nvPr/>
          </p:nvSpPr>
          <p:spPr>
            <a:xfrm>
              <a:off x="3854520" y="3325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20" name="Shape 3110"/>
            <p:cNvSpPr/>
            <p:nvPr/>
          </p:nvSpPr>
          <p:spPr>
            <a:xfrm>
              <a:off x="3921120" y="3276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821" name="Shape 3111"/>
          <p:cNvGrpSpPr/>
          <p:nvPr/>
        </p:nvGrpSpPr>
        <p:grpSpPr>
          <a:xfrm>
            <a:off x="3002040" y="5121360"/>
            <a:ext cx="529920" cy="595080"/>
            <a:chOff x="3002040" y="5121360"/>
            <a:chExt cx="529920" cy="595080"/>
          </a:xfrm>
        </p:grpSpPr>
        <p:sp>
          <p:nvSpPr>
            <p:cNvPr id="2822" name="Shape 3112"/>
            <p:cNvSpPr/>
            <p:nvPr/>
          </p:nvSpPr>
          <p:spPr>
            <a:xfrm>
              <a:off x="3002040" y="5170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23" name="Shape 3113"/>
            <p:cNvSpPr/>
            <p:nvPr/>
          </p:nvSpPr>
          <p:spPr>
            <a:xfrm>
              <a:off x="3068640" y="51213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824" name="Shape 3114"/>
          <p:cNvGrpSpPr/>
          <p:nvPr/>
        </p:nvGrpSpPr>
        <p:grpSpPr>
          <a:xfrm>
            <a:off x="1263600" y="5059440"/>
            <a:ext cx="529920" cy="595080"/>
            <a:chOff x="1263600" y="5059440"/>
            <a:chExt cx="529920" cy="595080"/>
          </a:xfrm>
        </p:grpSpPr>
        <p:sp>
          <p:nvSpPr>
            <p:cNvPr id="2825" name="Shape 3115"/>
            <p:cNvSpPr/>
            <p:nvPr/>
          </p:nvSpPr>
          <p:spPr>
            <a:xfrm>
              <a:off x="1263600" y="510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26" name="Shape 3116"/>
            <p:cNvSpPr/>
            <p:nvPr/>
          </p:nvSpPr>
          <p:spPr>
            <a:xfrm>
              <a:off x="1330200" y="5059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827" name="Shape 3117"/>
          <p:cNvGrpSpPr/>
          <p:nvPr/>
        </p:nvGrpSpPr>
        <p:grpSpPr>
          <a:xfrm>
            <a:off x="2133720" y="3719520"/>
            <a:ext cx="529920" cy="595080"/>
            <a:chOff x="2133720" y="3719520"/>
            <a:chExt cx="529920" cy="595080"/>
          </a:xfrm>
        </p:grpSpPr>
        <p:sp>
          <p:nvSpPr>
            <p:cNvPr id="2828" name="Shape 3118"/>
            <p:cNvSpPr/>
            <p:nvPr/>
          </p:nvSpPr>
          <p:spPr>
            <a:xfrm>
              <a:off x="2133720" y="3768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29" name="Shape 3119"/>
            <p:cNvSpPr/>
            <p:nvPr/>
          </p:nvSpPr>
          <p:spPr>
            <a:xfrm>
              <a:off x="2200320" y="3719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2830" name="Shape 3120"/>
          <p:cNvSpPr/>
          <p:nvPr/>
        </p:nvSpPr>
        <p:spPr>
          <a:xfrm>
            <a:off x="4740120" y="2836800"/>
            <a:ext cx="4403520" cy="11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U={A, F, C, D, E, B}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V-U={ }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31" name="Shape 3121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50" dur="indefinite" restart="never" nodeType="tmRoot">
          <p:childTnLst>
            <p:seq>
              <p:cTn id="851" dur="indefinite" nodeType="mainSeq">
                <p:childTnLst>
                  <p:par>
                    <p:cTn id="852" fill="hold">
                      <p:stCondLst>
                        <p:cond delay="indefinite"/>
                      </p:stCondLst>
                      <p:childTnLst>
                        <p:par>
                          <p:cTn id="853" fill="hold">
                            <p:stCondLst>
                              <p:cond delay="0"/>
                            </p:stCondLst>
                            <p:childTnLst>
                              <p:par>
                                <p:cTn id="85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6" fill="hold">
                      <p:stCondLst>
                        <p:cond delay="indefinite"/>
                      </p:stCondLst>
                      <p:childTnLst>
                        <p:par>
                          <p:cTn id="857" fill="hold">
                            <p:stCondLst>
                              <p:cond delay="0"/>
                            </p:stCondLst>
                            <p:childTnLst>
                              <p:par>
                                <p:cTn id="85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Shape 3126"/>
          <p:cNvSpPr/>
          <p:nvPr/>
        </p:nvSpPr>
        <p:spPr>
          <a:xfrm>
            <a:off x="270000" y="1981080"/>
            <a:ext cx="8457840" cy="13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图的存储结构：由于在算法执行过程中，需要不断读取任意两个顶点之间边的权值，所以，图采用邻接矩阵存储。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33" name="Shape 3127"/>
          <p:cNvSpPr/>
          <p:nvPr/>
        </p:nvSpPr>
        <p:spPr>
          <a:xfrm>
            <a:off x="272880" y="1211400"/>
            <a:ext cx="39621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数据结构设计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34" name="Shape 3128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Shape 3133"/>
          <p:cNvSpPr/>
          <p:nvPr/>
        </p:nvSpPr>
        <p:spPr>
          <a:xfrm>
            <a:off x="671400" y="3524400"/>
            <a:ext cx="1267920" cy="826560"/>
          </a:xfrm>
          <a:custGeom>
            <a:avLst/>
            <a:gdLst/>
            <a:ahLst/>
            <a:rect l="l" t="t" r="r" b="b"/>
            <a:pathLst>
              <a:path w="666" h="426">
                <a:moveTo>
                  <a:pt x="666" y="0"/>
                </a:moveTo>
                <a:lnTo>
                  <a:pt x="0" y="426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836" name="Shape 3134"/>
          <p:cNvSpPr/>
          <p:nvPr/>
        </p:nvSpPr>
        <p:spPr>
          <a:xfrm>
            <a:off x="3133800" y="4689360"/>
            <a:ext cx="674280" cy="1420560"/>
          </a:xfrm>
          <a:custGeom>
            <a:avLst/>
            <a:gdLst/>
            <a:ahLst/>
            <a:rect l="l" t="t" r="r" b="b"/>
            <a:pathLst>
              <a:path w="345" h="810">
                <a:moveTo>
                  <a:pt x="345" y="0"/>
                </a:moveTo>
                <a:lnTo>
                  <a:pt x="0" y="81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837" name="Shape 3135"/>
          <p:cNvSpPr/>
          <p:nvPr/>
        </p:nvSpPr>
        <p:spPr>
          <a:xfrm>
            <a:off x="2268360" y="5132520"/>
            <a:ext cx="597960" cy="1004400"/>
          </a:xfrm>
          <a:custGeom>
            <a:avLst/>
            <a:gdLst/>
            <a:ahLst/>
            <a:rect l="l" t="t" r="r" b="b"/>
            <a:pathLst>
              <a:path w="291" h="556">
                <a:moveTo>
                  <a:pt x="291" y="55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838" name="Shape 3136"/>
          <p:cNvSpPr/>
          <p:nvPr/>
        </p:nvSpPr>
        <p:spPr>
          <a:xfrm>
            <a:off x="1533600" y="6272280"/>
            <a:ext cx="124092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839" name="Shape 3137"/>
          <p:cNvSpPr/>
          <p:nvPr/>
        </p:nvSpPr>
        <p:spPr>
          <a:xfrm>
            <a:off x="568440" y="4673520"/>
            <a:ext cx="599760" cy="1344240"/>
          </a:xfrm>
          <a:custGeom>
            <a:avLst/>
            <a:gdLst/>
            <a:ahLst/>
            <a:rect l="l" t="t" r="r" b="b"/>
            <a:pathLst>
              <a:path w="309" h="758">
                <a:moveTo>
                  <a:pt x="0" y="0"/>
                </a:moveTo>
                <a:lnTo>
                  <a:pt x="309" y="758"/>
                </a:lnTo>
              </a:path>
            </a:pathLst>
          </a:custGeom>
          <a:noFill/>
          <a:ln w="571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840" name="Shape 3138"/>
          <p:cNvSpPr/>
          <p:nvPr/>
        </p:nvSpPr>
        <p:spPr>
          <a:xfrm>
            <a:off x="2617920" y="5253120"/>
            <a:ext cx="4125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41" name="Shape 3139"/>
          <p:cNvSpPr/>
          <p:nvPr/>
        </p:nvSpPr>
        <p:spPr>
          <a:xfrm>
            <a:off x="3043080" y="343692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42" name="Shape 3140"/>
          <p:cNvSpPr/>
          <p:nvPr/>
        </p:nvSpPr>
        <p:spPr>
          <a:xfrm>
            <a:off x="1068480" y="3465360"/>
            <a:ext cx="40752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43" name="Shape 3141"/>
          <p:cNvSpPr/>
          <p:nvPr/>
        </p:nvSpPr>
        <p:spPr>
          <a:xfrm>
            <a:off x="1287360" y="424656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44" name="Shape 3142"/>
          <p:cNvSpPr/>
          <p:nvPr/>
        </p:nvSpPr>
        <p:spPr>
          <a:xfrm>
            <a:off x="2736720" y="424800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45" name="Shape 3143"/>
          <p:cNvSpPr/>
          <p:nvPr/>
        </p:nvSpPr>
        <p:spPr>
          <a:xfrm>
            <a:off x="412920" y="5164200"/>
            <a:ext cx="4075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46" name="Shape 3144"/>
          <p:cNvSpPr/>
          <p:nvPr/>
        </p:nvSpPr>
        <p:spPr>
          <a:xfrm>
            <a:off x="3560760" y="5226120"/>
            <a:ext cx="4060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47" name="Shape 3145"/>
          <p:cNvSpPr/>
          <p:nvPr/>
        </p:nvSpPr>
        <p:spPr>
          <a:xfrm>
            <a:off x="2249640" y="544356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48" name="Shape 3146"/>
          <p:cNvSpPr/>
          <p:nvPr/>
        </p:nvSpPr>
        <p:spPr>
          <a:xfrm>
            <a:off x="1301760" y="5259240"/>
            <a:ext cx="4107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49" name="Shape 3147"/>
          <p:cNvSpPr/>
          <p:nvPr/>
        </p:nvSpPr>
        <p:spPr>
          <a:xfrm>
            <a:off x="1389240" y="5135400"/>
            <a:ext cx="630000" cy="915480"/>
          </a:xfrm>
          <a:custGeom>
            <a:avLst/>
            <a:gdLst/>
            <a:ahLst/>
            <a:rect l="l" t="t" r="r" b="b"/>
            <a:pathLst>
              <a:path w="321" h="521">
                <a:moveTo>
                  <a:pt x="321" y="0"/>
                </a:moveTo>
                <a:lnTo>
                  <a:pt x="0" y="521"/>
                </a:lnTo>
              </a:path>
            </a:pathLst>
          </a:custGeom>
          <a:noFill/>
          <a:ln w="571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850" name="Shape 3148"/>
          <p:cNvSpPr/>
          <p:nvPr/>
        </p:nvSpPr>
        <p:spPr>
          <a:xfrm>
            <a:off x="2363760" y="4476600"/>
            <a:ext cx="1293480" cy="491760"/>
          </a:xfrm>
          <a:custGeom>
            <a:avLst/>
            <a:gdLst/>
            <a:ahLst/>
            <a:rect l="l" t="t" r="r" b="b"/>
            <a:pathLst>
              <a:path w="615" h="270">
                <a:moveTo>
                  <a:pt x="615" y="0"/>
                </a:moveTo>
                <a:lnTo>
                  <a:pt x="0" y="27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851" name="Shape 3149"/>
          <p:cNvSpPr/>
          <p:nvPr/>
        </p:nvSpPr>
        <p:spPr>
          <a:xfrm>
            <a:off x="2416320" y="3519360"/>
            <a:ext cx="1314000" cy="785520"/>
          </a:xfrm>
          <a:custGeom>
            <a:avLst/>
            <a:gdLst/>
            <a:ahLst/>
            <a:rect l="l" t="t" r="r" b="b"/>
            <a:pathLst>
              <a:path w="633" h="420">
                <a:moveTo>
                  <a:pt x="0" y="0"/>
                </a:moveTo>
                <a:lnTo>
                  <a:pt x="633" y="42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852" name="Shape 3150"/>
          <p:cNvSpPr/>
          <p:nvPr/>
        </p:nvSpPr>
        <p:spPr>
          <a:xfrm>
            <a:off x="671400" y="4476600"/>
            <a:ext cx="1230120" cy="450360"/>
          </a:xfrm>
          <a:custGeom>
            <a:avLst/>
            <a:gdLst/>
            <a:ahLst/>
            <a:rect l="l" t="t" r="r" b="b"/>
            <a:pathLst>
              <a:path w="630" h="255">
                <a:moveTo>
                  <a:pt x="630" y="255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853" name="Shape 3151"/>
          <p:cNvGrpSpPr/>
          <p:nvPr/>
        </p:nvGrpSpPr>
        <p:grpSpPr>
          <a:xfrm>
            <a:off x="181080" y="4160880"/>
            <a:ext cx="529920" cy="595080"/>
            <a:chOff x="181080" y="4160880"/>
            <a:chExt cx="529920" cy="595080"/>
          </a:xfrm>
        </p:grpSpPr>
        <p:sp>
          <p:nvSpPr>
            <p:cNvPr id="2854" name="Shape 3152"/>
            <p:cNvSpPr/>
            <p:nvPr/>
          </p:nvSpPr>
          <p:spPr>
            <a:xfrm>
              <a:off x="181080" y="42102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55" name="Shape 3153"/>
            <p:cNvSpPr/>
            <p:nvPr/>
          </p:nvSpPr>
          <p:spPr>
            <a:xfrm>
              <a:off x="247680" y="41608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856" name="Shape 3154"/>
          <p:cNvGrpSpPr/>
          <p:nvPr/>
        </p:nvGrpSpPr>
        <p:grpSpPr>
          <a:xfrm>
            <a:off x="1916280" y="3201840"/>
            <a:ext cx="529920" cy="595080"/>
            <a:chOff x="1916280" y="3201840"/>
            <a:chExt cx="529920" cy="595080"/>
          </a:xfrm>
        </p:grpSpPr>
        <p:sp>
          <p:nvSpPr>
            <p:cNvPr id="2857" name="Shape 3155"/>
            <p:cNvSpPr/>
            <p:nvPr/>
          </p:nvSpPr>
          <p:spPr>
            <a:xfrm>
              <a:off x="1916280" y="3251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58" name="Shape 3156"/>
            <p:cNvSpPr/>
            <p:nvPr/>
          </p:nvSpPr>
          <p:spPr>
            <a:xfrm>
              <a:off x="1982880" y="3201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859" name="Shape 3157"/>
          <p:cNvGrpSpPr/>
          <p:nvPr/>
        </p:nvGrpSpPr>
        <p:grpSpPr>
          <a:xfrm>
            <a:off x="3610080" y="4176720"/>
            <a:ext cx="529920" cy="595080"/>
            <a:chOff x="3610080" y="4176720"/>
            <a:chExt cx="529920" cy="595080"/>
          </a:xfrm>
        </p:grpSpPr>
        <p:sp>
          <p:nvSpPr>
            <p:cNvPr id="2860" name="Shape 3158"/>
            <p:cNvSpPr/>
            <p:nvPr/>
          </p:nvSpPr>
          <p:spPr>
            <a:xfrm>
              <a:off x="3610080" y="42260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61" name="Shape 3159"/>
            <p:cNvSpPr/>
            <p:nvPr/>
          </p:nvSpPr>
          <p:spPr>
            <a:xfrm>
              <a:off x="3676680" y="4176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862" name="Shape 3160"/>
          <p:cNvGrpSpPr/>
          <p:nvPr/>
        </p:nvGrpSpPr>
        <p:grpSpPr>
          <a:xfrm>
            <a:off x="2757600" y="6021360"/>
            <a:ext cx="529920" cy="595080"/>
            <a:chOff x="2757600" y="6021360"/>
            <a:chExt cx="529920" cy="595080"/>
          </a:xfrm>
        </p:grpSpPr>
        <p:sp>
          <p:nvSpPr>
            <p:cNvPr id="2863" name="Shape 3161"/>
            <p:cNvSpPr/>
            <p:nvPr/>
          </p:nvSpPr>
          <p:spPr>
            <a:xfrm>
              <a:off x="2757600" y="6070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64" name="Shape 3162"/>
            <p:cNvSpPr/>
            <p:nvPr/>
          </p:nvSpPr>
          <p:spPr>
            <a:xfrm>
              <a:off x="2824200" y="60213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865" name="Shape 3163"/>
          <p:cNvGrpSpPr/>
          <p:nvPr/>
        </p:nvGrpSpPr>
        <p:grpSpPr>
          <a:xfrm>
            <a:off x="1019160" y="5959440"/>
            <a:ext cx="529920" cy="595080"/>
            <a:chOff x="1019160" y="5959440"/>
            <a:chExt cx="529920" cy="595080"/>
          </a:xfrm>
        </p:grpSpPr>
        <p:sp>
          <p:nvSpPr>
            <p:cNvPr id="2866" name="Shape 3164"/>
            <p:cNvSpPr/>
            <p:nvPr/>
          </p:nvSpPr>
          <p:spPr>
            <a:xfrm>
              <a:off x="1019160" y="6008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67" name="Shape 3165"/>
            <p:cNvSpPr/>
            <p:nvPr/>
          </p:nvSpPr>
          <p:spPr>
            <a:xfrm>
              <a:off x="1085760" y="5959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868" name="Shape 3166"/>
          <p:cNvGrpSpPr/>
          <p:nvPr/>
        </p:nvGrpSpPr>
        <p:grpSpPr>
          <a:xfrm>
            <a:off x="1889280" y="4619520"/>
            <a:ext cx="529920" cy="595080"/>
            <a:chOff x="1889280" y="4619520"/>
            <a:chExt cx="529920" cy="595080"/>
          </a:xfrm>
        </p:grpSpPr>
        <p:sp>
          <p:nvSpPr>
            <p:cNvPr id="2869" name="Shape 3167"/>
            <p:cNvSpPr/>
            <p:nvPr/>
          </p:nvSpPr>
          <p:spPr>
            <a:xfrm>
              <a:off x="1889280" y="4668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70" name="Shape 3168"/>
            <p:cNvSpPr/>
            <p:nvPr/>
          </p:nvSpPr>
          <p:spPr>
            <a:xfrm>
              <a:off x="1955880" y="4619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2871" name="Shape 3169"/>
          <p:cNvSpPr/>
          <p:nvPr/>
        </p:nvSpPr>
        <p:spPr>
          <a:xfrm>
            <a:off x="4621320" y="3925800"/>
            <a:ext cx="3924000" cy="89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对于顶点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，只需保留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min{arc[A][C], arc[F][C]}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872" name="Shape 3170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873" name="Shape 3171"/>
          <p:cNvSpPr/>
          <p:nvPr/>
        </p:nvSpPr>
        <p:spPr>
          <a:xfrm rot="17160000">
            <a:off x="803160" y="3341880"/>
            <a:ext cx="1082160" cy="2688840"/>
          </a:xfrm>
          <a:prstGeom prst="ellipse">
            <a:avLst/>
          </a:prstGeom>
          <a:noFill/>
          <a:ln w="38100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874" name="Shape 3172"/>
          <p:cNvSpPr/>
          <p:nvPr/>
        </p:nvSpPr>
        <p:spPr>
          <a:xfrm>
            <a:off x="222120" y="1743120"/>
            <a:ext cx="8453160" cy="13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候选最短边集：设置数组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shortEdge[n]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表示候选最短边集，数组元素包括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adjvex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lowcost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两个域，分别表示候选最短边的邻接点和权值。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75" name="Shape 3173"/>
          <p:cNvSpPr/>
          <p:nvPr/>
        </p:nvSpPr>
        <p:spPr>
          <a:xfrm>
            <a:off x="272880" y="1211400"/>
            <a:ext cx="39621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数据结构设计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76" name="Shape 3174"/>
          <p:cNvSpPr/>
          <p:nvPr/>
        </p:nvSpPr>
        <p:spPr>
          <a:xfrm>
            <a:off x="4211640" y="5100480"/>
            <a:ext cx="4509720" cy="1215720"/>
          </a:xfrm>
          <a:prstGeom prst="rect">
            <a:avLst/>
          </a:prstGeom>
          <a:noFill/>
          <a:ln w="28575">
            <a:solidFill>
              <a:srgbClr val="00cc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对于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中的每个顶点，只保留从该顶点到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中的某顶点的最短边。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60" dur="indefinite" restart="never" nodeType="tmRoot">
          <p:childTnLst>
            <p:seq>
              <p:cTn id="861" dur="indefinite" nodeType="mainSeq">
                <p:childTnLst>
                  <p:par>
                    <p:cTn id="862" fill="hold">
                      <p:stCondLst>
                        <p:cond delay="0"/>
                      </p:stCondLst>
                      <p:childTnLst>
                        <p:par>
                          <p:cTn id="863" fill="hold">
                            <p:stCondLst>
                              <p:cond delay="0"/>
                            </p:stCondLst>
                            <p:childTnLst>
                              <p:par>
                                <p:cTn id="86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" name="Shape 3179"/>
          <p:cNvSpPr/>
          <p:nvPr/>
        </p:nvSpPr>
        <p:spPr>
          <a:xfrm>
            <a:off x="320760" y="2462040"/>
            <a:ext cx="8054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Clr>
                <a:srgbClr val="000000"/>
              </a:buClr>
              <a:buFont typeface="Noto Sans Symbols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候选最短边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的权值为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w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，其中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∈V-U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∈U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2878" name="Shape 3180"/>
          <p:cNvGrpSpPr/>
          <p:nvPr/>
        </p:nvGrpSpPr>
        <p:grpSpPr>
          <a:xfrm>
            <a:off x="355680" y="1797120"/>
            <a:ext cx="8602200" cy="523440"/>
            <a:chOff x="355680" y="1797120"/>
            <a:chExt cx="8602200" cy="523440"/>
          </a:xfrm>
        </p:grpSpPr>
        <p:sp>
          <p:nvSpPr>
            <p:cNvPr id="2879" name="Shape 3181"/>
            <p:cNvSpPr/>
            <p:nvPr/>
          </p:nvSpPr>
          <p:spPr>
            <a:xfrm>
              <a:off x="1069920" y="1797120"/>
              <a:ext cx="78879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如何用</a:t>
              </a:r>
              <a:r>
                <a:rPr b="1" lang="en-US" sz="2800" spc="-1" strike="noStrike">
                  <a:solidFill>
                    <a:srgbClr val="800000"/>
                  </a:solidFill>
                  <a:latin typeface="Times New Roman"/>
                  <a:ea typeface="Times New Roman"/>
                </a:rPr>
                <a:t>lowcost</a:t>
              </a:r>
              <a:r>
                <a:rPr b="1" lang="ja-JP" sz="2800" spc="-1" strike="noStrike">
                  <a:solidFill>
                    <a:srgbClr val="800000"/>
                  </a:solidFill>
                  <a:latin typeface="Times New Roman"/>
                  <a:ea typeface="Times New Roman"/>
                </a:rPr>
                <a:t>和</a:t>
              </a:r>
              <a:r>
                <a:rPr b="1" lang="en-US" sz="2800" spc="-1" strike="noStrike">
                  <a:solidFill>
                    <a:srgbClr val="800000"/>
                  </a:solidFill>
                  <a:latin typeface="Times New Roman"/>
                  <a:ea typeface="Times New Roman"/>
                </a:rPr>
                <a:t>adjvex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表示候选最短边集</a:t>
              </a:r>
              <a:r>
                <a:rPr b="1" lang="ja-JP" sz="2800" spc="-1" strike="noStrike">
                  <a:solidFill>
                    <a:srgbClr val="000000"/>
                  </a:solidFill>
                  <a:latin typeface="Arial"/>
                  <a:ea typeface="Arial"/>
                </a:rPr>
                <a:t>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2880" name="Shape 3182" descr=""/>
            <p:cNvPicPr/>
            <p:nvPr/>
          </p:nvPicPr>
          <p:blipFill>
            <a:blip r:embed="rId1"/>
            <a:stretch/>
          </p:blipFill>
          <p:spPr>
            <a:xfrm>
              <a:off x="355680" y="182412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881" name="Shape 3183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2882" name="Shape 3184"/>
          <p:cNvGrpSpPr/>
          <p:nvPr/>
        </p:nvGrpSpPr>
        <p:grpSpPr>
          <a:xfrm>
            <a:off x="992160" y="3054240"/>
            <a:ext cx="5546520" cy="977400"/>
            <a:chOff x="992160" y="3054240"/>
            <a:chExt cx="5546520" cy="977400"/>
          </a:xfrm>
        </p:grpSpPr>
        <p:sp>
          <p:nvSpPr>
            <p:cNvPr id="2883" name="Shape 3185"/>
            <p:cNvSpPr/>
            <p:nvPr/>
          </p:nvSpPr>
          <p:spPr>
            <a:xfrm>
              <a:off x="1365120" y="3054240"/>
              <a:ext cx="5173560" cy="97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shortEdge[i].adjvex = k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00000"/>
                </a:lnSpc>
                <a:spcBef>
                  <a:spcPts val="1199"/>
                </a:spcBef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shortEdge[i].lowcost = w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884" name="Shape 3186"/>
            <p:cNvSpPr/>
            <p:nvPr/>
          </p:nvSpPr>
          <p:spPr>
            <a:xfrm>
              <a:off x="992160" y="3278160"/>
              <a:ext cx="244080" cy="58536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885" name="Shape 3187"/>
          <p:cNvSpPr/>
          <p:nvPr/>
        </p:nvSpPr>
        <p:spPr>
          <a:xfrm>
            <a:off x="272880" y="1211400"/>
            <a:ext cx="39621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数据结构设计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2886" name="Shape 3188"/>
          <p:cNvGrpSpPr/>
          <p:nvPr/>
        </p:nvGrpSpPr>
        <p:grpSpPr>
          <a:xfrm>
            <a:off x="328680" y="5089680"/>
            <a:ext cx="8814960" cy="1225080"/>
            <a:chOff x="328680" y="5089680"/>
            <a:chExt cx="8814960" cy="1225080"/>
          </a:xfrm>
        </p:grpSpPr>
        <p:sp>
          <p:nvSpPr>
            <p:cNvPr id="2887" name="Shape 3189"/>
            <p:cNvSpPr/>
            <p:nvPr/>
          </p:nvSpPr>
          <p:spPr>
            <a:xfrm>
              <a:off x="581040" y="5089680"/>
              <a:ext cx="8562600" cy="122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shortEdge[j].lowcost = min {shortEdge[j].lowcost , cost(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j</a:t>
              </a: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，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k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)}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00000"/>
                </a:lnSpc>
                <a:spcBef>
                  <a:spcPts val="1199"/>
                </a:spcBef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shortEdge[j].adjvex = k</a:t>
              </a: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（如果边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(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j</a:t>
              </a: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，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k</a:t>
              </a: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)</a:t>
              </a: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的权值较小）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888" name="Shape 3190"/>
            <p:cNvSpPr/>
            <p:nvPr/>
          </p:nvSpPr>
          <p:spPr>
            <a:xfrm>
              <a:off x="328680" y="5275440"/>
              <a:ext cx="209160" cy="61092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889" name="Shape 3191"/>
          <p:cNvSpPr/>
          <p:nvPr/>
        </p:nvSpPr>
        <p:spPr>
          <a:xfrm>
            <a:off x="299880" y="4448160"/>
            <a:ext cx="9024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Clr>
                <a:srgbClr val="000000"/>
              </a:buClr>
              <a:buFont typeface="Noto Sans Symbols"/>
              <a:buChar char="•"/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顶点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从集合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-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进入集合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后，依据下式更新数组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shortEdge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 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0" name="Shape 3196"/>
          <p:cNvSpPr/>
          <p:nvPr/>
        </p:nvSpPr>
        <p:spPr>
          <a:xfrm>
            <a:off x="436680" y="2241720"/>
            <a:ext cx="8640000" cy="33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初始化两个辅助数组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lowcost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adjvex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输出顶点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，将顶点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加入集合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中；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重复执行下列操作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-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次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3.1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lowcost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中选取最短边，取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adjvex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中对应的顶点序号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3.2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输出顶点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和对应的权值；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3.3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将顶点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加入集合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中；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3.4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调整数组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lowcost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adjvex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891" name="Shape 3197"/>
          <p:cNvSpPr/>
          <p:nvPr/>
        </p:nvSpPr>
        <p:spPr>
          <a:xfrm>
            <a:off x="380880" y="1333440"/>
            <a:ext cx="5257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Prim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算法——伪代码</a:t>
            </a:r>
            <a:r>
              <a:rPr b="0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92" name="Shape 3198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3" name="Shape 3203"/>
          <p:cNvSpPr/>
          <p:nvPr/>
        </p:nvSpPr>
        <p:spPr>
          <a:xfrm>
            <a:off x="270000" y="1333440"/>
            <a:ext cx="5257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克鲁斯卡尔（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Kruskal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）算法</a:t>
            </a:r>
            <a:r>
              <a:rPr b="0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94" name="Shape 3204"/>
          <p:cNvSpPr/>
          <p:nvPr/>
        </p:nvSpPr>
        <p:spPr>
          <a:xfrm>
            <a:off x="304920" y="2057400"/>
            <a:ext cx="8367480" cy="330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ja-JP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基本思想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：设无向连通网为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＝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，令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的最小生成树为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＝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TE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，其</a:t>
            </a:r>
            <a:r>
              <a:rPr b="1" lang="ja-JP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初态为</a:t>
            </a:r>
            <a:r>
              <a:rPr b="1" i="1" lang="en-US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U</a:t>
            </a:r>
            <a:r>
              <a:rPr b="1" lang="ja-JP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＝</a:t>
            </a:r>
            <a:r>
              <a:rPr b="1" i="1" lang="en-US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</a:t>
            </a:r>
            <a:r>
              <a:rPr b="1" lang="ja-JP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，</a:t>
            </a:r>
            <a:r>
              <a:rPr b="1" i="1" lang="en-US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TE</a:t>
            </a:r>
            <a:r>
              <a:rPr b="1" lang="ja-JP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＝</a:t>
            </a:r>
            <a:r>
              <a:rPr b="1" lang="en-US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{ }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，然后，按照</a:t>
            </a:r>
            <a:r>
              <a:rPr b="1" lang="ja-JP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边的权值由小到大的顺序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，考察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的边集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中的各条边。若被考察的边的两个顶点属于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的两个不同的</a:t>
            </a:r>
            <a:r>
              <a:rPr b="1" lang="ja-JP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连通分量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，则将此边作为最小生成树的边加入到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中，同时把两个连通分量连接为一个连通分量；若被考察边的两个顶点属于同一个连通分量，则舍去此边，以免造成回路，如此下去，当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中的连通分量个数为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时，此连通分量便为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ja-JP" sz="2400" spc="-1" strike="noStrike">
                <a:solidFill>
                  <a:srgbClr val="000000"/>
                </a:solidFill>
                <a:latin typeface="Arial"/>
                <a:ea typeface="Arial"/>
              </a:rPr>
              <a:t>的一棵最小生成树。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895" name="Shape 3205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6" name="Shape 3210"/>
          <p:cNvSpPr/>
          <p:nvPr/>
        </p:nvSpPr>
        <p:spPr>
          <a:xfrm>
            <a:off x="270000" y="1333440"/>
            <a:ext cx="5257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克鲁斯卡尔（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Kruskal</a:t>
            </a: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）算法</a:t>
            </a:r>
            <a:r>
              <a:rPr b="0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897" name="Shape 3211"/>
          <p:cNvSpPr/>
          <p:nvPr/>
        </p:nvSpPr>
        <p:spPr>
          <a:xfrm>
            <a:off x="361800" y="2654280"/>
            <a:ext cx="8367480" cy="2676240"/>
          </a:xfrm>
          <a:prstGeom prst="rect">
            <a:avLst/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初始化：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U=V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TE={ }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重复下述操作直到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中的连通分量个数为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2.1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中寻找最短边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v);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2.2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如果顶点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、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位于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的两个不同连通分量，则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2.2.1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将边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v)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并入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TE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2.2.2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将这两个连通分量合为一个；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2.3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标记边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v)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，使得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v)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不参加后续最短边的选取；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898" name="Shape 3212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899" name="Shape 3213"/>
          <p:cNvSpPr/>
          <p:nvPr/>
        </p:nvSpPr>
        <p:spPr>
          <a:xfrm>
            <a:off x="352440" y="2009880"/>
            <a:ext cx="6419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Kruskal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算法的基本思想用伪代码描述如下： 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2900" name="Shape 3214"/>
          <p:cNvGrpSpPr/>
          <p:nvPr/>
        </p:nvGrpSpPr>
        <p:grpSpPr>
          <a:xfrm>
            <a:off x="469800" y="4179960"/>
            <a:ext cx="8367120" cy="1864800"/>
            <a:chOff x="469800" y="4179960"/>
            <a:chExt cx="8367120" cy="1864800"/>
          </a:xfrm>
        </p:grpSpPr>
        <p:sp>
          <p:nvSpPr>
            <p:cNvPr id="2901" name="Shape 3215"/>
            <p:cNvSpPr/>
            <p:nvPr/>
          </p:nvSpPr>
          <p:spPr>
            <a:xfrm>
              <a:off x="469800" y="5559480"/>
              <a:ext cx="8367120" cy="485280"/>
            </a:xfrm>
            <a:prstGeom prst="rect">
              <a:avLst/>
            </a:pr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关键：</a:t>
              </a:r>
              <a:r>
                <a:rPr b="1" lang="ja-JP" sz="2400" spc="-1" strike="noStrike">
                  <a:solidFill>
                    <a:srgbClr val="000000"/>
                  </a:solidFill>
                  <a:latin typeface="Arial"/>
                  <a:ea typeface="Arial"/>
                </a:rPr>
                <a:t>如何判别被考察边的两个顶点是否位于两个连通分量 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2902" name="Shape 3216"/>
            <p:cNvSpPr/>
            <p:nvPr/>
          </p:nvSpPr>
          <p:spPr>
            <a:xfrm>
              <a:off x="1857240" y="4179960"/>
              <a:ext cx="475884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03" name="Shape 3217"/>
            <p:cNvSpPr/>
            <p:nvPr/>
          </p:nvSpPr>
          <p:spPr>
            <a:xfrm>
              <a:off x="1857240" y="4905360"/>
              <a:ext cx="475884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cc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Shape 3222"/>
          <p:cNvSpPr/>
          <p:nvPr/>
        </p:nvSpPr>
        <p:spPr>
          <a:xfrm>
            <a:off x="915840" y="2163600"/>
            <a:ext cx="1267920" cy="826560"/>
          </a:xfrm>
          <a:custGeom>
            <a:avLst/>
            <a:gdLst/>
            <a:ahLst/>
            <a:rect l="l" t="t" r="r" b="b"/>
            <a:pathLst>
              <a:path w="666" h="426">
                <a:moveTo>
                  <a:pt x="666" y="0"/>
                </a:moveTo>
                <a:lnTo>
                  <a:pt x="0" y="426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05" name="Shape 3223"/>
          <p:cNvSpPr/>
          <p:nvPr/>
        </p:nvSpPr>
        <p:spPr>
          <a:xfrm>
            <a:off x="3378240" y="3328920"/>
            <a:ext cx="674280" cy="1420560"/>
          </a:xfrm>
          <a:custGeom>
            <a:avLst/>
            <a:gdLst/>
            <a:ahLst/>
            <a:rect l="l" t="t" r="r" b="b"/>
            <a:pathLst>
              <a:path w="345" h="810">
                <a:moveTo>
                  <a:pt x="345" y="0"/>
                </a:moveTo>
                <a:lnTo>
                  <a:pt x="0" y="81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06" name="Shape 3224"/>
          <p:cNvSpPr/>
          <p:nvPr/>
        </p:nvSpPr>
        <p:spPr>
          <a:xfrm>
            <a:off x="2513160" y="3772080"/>
            <a:ext cx="597960" cy="1004400"/>
          </a:xfrm>
          <a:custGeom>
            <a:avLst/>
            <a:gdLst/>
            <a:ahLst/>
            <a:rect l="l" t="t" r="r" b="b"/>
            <a:pathLst>
              <a:path w="291" h="556">
                <a:moveTo>
                  <a:pt x="291" y="55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07" name="Shape 3225"/>
          <p:cNvSpPr/>
          <p:nvPr/>
        </p:nvSpPr>
        <p:spPr>
          <a:xfrm>
            <a:off x="1778040" y="4911840"/>
            <a:ext cx="124092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08" name="Shape 3226"/>
          <p:cNvSpPr/>
          <p:nvPr/>
        </p:nvSpPr>
        <p:spPr>
          <a:xfrm>
            <a:off x="798480" y="3298680"/>
            <a:ext cx="630000" cy="1360080"/>
          </a:xfrm>
          <a:custGeom>
            <a:avLst/>
            <a:gdLst/>
            <a:ahLst/>
            <a:rect l="l" t="t" r="r" b="b"/>
            <a:pathLst>
              <a:path w="309" h="758">
                <a:moveTo>
                  <a:pt x="0" y="0"/>
                </a:moveTo>
                <a:lnTo>
                  <a:pt x="309" y="758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09" name="Shape 3227"/>
          <p:cNvSpPr/>
          <p:nvPr/>
        </p:nvSpPr>
        <p:spPr>
          <a:xfrm>
            <a:off x="2862360" y="3892680"/>
            <a:ext cx="4125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10" name="Shape 3228"/>
          <p:cNvSpPr/>
          <p:nvPr/>
        </p:nvSpPr>
        <p:spPr>
          <a:xfrm>
            <a:off x="3287880" y="207648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11" name="Shape 3229"/>
          <p:cNvSpPr/>
          <p:nvPr/>
        </p:nvSpPr>
        <p:spPr>
          <a:xfrm>
            <a:off x="1312920" y="2104920"/>
            <a:ext cx="40752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12" name="Shape 3230"/>
          <p:cNvSpPr/>
          <p:nvPr/>
        </p:nvSpPr>
        <p:spPr>
          <a:xfrm>
            <a:off x="1531800" y="288612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13" name="Shape 3231"/>
          <p:cNvSpPr/>
          <p:nvPr/>
        </p:nvSpPr>
        <p:spPr>
          <a:xfrm>
            <a:off x="2981160" y="288756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14" name="Shape 3232"/>
          <p:cNvSpPr/>
          <p:nvPr/>
        </p:nvSpPr>
        <p:spPr>
          <a:xfrm>
            <a:off x="657360" y="3803760"/>
            <a:ext cx="4075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15" name="Shape 3233"/>
          <p:cNvSpPr/>
          <p:nvPr/>
        </p:nvSpPr>
        <p:spPr>
          <a:xfrm>
            <a:off x="3805200" y="3865680"/>
            <a:ext cx="4060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16" name="Shape 3234"/>
          <p:cNvSpPr/>
          <p:nvPr/>
        </p:nvSpPr>
        <p:spPr>
          <a:xfrm>
            <a:off x="2249640" y="498312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17" name="Shape 3235"/>
          <p:cNvSpPr/>
          <p:nvPr/>
        </p:nvSpPr>
        <p:spPr>
          <a:xfrm>
            <a:off x="1546200" y="3898800"/>
            <a:ext cx="4107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18" name="Shape 3236"/>
          <p:cNvSpPr/>
          <p:nvPr/>
        </p:nvSpPr>
        <p:spPr>
          <a:xfrm>
            <a:off x="1633680" y="3774960"/>
            <a:ext cx="630000" cy="915480"/>
          </a:xfrm>
          <a:custGeom>
            <a:avLst/>
            <a:gdLst/>
            <a:ahLst/>
            <a:rect l="l" t="t" r="r" b="b"/>
            <a:pathLst>
              <a:path w="321" h="521">
                <a:moveTo>
                  <a:pt x="321" y="0"/>
                </a:moveTo>
                <a:lnTo>
                  <a:pt x="0" y="521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19" name="Shape 3237"/>
          <p:cNvSpPr/>
          <p:nvPr/>
        </p:nvSpPr>
        <p:spPr>
          <a:xfrm>
            <a:off x="2608200" y="3116160"/>
            <a:ext cx="1293480" cy="491760"/>
          </a:xfrm>
          <a:custGeom>
            <a:avLst/>
            <a:gdLst/>
            <a:ahLst/>
            <a:rect l="l" t="t" r="r" b="b"/>
            <a:pathLst>
              <a:path w="615" h="270">
                <a:moveTo>
                  <a:pt x="615" y="0"/>
                </a:moveTo>
                <a:lnTo>
                  <a:pt x="0" y="27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20" name="Shape 3238"/>
          <p:cNvSpPr/>
          <p:nvPr/>
        </p:nvSpPr>
        <p:spPr>
          <a:xfrm>
            <a:off x="2660760" y="2158920"/>
            <a:ext cx="1314000" cy="785520"/>
          </a:xfrm>
          <a:custGeom>
            <a:avLst/>
            <a:gdLst/>
            <a:ahLst/>
            <a:rect l="l" t="t" r="r" b="b"/>
            <a:pathLst>
              <a:path w="633" h="420">
                <a:moveTo>
                  <a:pt x="0" y="0"/>
                </a:moveTo>
                <a:lnTo>
                  <a:pt x="633" y="42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21" name="Shape 3239"/>
          <p:cNvSpPr/>
          <p:nvPr/>
        </p:nvSpPr>
        <p:spPr>
          <a:xfrm>
            <a:off x="915840" y="3116160"/>
            <a:ext cx="1230120" cy="450360"/>
          </a:xfrm>
          <a:custGeom>
            <a:avLst/>
            <a:gdLst/>
            <a:ahLst/>
            <a:rect l="l" t="t" r="r" b="b"/>
            <a:pathLst>
              <a:path w="630" h="255">
                <a:moveTo>
                  <a:pt x="630" y="255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922" name="Shape 3240"/>
          <p:cNvGrpSpPr/>
          <p:nvPr/>
        </p:nvGrpSpPr>
        <p:grpSpPr>
          <a:xfrm>
            <a:off x="425520" y="2800440"/>
            <a:ext cx="529920" cy="595080"/>
            <a:chOff x="425520" y="2800440"/>
            <a:chExt cx="529920" cy="595080"/>
          </a:xfrm>
        </p:grpSpPr>
        <p:sp>
          <p:nvSpPr>
            <p:cNvPr id="2923" name="Shape 3241"/>
            <p:cNvSpPr/>
            <p:nvPr/>
          </p:nvSpPr>
          <p:spPr>
            <a:xfrm>
              <a:off x="425520" y="2849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24" name="Shape 3242"/>
            <p:cNvSpPr/>
            <p:nvPr/>
          </p:nvSpPr>
          <p:spPr>
            <a:xfrm>
              <a:off x="492120" y="2800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925" name="Shape 3243"/>
          <p:cNvGrpSpPr/>
          <p:nvPr/>
        </p:nvGrpSpPr>
        <p:grpSpPr>
          <a:xfrm>
            <a:off x="2160720" y="1841400"/>
            <a:ext cx="529920" cy="595080"/>
            <a:chOff x="2160720" y="1841400"/>
            <a:chExt cx="529920" cy="595080"/>
          </a:xfrm>
        </p:grpSpPr>
        <p:sp>
          <p:nvSpPr>
            <p:cNvPr id="2926" name="Shape 3244"/>
            <p:cNvSpPr/>
            <p:nvPr/>
          </p:nvSpPr>
          <p:spPr>
            <a:xfrm>
              <a:off x="2160720" y="18907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27" name="Shape 3245"/>
            <p:cNvSpPr/>
            <p:nvPr/>
          </p:nvSpPr>
          <p:spPr>
            <a:xfrm>
              <a:off x="2227320" y="18414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928" name="Shape 3246"/>
          <p:cNvGrpSpPr/>
          <p:nvPr/>
        </p:nvGrpSpPr>
        <p:grpSpPr>
          <a:xfrm>
            <a:off x="3854520" y="2816280"/>
            <a:ext cx="529920" cy="595080"/>
            <a:chOff x="3854520" y="2816280"/>
            <a:chExt cx="529920" cy="595080"/>
          </a:xfrm>
        </p:grpSpPr>
        <p:sp>
          <p:nvSpPr>
            <p:cNvPr id="2929" name="Shape 3247"/>
            <p:cNvSpPr/>
            <p:nvPr/>
          </p:nvSpPr>
          <p:spPr>
            <a:xfrm>
              <a:off x="3854520" y="28656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30" name="Shape 3248"/>
            <p:cNvSpPr/>
            <p:nvPr/>
          </p:nvSpPr>
          <p:spPr>
            <a:xfrm>
              <a:off x="3921120" y="28162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931" name="Shape 3249"/>
          <p:cNvGrpSpPr/>
          <p:nvPr/>
        </p:nvGrpSpPr>
        <p:grpSpPr>
          <a:xfrm>
            <a:off x="3002040" y="4660920"/>
            <a:ext cx="529920" cy="595080"/>
            <a:chOff x="3002040" y="4660920"/>
            <a:chExt cx="529920" cy="595080"/>
          </a:xfrm>
        </p:grpSpPr>
        <p:sp>
          <p:nvSpPr>
            <p:cNvPr id="2932" name="Shape 3250"/>
            <p:cNvSpPr/>
            <p:nvPr/>
          </p:nvSpPr>
          <p:spPr>
            <a:xfrm>
              <a:off x="3002040" y="4710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33" name="Shape 3251"/>
            <p:cNvSpPr/>
            <p:nvPr/>
          </p:nvSpPr>
          <p:spPr>
            <a:xfrm>
              <a:off x="3068640" y="4660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934" name="Shape 3252"/>
          <p:cNvGrpSpPr/>
          <p:nvPr/>
        </p:nvGrpSpPr>
        <p:grpSpPr>
          <a:xfrm>
            <a:off x="1263600" y="4599000"/>
            <a:ext cx="529920" cy="595080"/>
            <a:chOff x="1263600" y="4599000"/>
            <a:chExt cx="529920" cy="595080"/>
          </a:xfrm>
        </p:grpSpPr>
        <p:sp>
          <p:nvSpPr>
            <p:cNvPr id="2935" name="Shape 3253"/>
            <p:cNvSpPr/>
            <p:nvPr/>
          </p:nvSpPr>
          <p:spPr>
            <a:xfrm>
              <a:off x="1263600" y="464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36" name="Shape 3254"/>
            <p:cNvSpPr/>
            <p:nvPr/>
          </p:nvSpPr>
          <p:spPr>
            <a:xfrm>
              <a:off x="1330200" y="459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937" name="Shape 3255"/>
          <p:cNvGrpSpPr/>
          <p:nvPr/>
        </p:nvGrpSpPr>
        <p:grpSpPr>
          <a:xfrm>
            <a:off x="2133720" y="3259080"/>
            <a:ext cx="529920" cy="595080"/>
            <a:chOff x="2133720" y="3259080"/>
            <a:chExt cx="529920" cy="595080"/>
          </a:xfrm>
        </p:grpSpPr>
        <p:sp>
          <p:nvSpPr>
            <p:cNvPr id="2938" name="Shape 3256"/>
            <p:cNvSpPr/>
            <p:nvPr/>
          </p:nvSpPr>
          <p:spPr>
            <a:xfrm>
              <a:off x="2133720" y="330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39" name="Shape 3257"/>
            <p:cNvSpPr/>
            <p:nvPr/>
          </p:nvSpPr>
          <p:spPr>
            <a:xfrm>
              <a:off x="2200320" y="3259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940" name="Shape 3258"/>
          <p:cNvGrpSpPr/>
          <p:nvPr/>
        </p:nvGrpSpPr>
        <p:grpSpPr>
          <a:xfrm>
            <a:off x="4740120" y="2830680"/>
            <a:ext cx="530280" cy="595080"/>
            <a:chOff x="4740120" y="2830680"/>
            <a:chExt cx="530280" cy="595080"/>
          </a:xfrm>
        </p:grpSpPr>
        <p:sp>
          <p:nvSpPr>
            <p:cNvPr id="2941" name="Shape 3259"/>
            <p:cNvSpPr/>
            <p:nvPr/>
          </p:nvSpPr>
          <p:spPr>
            <a:xfrm>
              <a:off x="4740120" y="2879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42" name="Shape 3260"/>
            <p:cNvSpPr/>
            <p:nvPr/>
          </p:nvSpPr>
          <p:spPr>
            <a:xfrm>
              <a:off x="4807080" y="28306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943" name="Shape 3261"/>
          <p:cNvGrpSpPr/>
          <p:nvPr/>
        </p:nvGrpSpPr>
        <p:grpSpPr>
          <a:xfrm>
            <a:off x="6475320" y="1871640"/>
            <a:ext cx="529920" cy="595080"/>
            <a:chOff x="6475320" y="1871640"/>
            <a:chExt cx="529920" cy="595080"/>
          </a:xfrm>
        </p:grpSpPr>
        <p:sp>
          <p:nvSpPr>
            <p:cNvPr id="2944" name="Shape 3262"/>
            <p:cNvSpPr/>
            <p:nvPr/>
          </p:nvSpPr>
          <p:spPr>
            <a:xfrm>
              <a:off x="6475320" y="19209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45" name="Shape 3263"/>
            <p:cNvSpPr/>
            <p:nvPr/>
          </p:nvSpPr>
          <p:spPr>
            <a:xfrm>
              <a:off x="6541920" y="18716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946" name="Shape 3264"/>
          <p:cNvGrpSpPr/>
          <p:nvPr/>
        </p:nvGrpSpPr>
        <p:grpSpPr>
          <a:xfrm>
            <a:off x="8169120" y="2846520"/>
            <a:ext cx="530280" cy="595080"/>
            <a:chOff x="8169120" y="2846520"/>
            <a:chExt cx="530280" cy="595080"/>
          </a:xfrm>
        </p:grpSpPr>
        <p:sp>
          <p:nvSpPr>
            <p:cNvPr id="2947" name="Shape 3265"/>
            <p:cNvSpPr/>
            <p:nvPr/>
          </p:nvSpPr>
          <p:spPr>
            <a:xfrm>
              <a:off x="8169120" y="28954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48" name="Shape 3266"/>
            <p:cNvSpPr/>
            <p:nvPr/>
          </p:nvSpPr>
          <p:spPr>
            <a:xfrm>
              <a:off x="8236080" y="2846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949" name="Shape 3267"/>
          <p:cNvGrpSpPr/>
          <p:nvPr/>
        </p:nvGrpSpPr>
        <p:grpSpPr>
          <a:xfrm>
            <a:off x="7316640" y="4691160"/>
            <a:ext cx="530280" cy="595080"/>
            <a:chOff x="7316640" y="4691160"/>
            <a:chExt cx="530280" cy="595080"/>
          </a:xfrm>
        </p:grpSpPr>
        <p:sp>
          <p:nvSpPr>
            <p:cNvPr id="2950" name="Shape 3268"/>
            <p:cNvSpPr/>
            <p:nvPr/>
          </p:nvSpPr>
          <p:spPr>
            <a:xfrm>
              <a:off x="7316640" y="47401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51" name="Shape 3269"/>
            <p:cNvSpPr/>
            <p:nvPr/>
          </p:nvSpPr>
          <p:spPr>
            <a:xfrm>
              <a:off x="7383600" y="46911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952" name="Shape 3270"/>
          <p:cNvGrpSpPr/>
          <p:nvPr/>
        </p:nvGrpSpPr>
        <p:grpSpPr>
          <a:xfrm>
            <a:off x="5578560" y="4629240"/>
            <a:ext cx="529920" cy="595080"/>
            <a:chOff x="5578560" y="4629240"/>
            <a:chExt cx="529920" cy="595080"/>
          </a:xfrm>
        </p:grpSpPr>
        <p:sp>
          <p:nvSpPr>
            <p:cNvPr id="2953" name="Shape 3271"/>
            <p:cNvSpPr/>
            <p:nvPr/>
          </p:nvSpPr>
          <p:spPr>
            <a:xfrm>
              <a:off x="5578560" y="46782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54" name="Shape 3272"/>
            <p:cNvSpPr/>
            <p:nvPr/>
          </p:nvSpPr>
          <p:spPr>
            <a:xfrm>
              <a:off x="5645160" y="4629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955" name="Shape 3273"/>
          <p:cNvGrpSpPr/>
          <p:nvPr/>
        </p:nvGrpSpPr>
        <p:grpSpPr>
          <a:xfrm>
            <a:off x="6448320" y="3289320"/>
            <a:ext cx="530280" cy="595080"/>
            <a:chOff x="6448320" y="3289320"/>
            <a:chExt cx="530280" cy="595080"/>
          </a:xfrm>
        </p:grpSpPr>
        <p:sp>
          <p:nvSpPr>
            <p:cNvPr id="2956" name="Shape 3274"/>
            <p:cNvSpPr/>
            <p:nvPr/>
          </p:nvSpPr>
          <p:spPr>
            <a:xfrm>
              <a:off x="6448320" y="3338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57" name="Shape 3275"/>
            <p:cNvSpPr/>
            <p:nvPr/>
          </p:nvSpPr>
          <p:spPr>
            <a:xfrm>
              <a:off x="6515280" y="3289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2958" name="Shape 3276"/>
          <p:cNvSpPr/>
          <p:nvPr/>
        </p:nvSpPr>
        <p:spPr>
          <a:xfrm>
            <a:off x="2529000" y="5595840"/>
            <a:ext cx="63878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连通分量＝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{A}, {B}, {C}, {D}, {E}, {F}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59" name="Shape 3277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68" dur="indefinite" restart="never" nodeType="tmRoot">
          <p:childTnLst>
            <p:seq>
              <p:cTn id="869" dur="indefinite" nodeType="mainSeq">
                <p:childTnLst>
                  <p:par>
                    <p:cTn id="870" fill="hold">
                      <p:stCondLst>
                        <p:cond delay="indefinite"/>
                      </p:stCondLst>
                      <p:childTnLst>
                        <p:par>
                          <p:cTn id="871" fill="hold">
                            <p:stCondLst>
                              <p:cond delay="0"/>
                            </p:stCondLst>
                            <p:childTnLst>
                              <p:par>
                                <p:cTn id="87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4" dur="500"/>
                                        <p:tgtEl>
                                          <p:spTgt spid="2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0" name="Shape 3282"/>
          <p:cNvSpPr/>
          <p:nvPr/>
        </p:nvSpPr>
        <p:spPr>
          <a:xfrm>
            <a:off x="915840" y="2163600"/>
            <a:ext cx="1267920" cy="826560"/>
          </a:xfrm>
          <a:custGeom>
            <a:avLst/>
            <a:gdLst/>
            <a:ahLst/>
            <a:rect l="l" t="t" r="r" b="b"/>
            <a:pathLst>
              <a:path w="666" h="426">
                <a:moveTo>
                  <a:pt x="666" y="0"/>
                </a:moveTo>
                <a:lnTo>
                  <a:pt x="0" y="426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61" name="Shape 3283"/>
          <p:cNvSpPr/>
          <p:nvPr/>
        </p:nvSpPr>
        <p:spPr>
          <a:xfrm>
            <a:off x="3378240" y="3328920"/>
            <a:ext cx="674280" cy="1420560"/>
          </a:xfrm>
          <a:custGeom>
            <a:avLst/>
            <a:gdLst/>
            <a:ahLst/>
            <a:rect l="l" t="t" r="r" b="b"/>
            <a:pathLst>
              <a:path w="345" h="810">
                <a:moveTo>
                  <a:pt x="345" y="0"/>
                </a:moveTo>
                <a:lnTo>
                  <a:pt x="0" y="81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62" name="Shape 3284"/>
          <p:cNvSpPr/>
          <p:nvPr/>
        </p:nvSpPr>
        <p:spPr>
          <a:xfrm>
            <a:off x="2513160" y="3772080"/>
            <a:ext cx="597960" cy="1004400"/>
          </a:xfrm>
          <a:custGeom>
            <a:avLst/>
            <a:gdLst/>
            <a:ahLst/>
            <a:rect l="l" t="t" r="r" b="b"/>
            <a:pathLst>
              <a:path w="291" h="556">
                <a:moveTo>
                  <a:pt x="291" y="55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63" name="Shape 3285"/>
          <p:cNvSpPr/>
          <p:nvPr/>
        </p:nvSpPr>
        <p:spPr>
          <a:xfrm>
            <a:off x="1778040" y="4911840"/>
            <a:ext cx="124092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64" name="Shape 3286"/>
          <p:cNvSpPr/>
          <p:nvPr/>
        </p:nvSpPr>
        <p:spPr>
          <a:xfrm>
            <a:off x="798480" y="3298680"/>
            <a:ext cx="630000" cy="1360080"/>
          </a:xfrm>
          <a:custGeom>
            <a:avLst/>
            <a:gdLst/>
            <a:ahLst/>
            <a:rect l="l" t="t" r="r" b="b"/>
            <a:pathLst>
              <a:path w="309" h="758">
                <a:moveTo>
                  <a:pt x="0" y="0"/>
                </a:moveTo>
                <a:lnTo>
                  <a:pt x="309" y="758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65" name="Shape 3287"/>
          <p:cNvSpPr/>
          <p:nvPr/>
        </p:nvSpPr>
        <p:spPr>
          <a:xfrm>
            <a:off x="2862360" y="3892680"/>
            <a:ext cx="4125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66" name="Shape 3288"/>
          <p:cNvSpPr/>
          <p:nvPr/>
        </p:nvSpPr>
        <p:spPr>
          <a:xfrm>
            <a:off x="3287880" y="207648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67" name="Shape 3289"/>
          <p:cNvSpPr/>
          <p:nvPr/>
        </p:nvSpPr>
        <p:spPr>
          <a:xfrm>
            <a:off x="1312920" y="2104920"/>
            <a:ext cx="40752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68" name="Shape 3290"/>
          <p:cNvSpPr/>
          <p:nvPr/>
        </p:nvSpPr>
        <p:spPr>
          <a:xfrm>
            <a:off x="1531800" y="288612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69" name="Shape 3291"/>
          <p:cNvSpPr/>
          <p:nvPr/>
        </p:nvSpPr>
        <p:spPr>
          <a:xfrm>
            <a:off x="2981160" y="288756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70" name="Shape 3292"/>
          <p:cNvSpPr/>
          <p:nvPr/>
        </p:nvSpPr>
        <p:spPr>
          <a:xfrm>
            <a:off x="657360" y="3803760"/>
            <a:ext cx="4075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71" name="Shape 3293"/>
          <p:cNvSpPr/>
          <p:nvPr/>
        </p:nvSpPr>
        <p:spPr>
          <a:xfrm>
            <a:off x="3805200" y="3865680"/>
            <a:ext cx="4060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72" name="Shape 3294"/>
          <p:cNvSpPr/>
          <p:nvPr/>
        </p:nvSpPr>
        <p:spPr>
          <a:xfrm>
            <a:off x="2249640" y="498312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73" name="Shape 3295"/>
          <p:cNvSpPr/>
          <p:nvPr/>
        </p:nvSpPr>
        <p:spPr>
          <a:xfrm>
            <a:off x="1546200" y="3898800"/>
            <a:ext cx="4107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974" name="Shape 3296"/>
          <p:cNvSpPr/>
          <p:nvPr/>
        </p:nvSpPr>
        <p:spPr>
          <a:xfrm>
            <a:off x="1633680" y="3774960"/>
            <a:ext cx="630000" cy="915480"/>
          </a:xfrm>
          <a:custGeom>
            <a:avLst/>
            <a:gdLst/>
            <a:ahLst/>
            <a:rect l="l" t="t" r="r" b="b"/>
            <a:pathLst>
              <a:path w="321" h="521">
                <a:moveTo>
                  <a:pt x="321" y="0"/>
                </a:moveTo>
                <a:lnTo>
                  <a:pt x="0" y="521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75" name="Shape 3297"/>
          <p:cNvSpPr/>
          <p:nvPr/>
        </p:nvSpPr>
        <p:spPr>
          <a:xfrm>
            <a:off x="2608200" y="3116160"/>
            <a:ext cx="1293480" cy="491760"/>
          </a:xfrm>
          <a:custGeom>
            <a:avLst/>
            <a:gdLst/>
            <a:ahLst/>
            <a:rect l="l" t="t" r="r" b="b"/>
            <a:pathLst>
              <a:path w="615" h="270">
                <a:moveTo>
                  <a:pt x="615" y="0"/>
                </a:moveTo>
                <a:lnTo>
                  <a:pt x="0" y="27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76" name="Shape 3298"/>
          <p:cNvSpPr/>
          <p:nvPr/>
        </p:nvSpPr>
        <p:spPr>
          <a:xfrm>
            <a:off x="2660760" y="2158920"/>
            <a:ext cx="1314000" cy="785520"/>
          </a:xfrm>
          <a:custGeom>
            <a:avLst/>
            <a:gdLst/>
            <a:ahLst/>
            <a:rect l="l" t="t" r="r" b="b"/>
            <a:pathLst>
              <a:path w="633" h="420">
                <a:moveTo>
                  <a:pt x="0" y="0"/>
                </a:moveTo>
                <a:lnTo>
                  <a:pt x="633" y="42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77" name="Shape 3299"/>
          <p:cNvSpPr/>
          <p:nvPr/>
        </p:nvSpPr>
        <p:spPr>
          <a:xfrm>
            <a:off x="915840" y="3116160"/>
            <a:ext cx="1230120" cy="450360"/>
          </a:xfrm>
          <a:custGeom>
            <a:avLst/>
            <a:gdLst/>
            <a:ahLst/>
            <a:rect l="l" t="t" r="r" b="b"/>
            <a:pathLst>
              <a:path w="630" h="255">
                <a:moveTo>
                  <a:pt x="630" y="255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978" name="Shape 3300"/>
          <p:cNvGrpSpPr/>
          <p:nvPr/>
        </p:nvGrpSpPr>
        <p:grpSpPr>
          <a:xfrm>
            <a:off x="425520" y="2800440"/>
            <a:ext cx="529920" cy="595080"/>
            <a:chOff x="425520" y="2800440"/>
            <a:chExt cx="529920" cy="595080"/>
          </a:xfrm>
        </p:grpSpPr>
        <p:sp>
          <p:nvSpPr>
            <p:cNvPr id="2979" name="Shape 3301"/>
            <p:cNvSpPr/>
            <p:nvPr/>
          </p:nvSpPr>
          <p:spPr>
            <a:xfrm>
              <a:off x="425520" y="2849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80" name="Shape 3302"/>
            <p:cNvSpPr/>
            <p:nvPr/>
          </p:nvSpPr>
          <p:spPr>
            <a:xfrm>
              <a:off x="492120" y="2800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981" name="Shape 3303"/>
          <p:cNvGrpSpPr/>
          <p:nvPr/>
        </p:nvGrpSpPr>
        <p:grpSpPr>
          <a:xfrm>
            <a:off x="2160720" y="1841400"/>
            <a:ext cx="529920" cy="595080"/>
            <a:chOff x="2160720" y="1841400"/>
            <a:chExt cx="529920" cy="595080"/>
          </a:xfrm>
        </p:grpSpPr>
        <p:sp>
          <p:nvSpPr>
            <p:cNvPr id="2982" name="Shape 3304"/>
            <p:cNvSpPr/>
            <p:nvPr/>
          </p:nvSpPr>
          <p:spPr>
            <a:xfrm>
              <a:off x="2160720" y="18907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83" name="Shape 3305"/>
            <p:cNvSpPr/>
            <p:nvPr/>
          </p:nvSpPr>
          <p:spPr>
            <a:xfrm>
              <a:off x="2227320" y="18414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984" name="Shape 3306"/>
          <p:cNvGrpSpPr/>
          <p:nvPr/>
        </p:nvGrpSpPr>
        <p:grpSpPr>
          <a:xfrm>
            <a:off x="3854520" y="2816280"/>
            <a:ext cx="529920" cy="595080"/>
            <a:chOff x="3854520" y="2816280"/>
            <a:chExt cx="529920" cy="595080"/>
          </a:xfrm>
        </p:grpSpPr>
        <p:sp>
          <p:nvSpPr>
            <p:cNvPr id="2985" name="Shape 3307"/>
            <p:cNvSpPr/>
            <p:nvPr/>
          </p:nvSpPr>
          <p:spPr>
            <a:xfrm>
              <a:off x="3854520" y="28656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86" name="Shape 3308"/>
            <p:cNvSpPr/>
            <p:nvPr/>
          </p:nvSpPr>
          <p:spPr>
            <a:xfrm>
              <a:off x="3921120" y="28162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987" name="Shape 3309"/>
          <p:cNvGrpSpPr/>
          <p:nvPr/>
        </p:nvGrpSpPr>
        <p:grpSpPr>
          <a:xfrm>
            <a:off x="3002040" y="4660920"/>
            <a:ext cx="529920" cy="595080"/>
            <a:chOff x="3002040" y="4660920"/>
            <a:chExt cx="529920" cy="595080"/>
          </a:xfrm>
        </p:grpSpPr>
        <p:sp>
          <p:nvSpPr>
            <p:cNvPr id="2988" name="Shape 3310"/>
            <p:cNvSpPr/>
            <p:nvPr/>
          </p:nvSpPr>
          <p:spPr>
            <a:xfrm>
              <a:off x="3002040" y="4710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89" name="Shape 3311"/>
            <p:cNvSpPr/>
            <p:nvPr/>
          </p:nvSpPr>
          <p:spPr>
            <a:xfrm>
              <a:off x="3068640" y="4660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990" name="Shape 3312"/>
          <p:cNvGrpSpPr/>
          <p:nvPr/>
        </p:nvGrpSpPr>
        <p:grpSpPr>
          <a:xfrm>
            <a:off x="1263600" y="4599000"/>
            <a:ext cx="529920" cy="595080"/>
            <a:chOff x="1263600" y="4599000"/>
            <a:chExt cx="529920" cy="595080"/>
          </a:xfrm>
        </p:grpSpPr>
        <p:sp>
          <p:nvSpPr>
            <p:cNvPr id="2991" name="Shape 3313"/>
            <p:cNvSpPr/>
            <p:nvPr/>
          </p:nvSpPr>
          <p:spPr>
            <a:xfrm>
              <a:off x="1263600" y="464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92" name="Shape 3314"/>
            <p:cNvSpPr/>
            <p:nvPr/>
          </p:nvSpPr>
          <p:spPr>
            <a:xfrm>
              <a:off x="1330200" y="459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993" name="Shape 3315"/>
          <p:cNvGrpSpPr/>
          <p:nvPr/>
        </p:nvGrpSpPr>
        <p:grpSpPr>
          <a:xfrm>
            <a:off x="2133720" y="3259080"/>
            <a:ext cx="529920" cy="595080"/>
            <a:chOff x="2133720" y="3259080"/>
            <a:chExt cx="529920" cy="595080"/>
          </a:xfrm>
        </p:grpSpPr>
        <p:sp>
          <p:nvSpPr>
            <p:cNvPr id="2994" name="Shape 3316"/>
            <p:cNvSpPr/>
            <p:nvPr/>
          </p:nvSpPr>
          <p:spPr>
            <a:xfrm>
              <a:off x="2133720" y="330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95" name="Shape 3317"/>
            <p:cNvSpPr/>
            <p:nvPr/>
          </p:nvSpPr>
          <p:spPr>
            <a:xfrm>
              <a:off x="2200320" y="3259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996" name="Shape 3318"/>
          <p:cNvGrpSpPr/>
          <p:nvPr/>
        </p:nvGrpSpPr>
        <p:grpSpPr>
          <a:xfrm>
            <a:off x="4740120" y="2830680"/>
            <a:ext cx="530280" cy="595080"/>
            <a:chOff x="4740120" y="2830680"/>
            <a:chExt cx="530280" cy="595080"/>
          </a:xfrm>
        </p:grpSpPr>
        <p:sp>
          <p:nvSpPr>
            <p:cNvPr id="2997" name="Shape 3319"/>
            <p:cNvSpPr/>
            <p:nvPr/>
          </p:nvSpPr>
          <p:spPr>
            <a:xfrm>
              <a:off x="4740120" y="2879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98" name="Shape 3320"/>
            <p:cNvSpPr/>
            <p:nvPr/>
          </p:nvSpPr>
          <p:spPr>
            <a:xfrm>
              <a:off x="4807080" y="28306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2999" name="Shape 3321"/>
          <p:cNvGrpSpPr/>
          <p:nvPr/>
        </p:nvGrpSpPr>
        <p:grpSpPr>
          <a:xfrm>
            <a:off x="6475320" y="1871640"/>
            <a:ext cx="529920" cy="595080"/>
            <a:chOff x="6475320" y="1871640"/>
            <a:chExt cx="529920" cy="595080"/>
          </a:xfrm>
        </p:grpSpPr>
        <p:sp>
          <p:nvSpPr>
            <p:cNvPr id="3000" name="Shape 3322"/>
            <p:cNvSpPr/>
            <p:nvPr/>
          </p:nvSpPr>
          <p:spPr>
            <a:xfrm>
              <a:off x="6475320" y="19209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01" name="Shape 3323"/>
            <p:cNvSpPr/>
            <p:nvPr/>
          </p:nvSpPr>
          <p:spPr>
            <a:xfrm>
              <a:off x="6541920" y="18716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002" name="Shape 3324"/>
          <p:cNvGrpSpPr/>
          <p:nvPr/>
        </p:nvGrpSpPr>
        <p:grpSpPr>
          <a:xfrm>
            <a:off x="8169120" y="2846520"/>
            <a:ext cx="530280" cy="595080"/>
            <a:chOff x="8169120" y="2846520"/>
            <a:chExt cx="530280" cy="595080"/>
          </a:xfrm>
        </p:grpSpPr>
        <p:sp>
          <p:nvSpPr>
            <p:cNvPr id="3003" name="Shape 3325"/>
            <p:cNvSpPr/>
            <p:nvPr/>
          </p:nvSpPr>
          <p:spPr>
            <a:xfrm>
              <a:off x="8169120" y="28954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04" name="Shape 3326"/>
            <p:cNvSpPr/>
            <p:nvPr/>
          </p:nvSpPr>
          <p:spPr>
            <a:xfrm>
              <a:off x="8236080" y="2846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005" name="Shape 3327"/>
          <p:cNvGrpSpPr/>
          <p:nvPr/>
        </p:nvGrpSpPr>
        <p:grpSpPr>
          <a:xfrm>
            <a:off x="7316640" y="4691160"/>
            <a:ext cx="530280" cy="595080"/>
            <a:chOff x="7316640" y="4691160"/>
            <a:chExt cx="530280" cy="595080"/>
          </a:xfrm>
        </p:grpSpPr>
        <p:sp>
          <p:nvSpPr>
            <p:cNvPr id="3006" name="Shape 3328"/>
            <p:cNvSpPr/>
            <p:nvPr/>
          </p:nvSpPr>
          <p:spPr>
            <a:xfrm>
              <a:off x="7316640" y="47401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07" name="Shape 3329"/>
            <p:cNvSpPr/>
            <p:nvPr/>
          </p:nvSpPr>
          <p:spPr>
            <a:xfrm>
              <a:off x="7383600" y="46911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008" name="Shape 3330"/>
          <p:cNvGrpSpPr/>
          <p:nvPr/>
        </p:nvGrpSpPr>
        <p:grpSpPr>
          <a:xfrm>
            <a:off x="5578560" y="4629240"/>
            <a:ext cx="529920" cy="595080"/>
            <a:chOff x="5578560" y="4629240"/>
            <a:chExt cx="529920" cy="595080"/>
          </a:xfrm>
        </p:grpSpPr>
        <p:sp>
          <p:nvSpPr>
            <p:cNvPr id="3009" name="Shape 3331"/>
            <p:cNvSpPr/>
            <p:nvPr/>
          </p:nvSpPr>
          <p:spPr>
            <a:xfrm>
              <a:off x="5578560" y="46782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10" name="Shape 3332"/>
            <p:cNvSpPr/>
            <p:nvPr/>
          </p:nvSpPr>
          <p:spPr>
            <a:xfrm>
              <a:off x="5645160" y="4629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011" name="Shape 3333"/>
          <p:cNvGrpSpPr/>
          <p:nvPr/>
        </p:nvGrpSpPr>
        <p:grpSpPr>
          <a:xfrm>
            <a:off x="6448320" y="3289320"/>
            <a:ext cx="530280" cy="595080"/>
            <a:chOff x="6448320" y="3289320"/>
            <a:chExt cx="530280" cy="595080"/>
          </a:xfrm>
        </p:grpSpPr>
        <p:sp>
          <p:nvSpPr>
            <p:cNvPr id="3012" name="Shape 3334"/>
            <p:cNvSpPr/>
            <p:nvPr/>
          </p:nvSpPr>
          <p:spPr>
            <a:xfrm>
              <a:off x="6448320" y="3338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13" name="Shape 3335"/>
            <p:cNvSpPr/>
            <p:nvPr/>
          </p:nvSpPr>
          <p:spPr>
            <a:xfrm>
              <a:off x="6515280" y="3289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014" name="Shape 3336"/>
          <p:cNvSpPr/>
          <p:nvPr/>
        </p:nvSpPr>
        <p:spPr>
          <a:xfrm>
            <a:off x="2529000" y="5595840"/>
            <a:ext cx="63878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连通分量＝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{A}, {B}, {C}, {D}, {E}, {F}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3015" name="Shape 3337"/>
          <p:cNvGrpSpPr/>
          <p:nvPr/>
        </p:nvGrpSpPr>
        <p:grpSpPr>
          <a:xfrm>
            <a:off x="6958080" y="2092320"/>
            <a:ext cx="1314000" cy="882360"/>
            <a:chOff x="6958080" y="2092320"/>
            <a:chExt cx="1314000" cy="882360"/>
          </a:xfrm>
        </p:grpSpPr>
        <p:sp>
          <p:nvSpPr>
            <p:cNvPr id="3016" name="Shape 3338"/>
            <p:cNvSpPr/>
            <p:nvPr/>
          </p:nvSpPr>
          <p:spPr>
            <a:xfrm>
              <a:off x="6958080" y="2189160"/>
              <a:ext cx="1314000" cy="785520"/>
            </a:xfrm>
            <a:custGeom>
              <a:avLst/>
              <a:gdLst/>
              <a:ahLst/>
              <a:rect l="l" t="t" r="r" b="b"/>
              <a:pathLst>
                <a:path w="633" h="420">
                  <a:moveTo>
                    <a:pt x="0" y="0"/>
                  </a:moveTo>
                  <a:lnTo>
                    <a:pt x="633" y="42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17" name="Shape 3339"/>
            <p:cNvSpPr/>
            <p:nvPr/>
          </p:nvSpPr>
          <p:spPr>
            <a:xfrm>
              <a:off x="7554960" y="2092320"/>
              <a:ext cx="412560" cy="54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12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018" name="Shape 3340"/>
          <p:cNvSpPr/>
          <p:nvPr/>
        </p:nvSpPr>
        <p:spPr>
          <a:xfrm>
            <a:off x="5121360" y="6102360"/>
            <a:ext cx="487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019" name="Shape 3341"/>
          <p:cNvSpPr/>
          <p:nvPr/>
        </p:nvSpPr>
        <p:spPr>
          <a:xfrm>
            <a:off x="7269120" y="6102360"/>
            <a:ext cx="487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020" name="Shape 3342"/>
          <p:cNvSpPr/>
          <p:nvPr/>
        </p:nvSpPr>
        <p:spPr>
          <a:xfrm>
            <a:off x="2513160" y="6180120"/>
            <a:ext cx="63878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连通分量＝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{A}, {B, E}, {C}, {D}, {F}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021" name="Shape 3343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75" dur="indefinite" restart="never" nodeType="tmRoot">
          <p:childTnLst>
            <p:seq>
              <p:cTn id="876" dur="indefinite" nodeType="mainSeq">
                <p:childTnLst>
                  <p:par>
                    <p:cTn id="877" fill="hold">
                      <p:stCondLst>
                        <p:cond delay="indefinite"/>
                      </p:stCondLst>
                      <p:childTnLst>
                        <p:par>
                          <p:cTn id="878" fill="hold">
                            <p:stCondLst>
                              <p:cond delay="0"/>
                            </p:stCondLst>
                            <p:childTnLst>
                              <p:par>
                                <p:cTn id="8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1" dur="500"/>
                                        <p:tgtEl>
                                          <p:spTgt spid="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2" fill="hold">
                      <p:stCondLst>
                        <p:cond delay="indefinite"/>
                      </p:stCondLst>
                      <p:childTnLst>
                        <p:par>
                          <p:cTn id="883" fill="hold">
                            <p:stCondLst>
                              <p:cond delay="0"/>
                            </p:stCondLst>
                            <p:childTnLst>
                              <p:par>
                                <p:cTn id="8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6" dur="500"/>
                                        <p:tgtEl>
                                          <p:spTgt spid="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7" fill="hold">
                      <p:stCondLst>
                        <p:cond delay="indefinite"/>
                      </p:stCondLst>
                      <p:childTnLst>
                        <p:par>
                          <p:cTn id="888" fill="hold">
                            <p:stCondLst>
                              <p:cond delay="0"/>
                            </p:stCondLst>
                            <p:childTnLst>
                              <p:par>
                                <p:cTn id="88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1" dur="500"/>
                                        <p:tgtEl>
                                          <p:spTgt spid="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Shape 3348"/>
          <p:cNvSpPr/>
          <p:nvPr/>
        </p:nvSpPr>
        <p:spPr>
          <a:xfrm>
            <a:off x="915840" y="2163600"/>
            <a:ext cx="1267920" cy="826560"/>
          </a:xfrm>
          <a:custGeom>
            <a:avLst/>
            <a:gdLst/>
            <a:ahLst/>
            <a:rect l="l" t="t" r="r" b="b"/>
            <a:pathLst>
              <a:path w="666" h="426">
                <a:moveTo>
                  <a:pt x="666" y="0"/>
                </a:moveTo>
                <a:lnTo>
                  <a:pt x="0" y="426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023" name="Shape 3349"/>
          <p:cNvSpPr/>
          <p:nvPr/>
        </p:nvSpPr>
        <p:spPr>
          <a:xfrm>
            <a:off x="3378240" y="3328920"/>
            <a:ext cx="674280" cy="1420560"/>
          </a:xfrm>
          <a:custGeom>
            <a:avLst/>
            <a:gdLst/>
            <a:ahLst/>
            <a:rect l="l" t="t" r="r" b="b"/>
            <a:pathLst>
              <a:path w="345" h="810">
                <a:moveTo>
                  <a:pt x="345" y="0"/>
                </a:moveTo>
                <a:lnTo>
                  <a:pt x="0" y="81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024" name="Shape 3350"/>
          <p:cNvSpPr/>
          <p:nvPr/>
        </p:nvSpPr>
        <p:spPr>
          <a:xfrm>
            <a:off x="2513160" y="3772080"/>
            <a:ext cx="597960" cy="1004400"/>
          </a:xfrm>
          <a:custGeom>
            <a:avLst/>
            <a:gdLst/>
            <a:ahLst/>
            <a:rect l="l" t="t" r="r" b="b"/>
            <a:pathLst>
              <a:path w="291" h="556">
                <a:moveTo>
                  <a:pt x="291" y="55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025" name="Shape 3351"/>
          <p:cNvSpPr/>
          <p:nvPr/>
        </p:nvSpPr>
        <p:spPr>
          <a:xfrm>
            <a:off x="1778040" y="4911840"/>
            <a:ext cx="124092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026" name="Shape 3352"/>
          <p:cNvSpPr/>
          <p:nvPr/>
        </p:nvSpPr>
        <p:spPr>
          <a:xfrm>
            <a:off x="798480" y="3298680"/>
            <a:ext cx="630000" cy="1360080"/>
          </a:xfrm>
          <a:custGeom>
            <a:avLst/>
            <a:gdLst/>
            <a:ahLst/>
            <a:rect l="l" t="t" r="r" b="b"/>
            <a:pathLst>
              <a:path w="309" h="758">
                <a:moveTo>
                  <a:pt x="0" y="0"/>
                </a:moveTo>
                <a:lnTo>
                  <a:pt x="309" y="758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027" name="Shape 3353"/>
          <p:cNvSpPr/>
          <p:nvPr/>
        </p:nvSpPr>
        <p:spPr>
          <a:xfrm>
            <a:off x="2862360" y="3892680"/>
            <a:ext cx="4125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028" name="Shape 3354"/>
          <p:cNvSpPr/>
          <p:nvPr/>
        </p:nvSpPr>
        <p:spPr>
          <a:xfrm>
            <a:off x="3287880" y="207648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029" name="Shape 3355"/>
          <p:cNvSpPr/>
          <p:nvPr/>
        </p:nvSpPr>
        <p:spPr>
          <a:xfrm>
            <a:off x="1312920" y="2104920"/>
            <a:ext cx="40752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030" name="Shape 3356"/>
          <p:cNvSpPr/>
          <p:nvPr/>
        </p:nvSpPr>
        <p:spPr>
          <a:xfrm>
            <a:off x="1531800" y="288612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031" name="Shape 3357"/>
          <p:cNvSpPr/>
          <p:nvPr/>
        </p:nvSpPr>
        <p:spPr>
          <a:xfrm>
            <a:off x="2981160" y="288756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032" name="Shape 3358"/>
          <p:cNvSpPr/>
          <p:nvPr/>
        </p:nvSpPr>
        <p:spPr>
          <a:xfrm>
            <a:off x="657360" y="3803760"/>
            <a:ext cx="4075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033" name="Shape 3359"/>
          <p:cNvSpPr/>
          <p:nvPr/>
        </p:nvSpPr>
        <p:spPr>
          <a:xfrm>
            <a:off x="3805200" y="3865680"/>
            <a:ext cx="4060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034" name="Shape 3360"/>
          <p:cNvSpPr/>
          <p:nvPr/>
        </p:nvSpPr>
        <p:spPr>
          <a:xfrm>
            <a:off x="2249640" y="498312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035" name="Shape 3361"/>
          <p:cNvSpPr/>
          <p:nvPr/>
        </p:nvSpPr>
        <p:spPr>
          <a:xfrm>
            <a:off x="1546200" y="3898800"/>
            <a:ext cx="4107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036" name="Shape 3362"/>
          <p:cNvSpPr/>
          <p:nvPr/>
        </p:nvSpPr>
        <p:spPr>
          <a:xfrm>
            <a:off x="1633680" y="3774960"/>
            <a:ext cx="630000" cy="915480"/>
          </a:xfrm>
          <a:custGeom>
            <a:avLst/>
            <a:gdLst/>
            <a:ahLst/>
            <a:rect l="l" t="t" r="r" b="b"/>
            <a:pathLst>
              <a:path w="321" h="521">
                <a:moveTo>
                  <a:pt x="321" y="0"/>
                </a:moveTo>
                <a:lnTo>
                  <a:pt x="0" y="521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037" name="Shape 3363"/>
          <p:cNvSpPr/>
          <p:nvPr/>
        </p:nvSpPr>
        <p:spPr>
          <a:xfrm>
            <a:off x="2608200" y="3116160"/>
            <a:ext cx="1293480" cy="491760"/>
          </a:xfrm>
          <a:custGeom>
            <a:avLst/>
            <a:gdLst/>
            <a:ahLst/>
            <a:rect l="l" t="t" r="r" b="b"/>
            <a:pathLst>
              <a:path w="615" h="270">
                <a:moveTo>
                  <a:pt x="615" y="0"/>
                </a:moveTo>
                <a:lnTo>
                  <a:pt x="0" y="27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038" name="Shape 3364"/>
          <p:cNvSpPr/>
          <p:nvPr/>
        </p:nvSpPr>
        <p:spPr>
          <a:xfrm>
            <a:off x="2660760" y="2158920"/>
            <a:ext cx="1314000" cy="785520"/>
          </a:xfrm>
          <a:custGeom>
            <a:avLst/>
            <a:gdLst/>
            <a:ahLst/>
            <a:rect l="l" t="t" r="r" b="b"/>
            <a:pathLst>
              <a:path w="633" h="420">
                <a:moveTo>
                  <a:pt x="0" y="0"/>
                </a:moveTo>
                <a:lnTo>
                  <a:pt x="633" y="42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039" name="Shape 3365"/>
          <p:cNvSpPr/>
          <p:nvPr/>
        </p:nvSpPr>
        <p:spPr>
          <a:xfrm>
            <a:off x="915840" y="3116160"/>
            <a:ext cx="1230120" cy="450360"/>
          </a:xfrm>
          <a:custGeom>
            <a:avLst/>
            <a:gdLst/>
            <a:ahLst/>
            <a:rect l="l" t="t" r="r" b="b"/>
            <a:pathLst>
              <a:path w="630" h="255">
                <a:moveTo>
                  <a:pt x="630" y="255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040" name="Shape 3366"/>
          <p:cNvGrpSpPr/>
          <p:nvPr/>
        </p:nvGrpSpPr>
        <p:grpSpPr>
          <a:xfrm>
            <a:off x="425520" y="2800440"/>
            <a:ext cx="529920" cy="595080"/>
            <a:chOff x="425520" y="2800440"/>
            <a:chExt cx="529920" cy="595080"/>
          </a:xfrm>
        </p:grpSpPr>
        <p:sp>
          <p:nvSpPr>
            <p:cNvPr id="3041" name="Shape 3367"/>
            <p:cNvSpPr/>
            <p:nvPr/>
          </p:nvSpPr>
          <p:spPr>
            <a:xfrm>
              <a:off x="425520" y="2849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42" name="Shape 3368"/>
            <p:cNvSpPr/>
            <p:nvPr/>
          </p:nvSpPr>
          <p:spPr>
            <a:xfrm>
              <a:off x="492120" y="2800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043" name="Shape 3369"/>
          <p:cNvGrpSpPr/>
          <p:nvPr/>
        </p:nvGrpSpPr>
        <p:grpSpPr>
          <a:xfrm>
            <a:off x="2160720" y="1841400"/>
            <a:ext cx="529920" cy="595080"/>
            <a:chOff x="2160720" y="1841400"/>
            <a:chExt cx="529920" cy="595080"/>
          </a:xfrm>
        </p:grpSpPr>
        <p:sp>
          <p:nvSpPr>
            <p:cNvPr id="3044" name="Shape 3370"/>
            <p:cNvSpPr/>
            <p:nvPr/>
          </p:nvSpPr>
          <p:spPr>
            <a:xfrm>
              <a:off x="2160720" y="18907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45" name="Shape 3371"/>
            <p:cNvSpPr/>
            <p:nvPr/>
          </p:nvSpPr>
          <p:spPr>
            <a:xfrm>
              <a:off x="2227320" y="18414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046" name="Shape 3372"/>
          <p:cNvGrpSpPr/>
          <p:nvPr/>
        </p:nvGrpSpPr>
        <p:grpSpPr>
          <a:xfrm>
            <a:off x="3854520" y="2816280"/>
            <a:ext cx="529920" cy="595080"/>
            <a:chOff x="3854520" y="2816280"/>
            <a:chExt cx="529920" cy="595080"/>
          </a:xfrm>
        </p:grpSpPr>
        <p:sp>
          <p:nvSpPr>
            <p:cNvPr id="3047" name="Shape 3373"/>
            <p:cNvSpPr/>
            <p:nvPr/>
          </p:nvSpPr>
          <p:spPr>
            <a:xfrm>
              <a:off x="3854520" y="28656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48" name="Shape 3374"/>
            <p:cNvSpPr/>
            <p:nvPr/>
          </p:nvSpPr>
          <p:spPr>
            <a:xfrm>
              <a:off x="3921120" y="28162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049" name="Shape 3375"/>
          <p:cNvGrpSpPr/>
          <p:nvPr/>
        </p:nvGrpSpPr>
        <p:grpSpPr>
          <a:xfrm>
            <a:off x="3002040" y="4660920"/>
            <a:ext cx="529920" cy="595080"/>
            <a:chOff x="3002040" y="4660920"/>
            <a:chExt cx="529920" cy="595080"/>
          </a:xfrm>
        </p:grpSpPr>
        <p:sp>
          <p:nvSpPr>
            <p:cNvPr id="3050" name="Shape 3376"/>
            <p:cNvSpPr/>
            <p:nvPr/>
          </p:nvSpPr>
          <p:spPr>
            <a:xfrm>
              <a:off x="3002040" y="4710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51" name="Shape 3377"/>
            <p:cNvSpPr/>
            <p:nvPr/>
          </p:nvSpPr>
          <p:spPr>
            <a:xfrm>
              <a:off x="3068640" y="4660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052" name="Shape 3378"/>
          <p:cNvGrpSpPr/>
          <p:nvPr/>
        </p:nvGrpSpPr>
        <p:grpSpPr>
          <a:xfrm>
            <a:off x="1263600" y="4599000"/>
            <a:ext cx="529920" cy="595080"/>
            <a:chOff x="1263600" y="4599000"/>
            <a:chExt cx="529920" cy="595080"/>
          </a:xfrm>
        </p:grpSpPr>
        <p:sp>
          <p:nvSpPr>
            <p:cNvPr id="3053" name="Shape 3379"/>
            <p:cNvSpPr/>
            <p:nvPr/>
          </p:nvSpPr>
          <p:spPr>
            <a:xfrm>
              <a:off x="1263600" y="464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54" name="Shape 3380"/>
            <p:cNvSpPr/>
            <p:nvPr/>
          </p:nvSpPr>
          <p:spPr>
            <a:xfrm>
              <a:off x="1330200" y="459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055" name="Shape 3381"/>
          <p:cNvGrpSpPr/>
          <p:nvPr/>
        </p:nvGrpSpPr>
        <p:grpSpPr>
          <a:xfrm>
            <a:off x="2133720" y="3259080"/>
            <a:ext cx="529920" cy="595080"/>
            <a:chOff x="2133720" y="3259080"/>
            <a:chExt cx="529920" cy="595080"/>
          </a:xfrm>
        </p:grpSpPr>
        <p:sp>
          <p:nvSpPr>
            <p:cNvPr id="3056" name="Shape 3382"/>
            <p:cNvSpPr/>
            <p:nvPr/>
          </p:nvSpPr>
          <p:spPr>
            <a:xfrm>
              <a:off x="2133720" y="330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57" name="Shape 3383"/>
            <p:cNvSpPr/>
            <p:nvPr/>
          </p:nvSpPr>
          <p:spPr>
            <a:xfrm>
              <a:off x="2200320" y="3259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058" name="Shape 3384"/>
          <p:cNvGrpSpPr/>
          <p:nvPr/>
        </p:nvGrpSpPr>
        <p:grpSpPr>
          <a:xfrm>
            <a:off x="4740120" y="2830680"/>
            <a:ext cx="530280" cy="595080"/>
            <a:chOff x="4740120" y="2830680"/>
            <a:chExt cx="530280" cy="595080"/>
          </a:xfrm>
        </p:grpSpPr>
        <p:sp>
          <p:nvSpPr>
            <p:cNvPr id="3059" name="Shape 3385"/>
            <p:cNvSpPr/>
            <p:nvPr/>
          </p:nvSpPr>
          <p:spPr>
            <a:xfrm>
              <a:off x="4740120" y="2879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60" name="Shape 3386"/>
            <p:cNvSpPr/>
            <p:nvPr/>
          </p:nvSpPr>
          <p:spPr>
            <a:xfrm>
              <a:off x="4807080" y="28306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061" name="Shape 3387"/>
          <p:cNvGrpSpPr/>
          <p:nvPr/>
        </p:nvGrpSpPr>
        <p:grpSpPr>
          <a:xfrm>
            <a:off x="6475320" y="1871640"/>
            <a:ext cx="529920" cy="595080"/>
            <a:chOff x="6475320" y="1871640"/>
            <a:chExt cx="529920" cy="595080"/>
          </a:xfrm>
        </p:grpSpPr>
        <p:sp>
          <p:nvSpPr>
            <p:cNvPr id="3062" name="Shape 3388"/>
            <p:cNvSpPr/>
            <p:nvPr/>
          </p:nvSpPr>
          <p:spPr>
            <a:xfrm>
              <a:off x="6475320" y="19209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63" name="Shape 3389"/>
            <p:cNvSpPr/>
            <p:nvPr/>
          </p:nvSpPr>
          <p:spPr>
            <a:xfrm>
              <a:off x="6541920" y="18716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064" name="Shape 3390"/>
          <p:cNvGrpSpPr/>
          <p:nvPr/>
        </p:nvGrpSpPr>
        <p:grpSpPr>
          <a:xfrm>
            <a:off x="8169120" y="2846520"/>
            <a:ext cx="530280" cy="595080"/>
            <a:chOff x="8169120" y="2846520"/>
            <a:chExt cx="530280" cy="595080"/>
          </a:xfrm>
        </p:grpSpPr>
        <p:sp>
          <p:nvSpPr>
            <p:cNvPr id="3065" name="Shape 3391"/>
            <p:cNvSpPr/>
            <p:nvPr/>
          </p:nvSpPr>
          <p:spPr>
            <a:xfrm>
              <a:off x="8169120" y="28954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66" name="Shape 3392"/>
            <p:cNvSpPr/>
            <p:nvPr/>
          </p:nvSpPr>
          <p:spPr>
            <a:xfrm>
              <a:off x="8236080" y="2846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067" name="Shape 3393"/>
          <p:cNvGrpSpPr/>
          <p:nvPr/>
        </p:nvGrpSpPr>
        <p:grpSpPr>
          <a:xfrm>
            <a:off x="7316640" y="4691160"/>
            <a:ext cx="530280" cy="595080"/>
            <a:chOff x="7316640" y="4691160"/>
            <a:chExt cx="530280" cy="595080"/>
          </a:xfrm>
        </p:grpSpPr>
        <p:sp>
          <p:nvSpPr>
            <p:cNvPr id="3068" name="Shape 3394"/>
            <p:cNvSpPr/>
            <p:nvPr/>
          </p:nvSpPr>
          <p:spPr>
            <a:xfrm>
              <a:off x="7316640" y="47401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69" name="Shape 3395"/>
            <p:cNvSpPr/>
            <p:nvPr/>
          </p:nvSpPr>
          <p:spPr>
            <a:xfrm>
              <a:off x="7383600" y="46911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070" name="Shape 3396"/>
          <p:cNvGrpSpPr/>
          <p:nvPr/>
        </p:nvGrpSpPr>
        <p:grpSpPr>
          <a:xfrm>
            <a:off x="5578560" y="4629240"/>
            <a:ext cx="529920" cy="595080"/>
            <a:chOff x="5578560" y="4629240"/>
            <a:chExt cx="529920" cy="595080"/>
          </a:xfrm>
        </p:grpSpPr>
        <p:sp>
          <p:nvSpPr>
            <p:cNvPr id="3071" name="Shape 3397"/>
            <p:cNvSpPr/>
            <p:nvPr/>
          </p:nvSpPr>
          <p:spPr>
            <a:xfrm>
              <a:off x="5578560" y="46782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72" name="Shape 3398"/>
            <p:cNvSpPr/>
            <p:nvPr/>
          </p:nvSpPr>
          <p:spPr>
            <a:xfrm>
              <a:off x="5645160" y="4629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073" name="Shape 3399"/>
          <p:cNvGrpSpPr/>
          <p:nvPr/>
        </p:nvGrpSpPr>
        <p:grpSpPr>
          <a:xfrm>
            <a:off x="6448320" y="3289320"/>
            <a:ext cx="530280" cy="595080"/>
            <a:chOff x="6448320" y="3289320"/>
            <a:chExt cx="530280" cy="595080"/>
          </a:xfrm>
        </p:grpSpPr>
        <p:sp>
          <p:nvSpPr>
            <p:cNvPr id="3074" name="Shape 3400"/>
            <p:cNvSpPr/>
            <p:nvPr/>
          </p:nvSpPr>
          <p:spPr>
            <a:xfrm>
              <a:off x="6448320" y="3338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75" name="Shape 3401"/>
            <p:cNvSpPr/>
            <p:nvPr/>
          </p:nvSpPr>
          <p:spPr>
            <a:xfrm>
              <a:off x="6515280" y="3289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076" name="Shape 3402"/>
          <p:cNvSpPr/>
          <p:nvPr/>
        </p:nvSpPr>
        <p:spPr>
          <a:xfrm>
            <a:off x="2529000" y="5595840"/>
            <a:ext cx="63878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连通分量＝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{A, F}, {B, E}, {C}, {D}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3077" name="Shape 3403"/>
          <p:cNvGrpSpPr/>
          <p:nvPr/>
        </p:nvGrpSpPr>
        <p:grpSpPr>
          <a:xfrm>
            <a:off x="6958080" y="2092320"/>
            <a:ext cx="1314000" cy="882360"/>
            <a:chOff x="6958080" y="2092320"/>
            <a:chExt cx="1314000" cy="882360"/>
          </a:xfrm>
        </p:grpSpPr>
        <p:sp>
          <p:nvSpPr>
            <p:cNvPr id="3078" name="Shape 3404"/>
            <p:cNvSpPr/>
            <p:nvPr/>
          </p:nvSpPr>
          <p:spPr>
            <a:xfrm>
              <a:off x="6958080" y="2189160"/>
              <a:ext cx="1314000" cy="785520"/>
            </a:xfrm>
            <a:custGeom>
              <a:avLst/>
              <a:gdLst/>
              <a:ahLst/>
              <a:rect l="l" t="t" r="r" b="b"/>
              <a:pathLst>
                <a:path w="633" h="420">
                  <a:moveTo>
                    <a:pt x="0" y="0"/>
                  </a:moveTo>
                  <a:lnTo>
                    <a:pt x="633" y="42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79" name="Shape 3405"/>
            <p:cNvSpPr/>
            <p:nvPr/>
          </p:nvSpPr>
          <p:spPr>
            <a:xfrm>
              <a:off x="7554960" y="2092320"/>
              <a:ext cx="412560" cy="54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12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080" name="Shape 3406"/>
          <p:cNvSpPr/>
          <p:nvPr/>
        </p:nvSpPr>
        <p:spPr>
          <a:xfrm>
            <a:off x="6661080" y="6102360"/>
            <a:ext cx="487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081" name="Shape 3407"/>
          <p:cNvSpPr/>
          <p:nvPr/>
        </p:nvSpPr>
        <p:spPr>
          <a:xfrm>
            <a:off x="7364520" y="6102360"/>
            <a:ext cx="487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082" name="Shape 3408"/>
          <p:cNvSpPr/>
          <p:nvPr/>
        </p:nvSpPr>
        <p:spPr>
          <a:xfrm>
            <a:off x="2513160" y="6180120"/>
            <a:ext cx="63878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连通分量＝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{A, F}, {B, E}, {C, D}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3083" name="Shape 3409"/>
          <p:cNvGrpSpPr/>
          <p:nvPr/>
        </p:nvGrpSpPr>
        <p:grpSpPr>
          <a:xfrm>
            <a:off x="6059520" y="4987800"/>
            <a:ext cx="1240920" cy="617400"/>
            <a:chOff x="6059520" y="4987800"/>
            <a:chExt cx="1240920" cy="617400"/>
          </a:xfrm>
        </p:grpSpPr>
        <p:sp>
          <p:nvSpPr>
            <p:cNvPr id="3084" name="Shape 3410"/>
            <p:cNvSpPr/>
            <p:nvPr/>
          </p:nvSpPr>
          <p:spPr>
            <a:xfrm>
              <a:off x="6059520" y="4987800"/>
              <a:ext cx="1240920" cy="1080"/>
            </a:xfrm>
            <a:custGeom>
              <a:avLst/>
              <a:gdLst/>
              <a:ahLst/>
              <a:rect l="l" t="t" r="r" b="b"/>
              <a:pathLst>
                <a:path w="636" h="7">
                  <a:moveTo>
                    <a:pt x="636" y="7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85" name="Shape 3411"/>
            <p:cNvSpPr/>
            <p:nvPr/>
          </p:nvSpPr>
          <p:spPr>
            <a:xfrm>
              <a:off x="6531120" y="5059440"/>
              <a:ext cx="410760" cy="54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17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086" name="Shape 3412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92" dur="indefinite" restart="never" nodeType="tmRoot">
          <p:childTnLst>
            <p:seq>
              <p:cTn id="893" dur="indefinite" nodeType="mainSeq">
                <p:childTnLst>
                  <p:par>
                    <p:cTn id="894" fill="hold">
                      <p:stCondLst>
                        <p:cond delay="indefinite"/>
                      </p:stCondLst>
                      <p:childTnLst>
                        <p:par>
                          <p:cTn id="895" fill="hold">
                            <p:stCondLst>
                              <p:cond delay="0"/>
                            </p:stCondLst>
                            <p:childTnLst>
                              <p:par>
                                <p:cTn id="8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8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9" fill="hold">
                      <p:stCondLst>
                        <p:cond delay="indefinite"/>
                      </p:stCondLst>
                      <p:childTnLst>
                        <p:par>
                          <p:cTn id="900" fill="hold">
                            <p:stCondLst>
                              <p:cond delay="0"/>
                            </p:stCondLst>
                            <p:childTnLst>
                              <p:par>
                                <p:cTn id="9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3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4" fill="hold">
                      <p:stCondLst>
                        <p:cond delay="indefinite"/>
                      </p:stCondLst>
                      <p:childTnLst>
                        <p:par>
                          <p:cTn id="905" fill="hold">
                            <p:stCondLst>
                              <p:cond delay="0"/>
                            </p:stCondLst>
                            <p:childTnLst>
                              <p:par>
                                <p:cTn id="90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8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7" name="Shape 3417"/>
          <p:cNvSpPr/>
          <p:nvPr/>
        </p:nvSpPr>
        <p:spPr>
          <a:xfrm>
            <a:off x="915840" y="2163600"/>
            <a:ext cx="1267920" cy="826560"/>
          </a:xfrm>
          <a:custGeom>
            <a:avLst/>
            <a:gdLst/>
            <a:ahLst/>
            <a:rect l="l" t="t" r="r" b="b"/>
            <a:pathLst>
              <a:path w="666" h="426">
                <a:moveTo>
                  <a:pt x="666" y="0"/>
                </a:moveTo>
                <a:lnTo>
                  <a:pt x="0" y="426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088" name="Shape 3418"/>
          <p:cNvSpPr/>
          <p:nvPr/>
        </p:nvSpPr>
        <p:spPr>
          <a:xfrm>
            <a:off x="3378240" y="3328920"/>
            <a:ext cx="674280" cy="1420560"/>
          </a:xfrm>
          <a:custGeom>
            <a:avLst/>
            <a:gdLst/>
            <a:ahLst/>
            <a:rect l="l" t="t" r="r" b="b"/>
            <a:pathLst>
              <a:path w="345" h="810">
                <a:moveTo>
                  <a:pt x="345" y="0"/>
                </a:moveTo>
                <a:lnTo>
                  <a:pt x="0" y="81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089" name="Shape 3419"/>
          <p:cNvSpPr/>
          <p:nvPr/>
        </p:nvSpPr>
        <p:spPr>
          <a:xfrm>
            <a:off x="2513160" y="3772080"/>
            <a:ext cx="597960" cy="1004400"/>
          </a:xfrm>
          <a:custGeom>
            <a:avLst/>
            <a:gdLst/>
            <a:ahLst/>
            <a:rect l="l" t="t" r="r" b="b"/>
            <a:pathLst>
              <a:path w="291" h="556">
                <a:moveTo>
                  <a:pt x="291" y="55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090" name="Shape 3420"/>
          <p:cNvSpPr/>
          <p:nvPr/>
        </p:nvSpPr>
        <p:spPr>
          <a:xfrm>
            <a:off x="1778040" y="4911840"/>
            <a:ext cx="124092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091" name="Shape 3421"/>
          <p:cNvSpPr/>
          <p:nvPr/>
        </p:nvSpPr>
        <p:spPr>
          <a:xfrm>
            <a:off x="798480" y="3298680"/>
            <a:ext cx="630000" cy="1360080"/>
          </a:xfrm>
          <a:custGeom>
            <a:avLst/>
            <a:gdLst/>
            <a:ahLst/>
            <a:rect l="l" t="t" r="r" b="b"/>
            <a:pathLst>
              <a:path w="309" h="758">
                <a:moveTo>
                  <a:pt x="0" y="0"/>
                </a:moveTo>
                <a:lnTo>
                  <a:pt x="309" y="758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092" name="Shape 3422"/>
          <p:cNvSpPr/>
          <p:nvPr/>
        </p:nvSpPr>
        <p:spPr>
          <a:xfrm>
            <a:off x="2862360" y="3892680"/>
            <a:ext cx="4125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093" name="Shape 3423"/>
          <p:cNvSpPr/>
          <p:nvPr/>
        </p:nvSpPr>
        <p:spPr>
          <a:xfrm>
            <a:off x="3287880" y="207648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094" name="Shape 3424"/>
          <p:cNvSpPr/>
          <p:nvPr/>
        </p:nvSpPr>
        <p:spPr>
          <a:xfrm>
            <a:off x="1312920" y="2104920"/>
            <a:ext cx="40752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095" name="Shape 3425"/>
          <p:cNvSpPr/>
          <p:nvPr/>
        </p:nvSpPr>
        <p:spPr>
          <a:xfrm>
            <a:off x="1531800" y="288612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096" name="Shape 3426"/>
          <p:cNvSpPr/>
          <p:nvPr/>
        </p:nvSpPr>
        <p:spPr>
          <a:xfrm>
            <a:off x="2981160" y="288756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097" name="Shape 3427"/>
          <p:cNvSpPr/>
          <p:nvPr/>
        </p:nvSpPr>
        <p:spPr>
          <a:xfrm>
            <a:off x="657360" y="3803760"/>
            <a:ext cx="4075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098" name="Shape 3428"/>
          <p:cNvSpPr/>
          <p:nvPr/>
        </p:nvSpPr>
        <p:spPr>
          <a:xfrm>
            <a:off x="3805200" y="3865680"/>
            <a:ext cx="4060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099" name="Shape 3429"/>
          <p:cNvSpPr/>
          <p:nvPr/>
        </p:nvSpPr>
        <p:spPr>
          <a:xfrm>
            <a:off x="2249640" y="498312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100" name="Shape 3430"/>
          <p:cNvSpPr/>
          <p:nvPr/>
        </p:nvSpPr>
        <p:spPr>
          <a:xfrm>
            <a:off x="1546200" y="3898800"/>
            <a:ext cx="4107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101" name="Shape 3431"/>
          <p:cNvSpPr/>
          <p:nvPr/>
        </p:nvSpPr>
        <p:spPr>
          <a:xfrm>
            <a:off x="1633680" y="3774960"/>
            <a:ext cx="630000" cy="915480"/>
          </a:xfrm>
          <a:custGeom>
            <a:avLst/>
            <a:gdLst/>
            <a:ahLst/>
            <a:rect l="l" t="t" r="r" b="b"/>
            <a:pathLst>
              <a:path w="321" h="521">
                <a:moveTo>
                  <a:pt x="321" y="0"/>
                </a:moveTo>
                <a:lnTo>
                  <a:pt x="0" y="521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102" name="Shape 3432"/>
          <p:cNvSpPr/>
          <p:nvPr/>
        </p:nvSpPr>
        <p:spPr>
          <a:xfrm>
            <a:off x="2608200" y="3116160"/>
            <a:ext cx="1293480" cy="491760"/>
          </a:xfrm>
          <a:custGeom>
            <a:avLst/>
            <a:gdLst/>
            <a:ahLst/>
            <a:rect l="l" t="t" r="r" b="b"/>
            <a:pathLst>
              <a:path w="615" h="270">
                <a:moveTo>
                  <a:pt x="615" y="0"/>
                </a:moveTo>
                <a:lnTo>
                  <a:pt x="0" y="27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103" name="Shape 3433"/>
          <p:cNvSpPr/>
          <p:nvPr/>
        </p:nvSpPr>
        <p:spPr>
          <a:xfrm>
            <a:off x="2660760" y="2158920"/>
            <a:ext cx="1314000" cy="785520"/>
          </a:xfrm>
          <a:custGeom>
            <a:avLst/>
            <a:gdLst/>
            <a:ahLst/>
            <a:rect l="l" t="t" r="r" b="b"/>
            <a:pathLst>
              <a:path w="633" h="420">
                <a:moveTo>
                  <a:pt x="0" y="0"/>
                </a:moveTo>
                <a:lnTo>
                  <a:pt x="633" y="42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104" name="Shape 3434"/>
          <p:cNvSpPr/>
          <p:nvPr/>
        </p:nvSpPr>
        <p:spPr>
          <a:xfrm>
            <a:off x="915840" y="3116160"/>
            <a:ext cx="1230120" cy="450360"/>
          </a:xfrm>
          <a:custGeom>
            <a:avLst/>
            <a:gdLst/>
            <a:ahLst/>
            <a:rect l="l" t="t" r="r" b="b"/>
            <a:pathLst>
              <a:path w="630" h="255">
                <a:moveTo>
                  <a:pt x="630" y="255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105" name="Shape 3435"/>
          <p:cNvGrpSpPr/>
          <p:nvPr/>
        </p:nvGrpSpPr>
        <p:grpSpPr>
          <a:xfrm>
            <a:off x="425520" y="2800440"/>
            <a:ext cx="529920" cy="595080"/>
            <a:chOff x="425520" y="2800440"/>
            <a:chExt cx="529920" cy="595080"/>
          </a:xfrm>
        </p:grpSpPr>
        <p:sp>
          <p:nvSpPr>
            <p:cNvPr id="3106" name="Shape 3436"/>
            <p:cNvSpPr/>
            <p:nvPr/>
          </p:nvSpPr>
          <p:spPr>
            <a:xfrm>
              <a:off x="425520" y="2849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07" name="Shape 3437"/>
            <p:cNvSpPr/>
            <p:nvPr/>
          </p:nvSpPr>
          <p:spPr>
            <a:xfrm>
              <a:off x="492120" y="2800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108" name="Shape 3438"/>
          <p:cNvGrpSpPr/>
          <p:nvPr/>
        </p:nvGrpSpPr>
        <p:grpSpPr>
          <a:xfrm>
            <a:off x="2160720" y="1841400"/>
            <a:ext cx="529920" cy="595080"/>
            <a:chOff x="2160720" y="1841400"/>
            <a:chExt cx="529920" cy="595080"/>
          </a:xfrm>
        </p:grpSpPr>
        <p:sp>
          <p:nvSpPr>
            <p:cNvPr id="3109" name="Shape 3439"/>
            <p:cNvSpPr/>
            <p:nvPr/>
          </p:nvSpPr>
          <p:spPr>
            <a:xfrm>
              <a:off x="2160720" y="18907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10" name="Shape 3440"/>
            <p:cNvSpPr/>
            <p:nvPr/>
          </p:nvSpPr>
          <p:spPr>
            <a:xfrm>
              <a:off x="2227320" y="18414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111" name="Shape 3441"/>
          <p:cNvGrpSpPr/>
          <p:nvPr/>
        </p:nvGrpSpPr>
        <p:grpSpPr>
          <a:xfrm>
            <a:off x="3854520" y="2816280"/>
            <a:ext cx="529920" cy="595080"/>
            <a:chOff x="3854520" y="2816280"/>
            <a:chExt cx="529920" cy="595080"/>
          </a:xfrm>
        </p:grpSpPr>
        <p:sp>
          <p:nvSpPr>
            <p:cNvPr id="3112" name="Shape 3442"/>
            <p:cNvSpPr/>
            <p:nvPr/>
          </p:nvSpPr>
          <p:spPr>
            <a:xfrm>
              <a:off x="3854520" y="28656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13" name="Shape 3443"/>
            <p:cNvSpPr/>
            <p:nvPr/>
          </p:nvSpPr>
          <p:spPr>
            <a:xfrm>
              <a:off x="3921120" y="28162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114" name="Shape 3444"/>
          <p:cNvGrpSpPr/>
          <p:nvPr/>
        </p:nvGrpSpPr>
        <p:grpSpPr>
          <a:xfrm>
            <a:off x="3002040" y="4660920"/>
            <a:ext cx="529920" cy="595080"/>
            <a:chOff x="3002040" y="4660920"/>
            <a:chExt cx="529920" cy="595080"/>
          </a:xfrm>
        </p:grpSpPr>
        <p:sp>
          <p:nvSpPr>
            <p:cNvPr id="3115" name="Shape 3445"/>
            <p:cNvSpPr/>
            <p:nvPr/>
          </p:nvSpPr>
          <p:spPr>
            <a:xfrm>
              <a:off x="3002040" y="4710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16" name="Shape 3446"/>
            <p:cNvSpPr/>
            <p:nvPr/>
          </p:nvSpPr>
          <p:spPr>
            <a:xfrm>
              <a:off x="3068640" y="4660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117" name="Shape 3447"/>
          <p:cNvGrpSpPr/>
          <p:nvPr/>
        </p:nvGrpSpPr>
        <p:grpSpPr>
          <a:xfrm>
            <a:off x="1263600" y="4599000"/>
            <a:ext cx="529920" cy="595080"/>
            <a:chOff x="1263600" y="4599000"/>
            <a:chExt cx="529920" cy="595080"/>
          </a:xfrm>
        </p:grpSpPr>
        <p:sp>
          <p:nvSpPr>
            <p:cNvPr id="3118" name="Shape 3448"/>
            <p:cNvSpPr/>
            <p:nvPr/>
          </p:nvSpPr>
          <p:spPr>
            <a:xfrm>
              <a:off x="1263600" y="464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19" name="Shape 3449"/>
            <p:cNvSpPr/>
            <p:nvPr/>
          </p:nvSpPr>
          <p:spPr>
            <a:xfrm>
              <a:off x="1330200" y="459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120" name="Shape 3450"/>
          <p:cNvGrpSpPr/>
          <p:nvPr/>
        </p:nvGrpSpPr>
        <p:grpSpPr>
          <a:xfrm>
            <a:off x="2133720" y="3259080"/>
            <a:ext cx="529920" cy="595080"/>
            <a:chOff x="2133720" y="3259080"/>
            <a:chExt cx="529920" cy="595080"/>
          </a:xfrm>
        </p:grpSpPr>
        <p:sp>
          <p:nvSpPr>
            <p:cNvPr id="3121" name="Shape 3451"/>
            <p:cNvSpPr/>
            <p:nvPr/>
          </p:nvSpPr>
          <p:spPr>
            <a:xfrm>
              <a:off x="2133720" y="330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22" name="Shape 3452"/>
            <p:cNvSpPr/>
            <p:nvPr/>
          </p:nvSpPr>
          <p:spPr>
            <a:xfrm>
              <a:off x="2200320" y="3259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123" name="Shape 3453"/>
          <p:cNvGrpSpPr/>
          <p:nvPr/>
        </p:nvGrpSpPr>
        <p:grpSpPr>
          <a:xfrm>
            <a:off x="4740120" y="2830680"/>
            <a:ext cx="530280" cy="595080"/>
            <a:chOff x="4740120" y="2830680"/>
            <a:chExt cx="530280" cy="595080"/>
          </a:xfrm>
        </p:grpSpPr>
        <p:sp>
          <p:nvSpPr>
            <p:cNvPr id="3124" name="Shape 3454"/>
            <p:cNvSpPr/>
            <p:nvPr/>
          </p:nvSpPr>
          <p:spPr>
            <a:xfrm>
              <a:off x="4740120" y="2879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25" name="Shape 3455"/>
            <p:cNvSpPr/>
            <p:nvPr/>
          </p:nvSpPr>
          <p:spPr>
            <a:xfrm>
              <a:off x="4807080" y="28306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126" name="Shape 3456"/>
          <p:cNvGrpSpPr/>
          <p:nvPr/>
        </p:nvGrpSpPr>
        <p:grpSpPr>
          <a:xfrm>
            <a:off x="6475320" y="1871640"/>
            <a:ext cx="529920" cy="595080"/>
            <a:chOff x="6475320" y="1871640"/>
            <a:chExt cx="529920" cy="595080"/>
          </a:xfrm>
        </p:grpSpPr>
        <p:sp>
          <p:nvSpPr>
            <p:cNvPr id="3127" name="Shape 3457"/>
            <p:cNvSpPr/>
            <p:nvPr/>
          </p:nvSpPr>
          <p:spPr>
            <a:xfrm>
              <a:off x="6475320" y="19209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28" name="Shape 3458"/>
            <p:cNvSpPr/>
            <p:nvPr/>
          </p:nvSpPr>
          <p:spPr>
            <a:xfrm>
              <a:off x="6541920" y="18716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129" name="Shape 3459"/>
          <p:cNvGrpSpPr/>
          <p:nvPr/>
        </p:nvGrpSpPr>
        <p:grpSpPr>
          <a:xfrm>
            <a:off x="8169120" y="2846520"/>
            <a:ext cx="530280" cy="595080"/>
            <a:chOff x="8169120" y="2846520"/>
            <a:chExt cx="530280" cy="595080"/>
          </a:xfrm>
        </p:grpSpPr>
        <p:sp>
          <p:nvSpPr>
            <p:cNvPr id="3130" name="Shape 3460"/>
            <p:cNvSpPr/>
            <p:nvPr/>
          </p:nvSpPr>
          <p:spPr>
            <a:xfrm>
              <a:off x="8169120" y="28954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31" name="Shape 3461"/>
            <p:cNvSpPr/>
            <p:nvPr/>
          </p:nvSpPr>
          <p:spPr>
            <a:xfrm>
              <a:off x="8236080" y="2846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132" name="Shape 3462"/>
          <p:cNvGrpSpPr/>
          <p:nvPr/>
        </p:nvGrpSpPr>
        <p:grpSpPr>
          <a:xfrm>
            <a:off x="7316640" y="4691160"/>
            <a:ext cx="530280" cy="595080"/>
            <a:chOff x="7316640" y="4691160"/>
            <a:chExt cx="530280" cy="595080"/>
          </a:xfrm>
        </p:grpSpPr>
        <p:sp>
          <p:nvSpPr>
            <p:cNvPr id="3133" name="Shape 3463"/>
            <p:cNvSpPr/>
            <p:nvPr/>
          </p:nvSpPr>
          <p:spPr>
            <a:xfrm>
              <a:off x="7316640" y="47401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34" name="Shape 3464"/>
            <p:cNvSpPr/>
            <p:nvPr/>
          </p:nvSpPr>
          <p:spPr>
            <a:xfrm>
              <a:off x="7383600" y="46911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135" name="Shape 3465"/>
          <p:cNvGrpSpPr/>
          <p:nvPr/>
        </p:nvGrpSpPr>
        <p:grpSpPr>
          <a:xfrm>
            <a:off x="5578560" y="4629240"/>
            <a:ext cx="529920" cy="595080"/>
            <a:chOff x="5578560" y="4629240"/>
            <a:chExt cx="529920" cy="595080"/>
          </a:xfrm>
        </p:grpSpPr>
        <p:sp>
          <p:nvSpPr>
            <p:cNvPr id="3136" name="Shape 3466"/>
            <p:cNvSpPr/>
            <p:nvPr/>
          </p:nvSpPr>
          <p:spPr>
            <a:xfrm>
              <a:off x="5578560" y="46782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37" name="Shape 3467"/>
            <p:cNvSpPr/>
            <p:nvPr/>
          </p:nvSpPr>
          <p:spPr>
            <a:xfrm>
              <a:off x="5645160" y="4629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138" name="Shape 3468"/>
          <p:cNvGrpSpPr/>
          <p:nvPr/>
        </p:nvGrpSpPr>
        <p:grpSpPr>
          <a:xfrm>
            <a:off x="6448320" y="3289320"/>
            <a:ext cx="530280" cy="595080"/>
            <a:chOff x="6448320" y="3289320"/>
            <a:chExt cx="530280" cy="595080"/>
          </a:xfrm>
        </p:grpSpPr>
        <p:sp>
          <p:nvSpPr>
            <p:cNvPr id="3139" name="Shape 3469"/>
            <p:cNvSpPr/>
            <p:nvPr/>
          </p:nvSpPr>
          <p:spPr>
            <a:xfrm>
              <a:off x="6448320" y="3338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40" name="Shape 3470"/>
            <p:cNvSpPr/>
            <p:nvPr/>
          </p:nvSpPr>
          <p:spPr>
            <a:xfrm>
              <a:off x="6515280" y="3289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141" name="Shape 3471"/>
          <p:cNvSpPr/>
          <p:nvPr/>
        </p:nvSpPr>
        <p:spPr>
          <a:xfrm>
            <a:off x="2529000" y="5595840"/>
            <a:ext cx="63878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连通分量＝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{A}, {B, E}, {C}, {D}, {F}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3142" name="Shape 3472"/>
          <p:cNvGrpSpPr/>
          <p:nvPr/>
        </p:nvGrpSpPr>
        <p:grpSpPr>
          <a:xfrm>
            <a:off x="6958080" y="2092320"/>
            <a:ext cx="1314000" cy="882360"/>
            <a:chOff x="6958080" y="2092320"/>
            <a:chExt cx="1314000" cy="882360"/>
          </a:xfrm>
        </p:grpSpPr>
        <p:sp>
          <p:nvSpPr>
            <p:cNvPr id="3143" name="Shape 3473"/>
            <p:cNvSpPr/>
            <p:nvPr/>
          </p:nvSpPr>
          <p:spPr>
            <a:xfrm>
              <a:off x="6958080" y="2189160"/>
              <a:ext cx="1314000" cy="785520"/>
            </a:xfrm>
            <a:custGeom>
              <a:avLst/>
              <a:gdLst/>
              <a:ahLst/>
              <a:rect l="l" t="t" r="r" b="b"/>
              <a:pathLst>
                <a:path w="633" h="420">
                  <a:moveTo>
                    <a:pt x="0" y="0"/>
                  </a:moveTo>
                  <a:lnTo>
                    <a:pt x="633" y="42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44" name="Shape 3474"/>
            <p:cNvSpPr/>
            <p:nvPr/>
          </p:nvSpPr>
          <p:spPr>
            <a:xfrm>
              <a:off x="7554960" y="2092320"/>
              <a:ext cx="412560" cy="54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12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145" name="Shape 3475"/>
          <p:cNvSpPr/>
          <p:nvPr/>
        </p:nvSpPr>
        <p:spPr>
          <a:xfrm>
            <a:off x="4438800" y="6102360"/>
            <a:ext cx="487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146" name="Shape 3476"/>
          <p:cNvSpPr/>
          <p:nvPr/>
        </p:nvSpPr>
        <p:spPr>
          <a:xfrm>
            <a:off x="7666200" y="6102360"/>
            <a:ext cx="487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147" name="Shape 3477"/>
          <p:cNvSpPr/>
          <p:nvPr/>
        </p:nvSpPr>
        <p:spPr>
          <a:xfrm>
            <a:off x="2513160" y="6180120"/>
            <a:ext cx="63878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连通分量＝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{A, F}, {B, E}, {C}, {D}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3148" name="Shape 3478"/>
          <p:cNvGrpSpPr/>
          <p:nvPr/>
        </p:nvGrpSpPr>
        <p:grpSpPr>
          <a:xfrm>
            <a:off x="5213520" y="2900520"/>
            <a:ext cx="1230120" cy="680400"/>
            <a:chOff x="5213520" y="2900520"/>
            <a:chExt cx="1230120" cy="680400"/>
          </a:xfrm>
        </p:grpSpPr>
        <p:sp>
          <p:nvSpPr>
            <p:cNvPr id="3149" name="Shape 3479"/>
            <p:cNvSpPr/>
            <p:nvPr/>
          </p:nvSpPr>
          <p:spPr>
            <a:xfrm>
              <a:off x="5829480" y="2900520"/>
              <a:ext cx="412560" cy="54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19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3150" name="Shape 3480"/>
            <p:cNvSpPr/>
            <p:nvPr/>
          </p:nvSpPr>
          <p:spPr>
            <a:xfrm>
              <a:off x="5213520" y="3130560"/>
              <a:ext cx="1230120" cy="450360"/>
            </a:xfrm>
            <a:custGeom>
              <a:avLst/>
              <a:gdLst/>
              <a:ahLst/>
              <a:rect l="l" t="t" r="r" b="b"/>
              <a:pathLst>
                <a:path w="630" h="255">
                  <a:moveTo>
                    <a:pt x="630" y="255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151" name="Shape 3481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3152" name="Shape 3482"/>
          <p:cNvGrpSpPr/>
          <p:nvPr/>
        </p:nvGrpSpPr>
        <p:grpSpPr>
          <a:xfrm>
            <a:off x="6059520" y="4987800"/>
            <a:ext cx="1240920" cy="617400"/>
            <a:chOff x="6059520" y="4987800"/>
            <a:chExt cx="1240920" cy="617400"/>
          </a:xfrm>
        </p:grpSpPr>
        <p:sp>
          <p:nvSpPr>
            <p:cNvPr id="3153" name="Shape 3483"/>
            <p:cNvSpPr/>
            <p:nvPr/>
          </p:nvSpPr>
          <p:spPr>
            <a:xfrm>
              <a:off x="6059520" y="4987800"/>
              <a:ext cx="1240920" cy="1080"/>
            </a:xfrm>
            <a:custGeom>
              <a:avLst/>
              <a:gdLst/>
              <a:ahLst/>
              <a:rect l="l" t="t" r="r" b="b"/>
              <a:pathLst>
                <a:path w="636" h="7">
                  <a:moveTo>
                    <a:pt x="636" y="7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54" name="Shape 3484"/>
            <p:cNvSpPr/>
            <p:nvPr/>
          </p:nvSpPr>
          <p:spPr>
            <a:xfrm>
              <a:off x="6531120" y="5059440"/>
              <a:ext cx="410760" cy="54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17</a:t>
              </a:r>
              <a:endParaRPr b="0" lang="en-US" sz="2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09" dur="indefinite" restart="never" nodeType="tmRoot">
          <p:childTnLst>
            <p:seq>
              <p:cTn id="910" dur="indefinite" nodeType="mainSeq">
                <p:childTnLst>
                  <p:par>
                    <p:cTn id="911" fill="hold">
                      <p:stCondLst>
                        <p:cond delay="indefinite"/>
                      </p:stCondLst>
                      <p:childTnLst>
                        <p:par>
                          <p:cTn id="912" fill="hold">
                            <p:stCondLst>
                              <p:cond delay="0"/>
                            </p:stCondLst>
                            <p:childTnLst>
                              <p:par>
                                <p:cTn id="9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5" dur="500"/>
                                        <p:tgtEl>
                                          <p:spTgt spid="3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6" fill="hold">
                      <p:stCondLst>
                        <p:cond delay="indefinite"/>
                      </p:stCondLst>
                      <p:childTnLst>
                        <p:par>
                          <p:cTn id="917" fill="hold">
                            <p:stCondLst>
                              <p:cond delay="0"/>
                            </p:stCondLst>
                            <p:childTnLst>
                              <p:par>
                                <p:cTn id="9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0" dur="500"/>
                                        <p:tgtEl>
                                          <p:spTgt spid="3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1" fill="hold">
                      <p:stCondLst>
                        <p:cond delay="indefinite"/>
                      </p:stCondLst>
                      <p:childTnLst>
                        <p:par>
                          <p:cTn id="922" fill="hold">
                            <p:stCondLst>
                              <p:cond delay="0"/>
                            </p:stCondLst>
                            <p:childTnLst>
                              <p:par>
                                <p:cTn id="9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5" dur="500"/>
                                        <p:tgtEl>
                                          <p:spTgt spid="3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5" name="Shape 3489"/>
          <p:cNvSpPr/>
          <p:nvPr/>
        </p:nvSpPr>
        <p:spPr>
          <a:xfrm>
            <a:off x="915840" y="2163600"/>
            <a:ext cx="1267920" cy="826560"/>
          </a:xfrm>
          <a:custGeom>
            <a:avLst/>
            <a:gdLst/>
            <a:ahLst/>
            <a:rect l="l" t="t" r="r" b="b"/>
            <a:pathLst>
              <a:path w="666" h="426">
                <a:moveTo>
                  <a:pt x="666" y="0"/>
                </a:moveTo>
                <a:lnTo>
                  <a:pt x="0" y="426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156" name="Shape 3490"/>
          <p:cNvSpPr/>
          <p:nvPr/>
        </p:nvSpPr>
        <p:spPr>
          <a:xfrm>
            <a:off x="3378240" y="3328920"/>
            <a:ext cx="674280" cy="1420560"/>
          </a:xfrm>
          <a:custGeom>
            <a:avLst/>
            <a:gdLst/>
            <a:ahLst/>
            <a:rect l="l" t="t" r="r" b="b"/>
            <a:pathLst>
              <a:path w="345" h="810">
                <a:moveTo>
                  <a:pt x="345" y="0"/>
                </a:moveTo>
                <a:lnTo>
                  <a:pt x="0" y="81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157" name="Shape 3491"/>
          <p:cNvSpPr/>
          <p:nvPr/>
        </p:nvSpPr>
        <p:spPr>
          <a:xfrm>
            <a:off x="2513160" y="3772080"/>
            <a:ext cx="597960" cy="1004400"/>
          </a:xfrm>
          <a:custGeom>
            <a:avLst/>
            <a:gdLst/>
            <a:ahLst/>
            <a:rect l="l" t="t" r="r" b="b"/>
            <a:pathLst>
              <a:path w="291" h="556">
                <a:moveTo>
                  <a:pt x="291" y="55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158" name="Shape 3492"/>
          <p:cNvSpPr/>
          <p:nvPr/>
        </p:nvSpPr>
        <p:spPr>
          <a:xfrm>
            <a:off x="1778040" y="4911840"/>
            <a:ext cx="124092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159" name="Shape 3493"/>
          <p:cNvSpPr/>
          <p:nvPr/>
        </p:nvSpPr>
        <p:spPr>
          <a:xfrm>
            <a:off x="798480" y="3298680"/>
            <a:ext cx="630000" cy="1360080"/>
          </a:xfrm>
          <a:custGeom>
            <a:avLst/>
            <a:gdLst/>
            <a:ahLst/>
            <a:rect l="l" t="t" r="r" b="b"/>
            <a:pathLst>
              <a:path w="309" h="758">
                <a:moveTo>
                  <a:pt x="0" y="0"/>
                </a:moveTo>
                <a:lnTo>
                  <a:pt x="309" y="758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160" name="Shape 3494"/>
          <p:cNvSpPr/>
          <p:nvPr/>
        </p:nvSpPr>
        <p:spPr>
          <a:xfrm>
            <a:off x="2862360" y="3892680"/>
            <a:ext cx="4125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161" name="Shape 3495"/>
          <p:cNvSpPr/>
          <p:nvPr/>
        </p:nvSpPr>
        <p:spPr>
          <a:xfrm>
            <a:off x="3287880" y="207648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162" name="Shape 3496"/>
          <p:cNvSpPr/>
          <p:nvPr/>
        </p:nvSpPr>
        <p:spPr>
          <a:xfrm>
            <a:off x="1312920" y="2104920"/>
            <a:ext cx="40752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163" name="Shape 3497"/>
          <p:cNvSpPr/>
          <p:nvPr/>
        </p:nvSpPr>
        <p:spPr>
          <a:xfrm>
            <a:off x="1531800" y="288612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164" name="Shape 3498"/>
          <p:cNvSpPr/>
          <p:nvPr/>
        </p:nvSpPr>
        <p:spPr>
          <a:xfrm>
            <a:off x="2981160" y="288756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165" name="Shape 3499"/>
          <p:cNvSpPr/>
          <p:nvPr/>
        </p:nvSpPr>
        <p:spPr>
          <a:xfrm>
            <a:off x="657360" y="3803760"/>
            <a:ext cx="4075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166" name="Shape 3500"/>
          <p:cNvSpPr/>
          <p:nvPr/>
        </p:nvSpPr>
        <p:spPr>
          <a:xfrm>
            <a:off x="3805200" y="3865680"/>
            <a:ext cx="4060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167" name="Shape 3501"/>
          <p:cNvSpPr/>
          <p:nvPr/>
        </p:nvSpPr>
        <p:spPr>
          <a:xfrm>
            <a:off x="2249640" y="498312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168" name="Shape 3502"/>
          <p:cNvSpPr/>
          <p:nvPr/>
        </p:nvSpPr>
        <p:spPr>
          <a:xfrm>
            <a:off x="1546200" y="3898800"/>
            <a:ext cx="4107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169" name="Shape 3503"/>
          <p:cNvSpPr/>
          <p:nvPr/>
        </p:nvSpPr>
        <p:spPr>
          <a:xfrm>
            <a:off x="1633680" y="3774960"/>
            <a:ext cx="630000" cy="915480"/>
          </a:xfrm>
          <a:custGeom>
            <a:avLst/>
            <a:gdLst/>
            <a:ahLst/>
            <a:rect l="l" t="t" r="r" b="b"/>
            <a:pathLst>
              <a:path w="321" h="521">
                <a:moveTo>
                  <a:pt x="321" y="0"/>
                </a:moveTo>
                <a:lnTo>
                  <a:pt x="0" y="521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170" name="Shape 3504"/>
          <p:cNvSpPr/>
          <p:nvPr/>
        </p:nvSpPr>
        <p:spPr>
          <a:xfrm>
            <a:off x="2608200" y="3116160"/>
            <a:ext cx="1293480" cy="491760"/>
          </a:xfrm>
          <a:custGeom>
            <a:avLst/>
            <a:gdLst/>
            <a:ahLst/>
            <a:rect l="l" t="t" r="r" b="b"/>
            <a:pathLst>
              <a:path w="615" h="270">
                <a:moveTo>
                  <a:pt x="615" y="0"/>
                </a:moveTo>
                <a:lnTo>
                  <a:pt x="0" y="27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171" name="Shape 3505"/>
          <p:cNvSpPr/>
          <p:nvPr/>
        </p:nvSpPr>
        <p:spPr>
          <a:xfrm>
            <a:off x="2660760" y="2158920"/>
            <a:ext cx="1314000" cy="785520"/>
          </a:xfrm>
          <a:custGeom>
            <a:avLst/>
            <a:gdLst/>
            <a:ahLst/>
            <a:rect l="l" t="t" r="r" b="b"/>
            <a:pathLst>
              <a:path w="633" h="420">
                <a:moveTo>
                  <a:pt x="0" y="0"/>
                </a:moveTo>
                <a:lnTo>
                  <a:pt x="633" y="42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172" name="Shape 3506"/>
          <p:cNvSpPr/>
          <p:nvPr/>
        </p:nvSpPr>
        <p:spPr>
          <a:xfrm>
            <a:off x="915840" y="3116160"/>
            <a:ext cx="1230120" cy="450360"/>
          </a:xfrm>
          <a:custGeom>
            <a:avLst/>
            <a:gdLst/>
            <a:ahLst/>
            <a:rect l="l" t="t" r="r" b="b"/>
            <a:pathLst>
              <a:path w="630" h="255">
                <a:moveTo>
                  <a:pt x="630" y="255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173" name="Shape 3507"/>
          <p:cNvGrpSpPr/>
          <p:nvPr/>
        </p:nvGrpSpPr>
        <p:grpSpPr>
          <a:xfrm>
            <a:off x="425520" y="2800440"/>
            <a:ext cx="529920" cy="595080"/>
            <a:chOff x="425520" y="2800440"/>
            <a:chExt cx="529920" cy="595080"/>
          </a:xfrm>
        </p:grpSpPr>
        <p:sp>
          <p:nvSpPr>
            <p:cNvPr id="3174" name="Shape 3508"/>
            <p:cNvSpPr/>
            <p:nvPr/>
          </p:nvSpPr>
          <p:spPr>
            <a:xfrm>
              <a:off x="425520" y="2849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75" name="Shape 3509"/>
            <p:cNvSpPr/>
            <p:nvPr/>
          </p:nvSpPr>
          <p:spPr>
            <a:xfrm>
              <a:off x="492120" y="2800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176" name="Shape 3510"/>
          <p:cNvGrpSpPr/>
          <p:nvPr/>
        </p:nvGrpSpPr>
        <p:grpSpPr>
          <a:xfrm>
            <a:off x="2160720" y="1841400"/>
            <a:ext cx="529920" cy="595080"/>
            <a:chOff x="2160720" y="1841400"/>
            <a:chExt cx="529920" cy="595080"/>
          </a:xfrm>
        </p:grpSpPr>
        <p:sp>
          <p:nvSpPr>
            <p:cNvPr id="3177" name="Shape 3511"/>
            <p:cNvSpPr/>
            <p:nvPr/>
          </p:nvSpPr>
          <p:spPr>
            <a:xfrm>
              <a:off x="2160720" y="18907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78" name="Shape 3512"/>
            <p:cNvSpPr/>
            <p:nvPr/>
          </p:nvSpPr>
          <p:spPr>
            <a:xfrm>
              <a:off x="2227320" y="18414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179" name="Shape 3513"/>
          <p:cNvGrpSpPr/>
          <p:nvPr/>
        </p:nvGrpSpPr>
        <p:grpSpPr>
          <a:xfrm>
            <a:off x="3854520" y="2816280"/>
            <a:ext cx="529920" cy="595080"/>
            <a:chOff x="3854520" y="2816280"/>
            <a:chExt cx="529920" cy="595080"/>
          </a:xfrm>
        </p:grpSpPr>
        <p:sp>
          <p:nvSpPr>
            <p:cNvPr id="3180" name="Shape 3514"/>
            <p:cNvSpPr/>
            <p:nvPr/>
          </p:nvSpPr>
          <p:spPr>
            <a:xfrm>
              <a:off x="3854520" y="28656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81" name="Shape 3515"/>
            <p:cNvSpPr/>
            <p:nvPr/>
          </p:nvSpPr>
          <p:spPr>
            <a:xfrm>
              <a:off x="3921120" y="28162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182" name="Shape 3516"/>
          <p:cNvGrpSpPr/>
          <p:nvPr/>
        </p:nvGrpSpPr>
        <p:grpSpPr>
          <a:xfrm>
            <a:off x="3002040" y="4660920"/>
            <a:ext cx="529920" cy="595080"/>
            <a:chOff x="3002040" y="4660920"/>
            <a:chExt cx="529920" cy="595080"/>
          </a:xfrm>
        </p:grpSpPr>
        <p:sp>
          <p:nvSpPr>
            <p:cNvPr id="3183" name="Shape 3517"/>
            <p:cNvSpPr/>
            <p:nvPr/>
          </p:nvSpPr>
          <p:spPr>
            <a:xfrm>
              <a:off x="3002040" y="4710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84" name="Shape 3518"/>
            <p:cNvSpPr/>
            <p:nvPr/>
          </p:nvSpPr>
          <p:spPr>
            <a:xfrm>
              <a:off x="3068640" y="4660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185" name="Shape 3519"/>
          <p:cNvGrpSpPr/>
          <p:nvPr/>
        </p:nvGrpSpPr>
        <p:grpSpPr>
          <a:xfrm>
            <a:off x="1263600" y="4599000"/>
            <a:ext cx="529920" cy="595080"/>
            <a:chOff x="1263600" y="4599000"/>
            <a:chExt cx="529920" cy="595080"/>
          </a:xfrm>
        </p:grpSpPr>
        <p:sp>
          <p:nvSpPr>
            <p:cNvPr id="3186" name="Shape 3520"/>
            <p:cNvSpPr/>
            <p:nvPr/>
          </p:nvSpPr>
          <p:spPr>
            <a:xfrm>
              <a:off x="1263600" y="464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87" name="Shape 3521"/>
            <p:cNvSpPr/>
            <p:nvPr/>
          </p:nvSpPr>
          <p:spPr>
            <a:xfrm>
              <a:off x="1330200" y="459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188" name="Shape 3522"/>
          <p:cNvGrpSpPr/>
          <p:nvPr/>
        </p:nvGrpSpPr>
        <p:grpSpPr>
          <a:xfrm>
            <a:off x="2133720" y="3259080"/>
            <a:ext cx="529920" cy="595080"/>
            <a:chOff x="2133720" y="3259080"/>
            <a:chExt cx="529920" cy="595080"/>
          </a:xfrm>
        </p:grpSpPr>
        <p:sp>
          <p:nvSpPr>
            <p:cNvPr id="3189" name="Shape 3523"/>
            <p:cNvSpPr/>
            <p:nvPr/>
          </p:nvSpPr>
          <p:spPr>
            <a:xfrm>
              <a:off x="2133720" y="330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90" name="Shape 3524"/>
            <p:cNvSpPr/>
            <p:nvPr/>
          </p:nvSpPr>
          <p:spPr>
            <a:xfrm>
              <a:off x="2200320" y="3259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191" name="Shape 3525"/>
          <p:cNvGrpSpPr/>
          <p:nvPr/>
        </p:nvGrpSpPr>
        <p:grpSpPr>
          <a:xfrm>
            <a:off x="4740120" y="2830680"/>
            <a:ext cx="530280" cy="595080"/>
            <a:chOff x="4740120" y="2830680"/>
            <a:chExt cx="530280" cy="595080"/>
          </a:xfrm>
        </p:grpSpPr>
        <p:sp>
          <p:nvSpPr>
            <p:cNvPr id="3192" name="Shape 3526"/>
            <p:cNvSpPr/>
            <p:nvPr/>
          </p:nvSpPr>
          <p:spPr>
            <a:xfrm>
              <a:off x="4740120" y="2879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93" name="Shape 3527"/>
            <p:cNvSpPr/>
            <p:nvPr/>
          </p:nvSpPr>
          <p:spPr>
            <a:xfrm>
              <a:off x="4807080" y="28306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194" name="Shape 3528"/>
          <p:cNvGrpSpPr/>
          <p:nvPr/>
        </p:nvGrpSpPr>
        <p:grpSpPr>
          <a:xfrm>
            <a:off x="6475320" y="1871640"/>
            <a:ext cx="529920" cy="595080"/>
            <a:chOff x="6475320" y="1871640"/>
            <a:chExt cx="529920" cy="595080"/>
          </a:xfrm>
        </p:grpSpPr>
        <p:sp>
          <p:nvSpPr>
            <p:cNvPr id="3195" name="Shape 3529"/>
            <p:cNvSpPr/>
            <p:nvPr/>
          </p:nvSpPr>
          <p:spPr>
            <a:xfrm>
              <a:off x="6475320" y="19209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96" name="Shape 3530"/>
            <p:cNvSpPr/>
            <p:nvPr/>
          </p:nvSpPr>
          <p:spPr>
            <a:xfrm>
              <a:off x="6541920" y="18716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197" name="Shape 3531"/>
          <p:cNvGrpSpPr/>
          <p:nvPr/>
        </p:nvGrpSpPr>
        <p:grpSpPr>
          <a:xfrm>
            <a:off x="8169120" y="2846520"/>
            <a:ext cx="530280" cy="595080"/>
            <a:chOff x="8169120" y="2846520"/>
            <a:chExt cx="530280" cy="595080"/>
          </a:xfrm>
        </p:grpSpPr>
        <p:sp>
          <p:nvSpPr>
            <p:cNvPr id="3198" name="Shape 3532"/>
            <p:cNvSpPr/>
            <p:nvPr/>
          </p:nvSpPr>
          <p:spPr>
            <a:xfrm>
              <a:off x="8169120" y="28954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99" name="Shape 3533"/>
            <p:cNvSpPr/>
            <p:nvPr/>
          </p:nvSpPr>
          <p:spPr>
            <a:xfrm>
              <a:off x="8236080" y="2846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200" name="Shape 3534"/>
          <p:cNvGrpSpPr/>
          <p:nvPr/>
        </p:nvGrpSpPr>
        <p:grpSpPr>
          <a:xfrm>
            <a:off x="7316640" y="4691160"/>
            <a:ext cx="530280" cy="595080"/>
            <a:chOff x="7316640" y="4691160"/>
            <a:chExt cx="530280" cy="595080"/>
          </a:xfrm>
        </p:grpSpPr>
        <p:sp>
          <p:nvSpPr>
            <p:cNvPr id="3201" name="Shape 3535"/>
            <p:cNvSpPr/>
            <p:nvPr/>
          </p:nvSpPr>
          <p:spPr>
            <a:xfrm>
              <a:off x="7316640" y="47401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02" name="Shape 3536"/>
            <p:cNvSpPr/>
            <p:nvPr/>
          </p:nvSpPr>
          <p:spPr>
            <a:xfrm>
              <a:off x="7383600" y="46911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203" name="Shape 3537"/>
          <p:cNvGrpSpPr/>
          <p:nvPr/>
        </p:nvGrpSpPr>
        <p:grpSpPr>
          <a:xfrm>
            <a:off x="5578560" y="4629240"/>
            <a:ext cx="529920" cy="595080"/>
            <a:chOff x="5578560" y="4629240"/>
            <a:chExt cx="529920" cy="595080"/>
          </a:xfrm>
        </p:grpSpPr>
        <p:sp>
          <p:nvSpPr>
            <p:cNvPr id="3204" name="Shape 3538"/>
            <p:cNvSpPr/>
            <p:nvPr/>
          </p:nvSpPr>
          <p:spPr>
            <a:xfrm>
              <a:off x="5578560" y="46782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05" name="Shape 3539"/>
            <p:cNvSpPr/>
            <p:nvPr/>
          </p:nvSpPr>
          <p:spPr>
            <a:xfrm>
              <a:off x="5645160" y="4629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206" name="Shape 3540"/>
          <p:cNvGrpSpPr/>
          <p:nvPr/>
        </p:nvGrpSpPr>
        <p:grpSpPr>
          <a:xfrm>
            <a:off x="6448320" y="3289320"/>
            <a:ext cx="530280" cy="595080"/>
            <a:chOff x="6448320" y="3289320"/>
            <a:chExt cx="530280" cy="595080"/>
          </a:xfrm>
        </p:grpSpPr>
        <p:sp>
          <p:nvSpPr>
            <p:cNvPr id="3207" name="Shape 3541"/>
            <p:cNvSpPr/>
            <p:nvPr/>
          </p:nvSpPr>
          <p:spPr>
            <a:xfrm>
              <a:off x="6448320" y="3338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08" name="Shape 3542"/>
            <p:cNvSpPr/>
            <p:nvPr/>
          </p:nvSpPr>
          <p:spPr>
            <a:xfrm>
              <a:off x="6515280" y="3289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209" name="Shape 3543"/>
          <p:cNvSpPr/>
          <p:nvPr/>
        </p:nvSpPr>
        <p:spPr>
          <a:xfrm>
            <a:off x="2529000" y="5595840"/>
            <a:ext cx="63878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连通分量＝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{A, F}, {B, E}, {C, D}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3210" name="Shape 3544"/>
          <p:cNvGrpSpPr/>
          <p:nvPr/>
        </p:nvGrpSpPr>
        <p:grpSpPr>
          <a:xfrm>
            <a:off x="6958080" y="2092320"/>
            <a:ext cx="1314000" cy="882360"/>
            <a:chOff x="6958080" y="2092320"/>
            <a:chExt cx="1314000" cy="882360"/>
          </a:xfrm>
        </p:grpSpPr>
        <p:sp>
          <p:nvSpPr>
            <p:cNvPr id="3211" name="Shape 3545"/>
            <p:cNvSpPr/>
            <p:nvPr/>
          </p:nvSpPr>
          <p:spPr>
            <a:xfrm>
              <a:off x="6958080" y="2189160"/>
              <a:ext cx="1314000" cy="785520"/>
            </a:xfrm>
            <a:custGeom>
              <a:avLst/>
              <a:gdLst/>
              <a:ahLst/>
              <a:rect l="l" t="t" r="r" b="b"/>
              <a:pathLst>
                <a:path w="633" h="420">
                  <a:moveTo>
                    <a:pt x="0" y="0"/>
                  </a:moveTo>
                  <a:lnTo>
                    <a:pt x="633" y="42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12" name="Shape 3546"/>
            <p:cNvSpPr/>
            <p:nvPr/>
          </p:nvSpPr>
          <p:spPr>
            <a:xfrm>
              <a:off x="7554960" y="2092320"/>
              <a:ext cx="412560" cy="54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12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213" name="Shape 3547"/>
          <p:cNvSpPr/>
          <p:nvPr/>
        </p:nvSpPr>
        <p:spPr>
          <a:xfrm>
            <a:off x="4422600" y="6102360"/>
            <a:ext cx="898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214" name="Shape 3548"/>
          <p:cNvSpPr/>
          <p:nvPr/>
        </p:nvSpPr>
        <p:spPr>
          <a:xfrm>
            <a:off x="6647040" y="6102360"/>
            <a:ext cx="898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215" name="Shape 3549"/>
          <p:cNvSpPr/>
          <p:nvPr/>
        </p:nvSpPr>
        <p:spPr>
          <a:xfrm>
            <a:off x="2513160" y="6180120"/>
            <a:ext cx="63878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连通分量＝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{A, F, C, D}, {B, E}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3216" name="Shape 3550"/>
          <p:cNvGrpSpPr/>
          <p:nvPr/>
        </p:nvGrpSpPr>
        <p:grpSpPr>
          <a:xfrm>
            <a:off x="5213520" y="2900520"/>
            <a:ext cx="1230120" cy="680400"/>
            <a:chOff x="5213520" y="2900520"/>
            <a:chExt cx="1230120" cy="680400"/>
          </a:xfrm>
        </p:grpSpPr>
        <p:sp>
          <p:nvSpPr>
            <p:cNvPr id="3217" name="Shape 3551"/>
            <p:cNvSpPr/>
            <p:nvPr/>
          </p:nvSpPr>
          <p:spPr>
            <a:xfrm>
              <a:off x="5829480" y="2900520"/>
              <a:ext cx="412560" cy="54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19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3218" name="Shape 3552"/>
            <p:cNvSpPr/>
            <p:nvPr/>
          </p:nvSpPr>
          <p:spPr>
            <a:xfrm>
              <a:off x="5213520" y="3130560"/>
              <a:ext cx="1230120" cy="450360"/>
            </a:xfrm>
            <a:custGeom>
              <a:avLst/>
              <a:gdLst/>
              <a:ahLst/>
              <a:rect l="l" t="t" r="r" b="b"/>
              <a:pathLst>
                <a:path w="630" h="255">
                  <a:moveTo>
                    <a:pt x="630" y="255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219" name="Shape 3553"/>
          <p:cNvGrpSpPr/>
          <p:nvPr/>
        </p:nvGrpSpPr>
        <p:grpSpPr>
          <a:xfrm>
            <a:off x="6059520" y="4987800"/>
            <a:ext cx="1240920" cy="617400"/>
            <a:chOff x="6059520" y="4987800"/>
            <a:chExt cx="1240920" cy="617400"/>
          </a:xfrm>
        </p:grpSpPr>
        <p:sp>
          <p:nvSpPr>
            <p:cNvPr id="3220" name="Shape 3554"/>
            <p:cNvSpPr/>
            <p:nvPr/>
          </p:nvSpPr>
          <p:spPr>
            <a:xfrm>
              <a:off x="6059520" y="4987800"/>
              <a:ext cx="1240920" cy="1080"/>
            </a:xfrm>
            <a:custGeom>
              <a:avLst/>
              <a:gdLst/>
              <a:ahLst/>
              <a:rect l="l" t="t" r="r" b="b"/>
              <a:pathLst>
                <a:path w="636" h="7">
                  <a:moveTo>
                    <a:pt x="636" y="7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21" name="Shape 3555"/>
            <p:cNvSpPr/>
            <p:nvPr/>
          </p:nvSpPr>
          <p:spPr>
            <a:xfrm>
              <a:off x="6531120" y="5059440"/>
              <a:ext cx="410760" cy="54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17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222" name="Shape 3556"/>
          <p:cNvGrpSpPr/>
          <p:nvPr/>
        </p:nvGrpSpPr>
        <p:grpSpPr>
          <a:xfrm>
            <a:off x="5813280" y="3789360"/>
            <a:ext cx="765000" cy="915480"/>
            <a:chOff x="5813280" y="3789360"/>
            <a:chExt cx="765000" cy="915480"/>
          </a:xfrm>
        </p:grpSpPr>
        <p:sp>
          <p:nvSpPr>
            <p:cNvPr id="3223" name="Shape 3557"/>
            <p:cNvSpPr/>
            <p:nvPr/>
          </p:nvSpPr>
          <p:spPr>
            <a:xfrm>
              <a:off x="5813280" y="3944880"/>
              <a:ext cx="410760" cy="54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25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3224" name="Shape 3558"/>
            <p:cNvSpPr/>
            <p:nvPr/>
          </p:nvSpPr>
          <p:spPr>
            <a:xfrm>
              <a:off x="5948280" y="3789360"/>
              <a:ext cx="630000" cy="915480"/>
            </a:xfrm>
            <a:custGeom>
              <a:avLst/>
              <a:gdLst/>
              <a:ahLst/>
              <a:rect l="l" t="t" r="r" b="b"/>
              <a:pathLst>
                <a:path w="321" h="521">
                  <a:moveTo>
                    <a:pt x="321" y="0"/>
                  </a:moveTo>
                  <a:lnTo>
                    <a:pt x="0" y="521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225" name="Shape 3559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26" dur="indefinite" restart="never" nodeType="tmRoot">
          <p:childTnLst>
            <p:seq>
              <p:cTn id="927" dur="indefinite" nodeType="mainSeq">
                <p:childTnLst>
                  <p:par>
                    <p:cTn id="928" fill="hold">
                      <p:stCondLst>
                        <p:cond delay="indefinite"/>
                      </p:stCondLst>
                      <p:childTnLst>
                        <p:par>
                          <p:cTn id="929" fill="hold">
                            <p:stCondLst>
                              <p:cond delay="0"/>
                            </p:stCondLst>
                            <p:childTnLst>
                              <p:par>
                                <p:cTn id="9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2" dur="500"/>
                                        <p:tgtEl>
                                          <p:spTgt spid="3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3" fill="hold">
                      <p:stCondLst>
                        <p:cond delay="indefinite"/>
                      </p:stCondLst>
                      <p:childTnLst>
                        <p:par>
                          <p:cTn id="934" fill="hold">
                            <p:stCondLst>
                              <p:cond delay="0"/>
                            </p:stCondLst>
                            <p:childTnLst>
                              <p:par>
                                <p:cTn id="93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7" dur="500"/>
                                        <p:tgtEl>
                                          <p:spTgt spid="3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8" fill="hold">
                      <p:stCondLst>
                        <p:cond delay="indefinite"/>
                      </p:stCondLst>
                      <p:childTnLst>
                        <p:par>
                          <p:cTn id="939" fill="hold">
                            <p:stCondLst>
                              <p:cond delay="0"/>
                            </p:stCondLst>
                            <p:childTnLst>
                              <p:par>
                                <p:cTn id="94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2" dur="500"/>
                                        <p:tgtEl>
                                          <p:spTgt spid="3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Shape 3564"/>
          <p:cNvSpPr/>
          <p:nvPr/>
        </p:nvSpPr>
        <p:spPr>
          <a:xfrm>
            <a:off x="915840" y="2163600"/>
            <a:ext cx="1267920" cy="826560"/>
          </a:xfrm>
          <a:custGeom>
            <a:avLst/>
            <a:gdLst/>
            <a:ahLst/>
            <a:rect l="l" t="t" r="r" b="b"/>
            <a:pathLst>
              <a:path w="666" h="426">
                <a:moveTo>
                  <a:pt x="666" y="0"/>
                </a:moveTo>
                <a:lnTo>
                  <a:pt x="0" y="426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227" name="Shape 3565"/>
          <p:cNvSpPr/>
          <p:nvPr/>
        </p:nvSpPr>
        <p:spPr>
          <a:xfrm>
            <a:off x="3378240" y="3328920"/>
            <a:ext cx="674280" cy="1420560"/>
          </a:xfrm>
          <a:custGeom>
            <a:avLst/>
            <a:gdLst/>
            <a:ahLst/>
            <a:rect l="l" t="t" r="r" b="b"/>
            <a:pathLst>
              <a:path w="345" h="810">
                <a:moveTo>
                  <a:pt x="345" y="0"/>
                </a:moveTo>
                <a:lnTo>
                  <a:pt x="0" y="81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228" name="Shape 3566"/>
          <p:cNvSpPr/>
          <p:nvPr/>
        </p:nvSpPr>
        <p:spPr>
          <a:xfrm>
            <a:off x="2513160" y="3772080"/>
            <a:ext cx="597960" cy="1004400"/>
          </a:xfrm>
          <a:custGeom>
            <a:avLst/>
            <a:gdLst/>
            <a:ahLst/>
            <a:rect l="l" t="t" r="r" b="b"/>
            <a:pathLst>
              <a:path w="291" h="556">
                <a:moveTo>
                  <a:pt x="291" y="55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229" name="Shape 3567"/>
          <p:cNvSpPr/>
          <p:nvPr/>
        </p:nvSpPr>
        <p:spPr>
          <a:xfrm>
            <a:off x="1778040" y="4911840"/>
            <a:ext cx="124092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230" name="Shape 3568"/>
          <p:cNvSpPr/>
          <p:nvPr/>
        </p:nvSpPr>
        <p:spPr>
          <a:xfrm>
            <a:off x="798480" y="3298680"/>
            <a:ext cx="630000" cy="1360080"/>
          </a:xfrm>
          <a:custGeom>
            <a:avLst/>
            <a:gdLst/>
            <a:ahLst/>
            <a:rect l="l" t="t" r="r" b="b"/>
            <a:pathLst>
              <a:path w="309" h="758">
                <a:moveTo>
                  <a:pt x="0" y="0"/>
                </a:moveTo>
                <a:lnTo>
                  <a:pt x="309" y="758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231" name="Shape 3569"/>
          <p:cNvSpPr/>
          <p:nvPr/>
        </p:nvSpPr>
        <p:spPr>
          <a:xfrm>
            <a:off x="2862360" y="3892680"/>
            <a:ext cx="4125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232" name="Shape 3570"/>
          <p:cNvSpPr/>
          <p:nvPr/>
        </p:nvSpPr>
        <p:spPr>
          <a:xfrm>
            <a:off x="3287880" y="207648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233" name="Shape 3571"/>
          <p:cNvSpPr/>
          <p:nvPr/>
        </p:nvSpPr>
        <p:spPr>
          <a:xfrm>
            <a:off x="1312920" y="2104920"/>
            <a:ext cx="40752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234" name="Shape 3572"/>
          <p:cNvSpPr/>
          <p:nvPr/>
        </p:nvSpPr>
        <p:spPr>
          <a:xfrm>
            <a:off x="1531800" y="2886120"/>
            <a:ext cx="4125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235" name="Shape 3573"/>
          <p:cNvSpPr/>
          <p:nvPr/>
        </p:nvSpPr>
        <p:spPr>
          <a:xfrm>
            <a:off x="2981160" y="288756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236" name="Shape 3574"/>
          <p:cNvSpPr/>
          <p:nvPr/>
        </p:nvSpPr>
        <p:spPr>
          <a:xfrm>
            <a:off x="657360" y="3803760"/>
            <a:ext cx="4075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237" name="Shape 3575"/>
          <p:cNvSpPr/>
          <p:nvPr/>
        </p:nvSpPr>
        <p:spPr>
          <a:xfrm>
            <a:off x="3805200" y="3865680"/>
            <a:ext cx="40608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238" name="Shape 3576"/>
          <p:cNvSpPr/>
          <p:nvPr/>
        </p:nvSpPr>
        <p:spPr>
          <a:xfrm>
            <a:off x="2249640" y="4983120"/>
            <a:ext cx="41076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239" name="Shape 3577"/>
          <p:cNvSpPr/>
          <p:nvPr/>
        </p:nvSpPr>
        <p:spPr>
          <a:xfrm>
            <a:off x="1546200" y="3898800"/>
            <a:ext cx="4107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240" name="Shape 3578"/>
          <p:cNvSpPr/>
          <p:nvPr/>
        </p:nvSpPr>
        <p:spPr>
          <a:xfrm>
            <a:off x="1633680" y="3774960"/>
            <a:ext cx="630000" cy="915480"/>
          </a:xfrm>
          <a:custGeom>
            <a:avLst/>
            <a:gdLst/>
            <a:ahLst/>
            <a:rect l="l" t="t" r="r" b="b"/>
            <a:pathLst>
              <a:path w="321" h="521">
                <a:moveTo>
                  <a:pt x="321" y="0"/>
                </a:moveTo>
                <a:lnTo>
                  <a:pt x="0" y="521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241" name="Shape 3579"/>
          <p:cNvSpPr/>
          <p:nvPr/>
        </p:nvSpPr>
        <p:spPr>
          <a:xfrm>
            <a:off x="2608200" y="3116160"/>
            <a:ext cx="1293480" cy="491760"/>
          </a:xfrm>
          <a:custGeom>
            <a:avLst/>
            <a:gdLst/>
            <a:ahLst/>
            <a:rect l="l" t="t" r="r" b="b"/>
            <a:pathLst>
              <a:path w="615" h="270">
                <a:moveTo>
                  <a:pt x="615" y="0"/>
                </a:moveTo>
                <a:lnTo>
                  <a:pt x="0" y="27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242" name="Shape 3580"/>
          <p:cNvSpPr/>
          <p:nvPr/>
        </p:nvSpPr>
        <p:spPr>
          <a:xfrm>
            <a:off x="2660760" y="2158920"/>
            <a:ext cx="1314000" cy="785520"/>
          </a:xfrm>
          <a:custGeom>
            <a:avLst/>
            <a:gdLst/>
            <a:ahLst/>
            <a:rect l="l" t="t" r="r" b="b"/>
            <a:pathLst>
              <a:path w="633" h="420">
                <a:moveTo>
                  <a:pt x="0" y="0"/>
                </a:moveTo>
                <a:lnTo>
                  <a:pt x="633" y="42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243" name="Shape 3581"/>
          <p:cNvSpPr/>
          <p:nvPr/>
        </p:nvSpPr>
        <p:spPr>
          <a:xfrm>
            <a:off x="915840" y="3116160"/>
            <a:ext cx="1230120" cy="450360"/>
          </a:xfrm>
          <a:custGeom>
            <a:avLst/>
            <a:gdLst/>
            <a:ahLst/>
            <a:rect l="l" t="t" r="r" b="b"/>
            <a:pathLst>
              <a:path w="630" h="255">
                <a:moveTo>
                  <a:pt x="630" y="255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244" name="Shape 3582"/>
          <p:cNvGrpSpPr/>
          <p:nvPr/>
        </p:nvGrpSpPr>
        <p:grpSpPr>
          <a:xfrm>
            <a:off x="425520" y="2800440"/>
            <a:ext cx="529920" cy="595080"/>
            <a:chOff x="425520" y="2800440"/>
            <a:chExt cx="529920" cy="595080"/>
          </a:xfrm>
        </p:grpSpPr>
        <p:sp>
          <p:nvSpPr>
            <p:cNvPr id="3245" name="Shape 3583"/>
            <p:cNvSpPr/>
            <p:nvPr/>
          </p:nvSpPr>
          <p:spPr>
            <a:xfrm>
              <a:off x="425520" y="2849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46" name="Shape 3584"/>
            <p:cNvSpPr/>
            <p:nvPr/>
          </p:nvSpPr>
          <p:spPr>
            <a:xfrm>
              <a:off x="492120" y="2800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247" name="Shape 3585"/>
          <p:cNvGrpSpPr/>
          <p:nvPr/>
        </p:nvGrpSpPr>
        <p:grpSpPr>
          <a:xfrm>
            <a:off x="2160720" y="1841400"/>
            <a:ext cx="529920" cy="595080"/>
            <a:chOff x="2160720" y="1841400"/>
            <a:chExt cx="529920" cy="595080"/>
          </a:xfrm>
        </p:grpSpPr>
        <p:sp>
          <p:nvSpPr>
            <p:cNvPr id="3248" name="Shape 3586"/>
            <p:cNvSpPr/>
            <p:nvPr/>
          </p:nvSpPr>
          <p:spPr>
            <a:xfrm>
              <a:off x="2160720" y="18907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49" name="Shape 3587"/>
            <p:cNvSpPr/>
            <p:nvPr/>
          </p:nvSpPr>
          <p:spPr>
            <a:xfrm>
              <a:off x="2227320" y="18414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250" name="Shape 3588"/>
          <p:cNvGrpSpPr/>
          <p:nvPr/>
        </p:nvGrpSpPr>
        <p:grpSpPr>
          <a:xfrm>
            <a:off x="3854520" y="2816280"/>
            <a:ext cx="529920" cy="595080"/>
            <a:chOff x="3854520" y="2816280"/>
            <a:chExt cx="529920" cy="595080"/>
          </a:xfrm>
        </p:grpSpPr>
        <p:sp>
          <p:nvSpPr>
            <p:cNvPr id="3251" name="Shape 3589"/>
            <p:cNvSpPr/>
            <p:nvPr/>
          </p:nvSpPr>
          <p:spPr>
            <a:xfrm>
              <a:off x="3854520" y="28656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52" name="Shape 3590"/>
            <p:cNvSpPr/>
            <p:nvPr/>
          </p:nvSpPr>
          <p:spPr>
            <a:xfrm>
              <a:off x="3921120" y="28162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253" name="Shape 3591"/>
          <p:cNvGrpSpPr/>
          <p:nvPr/>
        </p:nvGrpSpPr>
        <p:grpSpPr>
          <a:xfrm>
            <a:off x="3002040" y="4660920"/>
            <a:ext cx="529920" cy="595080"/>
            <a:chOff x="3002040" y="4660920"/>
            <a:chExt cx="529920" cy="595080"/>
          </a:xfrm>
        </p:grpSpPr>
        <p:sp>
          <p:nvSpPr>
            <p:cNvPr id="3254" name="Shape 3592"/>
            <p:cNvSpPr/>
            <p:nvPr/>
          </p:nvSpPr>
          <p:spPr>
            <a:xfrm>
              <a:off x="3002040" y="4710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55" name="Shape 3593"/>
            <p:cNvSpPr/>
            <p:nvPr/>
          </p:nvSpPr>
          <p:spPr>
            <a:xfrm>
              <a:off x="3068640" y="4660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256" name="Shape 3594"/>
          <p:cNvGrpSpPr/>
          <p:nvPr/>
        </p:nvGrpSpPr>
        <p:grpSpPr>
          <a:xfrm>
            <a:off x="1263600" y="4599000"/>
            <a:ext cx="529920" cy="595080"/>
            <a:chOff x="1263600" y="4599000"/>
            <a:chExt cx="529920" cy="595080"/>
          </a:xfrm>
        </p:grpSpPr>
        <p:sp>
          <p:nvSpPr>
            <p:cNvPr id="3257" name="Shape 3595"/>
            <p:cNvSpPr/>
            <p:nvPr/>
          </p:nvSpPr>
          <p:spPr>
            <a:xfrm>
              <a:off x="1263600" y="464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58" name="Shape 3596"/>
            <p:cNvSpPr/>
            <p:nvPr/>
          </p:nvSpPr>
          <p:spPr>
            <a:xfrm>
              <a:off x="1330200" y="459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259" name="Shape 3597"/>
          <p:cNvGrpSpPr/>
          <p:nvPr/>
        </p:nvGrpSpPr>
        <p:grpSpPr>
          <a:xfrm>
            <a:off x="2133720" y="3259080"/>
            <a:ext cx="529920" cy="595080"/>
            <a:chOff x="2133720" y="3259080"/>
            <a:chExt cx="529920" cy="595080"/>
          </a:xfrm>
        </p:grpSpPr>
        <p:sp>
          <p:nvSpPr>
            <p:cNvPr id="3260" name="Shape 3598"/>
            <p:cNvSpPr/>
            <p:nvPr/>
          </p:nvSpPr>
          <p:spPr>
            <a:xfrm>
              <a:off x="2133720" y="33084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61" name="Shape 3599"/>
            <p:cNvSpPr/>
            <p:nvPr/>
          </p:nvSpPr>
          <p:spPr>
            <a:xfrm>
              <a:off x="2200320" y="3259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262" name="Shape 3600"/>
          <p:cNvGrpSpPr/>
          <p:nvPr/>
        </p:nvGrpSpPr>
        <p:grpSpPr>
          <a:xfrm>
            <a:off x="4740120" y="2830680"/>
            <a:ext cx="530280" cy="595080"/>
            <a:chOff x="4740120" y="2830680"/>
            <a:chExt cx="530280" cy="595080"/>
          </a:xfrm>
        </p:grpSpPr>
        <p:sp>
          <p:nvSpPr>
            <p:cNvPr id="3263" name="Shape 3601"/>
            <p:cNvSpPr/>
            <p:nvPr/>
          </p:nvSpPr>
          <p:spPr>
            <a:xfrm>
              <a:off x="4740120" y="2879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64" name="Shape 3602"/>
            <p:cNvSpPr/>
            <p:nvPr/>
          </p:nvSpPr>
          <p:spPr>
            <a:xfrm>
              <a:off x="4807080" y="28306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265" name="Shape 3603"/>
          <p:cNvGrpSpPr/>
          <p:nvPr/>
        </p:nvGrpSpPr>
        <p:grpSpPr>
          <a:xfrm>
            <a:off x="6475320" y="1871640"/>
            <a:ext cx="529920" cy="595080"/>
            <a:chOff x="6475320" y="1871640"/>
            <a:chExt cx="529920" cy="595080"/>
          </a:xfrm>
        </p:grpSpPr>
        <p:sp>
          <p:nvSpPr>
            <p:cNvPr id="3266" name="Shape 3604"/>
            <p:cNvSpPr/>
            <p:nvPr/>
          </p:nvSpPr>
          <p:spPr>
            <a:xfrm>
              <a:off x="6475320" y="19209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67" name="Shape 3605"/>
            <p:cNvSpPr/>
            <p:nvPr/>
          </p:nvSpPr>
          <p:spPr>
            <a:xfrm>
              <a:off x="6541920" y="18716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268" name="Shape 3606"/>
          <p:cNvGrpSpPr/>
          <p:nvPr/>
        </p:nvGrpSpPr>
        <p:grpSpPr>
          <a:xfrm>
            <a:off x="8169120" y="2846520"/>
            <a:ext cx="530280" cy="595080"/>
            <a:chOff x="8169120" y="2846520"/>
            <a:chExt cx="530280" cy="595080"/>
          </a:xfrm>
        </p:grpSpPr>
        <p:sp>
          <p:nvSpPr>
            <p:cNvPr id="3269" name="Shape 3607"/>
            <p:cNvSpPr/>
            <p:nvPr/>
          </p:nvSpPr>
          <p:spPr>
            <a:xfrm>
              <a:off x="8169120" y="28954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70" name="Shape 3608"/>
            <p:cNvSpPr/>
            <p:nvPr/>
          </p:nvSpPr>
          <p:spPr>
            <a:xfrm>
              <a:off x="8236080" y="2846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271" name="Shape 3609"/>
          <p:cNvGrpSpPr/>
          <p:nvPr/>
        </p:nvGrpSpPr>
        <p:grpSpPr>
          <a:xfrm>
            <a:off x="7316640" y="4691160"/>
            <a:ext cx="530280" cy="595080"/>
            <a:chOff x="7316640" y="4691160"/>
            <a:chExt cx="530280" cy="595080"/>
          </a:xfrm>
        </p:grpSpPr>
        <p:sp>
          <p:nvSpPr>
            <p:cNvPr id="3272" name="Shape 3610"/>
            <p:cNvSpPr/>
            <p:nvPr/>
          </p:nvSpPr>
          <p:spPr>
            <a:xfrm>
              <a:off x="7316640" y="47401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73" name="Shape 3611"/>
            <p:cNvSpPr/>
            <p:nvPr/>
          </p:nvSpPr>
          <p:spPr>
            <a:xfrm>
              <a:off x="7383600" y="46911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274" name="Shape 3612"/>
          <p:cNvGrpSpPr/>
          <p:nvPr/>
        </p:nvGrpSpPr>
        <p:grpSpPr>
          <a:xfrm>
            <a:off x="5578560" y="4629240"/>
            <a:ext cx="529920" cy="595080"/>
            <a:chOff x="5578560" y="4629240"/>
            <a:chExt cx="529920" cy="595080"/>
          </a:xfrm>
        </p:grpSpPr>
        <p:sp>
          <p:nvSpPr>
            <p:cNvPr id="3275" name="Shape 3613"/>
            <p:cNvSpPr/>
            <p:nvPr/>
          </p:nvSpPr>
          <p:spPr>
            <a:xfrm>
              <a:off x="5578560" y="46782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76" name="Shape 3614"/>
            <p:cNvSpPr/>
            <p:nvPr/>
          </p:nvSpPr>
          <p:spPr>
            <a:xfrm>
              <a:off x="5645160" y="4629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277" name="Shape 3615"/>
          <p:cNvGrpSpPr/>
          <p:nvPr/>
        </p:nvGrpSpPr>
        <p:grpSpPr>
          <a:xfrm>
            <a:off x="6448320" y="3289320"/>
            <a:ext cx="530280" cy="595080"/>
            <a:chOff x="6448320" y="3289320"/>
            <a:chExt cx="530280" cy="595080"/>
          </a:xfrm>
        </p:grpSpPr>
        <p:sp>
          <p:nvSpPr>
            <p:cNvPr id="3278" name="Shape 3616"/>
            <p:cNvSpPr/>
            <p:nvPr/>
          </p:nvSpPr>
          <p:spPr>
            <a:xfrm>
              <a:off x="6448320" y="3338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79" name="Shape 3617"/>
            <p:cNvSpPr/>
            <p:nvPr/>
          </p:nvSpPr>
          <p:spPr>
            <a:xfrm>
              <a:off x="6515280" y="3289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280" name="Shape 3618"/>
          <p:cNvSpPr/>
          <p:nvPr/>
        </p:nvSpPr>
        <p:spPr>
          <a:xfrm>
            <a:off x="2529000" y="5595840"/>
            <a:ext cx="63878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连通分量＝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{A, F, C, D}, {B, E}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3281" name="Shape 3619"/>
          <p:cNvGrpSpPr/>
          <p:nvPr/>
        </p:nvGrpSpPr>
        <p:grpSpPr>
          <a:xfrm>
            <a:off x="6958080" y="2092320"/>
            <a:ext cx="1314000" cy="882360"/>
            <a:chOff x="6958080" y="2092320"/>
            <a:chExt cx="1314000" cy="882360"/>
          </a:xfrm>
        </p:grpSpPr>
        <p:sp>
          <p:nvSpPr>
            <p:cNvPr id="3282" name="Shape 3620"/>
            <p:cNvSpPr/>
            <p:nvPr/>
          </p:nvSpPr>
          <p:spPr>
            <a:xfrm>
              <a:off x="6958080" y="2189160"/>
              <a:ext cx="1314000" cy="785520"/>
            </a:xfrm>
            <a:custGeom>
              <a:avLst/>
              <a:gdLst/>
              <a:ahLst/>
              <a:rect l="l" t="t" r="r" b="b"/>
              <a:pathLst>
                <a:path w="633" h="420">
                  <a:moveTo>
                    <a:pt x="0" y="0"/>
                  </a:moveTo>
                  <a:lnTo>
                    <a:pt x="633" y="42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83" name="Shape 3621"/>
            <p:cNvSpPr/>
            <p:nvPr/>
          </p:nvSpPr>
          <p:spPr>
            <a:xfrm>
              <a:off x="7554960" y="2092320"/>
              <a:ext cx="412560" cy="54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12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284" name="Shape 3622"/>
          <p:cNvSpPr/>
          <p:nvPr/>
        </p:nvSpPr>
        <p:spPr>
          <a:xfrm>
            <a:off x="4422600" y="6102360"/>
            <a:ext cx="1661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285" name="Shape 3623"/>
          <p:cNvSpPr/>
          <p:nvPr/>
        </p:nvSpPr>
        <p:spPr>
          <a:xfrm>
            <a:off x="6408720" y="6102360"/>
            <a:ext cx="898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286" name="Shape 3624"/>
          <p:cNvSpPr/>
          <p:nvPr/>
        </p:nvSpPr>
        <p:spPr>
          <a:xfrm>
            <a:off x="2513160" y="6180120"/>
            <a:ext cx="63878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连通分量＝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{A, F, C, D, B, E}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3287" name="Shape 3625"/>
          <p:cNvGrpSpPr/>
          <p:nvPr/>
        </p:nvGrpSpPr>
        <p:grpSpPr>
          <a:xfrm>
            <a:off x="5213520" y="2900520"/>
            <a:ext cx="1230120" cy="680400"/>
            <a:chOff x="5213520" y="2900520"/>
            <a:chExt cx="1230120" cy="680400"/>
          </a:xfrm>
        </p:grpSpPr>
        <p:sp>
          <p:nvSpPr>
            <p:cNvPr id="3288" name="Shape 3626"/>
            <p:cNvSpPr/>
            <p:nvPr/>
          </p:nvSpPr>
          <p:spPr>
            <a:xfrm>
              <a:off x="5829480" y="2900520"/>
              <a:ext cx="412560" cy="54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19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3289" name="Shape 3627"/>
            <p:cNvSpPr/>
            <p:nvPr/>
          </p:nvSpPr>
          <p:spPr>
            <a:xfrm>
              <a:off x="5213520" y="3130560"/>
              <a:ext cx="1230120" cy="450360"/>
            </a:xfrm>
            <a:custGeom>
              <a:avLst/>
              <a:gdLst/>
              <a:ahLst/>
              <a:rect l="l" t="t" r="r" b="b"/>
              <a:pathLst>
                <a:path w="630" h="255">
                  <a:moveTo>
                    <a:pt x="630" y="255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290" name="Shape 3628"/>
          <p:cNvGrpSpPr/>
          <p:nvPr/>
        </p:nvGrpSpPr>
        <p:grpSpPr>
          <a:xfrm>
            <a:off x="6059520" y="4987800"/>
            <a:ext cx="1240920" cy="617400"/>
            <a:chOff x="6059520" y="4987800"/>
            <a:chExt cx="1240920" cy="617400"/>
          </a:xfrm>
        </p:grpSpPr>
        <p:sp>
          <p:nvSpPr>
            <p:cNvPr id="3291" name="Shape 3629"/>
            <p:cNvSpPr/>
            <p:nvPr/>
          </p:nvSpPr>
          <p:spPr>
            <a:xfrm>
              <a:off x="6059520" y="4987800"/>
              <a:ext cx="1240920" cy="1080"/>
            </a:xfrm>
            <a:custGeom>
              <a:avLst/>
              <a:gdLst/>
              <a:ahLst/>
              <a:rect l="l" t="t" r="r" b="b"/>
              <a:pathLst>
                <a:path w="636" h="7">
                  <a:moveTo>
                    <a:pt x="636" y="7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92" name="Shape 3630"/>
            <p:cNvSpPr/>
            <p:nvPr/>
          </p:nvSpPr>
          <p:spPr>
            <a:xfrm>
              <a:off x="6531120" y="5059440"/>
              <a:ext cx="410760" cy="54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17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293" name="Shape 3631"/>
          <p:cNvGrpSpPr/>
          <p:nvPr/>
        </p:nvGrpSpPr>
        <p:grpSpPr>
          <a:xfrm>
            <a:off x="5813280" y="3789360"/>
            <a:ext cx="765000" cy="915480"/>
            <a:chOff x="5813280" y="3789360"/>
            <a:chExt cx="765000" cy="915480"/>
          </a:xfrm>
        </p:grpSpPr>
        <p:sp>
          <p:nvSpPr>
            <p:cNvPr id="3294" name="Shape 3632"/>
            <p:cNvSpPr/>
            <p:nvPr/>
          </p:nvSpPr>
          <p:spPr>
            <a:xfrm>
              <a:off x="5813280" y="3944880"/>
              <a:ext cx="410760" cy="54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25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3295" name="Shape 3633"/>
            <p:cNvSpPr/>
            <p:nvPr/>
          </p:nvSpPr>
          <p:spPr>
            <a:xfrm>
              <a:off x="5948280" y="3789360"/>
              <a:ext cx="630000" cy="915480"/>
            </a:xfrm>
            <a:custGeom>
              <a:avLst/>
              <a:gdLst/>
              <a:ahLst/>
              <a:rect l="l" t="t" r="r" b="b"/>
              <a:pathLst>
                <a:path w="321" h="521">
                  <a:moveTo>
                    <a:pt x="321" y="0"/>
                  </a:moveTo>
                  <a:lnTo>
                    <a:pt x="0" y="521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296" name="Shape 3634"/>
          <p:cNvGrpSpPr/>
          <p:nvPr/>
        </p:nvGrpSpPr>
        <p:grpSpPr>
          <a:xfrm>
            <a:off x="6937200" y="2917800"/>
            <a:ext cx="1263240" cy="690120"/>
            <a:chOff x="6937200" y="2917800"/>
            <a:chExt cx="1263240" cy="690120"/>
          </a:xfrm>
        </p:grpSpPr>
        <p:sp>
          <p:nvSpPr>
            <p:cNvPr id="3297" name="Shape 3635"/>
            <p:cNvSpPr/>
            <p:nvPr/>
          </p:nvSpPr>
          <p:spPr>
            <a:xfrm>
              <a:off x="7294680" y="2917800"/>
              <a:ext cx="410760" cy="545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26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3298" name="Shape 3636"/>
            <p:cNvSpPr/>
            <p:nvPr/>
          </p:nvSpPr>
          <p:spPr>
            <a:xfrm>
              <a:off x="6937200" y="3162240"/>
              <a:ext cx="1263240" cy="445680"/>
            </a:xfrm>
            <a:custGeom>
              <a:avLst/>
              <a:gdLst/>
              <a:ahLst/>
              <a:rect l="l" t="t" r="r" b="b"/>
              <a:pathLst>
                <a:path w="615" h="270">
                  <a:moveTo>
                    <a:pt x="615" y="0"/>
                  </a:moveTo>
                  <a:lnTo>
                    <a:pt x="0" y="27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299" name="Shape 3637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43" dur="indefinite" restart="never" nodeType="tmRoot">
          <p:childTnLst>
            <p:seq>
              <p:cTn id="944" dur="indefinite" nodeType="mainSeq">
                <p:childTnLst>
                  <p:par>
                    <p:cTn id="945" fill="hold">
                      <p:stCondLst>
                        <p:cond delay="indefinite"/>
                      </p:stCondLst>
                      <p:childTnLst>
                        <p:par>
                          <p:cTn id="946" fill="hold">
                            <p:stCondLst>
                              <p:cond delay="0"/>
                            </p:stCondLst>
                            <p:childTnLst>
                              <p:par>
                                <p:cTn id="9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9" dur="500"/>
                                        <p:tgtEl>
                                          <p:spTgt spid="3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0" fill="hold">
                      <p:stCondLst>
                        <p:cond delay="indefinite"/>
                      </p:stCondLst>
                      <p:childTnLst>
                        <p:par>
                          <p:cTn id="951" fill="hold">
                            <p:stCondLst>
                              <p:cond delay="0"/>
                            </p:stCondLst>
                            <p:childTnLst>
                              <p:par>
                                <p:cTn id="95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4" dur="500"/>
                                        <p:tgtEl>
                                          <p:spTgt spid="3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5" fill="hold">
                      <p:stCondLst>
                        <p:cond delay="indefinite"/>
                      </p:stCondLst>
                      <p:childTnLst>
                        <p:par>
                          <p:cTn id="956" fill="hold">
                            <p:stCondLst>
                              <p:cond delay="0"/>
                            </p:stCondLst>
                            <p:childTnLst>
                              <p:par>
                                <p:cTn id="9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9" dur="500"/>
                                        <p:tgtEl>
                                          <p:spTgt spid="3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0" name="Shape 3642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301" name="Shape 3643"/>
          <p:cNvSpPr/>
          <p:nvPr/>
        </p:nvSpPr>
        <p:spPr>
          <a:xfrm>
            <a:off x="270000" y="1836720"/>
            <a:ext cx="8457840" cy="13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图的存储结构：因为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Kruskal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算法是依次对图中的边进行操作，因此考虑用边集数组存储图中的边，为了提高查找速度，将边集数组按边上的权排序。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302" name="Shape 3644"/>
          <p:cNvSpPr/>
          <p:nvPr/>
        </p:nvSpPr>
        <p:spPr>
          <a:xfrm>
            <a:off x="272880" y="1211400"/>
            <a:ext cx="39621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数据结构设计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3303" name="Shape 3645" descr=""/>
          <p:cNvPicPr/>
          <p:nvPr/>
        </p:nvPicPr>
        <p:blipFill>
          <a:blip r:embed="rId1"/>
          <a:stretch/>
        </p:blipFill>
        <p:spPr>
          <a:xfrm>
            <a:off x="365040" y="3538440"/>
            <a:ext cx="8467200" cy="3058920"/>
          </a:xfrm>
          <a:prstGeom prst="rect">
            <a:avLst/>
          </a:prstGeom>
          <a:ln w="28575">
            <a:solidFill>
              <a:srgbClr val="3333cc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4" name="Shape 3650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305" name="Shape 3651"/>
          <p:cNvSpPr/>
          <p:nvPr/>
        </p:nvSpPr>
        <p:spPr>
          <a:xfrm>
            <a:off x="270000" y="1836720"/>
            <a:ext cx="8457840" cy="447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连通分量。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Kruskal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算法实质上是使生成树以一种随意的方式生长，初始时每个顶点构成一棵生成树，然后每生长一次就将两棵树合并，到最后合并成一棵树。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因此，可以设置一个数组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parent[n]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，元素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parent[i]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表示顶点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的双亲结点，初始时，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parent[i]= -1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，表示顶点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没有双亲，即该结点是所在生成树的根结点；对于边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(u, v)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，设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vex1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vex2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分别表示两个顶点所在树的根结点，如果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vex1≠vex2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，则顶点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u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必位于不同的连通分量，令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parent[vex2] = vex1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，实现将两棵树合并。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求某顶点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所在生成树的根结点只需沿数组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 = parent[v]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不断查找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的双亲，直到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parent[v]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等于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-1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。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306" name="Shape 3652"/>
          <p:cNvSpPr/>
          <p:nvPr/>
        </p:nvSpPr>
        <p:spPr>
          <a:xfrm>
            <a:off x="272880" y="1211400"/>
            <a:ext cx="39621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数据结构设计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Shape 3657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308" name="Shape 3658"/>
          <p:cNvSpPr/>
          <p:nvPr/>
        </p:nvSpPr>
        <p:spPr>
          <a:xfrm>
            <a:off x="588960" y="2503440"/>
            <a:ext cx="7964280" cy="3041280"/>
          </a:xfrm>
          <a:prstGeom prst="rect">
            <a:avLst/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初始化辅助数组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parent[n]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num = 0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依次考查每一条边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for (i = 0; i &lt; arcNum; i++)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2.1 vex1 = edge[i].from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所在生成树的根结点；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2.2 vex2 = edge[i].to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所在生成树的根结点；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2.3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如果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vex1 != vex2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，执行下述操作：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2.3.1 parent[vex2] = vex1;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2.3.2 num++;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2.3.3 if (num == n-1)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算法结束；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309" name="Shape 3659"/>
          <p:cNvSpPr/>
          <p:nvPr/>
        </p:nvSpPr>
        <p:spPr>
          <a:xfrm>
            <a:off x="272880" y="1211400"/>
            <a:ext cx="39621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数据结构设计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310" name="Shape 3660"/>
          <p:cNvSpPr/>
          <p:nvPr/>
        </p:nvSpPr>
        <p:spPr>
          <a:xfrm>
            <a:off x="485640" y="1824120"/>
            <a:ext cx="541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Kruskal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算法用伪代码进一步描述为： 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1" name="Shape 3665"/>
          <p:cNvGrpSpPr/>
          <p:nvPr/>
        </p:nvGrpSpPr>
        <p:grpSpPr>
          <a:xfrm>
            <a:off x="6032520" y="1989000"/>
            <a:ext cx="529920" cy="595080"/>
            <a:chOff x="6032520" y="1989000"/>
            <a:chExt cx="529920" cy="595080"/>
          </a:xfrm>
        </p:grpSpPr>
        <p:sp>
          <p:nvSpPr>
            <p:cNvPr id="3312" name="Shape 3666"/>
            <p:cNvSpPr/>
            <p:nvPr/>
          </p:nvSpPr>
          <p:spPr>
            <a:xfrm>
              <a:off x="6032520" y="203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13" name="Shape 3667"/>
            <p:cNvSpPr/>
            <p:nvPr/>
          </p:nvSpPr>
          <p:spPr>
            <a:xfrm>
              <a:off x="6099120" y="198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314" name="Shape 3668"/>
          <p:cNvSpPr/>
          <p:nvPr/>
        </p:nvSpPr>
        <p:spPr>
          <a:xfrm>
            <a:off x="368280" y="3855960"/>
            <a:ext cx="2890440" cy="22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parent[0]=-1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parent[1]=-1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parent[2]=-1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parent[3]=-1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parent[4]=-1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parent[5]=-1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315" name="Shape 3669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3316" name="Shape 3670" descr=""/>
          <p:cNvPicPr/>
          <p:nvPr/>
        </p:nvPicPr>
        <p:blipFill>
          <a:blip r:embed="rId1"/>
          <a:stretch/>
        </p:blipFill>
        <p:spPr>
          <a:xfrm>
            <a:off x="285840" y="1270080"/>
            <a:ext cx="2452320" cy="2198160"/>
          </a:xfrm>
          <a:prstGeom prst="rect">
            <a:avLst/>
          </a:prstGeom>
          <a:ln w="28575">
            <a:solidFill>
              <a:srgbClr val="3333cc"/>
            </a:solidFill>
            <a:miter/>
          </a:ln>
        </p:spPr>
      </p:pic>
      <p:grpSp>
        <p:nvGrpSpPr>
          <p:cNvPr id="3317" name="Shape 3671"/>
          <p:cNvGrpSpPr/>
          <p:nvPr/>
        </p:nvGrpSpPr>
        <p:grpSpPr>
          <a:xfrm>
            <a:off x="6149880" y="3295800"/>
            <a:ext cx="529920" cy="595080"/>
            <a:chOff x="6149880" y="3295800"/>
            <a:chExt cx="529920" cy="595080"/>
          </a:xfrm>
        </p:grpSpPr>
        <p:sp>
          <p:nvSpPr>
            <p:cNvPr id="3318" name="Shape 3672"/>
            <p:cNvSpPr/>
            <p:nvPr/>
          </p:nvSpPr>
          <p:spPr>
            <a:xfrm>
              <a:off x="6149880" y="3344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19" name="Shape 3673"/>
            <p:cNvSpPr/>
            <p:nvPr/>
          </p:nvSpPr>
          <p:spPr>
            <a:xfrm>
              <a:off x="6216480" y="32958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320" name="Shape 3674"/>
          <p:cNvGrpSpPr/>
          <p:nvPr/>
        </p:nvGrpSpPr>
        <p:grpSpPr>
          <a:xfrm>
            <a:off x="4842000" y="3048120"/>
            <a:ext cx="529920" cy="595080"/>
            <a:chOff x="4842000" y="3048120"/>
            <a:chExt cx="529920" cy="595080"/>
          </a:xfrm>
        </p:grpSpPr>
        <p:sp>
          <p:nvSpPr>
            <p:cNvPr id="3321" name="Shape 3675"/>
            <p:cNvSpPr/>
            <p:nvPr/>
          </p:nvSpPr>
          <p:spPr>
            <a:xfrm>
              <a:off x="4842000" y="3097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22" name="Shape 3676"/>
            <p:cNvSpPr/>
            <p:nvPr/>
          </p:nvSpPr>
          <p:spPr>
            <a:xfrm>
              <a:off x="4908600" y="30481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323" name="Shape 3677"/>
          <p:cNvGrpSpPr/>
          <p:nvPr/>
        </p:nvGrpSpPr>
        <p:grpSpPr>
          <a:xfrm>
            <a:off x="7453440" y="3019320"/>
            <a:ext cx="529920" cy="595080"/>
            <a:chOff x="7453440" y="3019320"/>
            <a:chExt cx="529920" cy="595080"/>
          </a:xfrm>
        </p:grpSpPr>
        <p:sp>
          <p:nvSpPr>
            <p:cNvPr id="3324" name="Shape 3678"/>
            <p:cNvSpPr/>
            <p:nvPr/>
          </p:nvSpPr>
          <p:spPr>
            <a:xfrm>
              <a:off x="7453440" y="3068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25" name="Shape 3679"/>
            <p:cNvSpPr/>
            <p:nvPr/>
          </p:nvSpPr>
          <p:spPr>
            <a:xfrm>
              <a:off x="7520040" y="3019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326" name="Shape 3680"/>
          <p:cNvGrpSpPr/>
          <p:nvPr/>
        </p:nvGrpSpPr>
        <p:grpSpPr>
          <a:xfrm>
            <a:off x="6959520" y="4599000"/>
            <a:ext cx="529920" cy="595080"/>
            <a:chOff x="6959520" y="4599000"/>
            <a:chExt cx="529920" cy="595080"/>
          </a:xfrm>
        </p:grpSpPr>
        <p:sp>
          <p:nvSpPr>
            <p:cNvPr id="3327" name="Shape 3681"/>
            <p:cNvSpPr/>
            <p:nvPr/>
          </p:nvSpPr>
          <p:spPr>
            <a:xfrm>
              <a:off x="6959520" y="464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28" name="Shape 3682"/>
            <p:cNvSpPr/>
            <p:nvPr/>
          </p:nvSpPr>
          <p:spPr>
            <a:xfrm>
              <a:off x="7026120" y="459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329" name="Shape 3683"/>
          <p:cNvGrpSpPr/>
          <p:nvPr/>
        </p:nvGrpSpPr>
        <p:grpSpPr>
          <a:xfrm>
            <a:off x="5216400" y="4572000"/>
            <a:ext cx="530280" cy="595080"/>
            <a:chOff x="5216400" y="4572000"/>
            <a:chExt cx="530280" cy="595080"/>
          </a:xfrm>
        </p:grpSpPr>
        <p:sp>
          <p:nvSpPr>
            <p:cNvPr id="3330" name="Shape 3684"/>
            <p:cNvSpPr/>
            <p:nvPr/>
          </p:nvSpPr>
          <p:spPr>
            <a:xfrm>
              <a:off x="5216400" y="4621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31" name="Shape 3685"/>
            <p:cNvSpPr/>
            <p:nvPr/>
          </p:nvSpPr>
          <p:spPr>
            <a:xfrm>
              <a:off x="5283360" y="4572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60" dur="indefinite" restart="never" nodeType="tmRoot">
          <p:childTnLst>
            <p:seq>
              <p:cTn id="961" dur="indefinite" nodeType="mainSeq">
                <p:childTnLst>
                  <p:par>
                    <p:cTn id="962" fill="hold">
                      <p:stCondLst>
                        <p:cond delay="indefinite"/>
                      </p:stCondLst>
                      <p:childTnLst>
                        <p:par>
                          <p:cTn id="963" fill="hold">
                            <p:stCondLst>
                              <p:cond delay="0"/>
                            </p:stCondLst>
                            <p:childTnLst>
                              <p:par>
                                <p:cTn id="96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6" dur="500"/>
                                        <p:tgtEl>
                                          <p:spTgt spid="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2" name="Shape 3690"/>
          <p:cNvGrpSpPr/>
          <p:nvPr/>
        </p:nvGrpSpPr>
        <p:grpSpPr>
          <a:xfrm>
            <a:off x="6032520" y="1989000"/>
            <a:ext cx="529920" cy="595080"/>
            <a:chOff x="6032520" y="1989000"/>
            <a:chExt cx="529920" cy="595080"/>
          </a:xfrm>
        </p:grpSpPr>
        <p:sp>
          <p:nvSpPr>
            <p:cNvPr id="3333" name="Shape 3691"/>
            <p:cNvSpPr/>
            <p:nvPr/>
          </p:nvSpPr>
          <p:spPr>
            <a:xfrm>
              <a:off x="6032520" y="203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34" name="Shape 3692"/>
            <p:cNvSpPr/>
            <p:nvPr/>
          </p:nvSpPr>
          <p:spPr>
            <a:xfrm>
              <a:off x="6099120" y="198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0000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335" name="Shape 3693"/>
          <p:cNvSpPr/>
          <p:nvPr/>
        </p:nvSpPr>
        <p:spPr>
          <a:xfrm>
            <a:off x="368280" y="3855960"/>
            <a:ext cx="2890440" cy="22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parent[0]=-1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parent[1]=-1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parent[2]=-1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parent[3]=-1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parent[4]=</a:t>
            </a:r>
            <a:r>
              <a:rPr b="1" lang="en-US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parent[5]=-1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336" name="Shape 3694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3337" name="Shape 3695" descr=""/>
          <p:cNvPicPr/>
          <p:nvPr/>
        </p:nvPicPr>
        <p:blipFill>
          <a:blip r:embed="rId1"/>
          <a:stretch/>
        </p:blipFill>
        <p:spPr>
          <a:xfrm>
            <a:off x="285840" y="1270080"/>
            <a:ext cx="2452320" cy="2198160"/>
          </a:xfrm>
          <a:prstGeom prst="rect">
            <a:avLst/>
          </a:prstGeom>
          <a:ln w="28575">
            <a:solidFill>
              <a:srgbClr val="3333cc"/>
            </a:solidFill>
            <a:miter/>
          </a:ln>
        </p:spPr>
      </p:pic>
      <p:grpSp>
        <p:nvGrpSpPr>
          <p:cNvPr id="3338" name="Shape 3696"/>
          <p:cNvGrpSpPr/>
          <p:nvPr/>
        </p:nvGrpSpPr>
        <p:grpSpPr>
          <a:xfrm>
            <a:off x="6149880" y="3295800"/>
            <a:ext cx="529920" cy="595080"/>
            <a:chOff x="6149880" y="3295800"/>
            <a:chExt cx="529920" cy="595080"/>
          </a:xfrm>
        </p:grpSpPr>
        <p:sp>
          <p:nvSpPr>
            <p:cNvPr id="3339" name="Shape 3697"/>
            <p:cNvSpPr/>
            <p:nvPr/>
          </p:nvSpPr>
          <p:spPr>
            <a:xfrm>
              <a:off x="6149880" y="3344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40" name="Shape 3698"/>
            <p:cNvSpPr/>
            <p:nvPr/>
          </p:nvSpPr>
          <p:spPr>
            <a:xfrm>
              <a:off x="6216480" y="32958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341" name="Shape 3699"/>
          <p:cNvGrpSpPr/>
          <p:nvPr/>
        </p:nvGrpSpPr>
        <p:grpSpPr>
          <a:xfrm>
            <a:off x="4842000" y="3048120"/>
            <a:ext cx="529920" cy="595080"/>
            <a:chOff x="4842000" y="3048120"/>
            <a:chExt cx="529920" cy="595080"/>
          </a:xfrm>
        </p:grpSpPr>
        <p:sp>
          <p:nvSpPr>
            <p:cNvPr id="3342" name="Shape 3700"/>
            <p:cNvSpPr/>
            <p:nvPr/>
          </p:nvSpPr>
          <p:spPr>
            <a:xfrm>
              <a:off x="4842000" y="3097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43" name="Shape 3701"/>
            <p:cNvSpPr/>
            <p:nvPr/>
          </p:nvSpPr>
          <p:spPr>
            <a:xfrm>
              <a:off x="4908600" y="30481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344" name="Shape 3702"/>
          <p:cNvGrpSpPr/>
          <p:nvPr/>
        </p:nvGrpSpPr>
        <p:grpSpPr>
          <a:xfrm>
            <a:off x="7453440" y="3019320"/>
            <a:ext cx="529920" cy="595080"/>
            <a:chOff x="7453440" y="3019320"/>
            <a:chExt cx="529920" cy="595080"/>
          </a:xfrm>
        </p:grpSpPr>
        <p:sp>
          <p:nvSpPr>
            <p:cNvPr id="3345" name="Shape 3703"/>
            <p:cNvSpPr/>
            <p:nvPr/>
          </p:nvSpPr>
          <p:spPr>
            <a:xfrm>
              <a:off x="7453440" y="3068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46" name="Shape 3704"/>
            <p:cNvSpPr/>
            <p:nvPr/>
          </p:nvSpPr>
          <p:spPr>
            <a:xfrm>
              <a:off x="7520040" y="3019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347" name="Shape 3705"/>
          <p:cNvGrpSpPr/>
          <p:nvPr/>
        </p:nvGrpSpPr>
        <p:grpSpPr>
          <a:xfrm>
            <a:off x="6959520" y="4599000"/>
            <a:ext cx="529920" cy="595080"/>
            <a:chOff x="6959520" y="4599000"/>
            <a:chExt cx="529920" cy="595080"/>
          </a:xfrm>
        </p:grpSpPr>
        <p:sp>
          <p:nvSpPr>
            <p:cNvPr id="3348" name="Shape 3706"/>
            <p:cNvSpPr/>
            <p:nvPr/>
          </p:nvSpPr>
          <p:spPr>
            <a:xfrm>
              <a:off x="6959520" y="464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49" name="Shape 3707"/>
            <p:cNvSpPr/>
            <p:nvPr/>
          </p:nvSpPr>
          <p:spPr>
            <a:xfrm>
              <a:off x="7026120" y="459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350" name="Shape 3708"/>
          <p:cNvGrpSpPr/>
          <p:nvPr/>
        </p:nvGrpSpPr>
        <p:grpSpPr>
          <a:xfrm>
            <a:off x="5216400" y="4572000"/>
            <a:ext cx="530280" cy="595080"/>
            <a:chOff x="5216400" y="4572000"/>
            <a:chExt cx="530280" cy="595080"/>
          </a:xfrm>
        </p:grpSpPr>
        <p:sp>
          <p:nvSpPr>
            <p:cNvPr id="3351" name="Shape 3709"/>
            <p:cNvSpPr/>
            <p:nvPr/>
          </p:nvSpPr>
          <p:spPr>
            <a:xfrm>
              <a:off x="5216400" y="4621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52" name="Shape 3710"/>
            <p:cNvSpPr/>
            <p:nvPr/>
          </p:nvSpPr>
          <p:spPr>
            <a:xfrm>
              <a:off x="5283360" y="4572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353" name="Shape 3711"/>
          <p:cNvSpPr/>
          <p:nvPr/>
        </p:nvSpPr>
        <p:spPr>
          <a:xfrm>
            <a:off x="6496200" y="2446200"/>
            <a:ext cx="1037880" cy="69804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354" name="Shape 3712"/>
          <p:cNvSpPr/>
          <p:nvPr/>
        </p:nvSpPr>
        <p:spPr>
          <a:xfrm>
            <a:off x="6951600" y="2309760"/>
            <a:ext cx="60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5" name="Shape 3717"/>
          <p:cNvGrpSpPr/>
          <p:nvPr/>
        </p:nvGrpSpPr>
        <p:grpSpPr>
          <a:xfrm>
            <a:off x="6032520" y="1989000"/>
            <a:ext cx="529920" cy="595080"/>
            <a:chOff x="6032520" y="1989000"/>
            <a:chExt cx="529920" cy="595080"/>
          </a:xfrm>
        </p:grpSpPr>
        <p:sp>
          <p:nvSpPr>
            <p:cNvPr id="3356" name="Shape 3718"/>
            <p:cNvSpPr/>
            <p:nvPr/>
          </p:nvSpPr>
          <p:spPr>
            <a:xfrm>
              <a:off x="6032520" y="203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57" name="Shape 3719"/>
            <p:cNvSpPr/>
            <p:nvPr/>
          </p:nvSpPr>
          <p:spPr>
            <a:xfrm>
              <a:off x="6099120" y="198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0000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358" name="Shape 3720"/>
          <p:cNvSpPr/>
          <p:nvPr/>
        </p:nvSpPr>
        <p:spPr>
          <a:xfrm>
            <a:off x="368280" y="3855960"/>
            <a:ext cx="2890440" cy="22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parent[0]=-1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parent[1]=-1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parent[2]=-1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parent[3]=</a:t>
            </a:r>
            <a:r>
              <a:rPr b="1" lang="en-US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2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parent[4]=1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parent[5]=-1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359" name="Shape 3721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3360" name="Shape 3722" descr=""/>
          <p:cNvPicPr/>
          <p:nvPr/>
        </p:nvPicPr>
        <p:blipFill>
          <a:blip r:embed="rId1"/>
          <a:stretch/>
        </p:blipFill>
        <p:spPr>
          <a:xfrm>
            <a:off x="285840" y="1270080"/>
            <a:ext cx="2452320" cy="2198160"/>
          </a:xfrm>
          <a:prstGeom prst="rect">
            <a:avLst/>
          </a:prstGeom>
          <a:ln w="28575">
            <a:solidFill>
              <a:srgbClr val="3333cc"/>
            </a:solidFill>
            <a:miter/>
          </a:ln>
        </p:spPr>
      </p:pic>
      <p:grpSp>
        <p:nvGrpSpPr>
          <p:cNvPr id="3361" name="Shape 3723"/>
          <p:cNvGrpSpPr/>
          <p:nvPr/>
        </p:nvGrpSpPr>
        <p:grpSpPr>
          <a:xfrm>
            <a:off x="6149880" y="3295800"/>
            <a:ext cx="529920" cy="595080"/>
            <a:chOff x="6149880" y="3295800"/>
            <a:chExt cx="529920" cy="595080"/>
          </a:xfrm>
        </p:grpSpPr>
        <p:sp>
          <p:nvSpPr>
            <p:cNvPr id="3362" name="Shape 3724"/>
            <p:cNvSpPr/>
            <p:nvPr/>
          </p:nvSpPr>
          <p:spPr>
            <a:xfrm>
              <a:off x="6149880" y="3344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63" name="Shape 3725"/>
            <p:cNvSpPr/>
            <p:nvPr/>
          </p:nvSpPr>
          <p:spPr>
            <a:xfrm>
              <a:off x="6216480" y="32958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364" name="Shape 3726"/>
          <p:cNvGrpSpPr/>
          <p:nvPr/>
        </p:nvGrpSpPr>
        <p:grpSpPr>
          <a:xfrm>
            <a:off x="4842000" y="3048120"/>
            <a:ext cx="529920" cy="595080"/>
            <a:chOff x="4842000" y="3048120"/>
            <a:chExt cx="529920" cy="595080"/>
          </a:xfrm>
        </p:grpSpPr>
        <p:sp>
          <p:nvSpPr>
            <p:cNvPr id="3365" name="Shape 3727"/>
            <p:cNvSpPr/>
            <p:nvPr/>
          </p:nvSpPr>
          <p:spPr>
            <a:xfrm>
              <a:off x="4842000" y="3097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66" name="Shape 3728"/>
            <p:cNvSpPr/>
            <p:nvPr/>
          </p:nvSpPr>
          <p:spPr>
            <a:xfrm>
              <a:off x="4908600" y="30481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367" name="Shape 3729"/>
          <p:cNvGrpSpPr/>
          <p:nvPr/>
        </p:nvGrpSpPr>
        <p:grpSpPr>
          <a:xfrm>
            <a:off x="7453440" y="3019320"/>
            <a:ext cx="529920" cy="595080"/>
            <a:chOff x="7453440" y="3019320"/>
            <a:chExt cx="529920" cy="595080"/>
          </a:xfrm>
        </p:grpSpPr>
        <p:sp>
          <p:nvSpPr>
            <p:cNvPr id="3368" name="Shape 3730"/>
            <p:cNvSpPr/>
            <p:nvPr/>
          </p:nvSpPr>
          <p:spPr>
            <a:xfrm>
              <a:off x="7453440" y="3068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69" name="Shape 3731"/>
            <p:cNvSpPr/>
            <p:nvPr/>
          </p:nvSpPr>
          <p:spPr>
            <a:xfrm>
              <a:off x="7520040" y="3019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370" name="Shape 3732"/>
          <p:cNvGrpSpPr/>
          <p:nvPr/>
        </p:nvGrpSpPr>
        <p:grpSpPr>
          <a:xfrm>
            <a:off x="6959520" y="4599000"/>
            <a:ext cx="529920" cy="595080"/>
            <a:chOff x="6959520" y="4599000"/>
            <a:chExt cx="529920" cy="595080"/>
          </a:xfrm>
        </p:grpSpPr>
        <p:sp>
          <p:nvSpPr>
            <p:cNvPr id="3371" name="Shape 3733"/>
            <p:cNvSpPr/>
            <p:nvPr/>
          </p:nvSpPr>
          <p:spPr>
            <a:xfrm>
              <a:off x="6959520" y="464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72" name="Shape 3734"/>
            <p:cNvSpPr/>
            <p:nvPr/>
          </p:nvSpPr>
          <p:spPr>
            <a:xfrm>
              <a:off x="7026120" y="459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373" name="Shape 3735"/>
          <p:cNvGrpSpPr/>
          <p:nvPr/>
        </p:nvGrpSpPr>
        <p:grpSpPr>
          <a:xfrm>
            <a:off x="5216400" y="4572000"/>
            <a:ext cx="530280" cy="595080"/>
            <a:chOff x="5216400" y="4572000"/>
            <a:chExt cx="530280" cy="595080"/>
          </a:xfrm>
        </p:grpSpPr>
        <p:sp>
          <p:nvSpPr>
            <p:cNvPr id="3374" name="Shape 3736"/>
            <p:cNvSpPr/>
            <p:nvPr/>
          </p:nvSpPr>
          <p:spPr>
            <a:xfrm>
              <a:off x="5216400" y="4621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75" name="Shape 3737"/>
            <p:cNvSpPr/>
            <p:nvPr/>
          </p:nvSpPr>
          <p:spPr>
            <a:xfrm>
              <a:off x="5283360" y="4572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376" name="Shape 3738"/>
          <p:cNvSpPr/>
          <p:nvPr/>
        </p:nvSpPr>
        <p:spPr>
          <a:xfrm>
            <a:off x="5711760" y="4883040"/>
            <a:ext cx="124092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377" name="Shape 3739"/>
          <p:cNvSpPr/>
          <p:nvPr/>
        </p:nvSpPr>
        <p:spPr>
          <a:xfrm>
            <a:off x="6037200" y="4921200"/>
            <a:ext cx="60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378" name="Shape 3740"/>
          <p:cNvSpPr/>
          <p:nvPr/>
        </p:nvSpPr>
        <p:spPr>
          <a:xfrm>
            <a:off x="6496200" y="2446200"/>
            <a:ext cx="1037880" cy="69804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379" name="Shape 3741"/>
          <p:cNvSpPr/>
          <p:nvPr/>
        </p:nvSpPr>
        <p:spPr>
          <a:xfrm>
            <a:off x="6951600" y="2309760"/>
            <a:ext cx="60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0" name="Shape 3746"/>
          <p:cNvGrpSpPr/>
          <p:nvPr/>
        </p:nvGrpSpPr>
        <p:grpSpPr>
          <a:xfrm>
            <a:off x="6032520" y="1989000"/>
            <a:ext cx="529920" cy="595080"/>
            <a:chOff x="6032520" y="1989000"/>
            <a:chExt cx="529920" cy="595080"/>
          </a:xfrm>
        </p:grpSpPr>
        <p:sp>
          <p:nvSpPr>
            <p:cNvPr id="3381" name="Shape 3747"/>
            <p:cNvSpPr/>
            <p:nvPr/>
          </p:nvSpPr>
          <p:spPr>
            <a:xfrm>
              <a:off x="6032520" y="203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82" name="Shape 3748"/>
            <p:cNvSpPr/>
            <p:nvPr/>
          </p:nvSpPr>
          <p:spPr>
            <a:xfrm>
              <a:off x="6099120" y="198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0000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383" name="Shape 3749"/>
          <p:cNvSpPr/>
          <p:nvPr/>
        </p:nvSpPr>
        <p:spPr>
          <a:xfrm>
            <a:off x="368280" y="3855960"/>
            <a:ext cx="2890440" cy="22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parent[0]=-1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parent[1]=-1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parent[2]=-1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parent[3]=2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parent[4]=1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parent[5]=</a:t>
            </a:r>
            <a:r>
              <a:rPr b="1" lang="en-US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384" name="Shape 3750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3385" name="Shape 3751" descr=""/>
          <p:cNvPicPr/>
          <p:nvPr/>
        </p:nvPicPr>
        <p:blipFill>
          <a:blip r:embed="rId1"/>
          <a:stretch/>
        </p:blipFill>
        <p:spPr>
          <a:xfrm>
            <a:off x="285840" y="1270080"/>
            <a:ext cx="2452320" cy="2198160"/>
          </a:xfrm>
          <a:prstGeom prst="rect">
            <a:avLst/>
          </a:prstGeom>
          <a:ln w="28575">
            <a:solidFill>
              <a:srgbClr val="3333cc"/>
            </a:solidFill>
            <a:miter/>
          </a:ln>
        </p:spPr>
      </p:pic>
      <p:grpSp>
        <p:nvGrpSpPr>
          <p:cNvPr id="3386" name="Shape 3752"/>
          <p:cNvGrpSpPr/>
          <p:nvPr/>
        </p:nvGrpSpPr>
        <p:grpSpPr>
          <a:xfrm>
            <a:off x="6149880" y="3295800"/>
            <a:ext cx="529920" cy="595080"/>
            <a:chOff x="6149880" y="3295800"/>
            <a:chExt cx="529920" cy="595080"/>
          </a:xfrm>
        </p:grpSpPr>
        <p:sp>
          <p:nvSpPr>
            <p:cNvPr id="3387" name="Shape 3753"/>
            <p:cNvSpPr/>
            <p:nvPr/>
          </p:nvSpPr>
          <p:spPr>
            <a:xfrm>
              <a:off x="6149880" y="3344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88" name="Shape 3754"/>
            <p:cNvSpPr/>
            <p:nvPr/>
          </p:nvSpPr>
          <p:spPr>
            <a:xfrm>
              <a:off x="6216480" y="32958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389" name="Shape 3755"/>
          <p:cNvGrpSpPr/>
          <p:nvPr/>
        </p:nvGrpSpPr>
        <p:grpSpPr>
          <a:xfrm>
            <a:off x="4842000" y="3048120"/>
            <a:ext cx="529920" cy="595080"/>
            <a:chOff x="4842000" y="3048120"/>
            <a:chExt cx="529920" cy="595080"/>
          </a:xfrm>
        </p:grpSpPr>
        <p:sp>
          <p:nvSpPr>
            <p:cNvPr id="3390" name="Shape 3756"/>
            <p:cNvSpPr/>
            <p:nvPr/>
          </p:nvSpPr>
          <p:spPr>
            <a:xfrm>
              <a:off x="4842000" y="3097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91" name="Shape 3757"/>
            <p:cNvSpPr/>
            <p:nvPr/>
          </p:nvSpPr>
          <p:spPr>
            <a:xfrm>
              <a:off x="4908600" y="30481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0000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392" name="Shape 3758"/>
          <p:cNvGrpSpPr/>
          <p:nvPr/>
        </p:nvGrpSpPr>
        <p:grpSpPr>
          <a:xfrm>
            <a:off x="7453440" y="3019320"/>
            <a:ext cx="529920" cy="595080"/>
            <a:chOff x="7453440" y="3019320"/>
            <a:chExt cx="529920" cy="595080"/>
          </a:xfrm>
        </p:grpSpPr>
        <p:sp>
          <p:nvSpPr>
            <p:cNvPr id="3393" name="Shape 3759"/>
            <p:cNvSpPr/>
            <p:nvPr/>
          </p:nvSpPr>
          <p:spPr>
            <a:xfrm>
              <a:off x="7453440" y="3068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94" name="Shape 3760"/>
            <p:cNvSpPr/>
            <p:nvPr/>
          </p:nvSpPr>
          <p:spPr>
            <a:xfrm>
              <a:off x="7520040" y="3019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395" name="Shape 3761"/>
          <p:cNvGrpSpPr/>
          <p:nvPr/>
        </p:nvGrpSpPr>
        <p:grpSpPr>
          <a:xfrm>
            <a:off x="6959520" y="4599000"/>
            <a:ext cx="529920" cy="595080"/>
            <a:chOff x="6959520" y="4599000"/>
            <a:chExt cx="529920" cy="595080"/>
          </a:xfrm>
        </p:grpSpPr>
        <p:sp>
          <p:nvSpPr>
            <p:cNvPr id="3396" name="Shape 3762"/>
            <p:cNvSpPr/>
            <p:nvPr/>
          </p:nvSpPr>
          <p:spPr>
            <a:xfrm>
              <a:off x="6959520" y="464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97" name="Shape 3763"/>
            <p:cNvSpPr/>
            <p:nvPr/>
          </p:nvSpPr>
          <p:spPr>
            <a:xfrm>
              <a:off x="7026120" y="459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398" name="Shape 3764"/>
          <p:cNvGrpSpPr/>
          <p:nvPr/>
        </p:nvGrpSpPr>
        <p:grpSpPr>
          <a:xfrm>
            <a:off x="5216400" y="4572000"/>
            <a:ext cx="530280" cy="595080"/>
            <a:chOff x="5216400" y="4572000"/>
            <a:chExt cx="530280" cy="595080"/>
          </a:xfrm>
        </p:grpSpPr>
        <p:sp>
          <p:nvSpPr>
            <p:cNvPr id="3399" name="Shape 3765"/>
            <p:cNvSpPr/>
            <p:nvPr/>
          </p:nvSpPr>
          <p:spPr>
            <a:xfrm>
              <a:off x="5216400" y="4621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00" name="Shape 3766"/>
            <p:cNvSpPr/>
            <p:nvPr/>
          </p:nvSpPr>
          <p:spPr>
            <a:xfrm>
              <a:off x="5283360" y="4572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401" name="Shape 3767"/>
          <p:cNvSpPr/>
          <p:nvPr/>
        </p:nvSpPr>
        <p:spPr>
          <a:xfrm>
            <a:off x="5711760" y="4883040"/>
            <a:ext cx="124092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402" name="Shape 3768"/>
          <p:cNvSpPr/>
          <p:nvPr/>
        </p:nvSpPr>
        <p:spPr>
          <a:xfrm>
            <a:off x="6037200" y="4921200"/>
            <a:ext cx="60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03" name="Shape 3769"/>
          <p:cNvSpPr/>
          <p:nvPr/>
        </p:nvSpPr>
        <p:spPr>
          <a:xfrm>
            <a:off x="6496200" y="2446200"/>
            <a:ext cx="1037880" cy="69804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404" name="Shape 3770"/>
          <p:cNvSpPr/>
          <p:nvPr/>
        </p:nvSpPr>
        <p:spPr>
          <a:xfrm>
            <a:off x="6951600" y="2309760"/>
            <a:ext cx="60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05" name="Shape 3771"/>
          <p:cNvSpPr/>
          <p:nvPr/>
        </p:nvSpPr>
        <p:spPr>
          <a:xfrm rot="10800000">
            <a:off x="5270760" y="3376800"/>
            <a:ext cx="875880" cy="15840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406" name="Shape 3772"/>
          <p:cNvSpPr/>
          <p:nvPr/>
        </p:nvSpPr>
        <p:spPr>
          <a:xfrm>
            <a:off x="5514840" y="3006720"/>
            <a:ext cx="60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7" name="Shape 3777"/>
          <p:cNvGrpSpPr/>
          <p:nvPr/>
        </p:nvGrpSpPr>
        <p:grpSpPr>
          <a:xfrm>
            <a:off x="6032520" y="1989000"/>
            <a:ext cx="529920" cy="595080"/>
            <a:chOff x="6032520" y="1989000"/>
            <a:chExt cx="529920" cy="595080"/>
          </a:xfrm>
        </p:grpSpPr>
        <p:sp>
          <p:nvSpPr>
            <p:cNvPr id="3408" name="Shape 3778"/>
            <p:cNvSpPr/>
            <p:nvPr/>
          </p:nvSpPr>
          <p:spPr>
            <a:xfrm>
              <a:off x="6032520" y="203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09" name="Shape 3779"/>
            <p:cNvSpPr/>
            <p:nvPr/>
          </p:nvSpPr>
          <p:spPr>
            <a:xfrm>
              <a:off x="6099120" y="198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0000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410" name="Shape 3780"/>
          <p:cNvSpPr/>
          <p:nvPr/>
        </p:nvSpPr>
        <p:spPr>
          <a:xfrm>
            <a:off x="368280" y="3855960"/>
            <a:ext cx="2890440" cy="22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parent[0]=</a:t>
            </a:r>
            <a:r>
              <a:rPr b="1" lang="en-US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2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parent[1]=-1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parent[2]=-1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parent[3]=2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parent[4]=1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parent[5]=0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11" name="Shape 3781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3412" name="Shape 3782" descr=""/>
          <p:cNvPicPr/>
          <p:nvPr/>
        </p:nvPicPr>
        <p:blipFill>
          <a:blip r:embed="rId1"/>
          <a:stretch/>
        </p:blipFill>
        <p:spPr>
          <a:xfrm>
            <a:off x="285840" y="1270080"/>
            <a:ext cx="2452320" cy="2198160"/>
          </a:xfrm>
          <a:prstGeom prst="rect">
            <a:avLst/>
          </a:prstGeom>
          <a:ln w="28575">
            <a:solidFill>
              <a:srgbClr val="3333cc"/>
            </a:solidFill>
            <a:miter/>
          </a:ln>
        </p:spPr>
      </p:pic>
      <p:grpSp>
        <p:nvGrpSpPr>
          <p:cNvPr id="3413" name="Shape 3783"/>
          <p:cNvGrpSpPr/>
          <p:nvPr/>
        </p:nvGrpSpPr>
        <p:grpSpPr>
          <a:xfrm>
            <a:off x="6149880" y="3295800"/>
            <a:ext cx="529920" cy="595080"/>
            <a:chOff x="6149880" y="3295800"/>
            <a:chExt cx="529920" cy="595080"/>
          </a:xfrm>
        </p:grpSpPr>
        <p:sp>
          <p:nvSpPr>
            <p:cNvPr id="3414" name="Shape 3784"/>
            <p:cNvSpPr/>
            <p:nvPr/>
          </p:nvSpPr>
          <p:spPr>
            <a:xfrm>
              <a:off x="6149880" y="3344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15" name="Shape 3785"/>
            <p:cNvSpPr/>
            <p:nvPr/>
          </p:nvSpPr>
          <p:spPr>
            <a:xfrm>
              <a:off x="6216480" y="32958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416" name="Shape 3786"/>
          <p:cNvGrpSpPr/>
          <p:nvPr/>
        </p:nvGrpSpPr>
        <p:grpSpPr>
          <a:xfrm>
            <a:off x="4842000" y="3048120"/>
            <a:ext cx="529920" cy="595080"/>
            <a:chOff x="4842000" y="3048120"/>
            <a:chExt cx="529920" cy="595080"/>
          </a:xfrm>
        </p:grpSpPr>
        <p:sp>
          <p:nvSpPr>
            <p:cNvPr id="3417" name="Shape 3787"/>
            <p:cNvSpPr/>
            <p:nvPr/>
          </p:nvSpPr>
          <p:spPr>
            <a:xfrm>
              <a:off x="4842000" y="3097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18" name="Shape 3788"/>
            <p:cNvSpPr/>
            <p:nvPr/>
          </p:nvSpPr>
          <p:spPr>
            <a:xfrm>
              <a:off x="4908600" y="30481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419" name="Shape 3789"/>
          <p:cNvGrpSpPr/>
          <p:nvPr/>
        </p:nvGrpSpPr>
        <p:grpSpPr>
          <a:xfrm>
            <a:off x="7453440" y="3019320"/>
            <a:ext cx="529920" cy="595080"/>
            <a:chOff x="7453440" y="3019320"/>
            <a:chExt cx="529920" cy="595080"/>
          </a:xfrm>
        </p:grpSpPr>
        <p:sp>
          <p:nvSpPr>
            <p:cNvPr id="3420" name="Shape 3790"/>
            <p:cNvSpPr/>
            <p:nvPr/>
          </p:nvSpPr>
          <p:spPr>
            <a:xfrm>
              <a:off x="7453440" y="3068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21" name="Shape 3791"/>
            <p:cNvSpPr/>
            <p:nvPr/>
          </p:nvSpPr>
          <p:spPr>
            <a:xfrm>
              <a:off x="7520040" y="3019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422" name="Shape 3792"/>
          <p:cNvGrpSpPr/>
          <p:nvPr/>
        </p:nvGrpSpPr>
        <p:grpSpPr>
          <a:xfrm>
            <a:off x="6959520" y="4599000"/>
            <a:ext cx="529920" cy="595080"/>
            <a:chOff x="6959520" y="4599000"/>
            <a:chExt cx="529920" cy="595080"/>
          </a:xfrm>
        </p:grpSpPr>
        <p:sp>
          <p:nvSpPr>
            <p:cNvPr id="3423" name="Shape 3793"/>
            <p:cNvSpPr/>
            <p:nvPr/>
          </p:nvSpPr>
          <p:spPr>
            <a:xfrm>
              <a:off x="6959520" y="464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24" name="Shape 3794"/>
            <p:cNvSpPr/>
            <p:nvPr/>
          </p:nvSpPr>
          <p:spPr>
            <a:xfrm>
              <a:off x="7026120" y="459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425" name="Shape 3795"/>
          <p:cNvGrpSpPr/>
          <p:nvPr/>
        </p:nvGrpSpPr>
        <p:grpSpPr>
          <a:xfrm>
            <a:off x="5216400" y="4572000"/>
            <a:ext cx="530280" cy="595080"/>
            <a:chOff x="5216400" y="4572000"/>
            <a:chExt cx="530280" cy="595080"/>
          </a:xfrm>
        </p:grpSpPr>
        <p:sp>
          <p:nvSpPr>
            <p:cNvPr id="3426" name="Shape 3796"/>
            <p:cNvSpPr/>
            <p:nvPr/>
          </p:nvSpPr>
          <p:spPr>
            <a:xfrm>
              <a:off x="5216400" y="4621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27" name="Shape 3797"/>
            <p:cNvSpPr/>
            <p:nvPr/>
          </p:nvSpPr>
          <p:spPr>
            <a:xfrm>
              <a:off x="5283360" y="4572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428" name="Shape 3798"/>
          <p:cNvSpPr/>
          <p:nvPr/>
        </p:nvSpPr>
        <p:spPr>
          <a:xfrm>
            <a:off x="5711760" y="4883040"/>
            <a:ext cx="124092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429" name="Shape 3799"/>
          <p:cNvSpPr/>
          <p:nvPr/>
        </p:nvSpPr>
        <p:spPr>
          <a:xfrm>
            <a:off x="6037200" y="4921200"/>
            <a:ext cx="60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30" name="Shape 3800"/>
          <p:cNvSpPr/>
          <p:nvPr/>
        </p:nvSpPr>
        <p:spPr>
          <a:xfrm>
            <a:off x="6496200" y="2446200"/>
            <a:ext cx="1037880" cy="69804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431" name="Shape 3801"/>
          <p:cNvSpPr/>
          <p:nvPr/>
        </p:nvSpPr>
        <p:spPr>
          <a:xfrm>
            <a:off x="6951600" y="2309760"/>
            <a:ext cx="60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32" name="Shape 3802"/>
          <p:cNvSpPr/>
          <p:nvPr/>
        </p:nvSpPr>
        <p:spPr>
          <a:xfrm rot="10800000">
            <a:off x="5270760" y="3376800"/>
            <a:ext cx="875880" cy="15840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433" name="Shape 3803"/>
          <p:cNvSpPr/>
          <p:nvPr/>
        </p:nvSpPr>
        <p:spPr>
          <a:xfrm>
            <a:off x="5514840" y="3006720"/>
            <a:ext cx="60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34" name="Shape 3804"/>
          <p:cNvSpPr/>
          <p:nvPr/>
        </p:nvSpPr>
        <p:spPr>
          <a:xfrm flipH="1" rot="10800000">
            <a:off x="5596200" y="3783240"/>
            <a:ext cx="647280" cy="86796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435" name="Shape 3805"/>
          <p:cNvSpPr/>
          <p:nvPr/>
        </p:nvSpPr>
        <p:spPr>
          <a:xfrm>
            <a:off x="5369040" y="3919680"/>
            <a:ext cx="60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6" name="Shape 3810"/>
          <p:cNvGrpSpPr/>
          <p:nvPr/>
        </p:nvGrpSpPr>
        <p:grpSpPr>
          <a:xfrm>
            <a:off x="6032520" y="1989000"/>
            <a:ext cx="529920" cy="595080"/>
            <a:chOff x="6032520" y="1989000"/>
            <a:chExt cx="529920" cy="595080"/>
          </a:xfrm>
        </p:grpSpPr>
        <p:sp>
          <p:nvSpPr>
            <p:cNvPr id="3437" name="Shape 3811"/>
            <p:cNvSpPr/>
            <p:nvPr/>
          </p:nvSpPr>
          <p:spPr>
            <a:xfrm>
              <a:off x="6032520" y="203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38" name="Shape 3812"/>
            <p:cNvSpPr/>
            <p:nvPr/>
          </p:nvSpPr>
          <p:spPr>
            <a:xfrm>
              <a:off x="6099120" y="198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0000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439" name="Shape 3813"/>
          <p:cNvSpPr/>
          <p:nvPr/>
        </p:nvSpPr>
        <p:spPr>
          <a:xfrm>
            <a:off x="368280" y="3855960"/>
            <a:ext cx="2890440" cy="22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parent[0]=2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parent[1]=-1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parent[2]=-1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parent[3]=2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parent[4]=1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parent[5]=0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40" name="Shape 3814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3441" name="Shape 3815" descr=""/>
          <p:cNvPicPr/>
          <p:nvPr/>
        </p:nvPicPr>
        <p:blipFill>
          <a:blip r:embed="rId1"/>
          <a:stretch/>
        </p:blipFill>
        <p:spPr>
          <a:xfrm>
            <a:off x="285840" y="1270080"/>
            <a:ext cx="2452320" cy="2198160"/>
          </a:xfrm>
          <a:prstGeom prst="rect">
            <a:avLst/>
          </a:prstGeom>
          <a:ln w="28575">
            <a:solidFill>
              <a:srgbClr val="3333cc"/>
            </a:solidFill>
            <a:miter/>
          </a:ln>
        </p:spPr>
      </p:pic>
      <p:grpSp>
        <p:nvGrpSpPr>
          <p:cNvPr id="3442" name="Shape 3816"/>
          <p:cNvGrpSpPr/>
          <p:nvPr/>
        </p:nvGrpSpPr>
        <p:grpSpPr>
          <a:xfrm>
            <a:off x="6149880" y="3295800"/>
            <a:ext cx="529920" cy="595080"/>
            <a:chOff x="6149880" y="3295800"/>
            <a:chExt cx="529920" cy="595080"/>
          </a:xfrm>
        </p:grpSpPr>
        <p:sp>
          <p:nvSpPr>
            <p:cNvPr id="3443" name="Shape 3817"/>
            <p:cNvSpPr/>
            <p:nvPr/>
          </p:nvSpPr>
          <p:spPr>
            <a:xfrm>
              <a:off x="6149880" y="3344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44" name="Shape 3818"/>
            <p:cNvSpPr/>
            <p:nvPr/>
          </p:nvSpPr>
          <p:spPr>
            <a:xfrm>
              <a:off x="6216480" y="32958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445" name="Shape 3819"/>
          <p:cNvGrpSpPr/>
          <p:nvPr/>
        </p:nvGrpSpPr>
        <p:grpSpPr>
          <a:xfrm>
            <a:off x="4842000" y="3048120"/>
            <a:ext cx="529920" cy="595080"/>
            <a:chOff x="4842000" y="3048120"/>
            <a:chExt cx="529920" cy="595080"/>
          </a:xfrm>
        </p:grpSpPr>
        <p:sp>
          <p:nvSpPr>
            <p:cNvPr id="3446" name="Shape 3820"/>
            <p:cNvSpPr/>
            <p:nvPr/>
          </p:nvSpPr>
          <p:spPr>
            <a:xfrm>
              <a:off x="4842000" y="3097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47" name="Shape 3821"/>
            <p:cNvSpPr/>
            <p:nvPr/>
          </p:nvSpPr>
          <p:spPr>
            <a:xfrm>
              <a:off x="4908600" y="30481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448" name="Shape 3822"/>
          <p:cNvGrpSpPr/>
          <p:nvPr/>
        </p:nvGrpSpPr>
        <p:grpSpPr>
          <a:xfrm>
            <a:off x="7453440" y="3019320"/>
            <a:ext cx="529920" cy="595080"/>
            <a:chOff x="7453440" y="3019320"/>
            <a:chExt cx="529920" cy="595080"/>
          </a:xfrm>
        </p:grpSpPr>
        <p:sp>
          <p:nvSpPr>
            <p:cNvPr id="3449" name="Shape 3823"/>
            <p:cNvSpPr/>
            <p:nvPr/>
          </p:nvSpPr>
          <p:spPr>
            <a:xfrm>
              <a:off x="7453440" y="3068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50" name="Shape 3824"/>
            <p:cNvSpPr/>
            <p:nvPr/>
          </p:nvSpPr>
          <p:spPr>
            <a:xfrm>
              <a:off x="7520040" y="3019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451" name="Shape 3825"/>
          <p:cNvGrpSpPr/>
          <p:nvPr/>
        </p:nvGrpSpPr>
        <p:grpSpPr>
          <a:xfrm>
            <a:off x="6959520" y="4599000"/>
            <a:ext cx="529920" cy="595080"/>
            <a:chOff x="6959520" y="4599000"/>
            <a:chExt cx="529920" cy="595080"/>
          </a:xfrm>
        </p:grpSpPr>
        <p:sp>
          <p:nvSpPr>
            <p:cNvPr id="3452" name="Shape 3826"/>
            <p:cNvSpPr/>
            <p:nvPr/>
          </p:nvSpPr>
          <p:spPr>
            <a:xfrm>
              <a:off x="6959520" y="464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53" name="Shape 3827"/>
            <p:cNvSpPr/>
            <p:nvPr/>
          </p:nvSpPr>
          <p:spPr>
            <a:xfrm>
              <a:off x="7026120" y="459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454" name="Shape 3828"/>
          <p:cNvGrpSpPr/>
          <p:nvPr/>
        </p:nvGrpSpPr>
        <p:grpSpPr>
          <a:xfrm>
            <a:off x="5216400" y="4572000"/>
            <a:ext cx="530280" cy="595080"/>
            <a:chOff x="5216400" y="4572000"/>
            <a:chExt cx="530280" cy="595080"/>
          </a:xfrm>
        </p:grpSpPr>
        <p:sp>
          <p:nvSpPr>
            <p:cNvPr id="3455" name="Shape 3829"/>
            <p:cNvSpPr/>
            <p:nvPr/>
          </p:nvSpPr>
          <p:spPr>
            <a:xfrm>
              <a:off x="5216400" y="4621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56" name="Shape 3830"/>
            <p:cNvSpPr/>
            <p:nvPr/>
          </p:nvSpPr>
          <p:spPr>
            <a:xfrm>
              <a:off x="5283360" y="4572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457" name="Shape 3831"/>
          <p:cNvSpPr/>
          <p:nvPr/>
        </p:nvSpPr>
        <p:spPr>
          <a:xfrm>
            <a:off x="5711760" y="4883040"/>
            <a:ext cx="124092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458" name="Shape 3832"/>
          <p:cNvSpPr/>
          <p:nvPr/>
        </p:nvSpPr>
        <p:spPr>
          <a:xfrm>
            <a:off x="6037200" y="4921200"/>
            <a:ext cx="60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59" name="Shape 3833"/>
          <p:cNvSpPr/>
          <p:nvPr/>
        </p:nvSpPr>
        <p:spPr>
          <a:xfrm>
            <a:off x="6496200" y="2446200"/>
            <a:ext cx="1037880" cy="69804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460" name="Shape 3834"/>
          <p:cNvSpPr/>
          <p:nvPr/>
        </p:nvSpPr>
        <p:spPr>
          <a:xfrm>
            <a:off x="6951600" y="2309760"/>
            <a:ext cx="60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61" name="Shape 3835"/>
          <p:cNvSpPr/>
          <p:nvPr/>
        </p:nvSpPr>
        <p:spPr>
          <a:xfrm rot="10800000">
            <a:off x="5270760" y="3376800"/>
            <a:ext cx="875880" cy="15840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462" name="Shape 3836"/>
          <p:cNvSpPr/>
          <p:nvPr/>
        </p:nvSpPr>
        <p:spPr>
          <a:xfrm>
            <a:off x="5514840" y="3006720"/>
            <a:ext cx="60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63" name="Shape 3837"/>
          <p:cNvSpPr/>
          <p:nvPr/>
        </p:nvSpPr>
        <p:spPr>
          <a:xfrm flipH="1" rot="10800000">
            <a:off x="5596200" y="3783240"/>
            <a:ext cx="647280" cy="86796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464" name="Shape 3838"/>
          <p:cNvSpPr/>
          <p:nvPr/>
        </p:nvSpPr>
        <p:spPr>
          <a:xfrm>
            <a:off x="5369040" y="3919680"/>
            <a:ext cx="60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65" name="Shape 3839"/>
          <p:cNvSpPr/>
          <p:nvPr/>
        </p:nvSpPr>
        <p:spPr>
          <a:xfrm>
            <a:off x="2224080" y="5305320"/>
            <a:ext cx="6629040" cy="1510920"/>
          </a:xfrm>
          <a:prstGeom prst="rect">
            <a:avLst/>
          </a:prstGeom>
          <a:noFill/>
          <a:ln w="28575">
            <a:solidFill>
              <a:srgbClr val="3333c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rIns="0" anchor="t">
            <a:noAutofit/>
          </a:bodyPr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考查边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，由于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parent[3]=2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parent[2]=-1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，则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所在生成树的根结点是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而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parent[5]=0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parent[0]=2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，则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所在生成树的根结点也是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，故舍去此边。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66" name="Shape 3840"/>
          <p:cNvSpPr/>
          <p:nvPr/>
        </p:nvSpPr>
        <p:spPr>
          <a:xfrm>
            <a:off x="6496200" y="3767040"/>
            <a:ext cx="631440" cy="90144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67" dur="indefinite" restart="never" nodeType="tmRoot">
          <p:childTnLst>
            <p:seq>
              <p:cTn id="968" dur="indefinite" nodeType="mainSeq">
                <p:childTnLst>
                  <p:par>
                    <p:cTn id="969" fill="hold">
                      <p:stCondLst>
                        <p:cond delay="indefinite"/>
                      </p:stCondLst>
                      <p:childTnLst>
                        <p:par>
                          <p:cTn id="970" fill="hold">
                            <p:stCondLst>
                              <p:cond delay="0"/>
                            </p:stCondLst>
                            <p:childTnLst>
                              <p:par>
                                <p:cTn id="97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3" dur="500"/>
                                        <p:tgtEl>
                                          <p:spTgt spid="3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7" name="Shape 3845"/>
          <p:cNvGrpSpPr/>
          <p:nvPr/>
        </p:nvGrpSpPr>
        <p:grpSpPr>
          <a:xfrm>
            <a:off x="6032520" y="1989000"/>
            <a:ext cx="529920" cy="595080"/>
            <a:chOff x="6032520" y="1989000"/>
            <a:chExt cx="529920" cy="595080"/>
          </a:xfrm>
        </p:grpSpPr>
        <p:sp>
          <p:nvSpPr>
            <p:cNvPr id="3468" name="Shape 3846"/>
            <p:cNvSpPr/>
            <p:nvPr/>
          </p:nvSpPr>
          <p:spPr>
            <a:xfrm>
              <a:off x="6032520" y="203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69" name="Shape 3847"/>
            <p:cNvSpPr/>
            <p:nvPr/>
          </p:nvSpPr>
          <p:spPr>
            <a:xfrm>
              <a:off x="6099120" y="198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0000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470" name="Shape 3848"/>
          <p:cNvSpPr/>
          <p:nvPr/>
        </p:nvSpPr>
        <p:spPr>
          <a:xfrm>
            <a:off x="368280" y="3855960"/>
            <a:ext cx="2890440" cy="22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parent[0]=2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parent[1]=-1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parent[2]=</a:t>
            </a:r>
            <a:r>
              <a:rPr b="1" lang="en-US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parent[3]=2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parent[4]=1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parent[5]=0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71" name="Shape 3849"/>
          <p:cNvSpPr/>
          <p:nvPr/>
        </p:nvSpPr>
        <p:spPr>
          <a:xfrm>
            <a:off x="2473200" y="395280"/>
            <a:ext cx="42987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6.3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最小生成树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3472" name="Shape 3850" descr=""/>
          <p:cNvPicPr/>
          <p:nvPr/>
        </p:nvPicPr>
        <p:blipFill>
          <a:blip r:embed="rId1"/>
          <a:stretch/>
        </p:blipFill>
        <p:spPr>
          <a:xfrm>
            <a:off x="285840" y="1270080"/>
            <a:ext cx="2452320" cy="2198160"/>
          </a:xfrm>
          <a:prstGeom prst="rect">
            <a:avLst/>
          </a:prstGeom>
          <a:ln w="28575">
            <a:solidFill>
              <a:srgbClr val="3333cc"/>
            </a:solidFill>
            <a:miter/>
          </a:ln>
        </p:spPr>
      </p:pic>
      <p:grpSp>
        <p:nvGrpSpPr>
          <p:cNvPr id="3473" name="Shape 3851"/>
          <p:cNvGrpSpPr/>
          <p:nvPr/>
        </p:nvGrpSpPr>
        <p:grpSpPr>
          <a:xfrm>
            <a:off x="6149880" y="3295800"/>
            <a:ext cx="529920" cy="595080"/>
            <a:chOff x="6149880" y="3295800"/>
            <a:chExt cx="529920" cy="595080"/>
          </a:xfrm>
        </p:grpSpPr>
        <p:sp>
          <p:nvSpPr>
            <p:cNvPr id="3474" name="Shape 3852"/>
            <p:cNvSpPr/>
            <p:nvPr/>
          </p:nvSpPr>
          <p:spPr>
            <a:xfrm>
              <a:off x="6149880" y="3344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75" name="Shape 3853"/>
            <p:cNvSpPr/>
            <p:nvPr/>
          </p:nvSpPr>
          <p:spPr>
            <a:xfrm>
              <a:off x="6216480" y="32958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476" name="Shape 3854"/>
          <p:cNvGrpSpPr/>
          <p:nvPr/>
        </p:nvGrpSpPr>
        <p:grpSpPr>
          <a:xfrm>
            <a:off x="4842000" y="3048120"/>
            <a:ext cx="529920" cy="595080"/>
            <a:chOff x="4842000" y="3048120"/>
            <a:chExt cx="529920" cy="595080"/>
          </a:xfrm>
        </p:grpSpPr>
        <p:sp>
          <p:nvSpPr>
            <p:cNvPr id="3477" name="Shape 3855"/>
            <p:cNvSpPr/>
            <p:nvPr/>
          </p:nvSpPr>
          <p:spPr>
            <a:xfrm>
              <a:off x="4842000" y="3097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78" name="Shape 3856"/>
            <p:cNvSpPr/>
            <p:nvPr/>
          </p:nvSpPr>
          <p:spPr>
            <a:xfrm>
              <a:off x="4908600" y="30481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479" name="Shape 3857"/>
          <p:cNvGrpSpPr/>
          <p:nvPr/>
        </p:nvGrpSpPr>
        <p:grpSpPr>
          <a:xfrm>
            <a:off x="7453440" y="3019320"/>
            <a:ext cx="529920" cy="595080"/>
            <a:chOff x="7453440" y="3019320"/>
            <a:chExt cx="529920" cy="595080"/>
          </a:xfrm>
        </p:grpSpPr>
        <p:sp>
          <p:nvSpPr>
            <p:cNvPr id="3480" name="Shape 3858"/>
            <p:cNvSpPr/>
            <p:nvPr/>
          </p:nvSpPr>
          <p:spPr>
            <a:xfrm>
              <a:off x="7453440" y="3068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81" name="Shape 3859"/>
            <p:cNvSpPr/>
            <p:nvPr/>
          </p:nvSpPr>
          <p:spPr>
            <a:xfrm>
              <a:off x="7520040" y="3019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482" name="Shape 3860"/>
          <p:cNvGrpSpPr/>
          <p:nvPr/>
        </p:nvGrpSpPr>
        <p:grpSpPr>
          <a:xfrm>
            <a:off x="6959520" y="4599000"/>
            <a:ext cx="529920" cy="595080"/>
            <a:chOff x="6959520" y="4599000"/>
            <a:chExt cx="529920" cy="595080"/>
          </a:xfrm>
        </p:grpSpPr>
        <p:sp>
          <p:nvSpPr>
            <p:cNvPr id="3483" name="Shape 3861"/>
            <p:cNvSpPr/>
            <p:nvPr/>
          </p:nvSpPr>
          <p:spPr>
            <a:xfrm>
              <a:off x="6959520" y="4648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84" name="Shape 3862"/>
            <p:cNvSpPr/>
            <p:nvPr/>
          </p:nvSpPr>
          <p:spPr>
            <a:xfrm>
              <a:off x="7026120" y="4599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485" name="Shape 3863"/>
          <p:cNvGrpSpPr/>
          <p:nvPr/>
        </p:nvGrpSpPr>
        <p:grpSpPr>
          <a:xfrm>
            <a:off x="5216400" y="4572000"/>
            <a:ext cx="530280" cy="595080"/>
            <a:chOff x="5216400" y="4572000"/>
            <a:chExt cx="530280" cy="595080"/>
          </a:xfrm>
        </p:grpSpPr>
        <p:sp>
          <p:nvSpPr>
            <p:cNvPr id="3486" name="Shape 3864"/>
            <p:cNvSpPr/>
            <p:nvPr/>
          </p:nvSpPr>
          <p:spPr>
            <a:xfrm>
              <a:off x="5216400" y="4621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87" name="Shape 3865"/>
            <p:cNvSpPr/>
            <p:nvPr/>
          </p:nvSpPr>
          <p:spPr>
            <a:xfrm>
              <a:off x="5283360" y="4572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488" name="Shape 3866"/>
          <p:cNvSpPr/>
          <p:nvPr/>
        </p:nvSpPr>
        <p:spPr>
          <a:xfrm>
            <a:off x="5711760" y="4883040"/>
            <a:ext cx="124092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489" name="Shape 3867"/>
          <p:cNvSpPr/>
          <p:nvPr/>
        </p:nvSpPr>
        <p:spPr>
          <a:xfrm>
            <a:off x="6037200" y="4921200"/>
            <a:ext cx="60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90" name="Shape 3868"/>
          <p:cNvSpPr/>
          <p:nvPr/>
        </p:nvSpPr>
        <p:spPr>
          <a:xfrm>
            <a:off x="6496200" y="2446200"/>
            <a:ext cx="1037880" cy="69804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491" name="Shape 3869"/>
          <p:cNvSpPr/>
          <p:nvPr/>
        </p:nvSpPr>
        <p:spPr>
          <a:xfrm>
            <a:off x="6951600" y="2309760"/>
            <a:ext cx="60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92" name="Shape 3870"/>
          <p:cNvSpPr/>
          <p:nvPr/>
        </p:nvSpPr>
        <p:spPr>
          <a:xfrm rot="10800000">
            <a:off x="5270760" y="3376800"/>
            <a:ext cx="875880" cy="15840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493" name="Shape 3871"/>
          <p:cNvSpPr/>
          <p:nvPr/>
        </p:nvSpPr>
        <p:spPr>
          <a:xfrm>
            <a:off x="5514840" y="3006720"/>
            <a:ext cx="60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94" name="Shape 3872"/>
          <p:cNvSpPr/>
          <p:nvPr/>
        </p:nvSpPr>
        <p:spPr>
          <a:xfrm flipH="1" rot="10800000">
            <a:off x="5596200" y="3783240"/>
            <a:ext cx="647280" cy="86796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495" name="Shape 3873"/>
          <p:cNvSpPr/>
          <p:nvPr/>
        </p:nvSpPr>
        <p:spPr>
          <a:xfrm>
            <a:off x="5369040" y="3919680"/>
            <a:ext cx="60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96" name="Shape 3874"/>
          <p:cNvSpPr/>
          <p:nvPr/>
        </p:nvSpPr>
        <p:spPr>
          <a:xfrm flipH="1" rot="10800000">
            <a:off x="6625800" y="3360960"/>
            <a:ext cx="836280" cy="21564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497" name="Shape 3875"/>
          <p:cNvSpPr/>
          <p:nvPr/>
        </p:nvSpPr>
        <p:spPr>
          <a:xfrm>
            <a:off x="6689880" y="3035160"/>
            <a:ext cx="609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26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8" name="Shape 3880"/>
          <p:cNvSpPr/>
          <p:nvPr/>
        </p:nvSpPr>
        <p:spPr>
          <a:xfrm>
            <a:off x="384120" y="1965240"/>
            <a:ext cx="828792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在非网图中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，最短路径是指两顶点之间经历的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边数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最少的路径。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499" name="Shape 3881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500" name="Shape 3882"/>
          <p:cNvSpPr/>
          <p:nvPr/>
        </p:nvSpPr>
        <p:spPr>
          <a:xfrm>
            <a:off x="380880" y="1333440"/>
            <a:ext cx="5257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r>
              <a:rPr b="0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3501" name="Shape 3883"/>
          <p:cNvGrpSpPr/>
          <p:nvPr/>
        </p:nvGrpSpPr>
        <p:grpSpPr>
          <a:xfrm>
            <a:off x="352440" y="3016080"/>
            <a:ext cx="3808080" cy="3384360"/>
            <a:chOff x="352440" y="3016080"/>
            <a:chExt cx="3808080" cy="3384360"/>
          </a:xfrm>
        </p:grpSpPr>
        <p:sp>
          <p:nvSpPr>
            <p:cNvPr id="3502" name="Shape 3884"/>
            <p:cNvSpPr/>
            <p:nvPr/>
          </p:nvSpPr>
          <p:spPr>
            <a:xfrm>
              <a:off x="773280" y="3375000"/>
              <a:ext cx="1298160" cy="748800"/>
            </a:xfrm>
            <a:custGeom>
              <a:avLst/>
              <a:gdLst/>
              <a:ahLst/>
              <a:rect l="l" t="t" r="r" b="b"/>
              <a:pathLst>
                <a:path w="735" h="420">
                  <a:moveTo>
                    <a:pt x="0" y="420"/>
                  </a:moveTo>
                  <a:lnTo>
                    <a:pt x="735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03" name="Shape 3885"/>
            <p:cNvSpPr/>
            <p:nvPr/>
          </p:nvSpPr>
          <p:spPr>
            <a:xfrm>
              <a:off x="1566720" y="6066000"/>
              <a:ext cx="1233000" cy="1080"/>
            </a:xfrm>
            <a:custGeom>
              <a:avLst/>
              <a:gdLst/>
              <a:ahLst/>
              <a:rect l="l" t="t" r="r" b="b"/>
              <a:pathLst>
                <a:path w="636" h="7">
                  <a:moveTo>
                    <a:pt x="636" y="7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04" name="Shape 3886"/>
            <p:cNvSpPr/>
            <p:nvPr/>
          </p:nvSpPr>
          <p:spPr>
            <a:xfrm>
              <a:off x="1473120" y="4351320"/>
              <a:ext cx="2153880" cy="1503000"/>
            </a:xfrm>
            <a:custGeom>
              <a:avLst/>
              <a:gdLst/>
              <a:ahLst/>
              <a:rect l="l" t="t" r="r" b="b"/>
              <a:pathLst>
                <a:path w="1170" h="840">
                  <a:moveTo>
                    <a:pt x="1170" y="0"/>
                  </a:moveTo>
                  <a:lnTo>
                    <a:pt x="0" y="84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05" name="Shape 3887"/>
            <p:cNvSpPr/>
            <p:nvPr/>
          </p:nvSpPr>
          <p:spPr>
            <a:xfrm>
              <a:off x="2527200" y="3390840"/>
              <a:ext cx="1153800" cy="736200"/>
            </a:xfrm>
            <a:custGeom>
              <a:avLst/>
              <a:gdLst/>
              <a:ahLst/>
              <a:rect l="l" t="t" r="r" b="b"/>
              <a:pathLst>
                <a:path w="600" h="430">
                  <a:moveTo>
                    <a:pt x="0" y="0"/>
                  </a:moveTo>
                  <a:lnTo>
                    <a:pt x="600" y="43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06" name="Shape 3888"/>
            <p:cNvSpPr/>
            <p:nvPr/>
          </p:nvSpPr>
          <p:spPr>
            <a:xfrm>
              <a:off x="846000" y="4367160"/>
              <a:ext cx="2074680" cy="1523520"/>
            </a:xfrm>
            <a:custGeom>
              <a:avLst/>
              <a:gdLst/>
              <a:ahLst/>
              <a:rect l="l" t="t" r="r" b="b"/>
              <a:pathLst>
                <a:path w="1110" h="870">
                  <a:moveTo>
                    <a:pt x="0" y="0"/>
                  </a:moveTo>
                  <a:lnTo>
                    <a:pt x="1110" y="87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07" name="Shape 3889"/>
            <p:cNvSpPr/>
            <p:nvPr/>
          </p:nvSpPr>
          <p:spPr>
            <a:xfrm>
              <a:off x="3165480" y="4508640"/>
              <a:ext cx="622080" cy="1398240"/>
            </a:xfrm>
            <a:custGeom>
              <a:avLst/>
              <a:gdLst/>
              <a:ahLst/>
              <a:rect l="l" t="t" r="r" b="b"/>
              <a:pathLst>
                <a:path w="300" h="825">
                  <a:moveTo>
                    <a:pt x="0" y="825"/>
                  </a:moveTo>
                  <a:lnTo>
                    <a:pt x="3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08" name="Shape 3890"/>
            <p:cNvSpPr/>
            <p:nvPr/>
          </p:nvSpPr>
          <p:spPr>
            <a:xfrm>
              <a:off x="695160" y="4506840"/>
              <a:ext cx="577440" cy="1326960"/>
            </a:xfrm>
            <a:custGeom>
              <a:avLst/>
              <a:gdLst/>
              <a:ahLst/>
              <a:rect l="l" t="t" r="r" b="b"/>
              <a:pathLst>
                <a:path w="309" h="758">
                  <a:moveTo>
                    <a:pt x="0" y="0"/>
                  </a:moveTo>
                  <a:lnTo>
                    <a:pt x="309" y="758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3509" name="Shape 3891"/>
            <p:cNvGrpSpPr/>
            <p:nvPr/>
          </p:nvGrpSpPr>
          <p:grpSpPr>
            <a:xfrm>
              <a:off x="2073240" y="3016080"/>
              <a:ext cx="529920" cy="595080"/>
              <a:chOff x="2073240" y="3016080"/>
              <a:chExt cx="529920" cy="595080"/>
            </a:xfrm>
          </p:grpSpPr>
          <p:sp>
            <p:nvSpPr>
              <p:cNvPr id="3510" name="Shape 3892"/>
              <p:cNvSpPr/>
              <p:nvPr/>
            </p:nvSpPr>
            <p:spPr>
              <a:xfrm>
                <a:off x="2073240" y="30654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11" name="Shape 3893"/>
              <p:cNvSpPr/>
              <p:nvPr/>
            </p:nvSpPr>
            <p:spPr>
              <a:xfrm>
                <a:off x="2139840" y="30160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54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B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3512" name="Shape 3894"/>
            <p:cNvGrpSpPr/>
            <p:nvPr/>
          </p:nvGrpSpPr>
          <p:grpSpPr>
            <a:xfrm>
              <a:off x="352440" y="3992400"/>
              <a:ext cx="529920" cy="595080"/>
              <a:chOff x="352440" y="3992400"/>
              <a:chExt cx="529920" cy="595080"/>
            </a:xfrm>
          </p:grpSpPr>
          <p:sp>
            <p:nvSpPr>
              <p:cNvPr id="3513" name="Shape 3895"/>
              <p:cNvSpPr/>
              <p:nvPr/>
            </p:nvSpPr>
            <p:spPr>
              <a:xfrm>
                <a:off x="352440" y="404172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14" name="Shape 3896"/>
              <p:cNvSpPr/>
              <p:nvPr/>
            </p:nvSpPr>
            <p:spPr>
              <a:xfrm>
                <a:off x="419040" y="399240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54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A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3515" name="Shape 3897"/>
            <p:cNvGrpSpPr/>
            <p:nvPr/>
          </p:nvGrpSpPr>
          <p:grpSpPr>
            <a:xfrm>
              <a:off x="1069920" y="5761080"/>
              <a:ext cx="529920" cy="595080"/>
              <a:chOff x="1069920" y="5761080"/>
              <a:chExt cx="529920" cy="595080"/>
            </a:xfrm>
          </p:grpSpPr>
          <p:sp>
            <p:nvSpPr>
              <p:cNvPr id="3516" name="Shape 3898"/>
              <p:cNvSpPr/>
              <p:nvPr/>
            </p:nvSpPr>
            <p:spPr>
              <a:xfrm>
                <a:off x="1069920" y="58104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17" name="Shape 3899"/>
              <p:cNvSpPr/>
              <p:nvPr/>
            </p:nvSpPr>
            <p:spPr>
              <a:xfrm>
                <a:off x="1136520" y="57610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54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E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3518" name="Shape 3900"/>
            <p:cNvGrpSpPr/>
            <p:nvPr/>
          </p:nvGrpSpPr>
          <p:grpSpPr>
            <a:xfrm>
              <a:off x="2792520" y="5805360"/>
              <a:ext cx="529920" cy="595080"/>
              <a:chOff x="2792520" y="5805360"/>
              <a:chExt cx="529920" cy="595080"/>
            </a:xfrm>
          </p:grpSpPr>
          <p:sp>
            <p:nvSpPr>
              <p:cNvPr id="3519" name="Shape 3901"/>
              <p:cNvSpPr/>
              <p:nvPr/>
            </p:nvSpPr>
            <p:spPr>
              <a:xfrm>
                <a:off x="2792520" y="585468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20" name="Shape 3902"/>
              <p:cNvSpPr/>
              <p:nvPr/>
            </p:nvSpPr>
            <p:spPr>
              <a:xfrm>
                <a:off x="2859120" y="580536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54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D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3521" name="Shape 3903"/>
            <p:cNvGrpSpPr/>
            <p:nvPr/>
          </p:nvGrpSpPr>
          <p:grpSpPr>
            <a:xfrm>
              <a:off x="3630600" y="3976560"/>
              <a:ext cx="529920" cy="595080"/>
              <a:chOff x="3630600" y="3976560"/>
              <a:chExt cx="529920" cy="595080"/>
            </a:xfrm>
          </p:grpSpPr>
          <p:sp>
            <p:nvSpPr>
              <p:cNvPr id="3522" name="Shape 3904"/>
              <p:cNvSpPr/>
              <p:nvPr/>
            </p:nvSpPr>
            <p:spPr>
              <a:xfrm>
                <a:off x="3630600" y="402588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23" name="Shape 3905"/>
              <p:cNvSpPr/>
              <p:nvPr/>
            </p:nvSpPr>
            <p:spPr>
              <a:xfrm>
                <a:off x="3697200" y="397656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54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sp>
        <p:nvSpPr>
          <p:cNvPr id="3524" name="Shape 3906"/>
          <p:cNvSpPr/>
          <p:nvPr/>
        </p:nvSpPr>
        <p:spPr>
          <a:xfrm>
            <a:off x="4583160" y="3733920"/>
            <a:ext cx="374940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AE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ADE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ADCE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ABCE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525" name="Shape 3907"/>
          <p:cNvSpPr/>
          <p:nvPr/>
        </p:nvSpPr>
        <p:spPr>
          <a:xfrm>
            <a:off x="4632480" y="4189320"/>
            <a:ext cx="1066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74" dur="indefinite" restart="never" nodeType="tmRoot">
          <p:childTnLst>
            <p:seq>
              <p:cTn id="975" dur="indefinite" nodeType="mainSeq">
                <p:childTnLst>
                  <p:par>
                    <p:cTn id="976" fill="hold">
                      <p:stCondLst>
                        <p:cond delay="indefinite"/>
                      </p:stCondLst>
                      <p:childTnLst>
                        <p:par>
                          <p:cTn id="977" fill="hold">
                            <p:stCondLst>
                              <p:cond delay="0"/>
                            </p:stCondLst>
                            <p:childTnLst>
                              <p:par>
                                <p:cTn id="97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0" fill="hold">
                      <p:stCondLst>
                        <p:cond delay="indefinite"/>
                      </p:stCondLst>
                      <p:childTnLst>
                        <p:par>
                          <p:cTn id="981" fill="hold">
                            <p:stCondLst>
                              <p:cond delay="0"/>
                            </p:stCondLst>
                            <p:childTnLst>
                              <p:par>
                                <p:cTn id="9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4" dur="500"/>
                                        <p:tgtEl>
                                          <p:spTgt spid="3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6" name="Shape 3912"/>
          <p:cNvSpPr/>
          <p:nvPr/>
        </p:nvSpPr>
        <p:spPr>
          <a:xfrm>
            <a:off x="380880" y="1333440"/>
            <a:ext cx="5257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r>
              <a:rPr b="0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527" name="Shape 3913"/>
          <p:cNvSpPr/>
          <p:nvPr/>
        </p:nvSpPr>
        <p:spPr>
          <a:xfrm>
            <a:off x="441360" y="1965240"/>
            <a:ext cx="795456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在网图中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，最短路径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是指两顶点之间经历的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边上权值之和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最短的路径。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3528" name="Shape 3914"/>
          <p:cNvGrpSpPr/>
          <p:nvPr/>
        </p:nvGrpSpPr>
        <p:grpSpPr>
          <a:xfrm>
            <a:off x="395280" y="2982960"/>
            <a:ext cx="3808080" cy="3598560"/>
            <a:chOff x="395280" y="2982960"/>
            <a:chExt cx="3808080" cy="3598560"/>
          </a:xfrm>
        </p:grpSpPr>
        <p:grpSp>
          <p:nvGrpSpPr>
            <p:cNvPr id="3529" name="Shape 3915"/>
            <p:cNvGrpSpPr/>
            <p:nvPr/>
          </p:nvGrpSpPr>
          <p:grpSpPr>
            <a:xfrm>
              <a:off x="395280" y="2982960"/>
              <a:ext cx="3808080" cy="3384360"/>
              <a:chOff x="395280" y="2982960"/>
              <a:chExt cx="3808080" cy="3384360"/>
            </a:xfrm>
          </p:grpSpPr>
          <p:sp>
            <p:nvSpPr>
              <p:cNvPr id="3530" name="Shape 3916"/>
              <p:cNvSpPr/>
              <p:nvPr/>
            </p:nvSpPr>
            <p:spPr>
              <a:xfrm>
                <a:off x="816120" y="3341520"/>
                <a:ext cx="1298160" cy="748800"/>
              </a:xfrm>
              <a:custGeom>
                <a:avLst/>
                <a:gdLst/>
                <a:ahLst/>
                <a:rect l="l" t="t" r="r" b="b"/>
                <a:pathLst>
                  <a:path w="735" h="420">
                    <a:moveTo>
                      <a:pt x="0" y="420"/>
                    </a:moveTo>
                    <a:lnTo>
                      <a:pt x="735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31" name="Shape 3917"/>
              <p:cNvSpPr/>
              <p:nvPr/>
            </p:nvSpPr>
            <p:spPr>
              <a:xfrm>
                <a:off x="1609560" y="6032520"/>
                <a:ext cx="1233000" cy="1080"/>
              </a:xfrm>
              <a:custGeom>
                <a:avLst/>
                <a:gdLst/>
                <a:ahLst/>
                <a:rect l="l" t="t" r="r" b="b"/>
                <a:pathLst>
                  <a:path w="636" h="7">
                    <a:moveTo>
                      <a:pt x="636" y="7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32" name="Shape 3918"/>
              <p:cNvSpPr/>
              <p:nvPr/>
            </p:nvSpPr>
            <p:spPr>
              <a:xfrm>
                <a:off x="1515960" y="4317840"/>
                <a:ext cx="2153880" cy="1503000"/>
              </a:xfrm>
              <a:custGeom>
                <a:avLst/>
                <a:gdLst/>
                <a:ahLst/>
                <a:rect l="l" t="t" r="r" b="b"/>
                <a:pathLst>
                  <a:path w="1170" h="840">
                    <a:moveTo>
                      <a:pt x="1170" y="0"/>
                    </a:moveTo>
                    <a:lnTo>
                      <a:pt x="0" y="84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33" name="Shape 3919"/>
              <p:cNvSpPr/>
              <p:nvPr/>
            </p:nvSpPr>
            <p:spPr>
              <a:xfrm>
                <a:off x="2570040" y="3357720"/>
                <a:ext cx="1153800" cy="736200"/>
              </a:xfrm>
              <a:custGeom>
                <a:avLst/>
                <a:gdLst/>
                <a:ahLst/>
                <a:rect l="l" t="t" r="r" b="b"/>
                <a:pathLst>
                  <a:path w="600" h="430">
                    <a:moveTo>
                      <a:pt x="0" y="0"/>
                    </a:moveTo>
                    <a:lnTo>
                      <a:pt x="600" y="43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34" name="Shape 3920"/>
              <p:cNvSpPr/>
              <p:nvPr/>
            </p:nvSpPr>
            <p:spPr>
              <a:xfrm>
                <a:off x="888840" y="4334040"/>
                <a:ext cx="2074680" cy="1523520"/>
              </a:xfrm>
              <a:custGeom>
                <a:avLst/>
                <a:gdLst/>
                <a:ahLst/>
                <a:rect l="l" t="t" r="r" b="b"/>
                <a:pathLst>
                  <a:path w="1110" h="870">
                    <a:moveTo>
                      <a:pt x="0" y="0"/>
                    </a:moveTo>
                    <a:lnTo>
                      <a:pt x="1110" y="87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35" name="Shape 3921"/>
              <p:cNvSpPr/>
              <p:nvPr/>
            </p:nvSpPr>
            <p:spPr>
              <a:xfrm>
                <a:off x="3208320" y="4475160"/>
                <a:ext cx="622080" cy="1398240"/>
              </a:xfrm>
              <a:custGeom>
                <a:avLst/>
                <a:gdLst/>
                <a:ahLst/>
                <a:rect l="l" t="t" r="r" b="b"/>
                <a:pathLst>
                  <a:path w="300" h="825">
                    <a:moveTo>
                      <a:pt x="0" y="825"/>
                    </a:moveTo>
                    <a:lnTo>
                      <a:pt x="300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36" name="Shape 3922"/>
              <p:cNvSpPr/>
              <p:nvPr/>
            </p:nvSpPr>
            <p:spPr>
              <a:xfrm>
                <a:off x="738360" y="4473720"/>
                <a:ext cx="577440" cy="1326960"/>
              </a:xfrm>
              <a:custGeom>
                <a:avLst/>
                <a:gdLst/>
                <a:ahLst/>
                <a:rect l="l" t="t" r="r" b="b"/>
                <a:pathLst>
                  <a:path w="309" h="758">
                    <a:moveTo>
                      <a:pt x="0" y="0"/>
                    </a:moveTo>
                    <a:lnTo>
                      <a:pt x="309" y="758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/>
                <a:tailEnd len="lg" type="stealth" w="lg"/>
              </a:ln>
            </p:spPr>
            <p:style>
              <a:lnRef idx="0"/>
              <a:fillRef idx="0"/>
              <a:effectRef idx="0"/>
              <a:fontRef idx="minor"/>
            </p:style>
          </p:sp>
          <p:grpSp>
            <p:nvGrpSpPr>
              <p:cNvPr id="3537" name="Shape 3923"/>
              <p:cNvGrpSpPr/>
              <p:nvPr/>
            </p:nvGrpSpPr>
            <p:grpSpPr>
              <a:xfrm>
                <a:off x="2116080" y="2982960"/>
                <a:ext cx="529920" cy="595080"/>
                <a:chOff x="2116080" y="2982960"/>
                <a:chExt cx="529920" cy="595080"/>
              </a:xfrm>
            </p:grpSpPr>
            <p:sp>
              <p:nvSpPr>
                <p:cNvPr id="3538" name="Shape 3924"/>
                <p:cNvSpPr/>
                <p:nvPr/>
              </p:nvSpPr>
              <p:spPr>
                <a:xfrm>
                  <a:off x="2116080" y="303228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539" name="Shape 3925"/>
                <p:cNvSpPr/>
                <p:nvPr/>
              </p:nvSpPr>
              <p:spPr>
                <a:xfrm>
                  <a:off x="2182680" y="298296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72000" rIns="0" tIns="540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B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</p:grpSp>
          <p:grpSp>
            <p:nvGrpSpPr>
              <p:cNvPr id="3540" name="Shape 3926"/>
              <p:cNvGrpSpPr/>
              <p:nvPr/>
            </p:nvGrpSpPr>
            <p:grpSpPr>
              <a:xfrm>
                <a:off x="395280" y="3959280"/>
                <a:ext cx="529920" cy="595080"/>
                <a:chOff x="395280" y="3959280"/>
                <a:chExt cx="529920" cy="595080"/>
              </a:xfrm>
            </p:grpSpPr>
            <p:sp>
              <p:nvSpPr>
                <p:cNvPr id="3541" name="Shape 3927"/>
                <p:cNvSpPr/>
                <p:nvPr/>
              </p:nvSpPr>
              <p:spPr>
                <a:xfrm>
                  <a:off x="395280" y="400860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542" name="Shape 3928"/>
                <p:cNvSpPr/>
                <p:nvPr/>
              </p:nvSpPr>
              <p:spPr>
                <a:xfrm>
                  <a:off x="461880" y="395928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72000" rIns="0" tIns="540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A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</p:grpSp>
          <p:grpSp>
            <p:nvGrpSpPr>
              <p:cNvPr id="3543" name="Shape 3929"/>
              <p:cNvGrpSpPr/>
              <p:nvPr/>
            </p:nvGrpSpPr>
            <p:grpSpPr>
              <a:xfrm>
                <a:off x="1112760" y="5727600"/>
                <a:ext cx="529920" cy="595080"/>
                <a:chOff x="1112760" y="5727600"/>
                <a:chExt cx="529920" cy="595080"/>
              </a:xfrm>
            </p:grpSpPr>
            <p:sp>
              <p:nvSpPr>
                <p:cNvPr id="3544" name="Shape 3930"/>
                <p:cNvSpPr/>
                <p:nvPr/>
              </p:nvSpPr>
              <p:spPr>
                <a:xfrm>
                  <a:off x="1112760" y="577692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545" name="Shape 3931"/>
                <p:cNvSpPr/>
                <p:nvPr/>
              </p:nvSpPr>
              <p:spPr>
                <a:xfrm>
                  <a:off x="1179360" y="572760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72000" rIns="0" tIns="540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E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</p:grpSp>
          <p:grpSp>
            <p:nvGrpSpPr>
              <p:cNvPr id="3546" name="Shape 3932"/>
              <p:cNvGrpSpPr/>
              <p:nvPr/>
            </p:nvGrpSpPr>
            <p:grpSpPr>
              <a:xfrm>
                <a:off x="2835360" y="5772240"/>
                <a:ext cx="529920" cy="595080"/>
                <a:chOff x="2835360" y="5772240"/>
                <a:chExt cx="529920" cy="595080"/>
              </a:xfrm>
            </p:grpSpPr>
            <p:sp>
              <p:nvSpPr>
                <p:cNvPr id="3547" name="Shape 3933"/>
                <p:cNvSpPr/>
                <p:nvPr/>
              </p:nvSpPr>
              <p:spPr>
                <a:xfrm>
                  <a:off x="2835360" y="582120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548" name="Shape 3934"/>
                <p:cNvSpPr/>
                <p:nvPr/>
              </p:nvSpPr>
              <p:spPr>
                <a:xfrm>
                  <a:off x="2901960" y="577224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72000" rIns="0" tIns="540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D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</p:grpSp>
          <p:grpSp>
            <p:nvGrpSpPr>
              <p:cNvPr id="3549" name="Shape 3935"/>
              <p:cNvGrpSpPr/>
              <p:nvPr/>
            </p:nvGrpSpPr>
            <p:grpSpPr>
              <a:xfrm>
                <a:off x="3673440" y="3943440"/>
                <a:ext cx="529920" cy="595080"/>
                <a:chOff x="3673440" y="3943440"/>
                <a:chExt cx="529920" cy="595080"/>
              </a:xfrm>
            </p:grpSpPr>
            <p:sp>
              <p:nvSpPr>
                <p:cNvPr id="3550" name="Shape 3936"/>
                <p:cNvSpPr/>
                <p:nvPr/>
              </p:nvSpPr>
              <p:spPr>
                <a:xfrm>
                  <a:off x="3673440" y="3992400"/>
                  <a:ext cx="502920" cy="502920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8f6b"/>
                    </a:gs>
                  </a:gsLst>
                  <a:path path="circle">
                    <a:fillToRect l="50000" t="50000" r="50000" b="50000"/>
                  </a:path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</p:sp>
            <p:sp>
              <p:nvSpPr>
                <p:cNvPr id="3551" name="Shape 3937"/>
                <p:cNvSpPr/>
                <p:nvPr/>
              </p:nvSpPr>
              <p:spPr>
                <a:xfrm>
                  <a:off x="3740040" y="3943440"/>
                  <a:ext cx="463320" cy="5950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72000" rIns="0" tIns="54000" bIns="10800" anchor="t">
                  <a:noAutofit/>
                </a:bodyPr>
                <a:p>
                  <a:pPr algn="just">
                    <a:lnSpc>
                      <a:spcPct val="100000"/>
                    </a:lnSpc>
                    <a:buNone/>
                    <a:tabLst>
                      <a:tab algn="l" pos="0"/>
                    </a:tabLst>
                  </a:pPr>
                  <a:r>
                    <a:rPr b="1" i="1" lang="en-US" sz="2800" spc="-1" strike="noStrike">
                      <a:solidFill>
                        <a:srgbClr val="ffffff"/>
                      </a:solidFill>
                      <a:latin typeface="Times New Roman"/>
                      <a:ea typeface="Times New Roman"/>
                    </a:rPr>
                    <a:t>C</a:t>
                  </a:r>
                  <a:endParaRPr b="0" lang="en-US" sz="2800" spc="-1" strike="noStrike">
                    <a:latin typeface="Arial"/>
                  </a:endParaRPr>
                </a:p>
              </p:txBody>
            </p:sp>
          </p:grpSp>
        </p:grpSp>
        <p:sp>
          <p:nvSpPr>
            <p:cNvPr id="3552" name="Shape 3938"/>
            <p:cNvSpPr/>
            <p:nvPr/>
          </p:nvSpPr>
          <p:spPr>
            <a:xfrm>
              <a:off x="1052640" y="3319560"/>
              <a:ext cx="54720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553" name="Shape 3939"/>
            <p:cNvSpPr/>
            <p:nvPr/>
          </p:nvSpPr>
          <p:spPr>
            <a:xfrm>
              <a:off x="3079800" y="3289320"/>
              <a:ext cx="54720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50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554" name="Shape 3940"/>
            <p:cNvSpPr/>
            <p:nvPr/>
          </p:nvSpPr>
          <p:spPr>
            <a:xfrm>
              <a:off x="1373040" y="4311720"/>
              <a:ext cx="54720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555" name="Shape 3941"/>
            <p:cNvSpPr/>
            <p:nvPr/>
          </p:nvSpPr>
          <p:spPr>
            <a:xfrm>
              <a:off x="2728800" y="4311720"/>
              <a:ext cx="54720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556" name="Shape 3942"/>
            <p:cNvSpPr/>
            <p:nvPr/>
          </p:nvSpPr>
          <p:spPr>
            <a:xfrm>
              <a:off x="398520" y="4952880"/>
              <a:ext cx="62352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100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557" name="Shape 3943"/>
            <p:cNvSpPr/>
            <p:nvPr/>
          </p:nvSpPr>
          <p:spPr>
            <a:xfrm>
              <a:off x="3583080" y="5027760"/>
              <a:ext cx="54720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20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558" name="Shape 3944"/>
            <p:cNvSpPr/>
            <p:nvPr/>
          </p:nvSpPr>
          <p:spPr>
            <a:xfrm>
              <a:off x="1998720" y="6124680"/>
              <a:ext cx="54720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60</a:t>
              </a:r>
              <a:endParaRPr b="0" lang="en-US" sz="2400" spc="-1" strike="noStrike">
                <a:latin typeface="Arial"/>
              </a:endParaRPr>
            </a:p>
          </p:txBody>
        </p:sp>
      </p:grpSp>
      <p:sp>
        <p:nvSpPr>
          <p:cNvPr id="3559" name="Shape 3945"/>
          <p:cNvSpPr/>
          <p:nvPr/>
        </p:nvSpPr>
        <p:spPr>
          <a:xfrm>
            <a:off x="4583160" y="3733920"/>
            <a:ext cx="374940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AE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100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ADE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90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ADCE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60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ABCE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70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560" name="Shape 3946"/>
          <p:cNvSpPr/>
          <p:nvPr/>
        </p:nvSpPr>
        <p:spPr>
          <a:xfrm>
            <a:off x="4646520" y="5226120"/>
            <a:ext cx="17204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561" name="Shape 3947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85" dur="indefinite" restart="never" nodeType="tmRoot">
          <p:childTnLst>
            <p:seq>
              <p:cTn id="986" dur="indefinite" nodeType="mainSeq">
                <p:childTnLst>
                  <p:par>
                    <p:cTn id="987" fill="hold">
                      <p:stCondLst>
                        <p:cond delay="indefinite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1" fill="hold">
                      <p:stCondLst>
                        <p:cond delay="indefinite"/>
                      </p:stCondLst>
                      <p:childTnLst>
                        <p:par>
                          <p:cTn id="992" fill="hold">
                            <p:stCondLst>
                              <p:cond delay="0"/>
                            </p:stCondLst>
                            <p:childTnLst>
                              <p:par>
                                <p:cTn id="99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5" dur="500"/>
                                        <p:tgtEl>
                                          <p:spTgt spid="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2" name="Shape 3952"/>
          <p:cNvSpPr/>
          <p:nvPr/>
        </p:nvSpPr>
        <p:spPr>
          <a:xfrm>
            <a:off x="304920" y="1905120"/>
            <a:ext cx="8213400" cy="11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问题描述：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给定带权有向图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＝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和源点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∈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，求从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到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中其余各顶点的最短路径。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563" name="Shape 3953"/>
          <p:cNvSpPr/>
          <p:nvPr/>
        </p:nvSpPr>
        <p:spPr>
          <a:xfrm>
            <a:off x="304920" y="1219320"/>
            <a:ext cx="46479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3399"/>
                </a:solidFill>
                <a:latin typeface="Times New Roman"/>
                <a:ea typeface="Times New Roman"/>
              </a:rPr>
              <a:t>单源点最短路径问题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564" name="Shape 3954"/>
          <p:cNvSpPr/>
          <p:nvPr/>
        </p:nvSpPr>
        <p:spPr>
          <a:xfrm>
            <a:off x="338040" y="3308400"/>
            <a:ext cx="8519760" cy="13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应用实例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——计算机网络传输的问题：怎样找到一种最经济的方式，从一台计算机向网上所有其它计算机发送一条消息。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565" name="Shape 3955"/>
          <p:cNvSpPr/>
          <p:nvPr/>
        </p:nvSpPr>
        <p:spPr>
          <a:xfrm>
            <a:off x="371520" y="4998960"/>
            <a:ext cx="847368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迪杰斯特拉（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Dijkstra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）提出了一个按路径长度递增的次序产生最短路径的算法——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Dijkstra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算法。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566" name="Shape 3956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7" name="Shape 3961"/>
          <p:cNvSpPr/>
          <p:nvPr/>
        </p:nvSpPr>
        <p:spPr>
          <a:xfrm>
            <a:off x="366840" y="1898640"/>
            <a:ext cx="8076960" cy="22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基本思想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：设置一个集合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存放已经找到最短路径的顶点，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的初始状态只包含源点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，对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∈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-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，假设从源点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到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的有向边为最短路径。以后每求得一条最短路径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…,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，就将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加入集合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中，并将路径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…,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与原来的假设相比较，取路径长度较小者为最短路径。重复上述过程，直到集合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中全部顶点加入到集合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中。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568" name="Shape 3962"/>
          <p:cNvSpPr/>
          <p:nvPr/>
        </p:nvSpPr>
        <p:spPr>
          <a:xfrm>
            <a:off x="304920" y="1219320"/>
            <a:ext cx="46479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Dijkstra</a:t>
            </a: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算法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569" name="Shape 3963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3570" name="Shape 3964"/>
          <p:cNvGrpSpPr/>
          <p:nvPr/>
        </p:nvGrpSpPr>
        <p:grpSpPr>
          <a:xfrm>
            <a:off x="1082520" y="4218120"/>
            <a:ext cx="6451560" cy="2247480"/>
            <a:chOff x="1082520" y="4218120"/>
            <a:chExt cx="6451560" cy="2247480"/>
          </a:xfrm>
        </p:grpSpPr>
        <p:sp>
          <p:nvSpPr>
            <p:cNvPr id="3571" name="Shape 3965"/>
            <p:cNvSpPr/>
            <p:nvPr/>
          </p:nvSpPr>
          <p:spPr>
            <a:xfrm>
              <a:off x="4862520" y="4218120"/>
              <a:ext cx="2671560" cy="221040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            </a:t>
              </a: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集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            </a:t>
              </a: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合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          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400" spc="-1" strike="noStrike">
                  <a:solidFill>
                    <a:srgbClr val="000000"/>
                  </a:solidFill>
                  <a:latin typeface="Arial"/>
                  <a:ea typeface="Arial"/>
                </a:rPr>
                <a:t>-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S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572" name="Shape 3966"/>
            <p:cNvSpPr/>
            <p:nvPr/>
          </p:nvSpPr>
          <p:spPr>
            <a:xfrm>
              <a:off x="1082520" y="4236480"/>
              <a:ext cx="2636640" cy="222912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集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合</a:t>
              </a:r>
              <a:endParaRPr b="0" lang="en-US" sz="2400" spc="-1" strike="noStrike">
                <a:latin typeface="Arial"/>
              </a:endParaRPr>
            </a:p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S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573" name="Shape 3967"/>
            <p:cNvSpPr/>
            <p:nvPr/>
          </p:nvSpPr>
          <p:spPr>
            <a:xfrm>
              <a:off x="3056040" y="4720320"/>
              <a:ext cx="304560" cy="42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k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574" name="Shape 3968"/>
            <p:cNvSpPr/>
            <p:nvPr/>
          </p:nvSpPr>
          <p:spPr>
            <a:xfrm>
              <a:off x="3019320" y="4779000"/>
              <a:ext cx="360000" cy="35352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75" name="Shape 3969"/>
            <p:cNvSpPr/>
            <p:nvPr/>
          </p:nvSpPr>
          <p:spPr>
            <a:xfrm>
              <a:off x="2357280" y="5626800"/>
              <a:ext cx="306000" cy="42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576" name="Shape 3970"/>
            <p:cNvSpPr/>
            <p:nvPr/>
          </p:nvSpPr>
          <p:spPr>
            <a:xfrm>
              <a:off x="2319480" y="5658840"/>
              <a:ext cx="361440" cy="35352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77" name="Shape 3971"/>
            <p:cNvSpPr/>
            <p:nvPr/>
          </p:nvSpPr>
          <p:spPr>
            <a:xfrm>
              <a:off x="5365800" y="5325120"/>
              <a:ext cx="306000" cy="424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24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i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578" name="Shape 3972"/>
            <p:cNvSpPr/>
            <p:nvPr/>
          </p:nvSpPr>
          <p:spPr>
            <a:xfrm>
              <a:off x="5329080" y="5357160"/>
              <a:ext cx="360000" cy="35172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79" name="Shape 3973"/>
            <p:cNvSpPr/>
            <p:nvPr/>
          </p:nvSpPr>
          <p:spPr>
            <a:xfrm>
              <a:off x="2541600" y="5065560"/>
              <a:ext cx="528120" cy="604440"/>
            </a:xfrm>
            <a:custGeom>
              <a:avLst/>
              <a:gdLst/>
              <a:ahLst/>
              <a:rect l="l" t="t" r="r" b="b"/>
              <a:pathLst>
                <a:path w="368" h="428">
                  <a:moveTo>
                    <a:pt x="6" y="428"/>
                  </a:moveTo>
                  <a:cubicBezTo>
                    <a:pt x="11" y="392"/>
                    <a:pt x="0" y="258"/>
                    <a:pt x="38" y="211"/>
                  </a:cubicBezTo>
                  <a:cubicBezTo>
                    <a:pt x="77" y="163"/>
                    <a:pt x="201" y="201"/>
                    <a:pt x="234" y="145"/>
                  </a:cubicBezTo>
                  <a:cubicBezTo>
                    <a:pt x="268" y="90"/>
                    <a:pt x="340" y="30"/>
                    <a:pt x="368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80" name="Shape 3974"/>
            <p:cNvSpPr/>
            <p:nvPr/>
          </p:nvSpPr>
          <p:spPr>
            <a:xfrm>
              <a:off x="3327480" y="4984560"/>
              <a:ext cx="1999800" cy="461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81" name="Shape 3975"/>
            <p:cNvSpPr/>
            <p:nvPr/>
          </p:nvSpPr>
          <p:spPr>
            <a:xfrm>
              <a:off x="2665440" y="5540760"/>
              <a:ext cx="2682360" cy="301320"/>
            </a:xfrm>
            <a:custGeom>
              <a:avLst/>
              <a:gdLst/>
              <a:ahLst/>
              <a:rect l="l" t="t" r="r" b="b"/>
              <a:pathLst>
                <a:path w="1865" h="213">
                  <a:moveTo>
                    <a:pt x="0" y="211"/>
                  </a:moveTo>
                  <a:cubicBezTo>
                    <a:pt x="59" y="208"/>
                    <a:pt x="236" y="213"/>
                    <a:pt x="356" y="184"/>
                  </a:cubicBezTo>
                  <a:cubicBezTo>
                    <a:pt x="479" y="181"/>
                    <a:pt x="615" y="49"/>
                    <a:pt x="720" y="38"/>
                  </a:cubicBezTo>
                  <a:cubicBezTo>
                    <a:pt x="825" y="27"/>
                    <a:pt x="1068" y="122"/>
                    <a:pt x="1177" y="118"/>
                  </a:cubicBezTo>
                  <a:cubicBezTo>
                    <a:pt x="1287" y="113"/>
                    <a:pt x="1303" y="115"/>
                    <a:pt x="1450" y="96"/>
                  </a:cubicBezTo>
                  <a:cubicBezTo>
                    <a:pt x="1701" y="65"/>
                    <a:pt x="1779" y="20"/>
                    <a:pt x="1865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2" name="Shape 3980"/>
          <p:cNvGrpSpPr/>
          <p:nvPr/>
        </p:nvGrpSpPr>
        <p:grpSpPr>
          <a:xfrm>
            <a:off x="423720" y="3438360"/>
            <a:ext cx="530280" cy="595080"/>
            <a:chOff x="423720" y="3438360"/>
            <a:chExt cx="530280" cy="595080"/>
          </a:xfrm>
        </p:grpSpPr>
        <p:sp>
          <p:nvSpPr>
            <p:cNvPr id="3583" name="Shape 3981"/>
            <p:cNvSpPr/>
            <p:nvPr/>
          </p:nvSpPr>
          <p:spPr>
            <a:xfrm>
              <a:off x="423720" y="3487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84" name="Shape 3982"/>
            <p:cNvSpPr/>
            <p:nvPr/>
          </p:nvSpPr>
          <p:spPr>
            <a:xfrm>
              <a:off x="490680" y="34383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585" name="Shape 3983"/>
          <p:cNvSpPr/>
          <p:nvPr/>
        </p:nvSpPr>
        <p:spPr>
          <a:xfrm>
            <a:off x="816120" y="2822400"/>
            <a:ext cx="1298160" cy="748800"/>
          </a:xfrm>
          <a:custGeom>
            <a:avLst/>
            <a:gdLst/>
            <a:ahLst/>
            <a:rect l="l" t="t" r="r" b="b"/>
            <a:pathLst>
              <a:path w="735" h="420">
                <a:moveTo>
                  <a:pt x="0" y="420"/>
                </a:moveTo>
                <a:lnTo>
                  <a:pt x="735" y="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586" name="Shape 3984"/>
          <p:cNvSpPr/>
          <p:nvPr/>
        </p:nvSpPr>
        <p:spPr>
          <a:xfrm>
            <a:off x="1609560" y="5513400"/>
            <a:ext cx="123300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587" name="Shape 3985"/>
          <p:cNvSpPr/>
          <p:nvPr/>
        </p:nvSpPr>
        <p:spPr>
          <a:xfrm>
            <a:off x="1515960" y="3798720"/>
            <a:ext cx="2153880" cy="1503000"/>
          </a:xfrm>
          <a:custGeom>
            <a:avLst/>
            <a:gdLst/>
            <a:ahLst/>
            <a:rect l="l" t="t" r="r" b="b"/>
            <a:pathLst>
              <a:path w="1170" h="840">
                <a:moveTo>
                  <a:pt x="1170" y="0"/>
                </a:moveTo>
                <a:lnTo>
                  <a:pt x="0" y="84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588" name="Shape 3986"/>
          <p:cNvSpPr/>
          <p:nvPr/>
        </p:nvSpPr>
        <p:spPr>
          <a:xfrm>
            <a:off x="2570040" y="2838600"/>
            <a:ext cx="1153800" cy="736200"/>
          </a:xfrm>
          <a:custGeom>
            <a:avLst/>
            <a:gdLst/>
            <a:ahLst/>
            <a:rect l="l" t="t" r="r" b="b"/>
            <a:pathLst>
              <a:path w="600" h="430">
                <a:moveTo>
                  <a:pt x="0" y="0"/>
                </a:moveTo>
                <a:lnTo>
                  <a:pt x="600" y="43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589" name="Shape 3987"/>
          <p:cNvSpPr/>
          <p:nvPr/>
        </p:nvSpPr>
        <p:spPr>
          <a:xfrm>
            <a:off x="888840" y="3814920"/>
            <a:ext cx="2074680" cy="1523520"/>
          </a:xfrm>
          <a:custGeom>
            <a:avLst/>
            <a:gdLst/>
            <a:ahLst/>
            <a:rect l="l" t="t" r="r" b="b"/>
            <a:pathLst>
              <a:path w="1110" h="870">
                <a:moveTo>
                  <a:pt x="0" y="0"/>
                </a:moveTo>
                <a:lnTo>
                  <a:pt x="1110" y="87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590" name="Shape 3988"/>
          <p:cNvSpPr/>
          <p:nvPr/>
        </p:nvSpPr>
        <p:spPr>
          <a:xfrm>
            <a:off x="3208320" y="3956040"/>
            <a:ext cx="622080" cy="1398240"/>
          </a:xfrm>
          <a:custGeom>
            <a:avLst/>
            <a:gdLst/>
            <a:ahLst/>
            <a:rect l="l" t="t" r="r" b="b"/>
            <a:pathLst>
              <a:path w="300" h="825">
                <a:moveTo>
                  <a:pt x="0" y="825"/>
                </a:moveTo>
                <a:lnTo>
                  <a:pt x="300" y="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591" name="Shape 3989"/>
          <p:cNvSpPr/>
          <p:nvPr/>
        </p:nvSpPr>
        <p:spPr>
          <a:xfrm>
            <a:off x="738360" y="3954600"/>
            <a:ext cx="577440" cy="1326960"/>
          </a:xfrm>
          <a:custGeom>
            <a:avLst/>
            <a:gdLst/>
            <a:ahLst/>
            <a:rect l="l" t="t" r="r" b="b"/>
            <a:pathLst>
              <a:path w="309" h="758">
                <a:moveTo>
                  <a:pt x="0" y="0"/>
                </a:moveTo>
                <a:lnTo>
                  <a:pt x="309" y="758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592" name="Shape 3990"/>
          <p:cNvGrpSpPr/>
          <p:nvPr/>
        </p:nvGrpSpPr>
        <p:grpSpPr>
          <a:xfrm>
            <a:off x="2116080" y="2463840"/>
            <a:ext cx="529920" cy="595080"/>
            <a:chOff x="2116080" y="2463840"/>
            <a:chExt cx="529920" cy="595080"/>
          </a:xfrm>
        </p:grpSpPr>
        <p:sp>
          <p:nvSpPr>
            <p:cNvPr id="3593" name="Shape 3991"/>
            <p:cNvSpPr/>
            <p:nvPr/>
          </p:nvSpPr>
          <p:spPr>
            <a:xfrm>
              <a:off x="2116080" y="2513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94" name="Shape 3992"/>
            <p:cNvSpPr/>
            <p:nvPr/>
          </p:nvSpPr>
          <p:spPr>
            <a:xfrm>
              <a:off x="2182680" y="2463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595" name="Shape 3993"/>
          <p:cNvGrpSpPr/>
          <p:nvPr/>
        </p:nvGrpSpPr>
        <p:grpSpPr>
          <a:xfrm>
            <a:off x="426960" y="3438360"/>
            <a:ext cx="529920" cy="595080"/>
            <a:chOff x="426960" y="3438360"/>
            <a:chExt cx="529920" cy="595080"/>
          </a:xfrm>
        </p:grpSpPr>
        <p:sp>
          <p:nvSpPr>
            <p:cNvPr id="3596" name="Shape 3994"/>
            <p:cNvSpPr/>
            <p:nvPr/>
          </p:nvSpPr>
          <p:spPr>
            <a:xfrm>
              <a:off x="426960" y="34894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cc3300"/>
                </a:gs>
                <a:gs pos="100000">
                  <a:srgbClr val="8f2300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97" name="Shape 3995"/>
            <p:cNvSpPr/>
            <p:nvPr/>
          </p:nvSpPr>
          <p:spPr>
            <a:xfrm>
              <a:off x="493560" y="34383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598" name="Shape 3996"/>
          <p:cNvGrpSpPr/>
          <p:nvPr/>
        </p:nvGrpSpPr>
        <p:grpSpPr>
          <a:xfrm>
            <a:off x="1112760" y="5208480"/>
            <a:ext cx="529920" cy="595080"/>
            <a:chOff x="1112760" y="5208480"/>
            <a:chExt cx="529920" cy="595080"/>
          </a:xfrm>
        </p:grpSpPr>
        <p:sp>
          <p:nvSpPr>
            <p:cNvPr id="3599" name="Shape 3997"/>
            <p:cNvSpPr/>
            <p:nvPr/>
          </p:nvSpPr>
          <p:spPr>
            <a:xfrm>
              <a:off x="1112760" y="52578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00" name="Shape 3998"/>
            <p:cNvSpPr/>
            <p:nvPr/>
          </p:nvSpPr>
          <p:spPr>
            <a:xfrm>
              <a:off x="1179360" y="52084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601" name="Shape 3999"/>
          <p:cNvGrpSpPr/>
          <p:nvPr/>
        </p:nvGrpSpPr>
        <p:grpSpPr>
          <a:xfrm>
            <a:off x="2835360" y="5253120"/>
            <a:ext cx="529920" cy="595080"/>
            <a:chOff x="2835360" y="5253120"/>
            <a:chExt cx="529920" cy="595080"/>
          </a:xfrm>
        </p:grpSpPr>
        <p:sp>
          <p:nvSpPr>
            <p:cNvPr id="3602" name="Shape 4000"/>
            <p:cNvSpPr/>
            <p:nvPr/>
          </p:nvSpPr>
          <p:spPr>
            <a:xfrm>
              <a:off x="2835360" y="5302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03" name="Shape 4001"/>
            <p:cNvSpPr/>
            <p:nvPr/>
          </p:nvSpPr>
          <p:spPr>
            <a:xfrm>
              <a:off x="2901960" y="52531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604" name="Shape 4002"/>
          <p:cNvGrpSpPr/>
          <p:nvPr/>
        </p:nvGrpSpPr>
        <p:grpSpPr>
          <a:xfrm>
            <a:off x="3673440" y="3424320"/>
            <a:ext cx="529920" cy="595080"/>
            <a:chOff x="3673440" y="3424320"/>
            <a:chExt cx="529920" cy="595080"/>
          </a:xfrm>
        </p:grpSpPr>
        <p:sp>
          <p:nvSpPr>
            <p:cNvPr id="3605" name="Shape 4003"/>
            <p:cNvSpPr/>
            <p:nvPr/>
          </p:nvSpPr>
          <p:spPr>
            <a:xfrm>
              <a:off x="3673440" y="34732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06" name="Shape 4004"/>
            <p:cNvSpPr/>
            <p:nvPr/>
          </p:nvSpPr>
          <p:spPr>
            <a:xfrm>
              <a:off x="3740040" y="3424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607" name="Shape 4005"/>
          <p:cNvSpPr/>
          <p:nvPr/>
        </p:nvSpPr>
        <p:spPr>
          <a:xfrm>
            <a:off x="1052640" y="280044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08" name="Shape 4006"/>
          <p:cNvSpPr/>
          <p:nvPr/>
        </p:nvSpPr>
        <p:spPr>
          <a:xfrm>
            <a:off x="3079800" y="277020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09" name="Shape 4007"/>
          <p:cNvSpPr/>
          <p:nvPr/>
        </p:nvSpPr>
        <p:spPr>
          <a:xfrm>
            <a:off x="1373040" y="379260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10" name="Shape 4008"/>
          <p:cNvSpPr/>
          <p:nvPr/>
        </p:nvSpPr>
        <p:spPr>
          <a:xfrm>
            <a:off x="2728800" y="379260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11" name="Shape 4009"/>
          <p:cNvSpPr/>
          <p:nvPr/>
        </p:nvSpPr>
        <p:spPr>
          <a:xfrm>
            <a:off x="398520" y="4433760"/>
            <a:ext cx="623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12" name="Shape 4010"/>
          <p:cNvSpPr/>
          <p:nvPr/>
        </p:nvSpPr>
        <p:spPr>
          <a:xfrm>
            <a:off x="3583080" y="450864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13" name="Shape 4011"/>
          <p:cNvSpPr/>
          <p:nvPr/>
        </p:nvSpPr>
        <p:spPr>
          <a:xfrm>
            <a:off x="1998720" y="560556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14" name="Shape 4012"/>
          <p:cNvSpPr/>
          <p:nvPr/>
        </p:nvSpPr>
        <p:spPr>
          <a:xfrm>
            <a:off x="4740120" y="2695680"/>
            <a:ext cx="3641400" cy="30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S={A}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A→B:(A, B)10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A→C:(A, C)∞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A→D: (A, D)30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A→E: (A, E)100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615" name="Shape 4013"/>
          <p:cNvSpPr/>
          <p:nvPr/>
        </p:nvSpPr>
        <p:spPr>
          <a:xfrm>
            <a:off x="4816440" y="3809880"/>
            <a:ext cx="22698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616" name="Shape 4014"/>
          <p:cNvSpPr/>
          <p:nvPr/>
        </p:nvSpPr>
        <p:spPr>
          <a:xfrm>
            <a:off x="382680" y="1295280"/>
            <a:ext cx="46479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Dijkstra</a:t>
            </a: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算法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617" name="Shape 4015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96" dur="indefinite" restart="never" nodeType="tmRoot">
          <p:childTnLst>
            <p:seq>
              <p:cTn id="997" dur="indefinite" nodeType="mainSeq">
                <p:childTnLst>
                  <p:par>
                    <p:cTn id="998" fill="hold">
                      <p:stCondLst>
                        <p:cond delay="indefinite"/>
                      </p:stCondLst>
                      <p:childTnLst>
                        <p:par>
                          <p:cTn id="999" fill="hold">
                            <p:stCondLst>
                              <p:cond delay="0"/>
                            </p:stCondLst>
                            <p:childTnLst>
                              <p:par>
                                <p:cTn id="100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2" fill="hold">
                      <p:stCondLst>
                        <p:cond delay="indefinite"/>
                      </p:stCondLst>
                      <p:childTnLst>
                        <p:par>
                          <p:cTn id="1003" fill="hold">
                            <p:stCondLst>
                              <p:cond delay="0"/>
                            </p:stCondLst>
                            <p:childTnLst>
                              <p:par>
                                <p:cTn id="10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6" dur="500"/>
                                        <p:tgtEl>
                                          <p:spTgt spid="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8" name="Shape 4020"/>
          <p:cNvGrpSpPr/>
          <p:nvPr/>
        </p:nvGrpSpPr>
        <p:grpSpPr>
          <a:xfrm>
            <a:off x="603360" y="3618000"/>
            <a:ext cx="529920" cy="595080"/>
            <a:chOff x="603360" y="3618000"/>
            <a:chExt cx="529920" cy="595080"/>
          </a:xfrm>
        </p:grpSpPr>
        <p:sp>
          <p:nvSpPr>
            <p:cNvPr id="3619" name="Shape 4021"/>
            <p:cNvSpPr/>
            <p:nvPr/>
          </p:nvSpPr>
          <p:spPr>
            <a:xfrm>
              <a:off x="603360" y="36669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20" name="Shape 4022"/>
            <p:cNvSpPr/>
            <p:nvPr/>
          </p:nvSpPr>
          <p:spPr>
            <a:xfrm>
              <a:off x="669960" y="3618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621" name="Shape 4023"/>
          <p:cNvSpPr/>
          <p:nvPr/>
        </p:nvSpPr>
        <p:spPr>
          <a:xfrm>
            <a:off x="995400" y="3002040"/>
            <a:ext cx="1298160" cy="748800"/>
          </a:xfrm>
          <a:custGeom>
            <a:avLst/>
            <a:gdLst/>
            <a:ahLst/>
            <a:rect l="l" t="t" r="r" b="b"/>
            <a:pathLst>
              <a:path w="735" h="420">
                <a:moveTo>
                  <a:pt x="0" y="420"/>
                </a:moveTo>
                <a:lnTo>
                  <a:pt x="735" y="0"/>
                </a:lnTo>
              </a:path>
            </a:pathLst>
          </a:custGeom>
          <a:noFill/>
          <a:ln w="38100">
            <a:solidFill>
              <a:srgbClr val="ff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622" name="Shape 4024"/>
          <p:cNvSpPr/>
          <p:nvPr/>
        </p:nvSpPr>
        <p:spPr>
          <a:xfrm>
            <a:off x="1789200" y="5692680"/>
            <a:ext cx="123300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623" name="Shape 4025"/>
          <p:cNvSpPr/>
          <p:nvPr/>
        </p:nvSpPr>
        <p:spPr>
          <a:xfrm>
            <a:off x="1695600" y="3978360"/>
            <a:ext cx="2153880" cy="1503000"/>
          </a:xfrm>
          <a:custGeom>
            <a:avLst/>
            <a:gdLst/>
            <a:ahLst/>
            <a:rect l="l" t="t" r="r" b="b"/>
            <a:pathLst>
              <a:path w="1170" h="840">
                <a:moveTo>
                  <a:pt x="1170" y="0"/>
                </a:moveTo>
                <a:lnTo>
                  <a:pt x="0" y="84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624" name="Shape 4026"/>
          <p:cNvSpPr/>
          <p:nvPr/>
        </p:nvSpPr>
        <p:spPr>
          <a:xfrm>
            <a:off x="2749680" y="3017880"/>
            <a:ext cx="1153800" cy="736200"/>
          </a:xfrm>
          <a:custGeom>
            <a:avLst/>
            <a:gdLst/>
            <a:ahLst/>
            <a:rect l="l" t="t" r="r" b="b"/>
            <a:pathLst>
              <a:path w="600" h="430">
                <a:moveTo>
                  <a:pt x="0" y="0"/>
                </a:moveTo>
                <a:lnTo>
                  <a:pt x="600" y="43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625" name="Shape 4027"/>
          <p:cNvSpPr/>
          <p:nvPr/>
        </p:nvSpPr>
        <p:spPr>
          <a:xfrm>
            <a:off x="1068480" y="3994200"/>
            <a:ext cx="2074680" cy="1523520"/>
          </a:xfrm>
          <a:custGeom>
            <a:avLst/>
            <a:gdLst/>
            <a:ahLst/>
            <a:rect l="l" t="t" r="r" b="b"/>
            <a:pathLst>
              <a:path w="1110" h="870">
                <a:moveTo>
                  <a:pt x="0" y="0"/>
                </a:moveTo>
                <a:lnTo>
                  <a:pt x="1110" y="87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626" name="Shape 4028"/>
          <p:cNvSpPr/>
          <p:nvPr/>
        </p:nvSpPr>
        <p:spPr>
          <a:xfrm>
            <a:off x="3387600" y="4135320"/>
            <a:ext cx="622080" cy="1398240"/>
          </a:xfrm>
          <a:custGeom>
            <a:avLst/>
            <a:gdLst/>
            <a:ahLst/>
            <a:rect l="l" t="t" r="r" b="b"/>
            <a:pathLst>
              <a:path w="300" h="825">
                <a:moveTo>
                  <a:pt x="0" y="825"/>
                </a:moveTo>
                <a:lnTo>
                  <a:pt x="300" y="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627" name="Shape 4029"/>
          <p:cNvSpPr/>
          <p:nvPr/>
        </p:nvSpPr>
        <p:spPr>
          <a:xfrm>
            <a:off x="917640" y="4133880"/>
            <a:ext cx="577440" cy="1326960"/>
          </a:xfrm>
          <a:custGeom>
            <a:avLst/>
            <a:gdLst/>
            <a:ahLst/>
            <a:rect l="l" t="t" r="r" b="b"/>
            <a:pathLst>
              <a:path w="309" h="758">
                <a:moveTo>
                  <a:pt x="0" y="0"/>
                </a:moveTo>
                <a:lnTo>
                  <a:pt x="309" y="758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628" name="Shape 4030"/>
          <p:cNvGrpSpPr/>
          <p:nvPr/>
        </p:nvGrpSpPr>
        <p:grpSpPr>
          <a:xfrm>
            <a:off x="2295360" y="2643120"/>
            <a:ext cx="530280" cy="595080"/>
            <a:chOff x="2295360" y="2643120"/>
            <a:chExt cx="530280" cy="595080"/>
          </a:xfrm>
        </p:grpSpPr>
        <p:sp>
          <p:nvSpPr>
            <p:cNvPr id="3629" name="Shape 4031"/>
            <p:cNvSpPr/>
            <p:nvPr/>
          </p:nvSpPr>
          <p:spPr>
            <a:xfrm>
              <a:off x="2295360" y="26924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30" name="Shape 4032"/>
            <p:cNvSpPr/>
            <p:nvPr/>
          </p:nvSpPr>
          <p:spPr>
            <a:xfrm>
              <a:off x="2362320" y="26431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631" name="Shape 4033"/>
          <p:cNvGrpSpPr/>
          <p:nvPr/>
        </p:nvGrpSpPr>
        <p:grpSpPr>
          <a:xfrm>
            <a:off x="606600" y="3618000"/>
            <a:ext cx="529920" cy="595080"/>
            <a:chOff x="606600" y="3618000"/>
            <a:chExt cx="529920" cy="595080"/>
          </a:xfrm>
        </p:grpSpPr>
        <p:sp>
          <p:nvSpPr>
            <p:cNvPr id="3632" name="Shape 4034"/>
            <p:cNvSpPr/>
            <p:nvPr/>
          </p:nvSpPr>
          <p:spPr>
            <a:xfrm>
              <a:off x="606600" y="3668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cc3300"/>
                </a:gs>
                <a:gs pos="100000">
                  <a:srgbClr val="8f2300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33" name="Shape 4035"/>
            <p:cNvSpPr/>
            <p:nvPr/>
          </p:nvSpPr>
          <p:spPr>
            <a:xfrm>
              <a:off x="673200" y="3618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634" name="Shape 4036"/>
          <p:cNvGrpSpPr/>
          <p:nvPr/>
        </p:nvGrpSpPr>
        <p:grpSpPr>
          <a:xfrm>
            <a:off x="1292400" y="5388120"/>
            <a:ext cx="529920" cy="595080"/>
            <a:chOff x="1292400" y="5388120"/>
            <a:chExt cx="529920" cy="595080"/>
          </a:xfrm>
        </p:grpSpPr>
        <p:sp>
          <p:nvSpPr>
            <p:cNvPr id="3635" name="Shape 4037"/>
            <p:cNvSpPr/>
            <p:nvPr/>
          </p:nvSpPr>
          <p:spPr>
            <a:xfrm>
              <a:off x="1292400" y="5437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36" name="Shape 4038"/>
            <p:cNvSpPr/>
            <p:nvPr/>
          </p:nvSpPr>
          <p:spPr>
            <a:xfrm>
              <a:off x="1359000" y="53881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637" name="Shape 4039"/>
          <p:cNvGrpSpPr/>
          <p:nvPr/>
        </p:nvGrpSpPr>
        <p:grpSpPr>
          <a:xfrm>
            <a:off x="3014640" y="5432400"/>
            <a:ext cx="529920" cy="595080"/>
            <a:chOff x="3014640" y="5432400"/>
            <a:chExt cx="529920" cy="595080"/>
          </a:xfrm>
        </p:grpSpPr>
        <p:sp>
          <p:nvSpPr>
            <p:cNvPr id="3638" name="Shape 4040"/>
            <p:cNvSpPr/>
            <p:nvPr/>
          </p:nvSpPr>
          <p:spPr>
            <a:xfrm>
              <a:off x="3014640" y="54817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39" name="Shape 4041"/>
            <p:cNvSpPr/>
            <p:nvPr/>
          </p:nvSpPr>
          <p:spPr>
            <a:xfrm>
              <a:off x="3081240" y="54324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640" name="Shape 4042"/>
          <p:cNvGrpSpPr/>
          <p:nvPr/>
        </p:nvGrpSpPr>
        <p:grpSpPr>
          <a:xfrm>
            <a:off x="3852720" y="3603600"/>
            <a:ext cx="530280" cy="595080"/>
            <a:chOff x="3852720" y="3603600"/>
            <a:chExt cx="530280" cy="595080"/>
          </a:xfrm>
        </p:grpSpPr>
        <p:sp>
          <p:nvSpPr>
            <p:cNvPr id="3641" name="Shape 4043"/>
            <p:cNvSpPr/>
            <p:nvPr/>
          </p:nvSpPr>
          <p:spPr>
            <a:xfrm>
              <a:off x="3852720" y="36529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42" name="Shape 4044"/>
            <p:cNvSpPr/>
            <p:nvPr/>
          </p:nvSpPr>
          <p:spPr>
            <a:xfrm>
              <a:off x="3919680" y="36036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643" name="Shape 4045"/>
          <p:cNvSpPr/>
          <p:nvPr/>
        </p:nvSpPr>
        <p:spPr>
          <a:xfrm>
            <a:off x="1231920" y="297972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44" name="Shape 4046"/>
          <p:cNvSpPr/>
          <p:nvPr/>
        </p:nvSpPr>
        <p:spPr>
          <a:xfrm>
            <a:off x="3259080" y="294948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45" name="Shape 4047"/>
          <p:cNvSpPr/>
          <p:nvPr/>
        </p:nvSpPr>
        <p:spPr>
          <a:xfrm>
            <a:off x="1552680" y="397188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46" name="Shape 4048"/>
          <p:cNvSpPr/>
          <p:nvPr/>
        </p:nvSpPr>
        <p:spPr>
          <a:xfrm>
            <a:off x="2908440" y="397188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47" name="Shape 4049"/>
          <p:cNvSpPr/>
          <p:nvPr/>
        </p:nvSpPr>
        <p:spPr>
          <a:xfrm>
            <a:off x="577800" y="4613400"/>
            <a:ext cx="623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48" name="Shape 4050"/>
          <p:cNvSpPr/>
          <p:nvPr/>
        </p:nvSpPr>
        <p:spPr>
          <a:xfrm>
            <a:off x="3762360" y="468792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49" name="Shape 4051"/>
          <p:cNvSpPr/>
          <p:nvPr/>
        </p:nvSpPr>
        <p:spPr>
          <a:xfrm>
            <a:off x="2178000" y="578484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50" name="Shape 4052"/>
          <p:cNvSpPr/>
          <p:nvPr/>
        </p:nvSpPr>
        <p:spPr>
          <a:xfrm>
            <a:off x="4919760" y="2874960"/>
            <a:ext cx="4571640" cy="30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S={A, B}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A→B:(A, B)10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A→C:(A, B, C)60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A→D: (A, D)30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A→E: (A, E)100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3651" name="Shape 4053"/>
          <p:cNvGrpSpPr/>
          <p:nvPr/>
        </p:nvGrpSpPr>
        <p:grpSpPr>
          <a:xfrm>
            <a:off x="2298600" y="2639880"/>
            <a:ext cx="529920" cy="595080"/>
            <a:chOff x="2298600" y="2639880"/>
            <a:chExt cx="529920" cy="595080"/>
          </a:xfrm>
        </p:grpSpPr>
        <p:sp>
          <p:nvSpPr>
            <p:cNvPr id="3652" name="Shape 4054"/>
            <p:cNvSpPr/>
            <p:nvPr/>
          </p:nvSpPr>
          <p:spPr>
            <a:xfrm>
              <a:off x="2298600" y="2690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cc3300"/>
                </a:gs>
                <a:gs pos="100000">
                  <a:srgbClr val="8f2300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53" name="Shape 4055"/>
            <p:cNvSpPr/>
            <p:nvPr/>
          </p:nvSpPr>
          <p:spPr>
            <a:xfrm>
              <a:off x="2365200" y="26398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654" name="Shape 4056"/>
          <p:cNvSpPr/>
          <p:nvPr/>
        </p:nvSpPr>
        <p:spPr>
          <a:xfrm>
            <a:off x="4998960" y="5257800"/>
            <a:ext cx="2422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655" name="Shape 4057"/>
          <p:cNvSpPr/>
          <p:nvPr/>
        </p:nvSpPr>
        <p:spPr>
          <a:xfrm>
            <a:off x="382680" y="1295280"/>
            <a:ext cx="46479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Dijkstra</a:t>
            </a: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算法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656" name="Shape 4058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07" dur="indefinite" restart="never" nodeType="tmRoot">
          <p:childTnLst>
            <p:seq>
              <p:cTn id="1008" dur="indefinite" nodeType="mainSeq">
                <p:childTnLst>
                  <p:par>
                    <p:cTn id="1009" fill="hold">
                      <p:stCondLst>
                        <p:cond delay="indefinite"/>
                      </p:stCondLst>
                      <p:childTnLst>
                        <p:par>
                          <p:cTn id="1010" fill="hold">
                            <p:stCondLst>
                              <p:cond delay="0"/>
                            </p:stCondLst>
                            <p:childTnLst>
                              <p:par>
                                <p:cTn id="10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3" fill="hold">
                      <p:stCondLst>
                        <p:cond delay="indefinite"/>
                      </p:stCondLst>
                      <p:childTnLst>
                        <p:par>
                          <p:cTn id="1014" fill="hold">
                            <p:stCondLst>
                              <p:cond delay="0"/>
                            </p:stCondLst>
                            <p:childTnLst>
                              <p:par>
                                <p:cTn id="10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17" dur="500"/>
                                        <p:tgtEl>
                                          <p:spTgt spid="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7" name="Shape 4063"/>
          <p:cNvGrpSpPr/>
          <p:nvPr/>
        </p:nvGrpSpPr>
        <p:grpSpPr>
          <a:xfrm>
            <a:off x="782640" y="3606840"/>
            <a:ext cx="529920" cy="595080"/>
            <a:chOff x="782640" y="3606840"/>
            <a:chExt cx="529920" cy="595080"/>
          </a:xfrm>
        </p:grpSpPr>
        <p:sp>
          <p:nvSpPr>
            <p:cNvPr id="3658" name="Shape 4064"/>
            <p:cNvSpPr/>
            <p:nvPr/>
          </p:nvSpPr>
          <p:spPr>
            <a:xfrm>
              <a:off x="782640" y="3656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59" name="Shape 4065"/>
            <p:cNvSpPr/>
            <p:nvPr/>
          </p:nvSpPr>
          <p:spPr>
            <a:xfrm>
              <a:off x="849240" y="3606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660" name="Shape 4066"/>
          <p:cNvSpPr/>
          <p:nvPr/>
        </p:nvSpPr>
        <p:spPr>
          <a:xfrm>
            <a:off x="1174680" y="2990880"/>
            <a:ext cx="1298160" cy="748800"/>
          </a:xfrm>
          <a:custGeom>
            <a:avLst/>
            <a:gdLst/>
            <a:ahLst/>
            <a:rect l="l" t="t" r="r" b="b"/>
            <a:pathLst>
              <a:path w="735" h="420">
                <a:moveTo>
                  <a:pt x="0" y="420"/>
                </a:moveTo>
                <a:lnTo>
                  <a:pt x="735" y="0"/>
                </a:lnTo>
              </a:path>
            </a:pathLst>
          </a:custGeom>
          <a:noFill/>
          <a:ln w="38100">
            <a:solidFill>
              <a:srgbClr val="ff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661" name="Shape 4067"/>
          <p:cNvSpPr/>
          <p:nvPr/>
        </p:nvSpPr>
        <p:spPr>
          <a:xfrm>
            <a:off x="1968480" y="5681520"/>
            <a:ext cx="123300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662" name="Shape 4068"/>
          <p:cNvSpPr/>
          <p:nvPr/>
        </p:nvSpPr>
        <p:spPr>
          <a:xfrm>
            <a:off x="1874880" y="3967200"/>
            <a:ext cx="2153880" cy="1503000"/>
          </a:xfrm>
          <a:custGeom>
            <a:avLst/>
            <a:gdLst/>
            <a:ahLst/>
            <a:rect l="l" t="t" r="r" b="b"/>
            <a:pathLst>
              <a:path w="1170" h="840">
                <a:moveTo>
                  <a:pt x="1170" y="0"/>
                </a:moveTo>
                <a:lnTo>
                  <a:pt x="0" y="84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663" name="Shape 4069"/>
          <p:cNvSpPr/>
          <p:nvPr/>
        </p:nvSpPr>
        <p:spPr>
          <a:xfrm>
            <a:off x="2928960" y="3006720"/>
            <a:ext cx="1153800" cy="736200"/>
          </a:xfrm>
          <a:custGeom>
            <a:avLst/>
            <a:gdLst/>
            <a:ahLst/>
            <a:rect l="l" t="t" r="r" b="b"/>
            <a:pathLst>
              <a:path w="600" h="430">
                <a:moveTo>
                  <a:pt x="0" y="0"/>
                </a:moveTo>
                <a:lnTo>
                  <a:pt x="600" y="43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664" name="Shape 4070"/>
          <p:cNvSpPr/>
          <p:nvPr/>
        </p:nvSpPr>
        <p:spPr>
          <a:xfrm>
            <a:off x="1247760" y="3983040"/>
            <a:ext cx="2074680" cy="1523520"/>
          </a:xfrm>
          <a:custGeom>
            <a:avLst/>
            <a:gdLst/>
            <a:ahLst/>
            <a:rect l="l" t="t" r="r" b="b"/>
            <a:pathLst>
              <a:path w="1110" h="870">
                <a:moveTo>
                  <a:pt x="0" y="0"/>
                </a:moveTo>
                <a:lnTo>
                  <a:pt x="1110" y="870"/>
                </a:lnTo>
              </a:path>
            </a:pathLst>
          </a:custGeom>
          <a:noFill/>
          <a:ln w="38100">
            <a:solidFill>
              <a:srgbClr val="3333cc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665" name="Shape 4071"/>
          <p:cNvSpPr/>
          <p:nvPr/>
        </p:nvSpPr>
        <p:spPr>
          <a:xfrm>
            <a:off x="3567240" y="4124160"/>
            <a:ext cx="622080" cy="1398240"/>
          </a:xfrm>
          <a:custGeom>
            <a:avLst/>
            <a:gdLst/>
            <a:ahLst/>
            <a:rect l="l" t="t" r="r" b="b"/>
            <a:pathLst>
              <a:path w="300" h="825">
                <a:moveTo>
                  <a:pt x="0" y="825"/>
                </a:moveTo>
                <a:lnTo>
                  <a:pt x="300" y="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666" name="Shape 4072"/>
          <p:cNvSpPr/>
          <p:nvPr/>
        </p:nvSpPr>
        <p:spPr>
          <a:xfrm>
            <a:off x="1096920" y="4122720"/>
            <a:ext cx="577440" cy="1326960"/>
          </a:xfrm>
          <a:custGeom>
            <a:avLst/>
            <a:gdLst/>
            <a:ahLst/>
            <a:rect l="l" t="t" r="r" b="b"/>
            <a:pathLst>
              <a:path w="309" h="758">
                <a:moveTo>
                  <a:pt x="0" y="0"/>
                </a:moveTo>
                <a:lnTo>
                  <a:pt x="309" y="758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667" name="Shape 4073"/>
          <p:cNvGrpSpPr/>
          <p:nvPr/>
        </p:nvGrpSpPr>
        <p:grpSpPr>
          <a:xfrm>
            <a:off x="2475000" y="2631960"/>
            <a:ext cx="529920" cy="595080"/>
            <a:chOff x="2475000" y="2631960"/>
            <a:chExt cx="529920" cy="595080"/>
          </a:xfrm>
        </p:grpSpPr>
        <p:sp>
          <p:nvSpPr>
            <p:cNvPr id="3668" name="Shape 4074"/>
            <p:cNvSpPr/>
            <p:nvPr/>
          </p:nvSpPr>
          <p:spPr>
            <a:xfrm>
              <a:off x="2475000" y="26812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69" name="Shape 4075"/>
            <p:cNvSpPr/>
            <p:nvPr/>
          </p:nvSpPr>
          <p:spPr>
            <a:xfrm>
              <a:off x="2541600" y="26319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670" name="Shape 4076"/>
          <p:cNvGrpSpPr/>
          <p:nvPr/>
        </p:nvGrpSpPr>
        <p:grpSpPr>
          <a:xfrm>
            <a:off x="785880" y="3606840"/>
            <a:ext cx="529920" cy="595080"/>
            <a:chOff x="785880" y="3606840"/>
            <a:chExt cx="529920" cy="595080"/>
          </a:xfrm>
        </p:grpSpPr>
        <p:sp>
          <p:nvSpPr>
            <p:cNvPr id="3671" name="Shape 4077"/>
            <p:cNvSpPr/>
            <p:nvPr/>
          </p:nvSpPr>
          <p:spPr>
            <a:xfrm>
              <a:off x="785880" y="36576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cc3300"/>
                </a:gs>
                <a:gs pos="100000">
                  <a:srgbClr val="8f2300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72" name="Shape 4078"/>
            <p:cNvSpPr/>
            <p:nvPr/>
          </p:nvSpPr>
          <p:spPr>
            <a:xfrm>
              <a:off x="852480" y="3606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673" name="Shape 4079"/>
          <p:cNvGrpSpPr/>
          <p:nvPr/>
        </p:nvGrpSpPr>
        <p:grpSpPr>
          <a:xfrm>
            <a:off x="1471680" y="5376960"/>
            <a:ext cx="529920" cy="595080"/>
            <a:chOff x="1471680" y="5376960"/>
            <a:chExt cx="529920" cy="595080"/>
          </a:xfrm>
        </p:grpSpPr>
        <p:sp>
          <p:nvSpPr>
            <p:cNvPr id="3674" name="Shape 4080"/>
            <p:cNvSpPr/>
            <p:nvPr/>
          </p:nvSpPr>
          <p:spPr>
            <a:xfrm>
              <a:off x="1471680" y="54259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75" name="Shape 4081"/>
            <p:cNvSpPr/>
            <p:nvPr/>
          </p:nvSpPr>
          <p:spPr>
            <a:xfrm>
              <a:off x="1538280" y="53769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676" name="Shape 4082"/>
          <p:cNvGrpSpPr/>
          <p:nvPr/>
        </p:nvGrpSpPr>
        <p:grpSpPr>
          <a:xfrm>
            <a:off x="3193920" y="5421240"/>
            <a:ext cx="530280" cy="595080"/>
            <a:chOff x="3193920" y="5421240"/>
            <a:chExt cx="530280" cy="595080"/>
          </a:xfrm>
        </p:grpSpPr>
        <p:sp>
          <p:nvSpPr>
            <p:cNvPr id="3677" name="Shape 4083"/>
            <p:cNvSpPr/>
            <p:nvPr/>
          </p:nvSpPr>
          <p:spPr>
            <a:xfrm>
              <a:off x="3193920" y="5470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78" name="Shape 4084"/>
            <p:cNvSpPr/>
            <p:nvPr/>
          </p:nvSpPr>
          <p:spPr>
            <a:xfrm>
              <a:off x="3260880" y="5421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679" name="Shape 4085"/>
          <p:cNvGrpSpPr/>
          <p:nvPr/>
        </p:nvGrpSpPr>
        <p:grpSpPr>
          <a:xfrm>
            <a:off x="4032360" y="3592440"/>
            <a:ext cx="529920" cy="595080"/>
            <a:chOff x="4032360" y="3592440"/>
            <a:chExt cx="529920" cy="595080"/>
          </a:xfrm>
        </p:grpSpPr>
        <p:sp>
          <p:nvSpPr>
            <p:cNvPr id="3680" name="Shape 4086"/>
            <p:cNvSpPr/>
            <p:nvPr/>
          </p:nvSpPr>
          <p:spPr>
            <a:xfrm>
              <a:off x="4032360" y="3641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81" name="Shape 4087"/>
            <p:cNvSpPr/>
            <p:nvPr/>
          </p:nvSpPr>
          <p:spPr>
            <a:xfrm>
              <a:off x="4098960" y="3592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682" name="Shape 4088"/>
          <p:cNvSpPr/>
          <p:nvPr/>
        </p:nvSpPr>
        <p:spPr>
          <a:xfrm>
            <a:off x="1411200" y="296856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83" name="Shape 4089"/>
          <p:cNvSpPr/>
          <p:nvPr/>
        </p:nvSpPr>
        <p:spPr>
          <a:xfrm>
            <a:off x="3438360" y="293832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84" name="Shape 4090"/>
          <p:cNvSpPr/>
          <p:nvPr/>
        </p:nvSpPr>
        <p:spPr>
          <a:xfrm>
            <a:off x="1731960" y="396072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85" name="Shape 4091"/>
          <p:cNvSpPr/>
          <p:nvPr/>
        </p:nvSpPr>
        <p:spPr>
          <a:xfrm>
            <a:off x="3087720" y="396072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86" name="Shape 4092"/>
          <p:cNvSpPr/>
          <p:nvPr/>
        </p:nvSpPr>
        <p:spPr>
          <a:xfrm>
            <a:off x="757080" y="4602240"/>
            <a:ext cx="623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87" name="Shape 4093"/>
          <p:cNvSpPr/>
          <p:nvPr/>
        </p:nvSpPr>
        <p:spPr>
          <a:xfrm>
            <a:off x="3941640" y="467676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88" name="Shape 4094"/>
          <p:cNvSpPr/>
          <p:nvPr/>
        </p:nvSpPr>
        <p:spPr>
          <a:xfrm>
            <a:off x="2357280" y="577368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689" name="Shape 4095"/>
          <p:cNvSpPr/>
          <p:nvPr/>
        </p:nvSpPr>
        <p:spPr>
          <a:xfrm>
            <a:off x="5099040" y="2863800"/>
            <a:ext cx="3641400" cy="30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S={A, B, D}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A→B:(A, B)10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A→C:(A, D, C)50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A→D: (A, D)30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A→E: (A, D, E)90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3690" name="Shape 4096"/>
          <p:cNvGrpSpPr/>
          <p:nvPr/>
        </p:nvGrpSpPr>
        <p:grpSpPr>
          <a:xfrm>
            <a:off x="2478240" y="2629080"/>
            <a:ext cx="529920" cy="595080"/>
            <a:chOff x="2478240" y="2629080"/>
            <a:chExt cx="529920" cy="595080"/>
          </a:xfrm>
        </p:grpSpPr>
        <p:sp>
          <p:nvSpPr>
            <p:cNvPr id="3691" name="Shape 4097"/>
            <p:cNvSpPr/>
            <p:nvPr/>
          </p:nvSpPr>
          <p:spPr>
            <a:xfrm>
              <a:off x="2478240" y="2679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cc3300"/>
                </a:gs>
                <a:gs pos="100000">
                  <a:srgbClr val="8f2300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92" name="Shape 4098"/>
            <p:cNvSpPr/>
            <p:nvPr/>
          </p:nvSpPr>
          <p:spPr>
            <a:xfrm>
              <a:off x="2544840" y="2629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693" name="Shape 4099"/>
          <p:cNvSpPr/>
          <p:nvPr/>
        </p:nvSpPr>
        <p:spPr>
          <a:xfrm>
            <a:off x="5178600" y="4635360"/>
            <a:ext cx="2725200" cy="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694" name="Shape 4100"/>
          <p:cNvGrpSpPr/>
          <p:nvPr/>
        </p:nvGrpSpPr>
        <p:grpSpPr>
          <a:xfrm>
            <a:off x="3195720" y="5416560"/>
            <a:ext cx="529920" cy="595080"/>
            <a:chOff x="3195720" y="5416560"/>
            <a:chExt cx="529920" cy="595080"/>
          </a:xfrm>
        </p:grpSpPr>
        <p:sp>
          <p:nvSpPr>
            <p:cNvPr id="3695" name="Shape 4101"/>
            <p:cNvSpPr/>
            <p:nvPr/>
          </p:nvSpPr>
          <p:spPr>
            <a:xfrm>
              <a:off x="3195720" y="5467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cc3300"/>
                </a:gs>
                <a:gs pos="100000">
                  <a:srgbClr val="8f2300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96" name="Shape 4102"/>
            <p:cNvSpPr/>
            <p:nvPr/>
          </p:nvSpPr>
          <p:spPr>
            <a:xfrm>
              <a:off x="3262320" y="54165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697" name="Shape 4103"/>
          <p:cNvSpPr/>
          <p:nvPr/>
        </p:nvSpPr>
        <p:spPr>
          <a:xfrm>
            <a:off x="382680" y="1295280"/>
            <a:ext cx="46479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Dijkstra</a:t>
            </a: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算法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698" name="Shape 4104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18" dur="indefinite" restart="never" nodeType="tmRoot">
          <p:childTnLst>
            <p:seq>
              <p:cTn id="1019" dur="indefinite" nodeType="mainSeq">
                <p:childTnLst>
                  <p:par>
                    <p:cTn id="1020" fill="hold">
                      <p:stCondLst>
                        <p:cond delay="indefinite"/>
                      </p:stCondLst>
                      <p:childTnLst>
                        <p:par>
                          <p:cTn id="1021" fill="hold">
                            <p:stCondLst>
                              <p:cond delay="0"/>
                            </p:stCondLst>
                            <p:childTnLst>
                              <p:par>
                                <p:cTn id="102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4" fill="hold">
                      <p:stCondLst>
                        <p:cond delay="indefinite"/>
                      </p:stCondLst>
                      <p:childTnLst>
                        <p:par>
                          <p:cTn id="1025" fill="hold">
                            <p:stCondLst>
                              <p:cond delay="0"/>
                            </p:stCondLst>
                            <p:childTnLst>
                              <p:par>
                                <p:cTn id="102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8" dur="500"/>
                                        <p:tgtEl>
                                          <p:spTgt spid="3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9" name="Shape 4109"/>
          <p:cNvGrpSpPr/>
          <p:nvPr/>
        </p:nvGrpSpPr>
        <p:grpSpPr>
          <a:xfrm>
            <a:off x="782640" y="3606840"/>
            <a:ext cx="529920" cy="595080"/>
            <a:chOff x="782640" y="3606840"/>
            <a:chExt cx="529920" cy="595080"/>
          </a:xfrm>
        </p:grpSpPr>
        <p:sp>
          <p:nvSpPr>
            <p:cNvPr id="3700" name="Shape 4110"/>
            <p:cNvSpPr/>
            <p:nvPr/>
          </p:nvSpPr>
          <p:spPr>
            <a:xfrm>
              <a:off x="782640" y="3656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01" name="Shape 4111"/>
            <p:cNvSpPr/>
            <p:nvPr/>
          </p:nvSpPr>
          <p:spPr>
            <a:xfrm>
              <a:off x="849240" y="3606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702" name="Shape 4112"/>
          <p:cNvSpPr/>
          <p:nvPr/>
        </p:nvSpPr>
        <p:spPr>
          <a:xfrm>
            <a:off x="1174680" y="2990880"/>
            <a:ext cx="1298160" cy="748800"/>
          </a:xfrm>
          <a:custGeom>
            <a:avLst/>
            <a:gdLst/>
            <a:ahLst/>
            <a:rect l="l" t="t" r="r" b="b"/>
            <a:pathLst>
              <a:path w="735" h="420">
                <a:moveTo>
                  <a:pt x="0" y="420"/>
                </a:moveTo>
                <a:lnTo>
                  <a:pt x="735" y="0"/>
                </a:lnTo>
              </a:path>
            </a:pathLst>
          </a:custGeom>
          <a:noFill/>
          <a:ln w="38100">
            <a:solidFill>
              <a:srgbClr val="ff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703" name="Shape 4113"/>
          <p:cNvSpPr/>
          <p:nvPr/>
        </p:nvSpPr>
        <p:spPr>
          <a:xfrm>
            <a:off x="1968480" y="5681520"/>
            <a:ext cx="123300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704" name="Shape 4114"/>
          <p:cNvSpPr/>
          <p:nvPr/>
        </p:nvSpPr>
        <p:spPr>
          <a:xfrm>
            <a:off x="1874880" y="3967200"/>
            <a:ext cx="2153880" cy="1503000"/>
          </a:xfrm>
          <a:custGeom>
            <a:avLst/>
            <a:gdLst/>
            <a:ahLst/>
            <a:rect l="l" t="t" r="r" b="b"/>
            <a:pathLst>
              <a:path w="1170" h="840">
                <a:moveTo>
                  <a:pt x="1170" y="0"/>
                </a:moveTo>
                <a:lnTo>
                  <a:pt x="0" y="84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705" name="Shape 4115"/>
          <p:cNvSpPr/>
          <p:nvPr/>
        </p:nvSpPr>
        <p:spPr>
          <a:xfrm>
            <a:off x="2928960" y="3006720"/>
            <a:ext cx="1153800" cy="736200"/>
          </a:xfrm>
          <a:custGeom>
            <a:avLst/>
            <a:gdLst/>
            <a:ahLst/>
            <a:rect l="l" t="t" r="r" b="b"/>
            <a:pathLst>
              <a:path w="600" h="430">
                <a:moveTo>
                  <a:pt x="0" y="0"/>
                </a:moveTo>
                <a:lnTo>
                  <a:pt x="600" y="43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706" name="Shape 4116"/>
          <p:cNvSpPr/>
          <p:nvPr/>
        </p:nvSpPr>
        <p:spPr>
          <a:xfrm>
            <a:off x="1247760" y="3983040"/>
            <a:ext cx="2074680" cy="1523520"/>
          </a:xfrm>
          <a:custGeom>
            <a:avLst/>
            <a:gdLst/>
            <a:ahLst/>
            <a:rect l="l" t="t" r="r" b="b"/>
            <a:pathLst>
              <a:path w="1110" h="870">
                <a:moveTo>
                  <a:pt x="0" y="0"/>
                </a:moveTo>
                <a:lnTo>
                  <a:pt x="1110" y="870"/>
                </a:lnTo>
              </a:path>
            </a:pathLst>
          </a:custGeom>
          <a:noFill/>
          <a:ln w="38100">
            <a:solidFill>
              <a:srgbClr val="3333cc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707" name="Shape 4117"/>
          <p:cNvSpPr/>
          <p:nvPr/>
        </p:nvSpPr>
        <p:spPr>
          <a:xfrm>
            <a:off x="3567240" y="4124160"/>
            <a:ext cx="622080" cy="1398240"/>
          </a:xfrm>
          <a:custGeom>
            <a:avLst/>
            <a:gdLst/>
            <a:ahLst/>
            <a:rect l="l" t="t" r="r" b="b"/>
            <a:pathLst>
              <a:path w="300" h="825">
                <a:moveTo>
                  <a:pt x="0" y="825"/>
                </a:moveTo>
                <a:lnTo>
                  <a:pt x="300" y="0"/>
                </a:lnTo>
              </a:path>
            </a:pathLst>
          </a:custGeom>
          <a:noFill/>
          <a:ln w="38100">
            <a:solidFill>
              <a:srgbClr val="3333cc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708" name="Shape 4118"/>
          <p:cNvSpPr/>
          <p:nvPr/>
        </p:nvSpPr>
        <p:spPr>
          <a:xfrm>
            <a:off x="1096920" y="4122720"/>
            <a:ext cx="577440" cy="1326960"/>
          </a:xfrm>
          <a:custGeom>
            <a:avLst/>
            <a:gdLst/>
            <a:ahLst/>
            <a:rect l="l" t="t" r="r" b="b"/>
            <a:pathLst>
              <a:path w="309" h="758">
                <a:moveTo>
                  <a:pt x="0" y="0"/>
                </a:moveTo>
                <a:lnTo>
                  <a:pt x="309" y="758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709" name="Shape 4119"/>
          <p:cNvGrpSpPr/>
          <p:nvPr/>
        </p:nvGrpSpPr>
        <p:grpSpPr>
          <a:xfrm>
            <a:off x="2475000" y="2631960"/>
            <a:ext cx="529920" cy="595080"/>
            <a:chOff x="2475000" y="2631960"/>
            <a:chExt cx="529920" cy="595080"/>
          </a:xfrm>
        </p:grpSpPr>
        <p:sp>
          <p:nvSpPr>
            <p:cNvPr id="3710" name="Shape 4120"/>
            <p:cNvSpPr/>
            <p:nvPr/>
          </p:nvSpPr>
          <p:spPr>
            <a:xfrm>
              <a:off x="2475000" y="26812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11" name="Shape 4121"/>
            <p:cNvSpPr/>
            <p:nvPr/>
          </p:nvSpPr>
          <p:spPr>
            <a:xfrm>
              <a:off x="2541600" y="26319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712" name="Shape 4122"/>
          <p:cNvGrpSpPr/>
          <p:nvPr/>
        </p:nvGrpSpPr>
        <p:grpSpPr>
          <a:xfrm>
            <a:off x="785880" y="3606840"/>
            <a:ext cx="529920" cy="595080"/>
            <a:chOff x="785880" y="3606840"/>
            <a:chExt cx="529920" cy="595080"/>
          </a:xfrm>
        </p:grpSpPr>
        <p:sp>
          <p:nvSpPr>
            <p:cNvPr id="3713" name="Shape 4123"/>
            <p:cNvSpPr/>
            <p:nvPr/>
          </p:nvSpPr>
          <p:spPr>
            <a:xfrm>
              <a:off x="785880" y="36576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cc3300"/>
                </a:gs>
                <a:gs pos="100000">
                  <a:srgbClr val="8f2300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14" name="Shape 4124"/>
            <p:cNvSpPr/>
            <p:nvPr/>
          </p:nvSpPr>
          <p:spPr>
            <a:xfrm>
              <a:off x="852480" y="3606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715" name="Shape 4125"/>
          <p:cNvGrpSpPr/>
          <p:nvPr/>
        </p:nvGrpSpPr>
        <p:grpSpPr>
          <a:xfrm>
            <a:off x="1471680" y="5376960"/>
            <a:ext cx="529920" cy="595080"/>
            <a:chOff x="1471680" y="5376960"/>
            <a:chExt cx="529920" cy="595080"/>
          </a:xfrm>
        </p:grpSpPr>
        <p:sp>
          <p:nvSpPr>
            <p:cNvPr id="3716" name="Shape 4126"/>
            <p:cNvSpPr/>
            <p:nvPr/>
          </p:nvSpPr>
          <p:spPr>
            <a:xfrm>
              <a:off x="1471680" y="54259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17" name="Shape 4127"/>
            <p:cNvSpPr/>
            <p:nvPr/>
          </p:nvSpPr>
          <p:spPr>
            <a:xfrm>
              <a:off x="1538280" y="53769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718" name="Shape 4128"/>
          <p:cNvGrpSpPr/>
          <p:nvPr/>
        </p:nvGrpSpPr>
        <p:grpSpPr>
          <a:xfrm>
            <a:off x="3193920" y="5421240"/>
            <a:ext cx="530280" cy="595080"/>
            <a:chOff x="3193920" y="5421240"/>
            <a:chExt cx="530280" cy="595080"/>
          </a:xfrm>
        </p:grpSpPr>
        <p:sp>
          <p:nvSpPr>
            <p:cNvPr id="3719" name="Shape 4129"/>
            <p:cNvSpPr/>
            <p:nvPr/>
          </p:nvSpPr>
          <p:spPr>
            <a:xfrm>
              <a:off x="3193920" y="5470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20" name="Shape 4130"/>
            <p:cNvSpPr/>
            <p:nvPr/>
          </p:nvSpPr>
          <p:spPr>
            <a:xfrm>
              <a:off x="3260880" y="5421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721" name="Shape 4131"/>
          <p:cNvGrpSpPr/>
          <p:nvPr/>
        </p:nvGrpSpPr>
        <p:grpSpPr>
          <a:xfrm>
            <a:off x="4032360" y="3592440"/>
            <a:ext cx="529920" cy="595080"/>
            <a:chOff x="4032360" y="3592440"/>
            <a:chExt cx="529920" cy="595080"/>
          </a:xfrm>
        </p:grpSpPr>
        <p:sp>
          <p:nvSpPr>
            <p:cNvPr id="3722" name="Shape 4132"/>
            <p:cNvSpPr/>
            <p:nvPr/>
          </p:nvSpPr>
          <p:spPr>
            <a:xfrm>
              <a:off x="4032360" y="3641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23" name="Shape 4133"/>
            <p:cNvSpPr/>
            <p:nvPr/>
          </p:nvSpPr>
          <p:spPr>
            <a:xfrm>
              <a:off x="4098960" y="3592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724" name="Shape 4134"/>
          <p:cNvSpPr/>
          <p:nvPr/>
        </p:nvSpPr>
        <p:spPr>
          <a:xfrm>
            <a:off x="1411200" y="296856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725" name="Shape 4135"/>
          <p:cNvSpPr/>
          <p:nvPr/>
        </p:nvSpPr>
        <p:spPr>
          <a:xfrm>
            <a:off x="3438360" y="293832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726" name="Shape 4136"/>
          <p:cNvSpPr/>
          <p:nvPr/>
        </p:nvSpPr>
        <p:spPr>
          <a:xfrm>
            <a:off x="1731960" y="396072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727" name="Shape 4137"/>
          <p:cNvSpPr/>
          <p:nvPr/>
        </p:nvSpPr>
        <p:spPr>
          <a:xfrm>
            <a:off x="3087720" y="396072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728" name="Shape 4138"/>
          <p:cNvSpPr/>
          <p:nvPr/>
        </p:nvSpPr>
        <p:spPr>
          <a:xfrm>
            <a:off x="757080" y="4602240"/>
            <a:ext cx="623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729" name="Shape 4139"/>
          <p:cNvSpPr/>
          <p:nvPr/>
        </p:nvSpPr>
        <p:spPr>
          <a:xfrm>
            <a:off x="3941640" y="467676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730" name="Shape 4140"/>
          <p:cNvSpPr/>
          <p:nvPr/>
        </p:nvSpPr>
        <p:spPr>
          <a:xfrm>
            <a:off x="2357280" y="577368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731" name="Shape 4141"/>
          <p:cNvSpPr/>
          <p:nvPr/>
        </p:nvSpPr>
        <p:spPr>
          <a:xfrm>
            <a:off x="5099040" y="2863800"/>
            <a:ext cx="3641400" cy="30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S={A, B, D, C}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A→B:(A, B)10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A→C:(A, D, C)50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A→D: (A, D)30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A→E: (A, D, C, E)60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3732" name="Shape 4142"/>
          <p:cNvGrpSpPr/>
          <p:nvPr/>
        </p:nvGrpSpPr>
        <p:grpSpPr>
          <a:xfrm>
            <a:off x="2478240" y="2629080"/>
            <a:ext cx="529920" cy="595080"/>
            <a:chOff x="2478240" y="2629080"/>
            <a:chExt cx="529920" cy="595080"/>
          </a:xfrm>
        </p:grpSpPr>
        <p:sp>
          <p:nvSpPr>
            <p:cNvPr id="3733" name="Shape 4143"/>
            <p:cNvSpPr/>
            <p:nvPr/>
          </p:nvSpPr>
          <p:spPr>
            <a:xfrm>
              <a:off x="2478240" y="2679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cc3300"/>
                </a:gs>
                <a:gs pos="100000">
                  <a:srgbClr val="8f2300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34" name="Shape 4144"/>
            <p:cNvSpPr/>
            <p:nvPr/>
          </p:nvSpPr>
          <p:spPr>
            <a:xfrm>
              <a:off x="2544840" y="2629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735" name="Shape 4145"/>
          <p:cNvSpPr/>
          <p:nvPr/>
        </p:nvSpPr>
        <p:spPr>
          <a:xfrm>
            <a:off x="5192640" y="5900760"/>
            <a:ext cx="3182400" cy="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736" name="Shape 4146"/>
          <p:cNvGrpSpPr/>
          <p:nvPr/>
        </p:nvGrpSpPr>
        <p:grpSpPr>
          <a:xfrm>
            <a:off x="3195720" y="5416560"/>
            <a:ext cx="529920" cy="595080"/>
            <a:chOff x="3195720" y="5416560"/>
            <a:chExt cx="529920" cy="595080"/>
          </a:xfrm>
        </p:grpSpPr>
        <p:sp>
          <p:nvSpPr>
            <p:cNvPr id="3737" name="Shape 4147"/>
            <p:cNvSpPr/>
            <p:nvPr/>
          </p:nvSpPr>
          <p:spPr>
            <a:xfrm>
              <a:off x="3195720" y="5467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cc3300"/>
                </a:gs>
                <a:gs pos="100000">
                  <a:srgbClr val="8f2300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38" name="Shape 4148"/>
            <p:cNvSpPr/>
            <p:nvPr/>
          </p:nvSpPr>
          <p:spPr>
            <a:xfrm>
              <a:off x="3262320" y="54165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739" name="Shape 4149"/>
          <p:cNvGrpSpPr/>
          <p:nvPr/>
        </p:nvGrpSpPr>
        <p:grpSpPr>
          <a:xfrm>
            <a:off x="4017960" y="3587760"/>
            <a:ext cx="529920" cy="595080"/>
            <a:chOff x="4017960" y="3587760"/>
            <a:chExt cx="529920" cy="595080"/>
          </a:xfrm>
        </p:grpSpPr>
        <p:sp>
          <p:nvSpPr>
            <p:cNvPr id="3740" name="Shape 4150"/>
            <p:cNvSpPr/>
            <p:nvPr/>
          </p:nvSpPr>
          <p:spPr>
            <a:xfrm>
              <a:off x="4017960" y="36385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cc3300"/>
                </a:gs>
                <a:gs pos="100000">
                  <a:srgbClr val="8f2300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41" name="Shape 4151"/>
            <p:cNvSpPr/>
            <p:nvPr/>
          </p:nvSpPr>
          <p:spPr>
            <a:xfrm>
              <a:off x="4084560" y="35877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742" name="Shape 4152"/>
          <p:cNvSpPr/>
          <p:nvPr/>
        </p:nvSpPr>
        <p:spPr>
          <a:xfrm>
            <a:off x="382680" y="1295280"/>
            <a:ext cx="46479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Dijkstra</a:t>
            </a: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算法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743" name="Shape 4153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29" dur="indefinite" restart="never" nodeType="tmRoot">
          <p:childTnLst>
            <p:seq>
              <p:cTn id="1030" dur="indefinite" nodeType="mainSeq">
                <p:childTnLst>
                  <p:par>
                    <p:cTn id="1031" fill="hold">
                      <p:stCondLst>
                        <p:cond delay="indefinite"/>
                      </p:stCondLst>
                      <p:childTnLst>
                        <p:par>
                          <p:cTn id="1032" fill="hold">
                            <p:stCondLst>
                              <p:cond delay="0"/>
                            </p:stCondLst>
                            <p:childTnLst>
                              <p:par>
                                <p:cTn id="10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5" fill="hold">
                      <p:stCondLst>
                        <p:cond delay="indefinite"/>
                      </p:stCondLst>
                      <p:childTnLst>
                        <p:par>
                          <p:cTn id="1036" fill="hold">
                            <p:stCondLst>
                              <p:cond delay="0"/>
                            </p:stCondLst>
                            <p:childTnLst>
                              <p:par>
                                <p:cTn id="10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9" dur="500"/>
                                        <p:tgtEl>
                                          <p:spTgt spid="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4" name="Shape 4158"/>
          <p:cNvGrpSpPr/>
          <p:nvPr/>
        </p:nvGrpSpPr>
        <p:grpSpPr>
          <a:xfrm>
            <a:off x="782640" y="3606840"/>
            <a:ext cx="529920" cy="595080"/>
            <a:chOff x="782640" y="3606840"/>
            <a:chExt cx="529920" cy="595080"/>
          </a:xfrm>
        </p:grpSpPr>
        <p:sp>
          <p:nvSpPr>
            <p:cNvPr id="3745" name="Shape 4159"/>
            <p:cNvSpPr/>
            <p:nvPr/>
          </p:nvSpPr>
          <p:spPr>
            <a:xfrm>
              <a:off x="782640" y="36561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46" name="Shape 4160"/>
            <p:cNvSpPr/>
            <p:nvPr/>
          </p:nvSpPr>
          <p:spPr>
            <a:xfrm>
              <a:off x="849240" y="3606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747" name="Shape 4161"/>
          <p:cNvSpPr/>
          <p:nvPr/>
        </p:nvSpPr>
        <p:spPr>
          <a:xfrm>
            <a:off x="1174680" y="2990880"/>
            <a:ext cx="1298160" cy="748800"/>
          </a:xfrm>
          <a:custGeom>
            <a:avLst/>
            <a:gdLst/>
            <a:ahLst/>
            <a:rect l="l" t="t" r="r" b="b"/>
            <a:pathLst>
              <a:path w="735" h="420">
                <a:moveTo>
                  <a:pt x="0" y="420"/>
                </a:moveTo>
                <a:lnTo>
                  <a:pt x="735" y="0"/>
                </a:lnTo>
              </a:path>
            </a:pathLst>
          </a:custGeom>
          <a:noFill/>
          <a:ln w="38100">
            <a:solidFill>
              <a:srgbClr val="ff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748" name="Shape 4162"/>
          <p:cNvSpPr/>
          <p:nvPr/>
        </p:nvSpPr>
        <p:spPr>
          <a:xfrm>
            <a:off x="1968480" y="5681520"/>
            <a:ext cx="1233000" cy="1080"/>
          </a:xfrm>
          <a:custGeom>
            <a:avLst/>
            <a:gdLst/>
            <a:ahLst/>
            <a:rect l="l" t="t" r="r" b="b"/>
            <a:pathLst>
              <a:path w="636" h="7">
                <a:moveTo>
                  <a:pt x="636" y="7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749" name="Shape 4163"/>
          <p:cNvSpPr/>
          <p:nvPr/>
        </p:nvSpPr>
        <p:spPr>
          <a:xfrm>
            <a:off x="1874880" y="3967200"/>
            <a:ext cx="2153880" cy="1503000"/>
          </a:xfrm>
          <a:custGeom>
            <a:avLst/>
            <a:gdLst/>
            <a:ahLst/>
            <a:rect l="l" t="t" r="r" b="b"/>
            <a:pathLst>
              <a:path w="1170" h="840">
                <a:moveTo>
                  <a:pt x="1170" y="0"/>
                </a:moveTo>
                <a:lnTo>
                  <a:pt x="0" y="840"/>
                </a:lnTo>
              </a:path>
            </a:pathLst>
          </a:custGeom>
          <a:noFill/>
          <a:ln w="38100">
            <a:solidFill>
              <a:srgbClr val="3333cc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750" name="Shape 4164"/>
          <p:cNvSpPr/>
          <p:nvPr/>
        </p:nvSpPr>
        <p:spPr>
          <a:xfrm>
            <a:off x="2928960" y="3006720"/>
            <a:ext cx="1153800" cy="736200"/>
          </a:xfrm>
          <a:custGeom>
            <a:avLst/>
            <a:gdLst/>
            <a:ahLst/>
            <a:rect l="l" t="t" r="r" b="b"/>
            <a:pathLst>
              <a:path w="600" h="430">
                <a:moveTo>
                  <a:pt x="0" y="0"/>
                </a:moveTo>
                <a:lnTo>
                  <a:pt x="600" y="43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751" name="Shape 4165"/>
          <p:cNvSpPr/>
          <p:nvPr/>
        </p:nvSpPr>
        <p:spPr>
          <a:xfrm>
            <a:off x="1247760" y="3983040"/>
            <a:ext cx="2074680" cy="1523520"/>
          </a:xfrm>
          <a:custGeom>
            <a:avLst/>
            <a:gdLst/>
            <a:ahLst/>
            <a:rect l="l" t="t" r="r" b="b"/>
            <a:pathLst>
              <a:path w="1110" h="870">
                <a:moveTo>
                  <a:pt x="0" y="0"/>
                </a:moveTo>
                <a:lnTo>
                  <a:pt x="1110" y="870"/>
                </a:lnTo>
              </a:path>
            </a:pathLst>
          </a:custGeom>
          <a:noFill/>
          <a:ln w="38100">
            <a:solidFill>
              <a:srgbClr val="3333cc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752" name="Shape 4166"/>
          <p:cNvSpPr/>
          <p:nvPr/>
        </p:nvSpPr>
        <p:spPr>
          <a:xfrm>
            <a:off x="3567240" y="4124160"/>
            <a:ext cx="622080" cy="1398240"/>
          </a:xfrm>
          <a:custGeom>
            <a:avLst/>
            <a:gdLst/>
            <a:ahLst/>
            <a:rect l="l" t="t" r="r" b="b"/>
            <a:pathLst>
              <a:path w="300" h="825">
                <a:moveTo>
                  <a:pt x="0" y="825"/>
                </a:moveTo>
                <a:lnTo>
                  <a:pt x="300" y="0"/>
                </a:lnTo>
              </a:path>
            </a:pathLst>
          </a:custGeom>
          <a:noFill/>
          <a:ln w="38100">
            <a:solidFill>
              <a:srgbClr val="3333cc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753" name="Shape 4167"/>
          <p:cNvSpPr/>
          <p:nvPr/>
        </p:nvSpPr>
        <p:spPr>
          <a:xfrm>
            <a:off x="1096920" y="4122720"/>
            <a:ext cx="577440" cy="1326960"/>
          </a:xfrm>
          <a:custGeom>
            <a:avLst/>
            <a:gdLst/>
            <a:ahLst/>
            <a:rect l="l" t="t" r="r" b="b"/>
            <a:pathLst>
              <a:path w="309" h="758">
                <a:moveTo>
                  <a:pt x="0" y="0"/>
                </a:moveTo>
                <a:lnTo>
                  <a:pt x="309" y="758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754" name="Shape 4168"/>
          <p:cNvGrpSpPr/>
          <p:nvPr/>
        </p:nvGrpSpPr>
        <p:grpSpPr>
          <a:xfrm>
            <a:off x="2475000" y="2631960"/>
            <a:ext cx="529920" cy="595080"/>
            <a:chOff x="2475000" y="2631960"/>
            <a:chExt cx="529920" cy="595080"/>
          </a:xfrm>
        </p:grpSpPr>
        <p:sp>
          <p:nvSpPr>
            <p:cNvPr id="3755" name="Shape 4169"/>
            <p:cNvSpPr/>
            <p:nvPr/>
          </p:nvSpPr>
          <p:spPr>
            <a:xfrm>
              <a:off x="2475000" y="26812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56" name="Shape 4170"/>
            <p:cNvSpPr/>
            <p:nvPr/>
          </p:nvSpPr>
          <p:spPr>
            <a:xfrm>
              <a:off x="2541600" y="26319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757" name="Shape 4171"/>
          <p:cNvGrpSpPr/>
          <p:nvPr/>
        </p:nvGrpSpPr>
        <p:grpSpPr>
          <a:xfrm>
            <a:off x="785880" y="3606840"/>
            <a:ext cx="529920" cy="595080"/>
            <a:chOff x="785880" y="3606840"/>
            <a:chExt cx="529920" cy="595080"/>
          </a:xfrm>
        </p:grpSpPr>
        <p:sp>
          <p:nvSpPr>
            <p:cNvPr id="3758" name="Shape 4172"/>
            <p:cNvSpPr/>
            <p:nvPr/>
          </p:nvSpPr>
          <p:spPr>
            <a:xfrm>
              <a:off x="785880" y="36576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cc3300"/>
                </a:gs>
                <a:gs pos="100000">
                  <a:srgbClr val="8f2300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59" name="Shape 4173"/>
            <p:cNvSpPr/>
            <p:nvPr/>
          </p:nvSpPr>
          <p:spPr>
            <a:xfrm>
              <a:off x="852480" y="3606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760" name="Shape 4174"/>
          <p:cNvGrpSpPr/>
          <p:nvPr/>
        </p:nvGrpSpPr>
        <p:grpSpPr>
          <a:xfrm>
            <a:off x="1471680" y="5376960"/>
            <a:ext cx="529920" cy="595080"/>
            <a:chOff x="1471680" y="5376960"/>
            <a:chExt cx="529920" cy="595080"/>
          </a:xfrm>
        </p:grpSpPr>
        <p:sp>
          <p:nvSpPr>
            <p:cNvPr id="3761" name="Shape 4175"/>
            <p:cNvSpPr/>
            <p:nvPr/>
          </p:nvSpPr>
          <p:spPr>
            <a:xfrm>
              <a:off x="1471680" y="54259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62" name="Shape 4176"/>
            <p:cNvSpPr/>
            <p:nvPr/>
          </p:nvSpPr>
          <p:spPr>
            <a:xfrm>
              <a:off x="1538280" y="53769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763" name="Shape 4177"/>
          <p:cNvGrpSpPr/>
          <p:nvPr/>
        </p:nvGrpSpPr>
        <p:grpSpPr>
          <a:xfrm>
            <a:off x="3193920" y="5421240"/>
            <a:ext cx="530280" cy="595080"/>
            <a:chOff x="3193920" y="5421240"/>
            <a:chExt cx="530280" cy="595080"/>
          </a:xfrm>
        </p:grpSpPr>
        <p:sp>
          <p:nvSpPr>
            <p:cNvPr id="3764" name="Shape 4178"/>
            <p:cNvSpPr/>
            <p:nvPr/>
          </p:nvSpPr>
          <p:spPr>
            <a:xfrm>
              <a:off x="3193920" y="5470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65" name="Shape 4179"/>
            <p:cNvSpPr/>
            <p:nvPr/>
          </p:nvSpPr>
          <p:spPr>
            <a:xfrm>
              <a:off x="3260880" y="5421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766" name="Shape 4180"/>
          <p:cNvGrpSpPr/>
          <p:nvPr/>
        </p:nvGrpSpPr>
        <p:grpSpPr>
          <a:xfrm>
            <a:off x="4032360" y="3592440"/>
            <a:ext cx="529920" cy="595080"/>
            <a:chOff x="4032360" y="3592440"/>
            <a:chExt cx="529920" cy="595080"/>
          </a:xfrm>
        </p:grpSpPr>
        <p:sp>
          <p:nvSpPr>
            <p:cNvPr id="3767" name="Shape 4181"/>
            <p:cNvSpPr/>
            <p:nvPr/>
          </p:nvSpPr>
          <p:spPr>
            <a:xfrm>
              <a:off x="4032360" y="36417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68" name="Shape 4182"/>
            <p:cNvSpPr/>
            <p:nvPr/>
          </p:nvSpPr>
          <p:spPr>
            <a:xfrm>
              <a:off x="4098960" y="35924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769" name="Shape 4183"/>
          <p:cNvSpPr/>
          <p:nvPr/>
        </p:nvSpPr>
        <p:spPr>
          <a:xfrm>
            <a:off x="1411200" y="296856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770" name="Shape 4184"/>
          <p:cNvSpPr/>
          <p:nvPr/>
        </p:nvSpPr>
        <p:spPr>
          <a:xfrm>
            <a:off x="3438360" y="293832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771" name="Shape 4185"/>
          <p:cNvSpPr/>
          <p:nvPr/>
        </p:nvSpPr>
        <p:spPr>
          <a:xfrm>
            <a:off x="1731960" y="396072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772" name="Shape 4186"/>
          <p:cNvSpPr/>
          <p:nvPr/>
        </p:nvSpPr>
        <p:spPr>
          <a:xfrm>
            <a:off x="3087720" y="396072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773" name="Shape 4187"/>
          <p:cNvSpPr/>
          <p:nvPr/>
        </p:nvSpPr>
        <p:spPr>
          <a:xfrm>
            <a:off x="757080" y="4602240"/>
            <a:ext cx="623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774" name="Shape 4188"/>
          <p:cNvSpPr/>
          <p:nvPr/>
        </p:nvSpPr>
        <p:spPr>
          <a:xfrm>
            <a:off x="3941640" y="467676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775" name="Shape 4189"/>
          <p:cNvSpPr/>
          <p:nvPr/>
        </p:nvSpPr>
        <p:spPr>
          <a:xfrm>
            <a:off x="2357280" y="5773680"/>
            <a:ext cx="54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776" name="Shape 4190"/>
          <p:cNvSpPr/>
          <p:nvPr/>
        </p:nvSpPr>
        <p:spPr>
          <a:xfrm>
            <a:off x="382680" y="1295280"/>
            <a:ext cx="46479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Dijkstra</a:t>
            </a: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算法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777" name="Shape 4191"/>
          <p:cNvSpPr/>
          <p:nvPr/>
        </p:nvSpPr>
        <p:spPr>
          <a:xfrm>
            <a:off x="5099040" y="2863800"/>
            <a:ext cx="3641400" cy="30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S={A, B, D, C, E}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A→B:(A, B)10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A→C:(A, D, C)50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A→D: (A, D)30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A→E: (A, D, C, E)60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3778" name="Shape 4192"/>
          <p:cNvGrpSpPr/>
          <p:nvPr/>
        </p:nvGrpSpPr>
        <p:grpSpPr>
          <a:xfrm>
            <a:off x="2478240" y="2629080"/>
            <a:ext cx="529920" cy="595080"/>
            <a:chOff x="2478240" y="2629080"/>
            <a:chExt cx="529920" cy="595080"/>
          </a:xfrm>
        </p:grpSpPr>
        <p:sp>
          <p:nvSpPr>
            <p:cNvPr id="3779" name="Shape 4193"/>
            <p:cNvSpPr/>
            <p:nvPr/>
          </p:nvSpPr>
          <p:spPr>
            <a:xfrm>
              <a:off x="2478240" y="2679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cc3300"/>
                </a:gs>
                <a:gs pos="100000">
                  <a:srgbClr val="8f2300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80" name="Shape 4194"/>
            <p:cNvSpPr/>
            <p:nvPr/>
          </p:nvSpPr>
          <p:spPr>
            <a:xfrm>
              <a:off x="2544840" y="26290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781" name="Shape 4195"/>
          <p:cNvGrpSpPr/>
          <p:nvPr/>
        </p:nvGrpSpPr>
        <p:grpSpPr>
          <a:xfrm>
            <a:off x="3195720" y="5416560"/>
            <a:ext cx="529920" cy="595080"/>
            <a:chOff x="3195720" y="5416560"/>
            <a:chExt cx="529920" cy="595080"/>
          </a:xfrm>
        </p:grpSpPr>
        <p:sp>
          <p:nvSpPr>
            <p:cNvPr id="3782" name="Shape 4196"/>
            <p:cNvSpPr/>
            <p:nvPr/>
          </p:nvSpPr>
          <p:spPr>
            <a:xfrm>
              <a:off x="3195720" y="5467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cc3300"/>
                </a:gs>
                <a:gs pos="100000">
                  <a:srgbClr val="8f2300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83" name="Shape 4197"/>
            <p:cNvSpPr/>
            <p:nvPr/>
          </p:nvSpPr>
          <p:spPr>
            <a:xfrm>
              <a:off x="3262320" y="54165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784" name="Shape 4198"/>
          <p:cNvGrpSpPr/>
          <p:nvPr/>
        </p:nvGrpSpPr>
        <p:grpSpPr>
          <a:xfrm>
            <a:off x="4017960" y="3587760"/>
            <a:ext cx="529920" cy="595080"/>
            <a:chOff x="4017960" y="3587760"/>
            <a:chExt cx="529920" cy="595080"/>
          </a:xfrm>
        </p:grpSpPr>
        <p:sp>
          <p:nvSpPr>
            <p:cNvPr id="3785" name="Shape 4199"/>
            <p:cNvSpPr/>
            <p:nvPr/>
          </p:nvSpPr>
          <p:spPr>
            <a:xfrm>
              <a:off x="4017960" y="36385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cc3300"/>
                </a:gs>
                <a:gs pos="100000">
                  <a:srgbClr val="8f2300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86" name="Shape 4200"/>
            <p:cNvSpPr/>
            <p:nvPr/>
          </p:nvSpPr>
          <p:spPr>
            <a:xfrm>
              <a:off x="4084560" y="35877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787" name="Shape 4201"/>
          <p:cNvGrpSpPr/>
          <p:nvPr/>
        </p:nvGrpSpPr>
        <p:grpSpPr>
          <a:xfrm>
            <a:off x="1473120" y="5369040"/>
            <a:ext cx="529920" cy="595080"/>
            <a:chOff x="1473120" y="5369040"/>
            <a:chExt cx="529920" cy="595080"/>
          </a:xfrm>
        </p:grpSpPr>
        <p:sp>
          <p:nvSpPr>
            <p:cNvPr id="3788" name="Shape 4202"/>
            <p:cNvSpPr/>
            <p:nvPr/>
          </p:nvSpPr>
          <p:spPr>
            <a:xfrm>
              <a:off x="1473120" y="54198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cc3300"/>
                </a:gs>
                <a:gs pos="100000">
                  <a:srgbClr val="8f2300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89" name="Shape 4203"/>
            <p:cNvSpPr/>
            <p:nvPr/>
          </p:nvSpPr>
          <p:spPr>
            <a:xfrm>
              <a:off x="1539720" y="53690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790" name="Shape 4204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40" dur="indefinite" restart="never" nodeType="tmRoot">
          <p:childTnLst>
            <p:seq>
              <p:cTn id="1041" dur="indefinite" nodeType="mainSeq">
                <p:childTnLst>
                  <p:par>
                    <p:cTn id="1042" fill="hold">
                      <p:stCondLst>
                        <p:cond delay="indefinite"/>
                      </p:stCondLst>
                      <p:childTnLst>
                        <p:par>
                          <p:cTn id="1043" fill="hold">
                            <p:stCondLst>
                              <p:cond delay="0"/>
                            </p:stCondLst>
                            <p:childTnLst>
                              <p:par>
                                <p:cTn id="104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1" name="Shape 4209"/>
          <p:cNvSpPr/>
          <p:nvPr/>
        </p:nvSpPr>
        <p:spPr>
          <a:xfrm>
            <a:off x="393840" y="1981080"/>
            <a:ext cx="73958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Clr>
                <a:srgbClr val="000000"/>
              </a:buClr>
              <a:buFont typeface="Noto Sans Symbols"/>
              <a:buChar char="•"/>
            </a:pP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图的存储结构：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带权的邻接矩阵存储结构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792" name="Shape 4210"/>
          <p:cNvSpPr/>
          <p:nvPr/>
        </p:nvSpPr>
        <p:spPr>
          <a:xfrm>
            <a:off x="380880" y="2514600"/>
            <a:ext cx="8305560" cy="13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Clr>
                <a:srgbClr val="000000"/>
              </a:buClr>
              <a:buFont typeface="Noto Sans Symbols"/>
              <a:buChar char="•"/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数组</a:t>
            </a: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dist[n]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每个分量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dist[i]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表示当前所找到的从始点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到终点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的最短路径的长度。初态为：若从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到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有弧，则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dist[i]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为弧上权值；否则置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dist[i]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为∞。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793" name="Shape 4211"/>
          <p:cNvSpPr/>
          <p:nvPr/>
        </p:nvSpPr>
        <p:spPr>
          <a:xfrm>
            <a:off x="385920" y="3886200"/>
            <a:ext cx="8381520" cy="13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Clr>
                <a:srgbClr val="000000"/>
              </a:buClr>
              <a:buFont typeface="Noto Sans Symbols"/>
              <a:buChar char="•"/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数组</a:t>
            </a: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path[n]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：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path[i]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是一个字符串，表示当前所找到的从始点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到终点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的最短路径。初态为：若从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到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有弧，则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path[i]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为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；否则置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path[i]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空串。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794" name="Shape 4212"/>
          <p:cNvSpPr/>
          <p:nvPr/>
        </p:nvSpPr>
        <p:spPr>
          <a:xfrm>
            <a:off x="371520" y="5334120"/>
            <a:ext cx="845784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Clr>
                <a:srgbClr val="000000"/>
              </a:buClr>
              <a:buFont typeface="Noto Sans Symbols"/>
              <a:buChar char="•"/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数组</a:t>
            </a: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s[n]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存放源点和已经生成的终点，其初态为只有一个源点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795" name="Shape 4213"/>
          <p:cNvSpPr/>
          <p:nvPr/>
        </p:nvSpPr>
        <p:spPr>
          <a:xfrm>
            <a:off x="387360" y="1211400"/>
            <a:ext cx="44193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数据结构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: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796" name="Shape 4214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7" name="Shape 4219"/>
          <p:cNvSpPr/>
          <p:nvPr/>
        </p:nvSpPr>
        <p:spPr>
          <a:xfrm>
            <a:off x="928800" y="2209680"/>
            <a:ext cx="6857640" cy="32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初始化数组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dist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、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path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 while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中的元素个数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2.1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dist[n]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中求最小值，其下标为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2.2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输出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dist[j]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path[j]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2.3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修改数组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dist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path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2.4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将顶点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添加到数组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中；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798" name="Shape 4220"/>
          <p:cNvSpPr/>
          <p:nvPr/>
        </p:nvSpPr>
        <p:spPr>
          <a:xfrm>
            <a:off x="304920" y="1219320"/>
            <a:ext cx="46479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Dijkstra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算法——伪代码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799" name="Shape 4221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0" name="Shape 4226"/>
          <p:cNvSpPr/>
          <p:nvPr/>
        </p:nvSpPr>
        <p:spPr>
          <a:xfrm>
            <a:off x="426960" y="1357200"/>
            <a:ext cx="731484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003399"/>
                </a:solidFill>
                <a:latin typeface="Arial"/>
                <a:ea typeface="Arial"/>
              </a:rPr>
              <a:t>每一对顶点之间的最短路径</a:t>
            </a:r>
            <a:r>
              <a:rPr b="1" lang="en-US" sz="3200" spc="-1" strike="noStrike">
                <a:solidFill>
                  <a:srgbClr val="003399"/>
                </a:solidFill>
                <a:latin typeface="Times New Roman"/>
                <a:ea typeface="Times New Roman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801" name="Shape 4227"/>
          <p:cNvSpPr/>
          <p:nvPr/>
        </p:nvSpPr>
        <p:spPr>
          <a:xfrm>
            <a:off x="441360" y="2133720"/>
            <a:ext cx="8245080" cy="11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问题描述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：给定带权有向图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＝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对任意顶点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,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∈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（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≠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），求顶点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到顶点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的最短路径。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02" name="Shape 4228"/>
          <p:cNvSpPr/>
          <p:nvPr/>
        </p:nvSpPr>
        <p:spPr>
          <a:xfrm>
            <a:off x="503280" y="3533760"/>
            <a:ext cx="8200800" cy="27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  <a:buClr>
                <a:srgbClr val="000000"/>
              </a:buClr>
              <a:buFont typeface="Noto Sans Symbols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解决办法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：每次以一个顶点为源点调用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Dijkstra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算法。显然，时间复杂度为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en-US" sz="280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。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20000"/>
              </a:lnSpc>
              <a:spcBef>
                <a:spcPts val="561"/>
              </a:spcBef>
              <a:buClr>
                <a:srgbClr val="000000"/>
              </a:buClr>
              <a:buFont typeface="Noto Sans Symbols"/>
              <a:buChar char="•"/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解决办法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：弗洛伊德提出的求每一对顶点之间的最短路径算法——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Floyd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算法，其时间复杂度也是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O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en-US" sz="280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，但形式上要简单些。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03" name="Shape 4229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4" name="Shape 4234"/>
          <p:cNvSpPr/>
          <p:nvPr/>
        </p:nvSpPr>
        <p:spPr>
          <a:xfrm>
            <a:off x="477720" y="2209680"/>
            <a:ext cx="8229240" cy="31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基本思想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：对于从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到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的弧，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进行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次试探：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首先考虑路径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,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,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是否存在，如果存在，则比较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,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,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,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的路径长度，取较短者为从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到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的中间顶点的序号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不大于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的最短路径。在路径上再增加一个顶点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，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依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此类推，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在经过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次比较后，最后求得的必是从顶点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到顶点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的最短路径。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05" name="Shape 4235"/>
          <p:cNvSpPr/>
          <p:nvPr/>
        </p:nvSpPr>
        <p:spPr>
          <a:xfrm>
            <a:off x="426960" y="1281240"/>
            <a:ext cx="423684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Floyd</a:t>
            </a: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算法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806" name="Shape 4236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7" name="Shape 4241"/>
          <p:cNvSpPr/>
          <p:nvPr/>
        </p:nvSpPr>
        <p:spPr>
          <a:xfrm>
            <a:off x="2340000" y="2990880"/>
            <a:ext cx="647280" cy="1007640"/>
          </a:xfrm>
          <a:custGeom>
            <a:avLst/>
            <a:gdLst/>
            <a:ahLst/>
            <a:rect l="l" t="t" r="r" b="b"/>
            <a:pathLst>
              <a:path w="447" h="634">
                <a:moveTo>
                  <a:pt x="0" y="0"/>
                </a:moveTo>
                <a:lnTo>
                  <a:pt x="447" y="634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808" name="Shape 4242"/>
          <p:cNvSpPr/>
          <p:nvPr/>
        </p:nvSpPr>
        <p:spPr>
          <a:xfrm flipH="1" rot="10800000">
            <a:off x="1445040" y="4212000"/>
            <a:ext cx="1275840" cy="42480"/>
          </a:xfrm>
          <a:custGeom>
            <a:avLst/>
            <a:gdLst/>
            <a:ahLst/>
            <a:rect l="l" t="t" r="r" b="b"/>
            <a:pathLst>
              <a:path w="960" h="1">
                <a:moveTo>
                  <a:pt x="96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809" name="Shape 4243"/>
          <p:cNvSpPr/>
          <p:nvPr/>
        </p:nvSpPr>
        <p:spPr>
          <a:xfrm>
            <a:off x="2208240" y="3044880"/>
            <a:ext cx="606240" cy="980640"/>
          </a:xfrm>
          <a:custGeom>
            <a:avLst/>
            <a:gdLst/>
            <a:ahLst/>
            <a:rect l="l" t="t" r="r" b="b"/>
            <a:pathLst>
              <a:path w="420" h="600">
                <a:moveTo>
                  <a:pt x="420" y="60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810" name="Shape 4244"/>
          <p:cNvSpPr/>
          <p:nvPr/>
        </p:nvSpPr>
        <p:spPr>
          <a:xfrm>
            <a:off x="1389240" y="3103560"/>
            <a:ext cx="647280" cy="958320"/>
          </a:xfrm>
          <a:custGeom>
            <a:avLst/>
            <a:gdLst/>
            <a:ahLst/>
            <a:rect l="l" t="t" r="r" b="b"/>
            <a:pathLst>
              <a:path w="468" h="589">
                <a:moveTo>
                  <a:pt x="468" y="0"/>
                </a:moveTo>
                <a:lnTo>
                  <a:pt x="0" y="589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811" name="Shape 4245"/>
          <p:cNvSpPr/>
          <p:nvPr/>
        </p:nvSpPr>
        <p:spPr>
          <a:xfrm>
            <a:off x="1265400" y="2987640"/>
            <a:ext cx="666360" cy="963360"/>
          </a:xfrm>
          <a:custGeom>
            <a:avLst/>
            <a:gdLst/>
            <a:ahLst/>
            <a:rect l="l" t="t" r="r" b="b"/>
            <a:pathLst>
              <a:path w="483" h="574">
                <a:moveTo>
                  <a:pt x="0" y="574"/>
                </a:moveTo>
                <a:lnTo>
                  <a:pt x="483" y="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812" name="Shape 4246"/>
          <p:cNvSpPr/>
          <p:nvPr/>
        </p:nvSpPr>
        <p:spPr>
          <a:xfrm>
            <a:off x="5564160" y="2824200"/>
            <a:ext cx="1788840" cy="16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0    4    11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6    0     2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∞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13" name="Shape 4247"/>
          <p:cNvSpPr/>
          <p:nvPr/>
        </p:nvSpPr>
        <p:spPr>
          <a:xfrm>
            <a:off x="1395360" y="4848120"/>
            <a:ext cx="631944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有向网图                              邻接矩阵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14" name="Shape 4248"/>
          <p:cNvSpPr/>
          <p:nvPr/>
        </p:nvSpPr>
        <p:spPr>
          <a:xfrm>
            <a:off x="426960" y="1281240"/>
            <a:ext cx="423684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Floyd</a:t>
            </a: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算法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3815" name="Shape 4249"/>
          <p:cNvGrpSpPr/>
          <p:nvPr/>
        </p:nvGrpSpPr>
        <p:grpSpPr>
          <a:xfrm>
            <a:off x="1879560" y="2541600"/>
            <a:ext cx="529920" cy="595080"/>
            <a:chOff x="1879560" y="2541600"/>
            <a:chExt cx="529920" cy="595080"/>
          </a:xfrm>
        </p:grpSpPr>
        <p:sp>
          <p:nvSpPr>
            <p:cNvPr id="3816" name="Shape 4250"/>
            <p:cNvSpPr/>
            <p:nvPr/>
          </p:nvSpPr>
          <p:spPr>
            <a:xfrm>
              <a:off x="1879560" y="25909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17" name="Shape 4251"/>
            <p:cNvSpPr/>
            <p:nvPr/>
          </p:nvSpPr>
          <p:spPr>
            <a:xfrm>
              <a:off x="1946160" y="25416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818" name="Shape 4252"/>
          <p:cNvGrpSpPr/>
          <p:nvPr/>
        </p:nvGrpSpPr>
        <p:grpSpPr>
          <a:xfrm>
            <a:off x="966960" y="3914640"/>
            <a:ext cx="529920" cy="595080"/>
            <a:chOff x="966960" y="3914640"/>
            <a:chExt cx="529920" cy="595080"/>
          </a:xfrm>
        </p:grpSpPr>
        <p:sp>
          <p:nvSpPr>
            <p:cNvPr id="3819" name="Shape 4253"/>
            <p:cNvSpPr/>
            <p:nvPr/>
          </p:nvSpPr>
          <p:spPr>
            <a:xfrm>
              <a:off x="966960" y="39639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20" name="Shape 4254"/>
            <p:cNvSpPr/>
            <p:nvPr/>
          </p:nvSpPr>
          <p:spPr>
            <a:xfrm>
              <a:off x="1033560" y="39146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821" name="Shape 4255"/>
          <p:cNvGrpSpPr/>
          <p:nvPr/>
        </p:nvGrpSpPr>
        <p:grpSpPr>
          <a:xfrm>
            <a:off x="2735280" y="3944880"/>
            <a:ext cx="529920" cy="595080"/>
            <a:chOff x="2735280" y="3944880"/>
            <a:chExt cx="529920" cy="595080"/>
          </a:xfrm>
        </p:grpSpPr>
        <p:sp>
          <p:nvSpPr>
            <p:cNvPr id="3822" name="Shape 4256"/>
            <p:cNvSpPr/>
            <p:nvPr/>
          </p:nvSpPr>
          <p:spPr>
            <a:xfrm>
              <a:off x="2735280" y="399420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23" name="Shape 4257"/>
            <p:cNvSpPr/>
            <p:nvPr/>
          </p:nvSpPr>
          <p:spPr>
            <a:xfrm>
              <a:off x="2801880" y="394488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824" name="Shape 4258"/>
          <p:cNvSpPr/>
          <p:nvPr/>
        </p:nvSpPr>
        <p:spPr>
          <a:xfrm>
            <a:off x="1384200" y="3000240"/>
            <a:ext cx="39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825" name="Shape 4259"/>
          <p:cNvSpPr/>
          <p:nvPr/>
        </p:nvSpPr>
        <p:spPr>
          <a:xfrm>
            <a:off x="2604960" y="3030480"/>
            <a:ext cx="51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826" name="Shape 4260"/>
          <p:cNvSpPr/>
          <p:nvPr/>
        </p:nvSpPr>
        <p:spPr>
          <a:xfrm>
            <a:off x="2284560" y="3579840"/>
            <a:ext cx="51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827" name="Shape 4261"/>
          <p:cNvSpPr/>
          <p:nvPr/>
        </p:nvSpPr>
        <p:spPr>
          <a:xfrm>
            <a:off x="1612800" y="3579840"/>
            <a:ext cx="48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828" name="Shape 4262"/>
          <p:cNvSpPr/>
          <p:nvPr/>
        </p:nvSpPr>
        <p:spPr>
          <a:xfrm>
            <a:off x="1994040" y="4251240"/>
            <a:ext cx="41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829" name="Shape 4263"/>
          <p:cNvSpPr/>
          <p:nvPr/>
        </p:nvSpPr>
        <p:spPr>
          <a:xfrm>
            <a:off x="5408640" y="2909880"/>
            <a:ext cx="1706040" cy="1433160"/>
          </a:xfrm>
          <a:prstGeom prst="bracketPair">
            <a:avLst>
              <a:gd name="adj" fmla="val 16667"/>
            </a:avLst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830" name="Shape 4264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1" name="Shape 4269"/>
          <p:cNvSpPr/>
          <p:nvPr/>
        </p:nvSpPr>
        <p:spPr>
          <a:xfrm>
            <a:off x="426960" y="1281240"/>
            <a:ext cx="423684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Floyd</a:t>
            </a: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算法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3832" name="Shape 4270"/>
          <p:cNvGrpSpPr/>
          <p:nvPr/>
        </p:nvGrpSpPr>
        <p:grpSpPr>
          <a:xfrm>
            <a:off x="447840" y="2998800"/>
            <a:ext cx="2298240" cy="2166480"/>
            <a:chOff x="447840" y="2998800"/>
            <a:chExt cx="2298240" cy="2166480"/>
          </a:xfrm>
        </p:grpSpPr>
        <p:sp>
          <p:nvSpPr>
            <p:cNvPr id="3833" name="Shape 4271"/>
            <p:cNvSpPr/>
            <p:nvPr/>
          </p:nvSpPr>
          <p:spPr>
            <a:xfrm>
              <a:off x="1820880" y="3448080"/>
              <a:ext cx="647280" cy="1007640"/>
            </a:xfrm>
            <a:custGeom>
              <a:avLst/>
              <a:gdLst/>
              <a:ahLst/>
              <a:rect l="l" t="t" r="r" b="b"/>
              <a:pathLst>
                <a:path w="447" h="634">
                  <a:moveTo>
                    <a:pt x="0" y="0"/>
                  </a:moveTo>
                  <a:lnTo>
                    <a:pt x="447" y="634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34" name="Shape 4272"/>
            <p:cNvSpPr/>
            <p:nvPr/>
          </p:nvSpPr>
          <p:spPr>
            <a:xfrm flipH="1" rot="10800000">
              <a:off x="925920" y="4669200"/>
              <a:ext cx="1275840" cy="42480"/>
            </a:xfrm>
            <a:custGeom>
              <a:avLst/>
              <a:gdLst/>
              <a:ahLst/>
              <a:rect l="l" t="t" r="r" b="b"/>
              <a:pathLst>
                <a:path w="960" h="1">
                  <a:moveTo>
                    <a:pt x="96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35" name="Shape 4273"/>
            <p:cNvSpPr/>
            <p:nvPr/>
          </p:nvSpPr>
          <p:spPr>
            <a:xfrm>
              <a:off x="1689120" y="3502080"/>
              <a:ext cx="606240" cy="980640"/>
            </a:xfrm>
            <a:custGeom>
              <a:avLst/>
              <a:gdLst/>
              <a:ahLst/>
              <a:rect l="l" t="t" r="r" b="b"/>
              <a:pathLst>
                <a:path w="420" h="600">
                  <a:moveTo>
                    <a:pt x="420" y="6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36" name="Shape 4274"/>
            <p:cNvSpPr/>
            <p:nvPr/>
          </p:nvSpPr>
          <p:spPr>
            <a:xfrm>
              <a:off x="870120" y="3560760"/>
              <a:ext cx="647280" cy="958320"/>
            </a:xfrm>
            <a:custGeom>
              <a:avLst/>
              <a:gdLst/>
              <a:ahLst/>
              <a:rect l="l" t="t" r="r" b="b"/>
              <a:pathLst>
                <a:path w="468" h="589">
                  <a:moveTo>
                    <a:pt x="468" y="0"/>
                  </a:moveTo>
                  <a:lnTo>
                    <a:pt x="0" y="589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37" name="Shape 4275"/>
            <p:cNvSpPr/>
            <p:nvPr/>
          </p:nvSpPr>
          <p:spPr>
            <a:xfrm>
              <a:off x="746280" y="3444840"/>
              <a:ext cx="666360" cy="963360"/>
            </a:xfrm>
            <a:custGeom>
              <a:avLst/>
              <a:gdLst/>
              <a:ahLst/>
              <a:rect l="l" t="t" r="r" b="b"/>
              <a:pathLst>
                <a:path w="483" h="574">
                  <a:moveTo>
                    <a:pt x="0" y="574"/>
                  </a:moveTo>
                  <a:lnTo>
                    <a:pt x="483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3838" name="Shape 4276"/>
            <p:cNvGrpSpPr/>
            <p:nvPr/>
          </p:nvGrpSpPr>
          <p:grpSpPr>
            <a:xfrm>
              <a:off x="1360440" y="2998800"/>
              <a:ext cx="529920" cy="595080"/>
              <a:chOff x="1360440" y="2998800"/>
              <a:chExt cx="529920" cy="595080"/>
            </a:xfrm>
          </p:grpSpPr>
          <p:sp>
            <p:nvSpPr>
              <p:cNvPr id="3839" name="Shape 4277"/>
              <p:cNvSpPr/>
              <p:nvPr/>
            </p:nvSpPr>
            <p:spPr>
              <a:xfrm>
                <a:off x="1360440" y="304812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40" name="Shape 4278"/>
              <p:cNvSpPr/>
              <p:nvPr/>
            </p:nvSpPr>
            <p:spPr>
              <a:xfrm>
                <a:off x="1427040" y="299880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54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a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3841" name="Shape 4279"/>
            <p:cNvGrpSpPr/>
            <p:nvPr/>
          </p:nvGrpSpPr>
          <p:grpSpPr>
            <a:xfrm>
              <a:off x="447840" y="4371840"/>
              <a:ext cx="529920" cy="595080"/>
              <a:chOff x="447840" y="4371840"/>
              <a:chExt cx="529920" cy="595080"/>
            </a:xfrm>
          </p:grpSpPr>
          <p:sp>
            <p:nvSpPr>
              <p:cNvPr id="3842" name="Shape 4280"/>
              <p:cNvSpPr/>
              <p:nvPr/>
            </p:nvSpPr>
            <p:spPr>
              <a:xfrm>
                <a:off x="447840" y="442116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43" name="Shape 4281"/>
              <p:cNvSpPr/>
              <p:nvPr/>
            </p:nvSpPr>
            <p:spPr>
              <a:xfrm>
                <a:off x="514440" y="437184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54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3844" name="Shape 4282"/>
            <p:cNvGrpSpPr/>
            <p:nvPr/>
          </p:nvGrpSpPr>
          <p:grpSpPr>
            <a:xfrm>
              <a:off x="2216160" y="4402080"/>
              <a:ext cx="529920" cy="595080"/>
              <a:chOff x="2216160" y="4402080"/>
              <a:chExt cx="529920" cy="595080"/>
            </a:xfrm>
          </p:grpSpPr>
          <p:sp>
            <p:nvSpPr>
              <p:cNvPr id="3845" name="Shape 4283"/>
              <p:cNvSpPr/>
              <p:nvPr/>
            </p:nvSpPr>
            <p:spPr>
              <a:xfrm>
                <a:off x="2216160" y="44514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46" name="Shape 4284"/>
              <p:cNvSpPr/>
              <p:nvPr/>
            </p:nvSpPr>
            <p:spPr>
              <a:xfrm>
                <a:off x="2282760" y="44020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54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b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sp>
          <p:nvSpPr>
            <p:cNvPr id="3847" name="Shape 4285"/>
            <p:cNvSpPr/>
            <p:nvPr/>
          </p:nvSpPr>
          <p:spPr>
            <a:xfrm>
              <a:off x="865080" y="3457440"/>
              <a:ext cx="3963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848" name="Shape 4286"/>
            <p:cNvSpPr/>
            <p:nvPr/>
          </p:nvSpPr>
          <p:spPr>
            <a:xfrm>
              <a:off x="2085840" y="3487680"/>
              <a:ext cx="5187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4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849" name="Shape 4287"/>
            <p:cNvSpPr/>
            <p:nvPr/>
          </p:nvSpPr>
          <p:spPr>
            <a:xfrm>
              <a:off x="1765440" y="4037040"/>
              <a:ext cx="5187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6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850" name="Shape 4288"/>
            <p:cNvSpPr/>
            <p:nvPr/>
          </p:nvSpPr>
          <p:spPr>
            <a:xfrm>
              <a:off x="1093680" y="4037040"/>
              <a:ext cx="48852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851" name="Shape 4289"/>
            <p:cNvSpPr/>
            <p:nvPr/>
          </p:nvSpPr>
          <p:spPr>
            <a:xfrm>
              <a:off x="1474920" y="4708440"/>
              <a:ext cx="4125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</p:txBody>
        </p:sp>
      </p:grpSp>
      <p:sp>
        <p:nvSpPr>
          <p:cNvPr id="3852" name="Shape 4290"/>
          <p:cNvSpPr/>
          <p:nvPr/>
        </p:nvSpPr>
        <p:spPr>
          <a:xfrm>
            <a:off x="3295800" y="2897280"/>
            <a:ext cx="12600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dist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-1</a:t>
            </a:r>
            <a:r>
              <a:rPr b="1" lang="en-US" sz="280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53" name="Shape 4291"/>
          <p:cNvSpPr/>
          <p:nvPr/>
        </p:nvSpPr>
        <p:spPr>
          <a:xfrm>
            <a:off x="4640400" y="2297160"/>
            <a:ext cx="1788840" cy="16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0    4    11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6    0     2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∞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54" name="Shape 4292"/>
          <p:cNvSpPr/>
          <p:nvPr/>
        </p:nvSpPr>
        <p:spPr>
          <a:xfrm>
            <a:off x="4484520" y="2382840"/>
            <a:ext cx="1706040" cy="1433160"/>
          </a:xfrm>
          <a:prstGeom prst="bracketPair">
            <a:avLst>
              <a:gd name="adj" fmla="val 16667"/>
            </a:avLst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855" name="Shape 4293"/>
          <p:cNvSpPr/>
          <p:nvPr/>
        </p:nvSpPr>
        <p:spPr>
          <a:xfrm flipH="1">
            <a:off x="3133080" y="4815000"/>
            <a:ext cx="1302840" cy="556920"/>
          </a:xfrm>
          <a:prstGeom prst="rect">
            <a:avLst/>
          </a:prstGeom>
          <a:noFill/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path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-1</a:t>
            </a:r>
            <a:r>
              <a:rPr b="1" lang="en-US" sz="280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56" name="Shape 4294"/>
          <p:cNvSpPr/>
          <p:nvPr/>
        </p:nvSpPr>
        <p:spPr>
          <a:xfrm>
            <a:off x="4548240" y="4194000"/>
            <a:ext cx="1734840" cy="14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ab    ac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ba          bc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ca      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57" name="Shape 4295"/>
          <p:cNvSpPr/>
          <p:nvPr/>
        </p:nvSpPr>
        <p:spPr>
          <a:xfrm>
            <a:off x="4425840" y="4287960"/>
            <a:ext cx="1842840" cy="1433160"/>
          </a:xfrm>
          <a:prstGeom prst="bracketPair">
            <a:avLst>
              <a:gd name="adj" fmla="val 16667"/>
            </a:avLst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858" name="Shape 4296"/>
          <p:cNvSpPr/>
          <p:nvPr/>
        </p:nvSpPr>
        <p:spPr>
          <a:xfrm>
            <a:off x="915840" y="5241960"/>
            <a:ext cx="1372680" cy="51876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Arial"/>
                <a:ea typeface="Arial"/>
              </a:rPr>
              <a:t>初始化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59" name="Shape 4297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" name="Shape 4302"/>
          <p:cNvSpPr/>
          <p:nvPr/>
        </p:nvSpPr>
        <p:spPr>
          <a:xfrm>
            <a:off x="426960" y="1281240"/>
            <a:ext cx="423684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Floyd</a:t>
            </a: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算法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3861" name="Shape 4303"/>
          <p:cNvGrpSpPr/>
          <p:nvPr/>
        </p:nvGrpSpPr>
        <p:grpSpPr>
          <a:xfrm>
            <a:off x="277920" y="3114720"/>
            <a:ext cx="2298240" cy="2166480"/>
            <a:chOff x="277920" y="3114720"/>
            <a:chExt cx="2298240" cy="2166480"/>
          </a:xfrm>
        </p:grpSpPr>
        <p:sp>
          <p:nvSpPr>
            <p:cNvPr id="3862" name="Shape 4304"/>
            <p:cNvSpPr/>
            <p:nvPr/>
          </p:nvSpPr>
          <p:spPr>
            <a:xfrm>
              <a:off x="1650960" y="3564000"/>
              <a:ext cx="647280" cy="1007640"/>
            </a:xfrm>
            <a:custGeom>
              <a:avLst/>
              <a:gdLst/>
              <a:ahLst/>
              <a:rect l="l" t="t" r="r" b="b"/>
              <a:pathLst>
                <a:path w="447" h="634">
                  <a:moveTo>
                    <a:pt x="0" y="0"/>
                  </a:moveTo>
                  <a:lnTo>
                    <a:pt x="447" y="634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63" name="Shape 4305"/>
            <p:cNvSpPr/>
            <p:nvPr/>
          </p:nvSpPr>
          <p:spPr>
            <a:xfrm flipH="1" rot="10800000">
              <a:off x="756000" y="4785120"/>
              <a:ext cx="1275840" cy="42480"/>
            </a:xfrm>
            <a:custGeom>
              <a:avLst/>
              <a:gdLst/>
              <a:ahLst/>
              <a:rect l="l" t="t" r="r" b="b"/>
              <a:pathLst>
                <a:path w="960" h="1">
                  <a:moveTo>
                    <a:pt x="96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64" name="Shape 4306"/>
            <p:cNvSpPr/>
            <p:nvPr/>
          </p:nvSpPr>
          <p:spPr>
            <a:xfrm>
              <a:off x="1519200" y="3618000"/>
              <a:ext cx="606240" cy="980640"/>
            </a:xfrm>
            <a:custGeom>
              <a:avLst/>
              <a:gdLst/>
              <a:ahLst/>
              <a:rect l="l" t="t" r="r" b="b"/>
              <a:pathLst>
                <a:path w="420" h="600">
                  <a:moveTo>
                    <a:pt x="420" y="6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65" name="Shape 4307"/>
            <p:cNvSpPr/>
            <p:nvPr/>
          </p:nvSpPr>
          <p:spPr>
            <a:xfrm>
              <a:off x="700200" y="3676680"/>
              <a:ext cx="647280" cy="958320"/>
            </a:xfrm>
            <a:custGeom>
              <a:avLst/>
              <a:gdLst/>
              <a:ahLst/>
              <a:rect l="l" t="t" r="r" b="b"/>
              <a:pathLst>
                <a:path w="468" h="589">
                  <a:moveTo>
                    <a:pt x="468" y="0"/>
                  </a:moveTo>
                  <a:lnTo>
                    <a:pt x="0" y="589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66" name="Shape 4308"/>
            <p:cNvSpPr/>
            <p:nvPr/>
          </p:nvSpPr>
          <p:spPr>
            <a:xfrm>
              <a:off x="576360" y="3560760"/>
              <a:ext cx="666360" cy="963360"/>
            </a:xfrm>
            <a:custGeom>
              <a:avLst/>
              <a:gdLst/>
              <a:ahLst/>
              <a:rect l="l" t="t" r="r" b="b"/>
              <a:pathLst>
                <a:path w="483" h="574">
                  <a:moveTo>
                    <a:pt x="0" y="574"/>
                  </a:moveTo>
                  <a:lnTo>
                    <a:pt x="483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3867" name="Shape 4309"/>
            <p:cNvGrpSpPr/>
            <p:nvPr/>
          </p:nvGrpSpPr>
          <p:grpSpPr>
            <a:xfrm>
              <a:off x="1190520" y="3114720"/>
              <a:ext cx="529920" cy="595080"/>
              <a:chOff x="1190520" y="3114720"/>
              <a:chExt cx="529920" cy="595080"/>
            </a:xfrm>
          </p:grpSpPr>
          <p:sp>
            <p:nvSpPr>
              <p:cNvPr id="3868" name="Shape 4310"/>
              <p:cNvSpPr/>
              <p:nvPr/>
            </p:nvSpPr>
            <p:spPr>
              <a:xfrm>
                <a:off x="1190520" y="31640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69" name="Shape 4311"/>
              <p:cNvSpPr/>
              <p:nvPr/>
            </p:nvSpPr>
            <p:spPr>
              <a:xfrm>
                <a:off x="1257120" y="311472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54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a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3870" name="Shape 4312"/>
            <p:cNvGrpSpPr/>
            <p:nvPr/>
          </p:nvGrpSpPr>
          <p:grpSpPr>
            <a:xfrm>
              <a:off x="277920" y="4487760"/>
              <a:ext cx="529920" cy="595080"/>
              <a:chOff x="277920" y="4487760"/>
              <a:chExt cx="529920" cy="595080"/>
            </a:xfrm>
          </p:grpSpPr>
          <p:sp>
            <p:nvSpPr>
              <p:cNvPr id="3871" name="Shape 4313"/>
              <p:cNvSpPr/>
              <p:nvPr/>
            </p:nvSpPr>
            <p:spPr>
              <a:xfrm>
                <a:off x="277920" y="453708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72" name="Shape 4314"/>
              <p:cNvSpPr/>
              <p:nvPr/>
            </p:nvSpPr>
            <p:spPr>
              <a:xfrm>
                <a:off x="344520" y="448776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54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3873" name="Shape 4315"/>
            <p:cNvGrpSpPr/>
            <p:nvPr/>
          </p:nvGrpSpPr>
          <p:grpSpPr>
            <a:xfrm>
              <a:off x="2046240" y="4518000"/>
              <a:ext cx="529920" cy="595080"/>
              <a:chOff x="2046240" y="4518000"/>
              <a:chExt cx="529920" cy="595080"/>
            </a:xfrm>
          </p:grpSpPr>
          <p:sp>
            <p:nvSpPr>
              <p:cNvPr id="3874" name="Shape 4316"/>
              <p:cNvSpPr/>
              <p:nvPr/>
            </p:nvSpPr>
            <p:spPr>
              <a:xfrm>
                <a:off x="2046240" y="456732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75" name="Shape 4317"/>
              <p:cNvSpPr/>
              <p:nvPr/>
            </p:nvSpPr>
            <p:spPr>
              <a:xfrm>
                <a:off x="2112840" y="451800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54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b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sp>
          <p:nvSpPr>
            <p:cNvPr id="3876" name="Shape 4318"/>
            <p:cNvSpPr/>
            <p:nvPr/>
          </p:nvSpPr>
          <p:spPr>
            <a:xfrm>
              <a:off x="695160" y="3573360"/>
              <a:ext cx="3963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877" name="Shape 4319"/>
            <p:cNvSpPr/>
            <p:nvPr/>
          </p:nvSpPr>
          <p:spPr>
            <a:xfrm>
              <a:off x="1916280" y="3603600"/>
              <a:ext cx="5187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4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878" name="Shape 4320"/>
            <p:cNvSpPr/>
            <p:nvPr/>
          </p:nvSpPr>
          <p:spPr>
            <a:xfrm>
              <a:off x="1595520" y="4152960"/>
              <a:ext cx="5187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6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879" name="Shape 4321"/>
            <p:cNvSpPr/>
            <p:nvPr/>
          </p:nvSpPr>
          <p:spPr>
            <a:xfrm>
              <a:off x="923760" y="4152960"/>
              <a:ext cx="48852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880" name="Shape 4322"/>
            <p:cNvSpPr/>
            <p:nvPr/>
          </p:nvSpPr>
          <p:spPr>
            <a:xfrm>
              <a:off x="1305000" y="4824360"/>
              <a:ext cx="4125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</p:txBody>
        </p:sp>
      </p:grpSp>
      <p:sp>
        <p:nvSpPr>
          <p:cNvPr id="3881" name="Shape 4323"/>
          <p:cNvSpPr/>
          <p:nvPr/>
        </p:nvSpPr>
        <p:spPr>
          <a:xfrm>
            <a:off x="2903400" y="3076560"/>
            <a:ext cx="12600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dist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-1</a:t>
            </a:r>
            <a:r>
              <a:rPr b="1" lang="en-US" sz="280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82" name="Shape 4324"/>
          <p:cNvSpPr/>
          <p:nvPr/>
        </p:nvSpPr>
        <p:spPr>
          <a:xfrm>
            <a:off x="4248000" y="2476440"/>
            <a:ext cx="1788840" cy="16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0    4    11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6    0     2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∞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83" name="Shape 4325"/>
          <p:cNvSpPr/>
          <p:nvPr/>
        </p:nvSpPr>
        <p:spPr>
          <a:xfrm>
            <a:off x="4092480" y="2562120"/>
            <a:ext cx="1706040" cy="1433160"/>
          </a:xfrm>
          <a:prstGeom prst="bracketPair">
            <a:avLst>
              <a:gd name="adj" fmla="val 16667"/>
            </a:avLst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884" name="Shape 4326"/>
          <p:cNvSpPr/>
          <p:nvPr/>
        </p:nvSpPr>
        <p:spPr>
          <a:xfrm flipH="1">
            <a:off x="2741040" y="4994280"/>
            <a:ext cx="1302840" cy="556920"/>
          </a:xfrm>
          <a:prstGeom prst="rect">
            <a:avLst/>
          </a:prstGeom>
          <a:noFill/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path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-1</a:t>
            </a:r>
            <a:r>
              <a:rPr b="1" lang="en-US" sz="280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85" name="Shape 4327"/>
          <p:cNvSpPr/>
          <p:nvPr/>
        </p:nvSpPr>
        <p:spPr>
          <a:xfrm>
            <a:off x="4156200" y="4373640"/>
            <a:ext cx="1734840" cy="14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ab    ac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ba          bc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ca      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86" name="Shape 4328"/>
          <p:cNvSpPr/>
          <p:nvPr/>
        </p:nvSpPr>
        <p:spPr>
          <a:xfrm>
            <a:off x="4033800" y="4467240"/>
            <a:ext cx="1842840" cy="1433160"/>
          </a:xfrm>
          <a:prstGeom prst="bracketPair">
            <a:avLst>
              <a:gd name="adj" fmla="val 16667"/>
            </a:avLst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887" name="Shape 4329"/>
          <p:cNvSpPr/>
          <p:nvPr/>
        </p:nvSpPr>
        <p:spPr>
          <a:xfrm>
            <a:off x="495360" y="5329080"/>
            <a:ext cx="1844280" cy="51876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第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1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次迭代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88" name="Shape 4330"/>
          <p:cNvSpPr/>
          <p:nvPr/>
        </p:nvSpPr>
        <p:spPr>
          <a:xfrm>
            <a:off x="6137280" y="3071880"/>
            <a:ext cx="12600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dist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b="1" lang="en-US" sz="280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89" name="Shape 4331"/>
          <p:cNvSpPr/>
          <p:nvPr/>
        </p:nvSpPr>
        <p:spPr>
          <a:xfrm>
            <a:off x="7418520" y="2471760"/>
            <a:ext cx="1788840" cy="16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0    4    11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6    0     2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  </a:t>
            </a: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7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90" name="Shape 4332"/>
          <p:cNvSpPr/>
          <p:nvPr/>
        </p:nvSpPr>
        <p:spPr>
          <a:xfrm>
            <a:off x="7262640" y="2557440"/>
            <a:ext cx="1706040" cy="1433160"/>
          </a:xfrm>
          <a:prstGeom prst="bracketPair">
            <a:avLst>
              <a:gd name="adj" fmla="val 16667"/>
            </a:avLst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891" name="Shape 4333"/>
          <p:cNvSpPr/>
          <p:nvPr/>
        </p:nvSpPr>
        <p:spPr>
          <a:xfrm flipH="1">
            <a:off x="6022080" y="4989600"/>
            <a:ext cx="1302840" cy="556920"/>
          </a:xfrm>
          <a:prstGeom prst="rect">
            <a:avLst/>
          </a:prstGeom>
          <a:noFill/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path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b="1" lang="en-US" sz="280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92" name="Shape 4334"/>
          <p:cNvSpPr/>
          <p:nvPr/>
        </p:nvSpPr>
        <p:spPr>
          <a:xfrm>
            <a:off x="7326360" y="4368960"/>
            <a:ext cx="1734840" cy="14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ab    ac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ba          bc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ca  </a:t>
            </a: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cab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893" name="Shape 4335"/>
          <p:cNvSpPr/>
          <p:nvPr/>
        </p:nvSpPr>
        <p:spPr>
          <a:xfrm>
            <a:off x="7203960" y="4462560"/>
            <a:ext cx="1842840" cy="1433160"/>
          </a:xfrm>
          <a:prstGeom prst="bracketPair">
            <a:avLst>
              <a:gd name="adj" fmla="val 16667"/>
            </a:avLst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894" name="Shape 4336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5" name="Shape 4341"/>
          <p:cNvSpPr/>
          <p:nvPr/>
        </p:nvSpPr>
        <p:spPr>
          <a:xfrm>
            <a:off x="426960" y="1281240"/>
            <a:ext cx="423684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Floyd</a:t>
            </a: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算法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3896" name="Shape 4342"/>
          <p:cNvGrpSpPr/>
          <p:nvPr/>
        </p:nvGrpSpPr>
        <p:grpSpPr>
          <a:xfrm>
            <a:off x="457200" y="3294000"/>
            <a:ext cx="2298600" cy="2166480"/>
            <a:chOff x="457200" y="3294000"/>
            <a:chExt cx="2298600" cy="2166480"/>
          </a:xfrm>
        </p:grpSpPr>
        <p:sp>
          <p:nvSpPr>
            <p:cNvPr id="3897" name="Shape 4343"/>
            <p:cNvSpPr/>
            <p:nvPr/>
          </p:nvSpPr>
          <p:spPr>
            <a:xfrm>
              <a:off x="1830240" y="3743280"/>
              <a:ext cx="647280" cy="1007640"/>
            </a:xfrm>
            <a:custGeom>
              <a:avLst/>
              <a:gdLst/>
              <a:ahLst/>
              <a:rect l="l" t="t" r="r" b="b"/>
              <a:pathLst>
                <a:path w="447" h="634">
                  <a:moveTo>
                    <a:pt x="0" y="0"/>
                  </a:moveTo>
                  <a:lnTo>
                    <a:pt x="447" y="634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98" name="Shape 4344"/>
            <p:cNvSpPr/>
            <p:nvPr/>
          </p:nvSpPr>
          <p:spPr>
            <a:xfrm flipH="1" rot="10800000">
              <a:off x="935640" y="4964400"/>
              <a:ext cx="1275840" cy="42480"/>
            </a:xfrm>
            <a:custGeom>
              <a:avLst/>
              <a:gdLst/>
              <a:ahLst/>
              <a:rect l="l" t="t" r="r" b="b"/>
              <a:pathLst>
                <a:path w="960" h="1">
                  <a:moveTo>
                    <a:pt x="96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99" name="Shape 4345"/>
            <p:cNvSpPr/>
            <p:nvPr/>
          </p:nvSpPr>
          <p:spPr>
            <a:xfrm>
              <a:off x="1698480" y="3797280"/>
              <a:ext cx="606240" cy="980640"/>
            </a:xfrm>
            <a:custGeom>
              <a:avLst/>
              <a:gdLst/>
              <a:ahLst/>
              <a:rect l="l" t="t" r="r" b="b"/>
              <a:pathLst>
                <a:path w="420" h="600">
                  <a:moveTo>
                    <a:pt x="420" y="6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00" name="Shape 4346"/>
            <p:cNvSpPr/>
            <p:nvPr/>
          </p:nvSpPr>
          <p:spPr>
            <a:xfrm>
              <a:off x="879480" y="3855960"/>
              <a:ext cx="647280" cy="958320"/>
            </a:xfrm>
            <a:custGeom>
              <a:avLst/>
              <a:gdLst/>
              <a:ahLst/>
              <a:rect l="l" t="t" r="r" b="b"/>
              <a:pathLst>
                <a:path w="468" h="589">
                  <a:moveTo>
                    <a:pt x="468" y="0"/>
                  </a:moveTo>
                  <a:lnTo>
                    <a:pt x="0" y="589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01" name="Shape 4347"/>
            <p:cNvSpPr/>
            <p:nvPr/>
          </p:nvSpPr>
          <p:spPr>
            <a:xfrm>
              <a:off x="755640" y="3740040"/>
              <a:ext cx="666360" cy="963360"/>
            </a:xfrm>
            <a:custGeom>
              <a:avLst/>
              <a:gdLst/>
              <a:ahLst/>
              <a:rect l="l" t="t" r="r" b="b"/>
              <a:pathLst>
                <a:path w="483" h="574">
                  <a:moveTo>
                    <a:pt x="0" y="574"/>
                  </a:moveTo>
                  <a:lnTo>
                    <a:pt x="483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3902" name="Shape 4348"/>
            <p:cNvGrpSpPr/>
            <p:nvPr/>
          </p:nvGrpSpPr>
          <p:grpSpPr>
            <a:xfrm>
              <a:off x="1370160" y="3294000"/>
              <a:ext cx="529920" cy="595080"/>
              <a:chOff x="1370160" y="3294000"/>
              <a:chExt cx="529920" cy="595080"/>
            </a:xfrm>
          </p:grpSpPr>
          <p:sp>
            <p:nvSpPr>
              <p:cNvPr id="3903" name="Shape 4349"/>
              <p:cNvSpPr/>
              <p:nvPr/>
            </p:nvSpPr>
            <p:spPr>
              <a:xfrm>
                <a:off x="1370160" y="334332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04" name="Shape 4350"/>
              <p:cNvSpPr/>
              <p:nvPr/>
            </p:nvSpPr>
            <p:spPr>
              <a:xfrm>
                <a:off x="1436760" y="329400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54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a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3905" name="Shape 4351"/>
            <p:cNvGrpSpPr/>
            <p:nvPr/>
          </p:nvGrpSpPr>
          <p:grpSpPr>
            <a:xfrm>
              <a:off x="457200" y="4667400"/>
              <a:ext cx="529920" cy="595080"/>
              <a:chOff x="457200" y="4667400"/>
              <a:chExt cx="529920" cy="595080"/>
            </a:xfrm>
          </p:grpSpPr>
          <p:sp>
            <p:nvSpPr>
              <p:cNvPr id="3906" name="Shape 4352"/>
              <p:cNvSpPr/>
              <p:nvPr/>
            </p:nvSpPr>
            <p:spPr>
              <a:xfrm>
                <a:off x="457200" y="471636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07" name="Shape 4353"/>
              <p:cNvSpPr/>
              <p:nvPr/>
            </p:nvSpPr>
            <p:spPr>
              <a:xfrm>
                <a:off x="523800" y="466740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54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3908" name="Shape 4354"/>
            <p:cNvGrpSpPr/>
            <p:nvPr/>
          </p:nvGrpSpPr>
          <p:grpSpPr>
            <a:xfrm>
              <a:off x="2225520" y="4697280"/>
              <a:ext cx="530280" cy="595080"/>
              <a:chOff x="2225520" y="4697280"/>
              <a:chExt cx="530280" cy="595080"/>
            </a:xfrm>
          </p:grpSpPr>
          <p:sp>
            <p:nvSpPr>
              <p:cNvPr id="3909" name="Shape 4355"/>
              <p:cNvSpPr/>
              <p:nvPr/>
            </p:nvSpPr>
            <p:spPr>
              <a:xfrm>
                <a:off x="2225520" y="47466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10" name="Shape 4356"/>
              <p:cNvSpPr/>
              <p:nvPr/>
            </p:nvSpPr>
            <p:spPr>
              <a:xfrm>
                <a:off x="2292480" y="46972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54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b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sp>
          <p:nvSpPr>
            <p:cNvPr id="3911" name="Shape 4357"/>
            <p:cNvSpPr/>
            <p:nvPr/>
          </p:nvSpPr>
          <p:spPr>
            <a:xfrm>
              <a:off x="874800" y="3753000"/>
              <a:ext cx="3963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912" name="Shape 4358"/>
            <p:cNvSpPr/>
            <p:nvPr/>
          </p:nvSpPr>
          <p:spPr>
            <a:xfrm>
              <a:off x="2095560" y="3782880"/>
              <a:ext cx="5187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4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913" name="Shape 4359"/>
            <p:cNvSpPr/>
            <p:nvPr/>
          </p:nvSpPr>
          <p:spPr>
            <a:xfrm>
              <a:off x="1774800" y="4332240"/>
              <a:ext cx="5187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6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914" name="Shape 4360"/>
            <p:cNvSpPr/>
            <p:nvPr/>
          </p:nvSpPr>
          <p:spPr>
            <a:xfrm>
              <a:off x="1103400" y="4332240"/>
              <a:ext cx="48852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11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3915" name="Shape 4361"/>
            <p:cNvSpPr/>
            <p:nvPr/>
          </p:nvSpPr>
          <p:spPr>
            <a:xfrm>
              <a:off x="1484280" y="5003640"/>
              <a:ext cx="412560" cy="45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400" spc="-1" strike="noStrike">
                <a:latin typeface="Arial"/>
              </a:endParaRPr>
            </a:p>
          </p:txBody>
        </p:sp>
      </p:grpSp>
      <p:sp>
        <p:nvSpPr>
          <p:cNvPr id="3916" name="Shape 4362"/>
          <p:cNvSpPr/>
          <p:nvPr/>
        </p:nvSpPr>
        <p:spPr>
          <a:xfrm>
            <a:off x="674640" y="5508720"/>
            <a:ext cx="1844280" cy="51876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第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2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次迭代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17" name="Shape 4363"/>
          <p:cNvSpPr/>
          <p:nvPr/>
        </p:nvSpPr>
        <p:spPr>
          <a:xfrm>
            <a:off x="2982960" y="3251160"/>
            <a:ext cx="12600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dist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b="1" lang="en-US" sz="280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18" name="Shape 4364"/>
          <p:cNvSpPr/>
          <p:nvPr/>
        </p:nvSpPr>
        <p:spPr>
          <a:xfrm>
            <a:off x="4264200" y="2651040"/>
            <a:ext cx="1788840" cy="16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0    4    11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6    0     2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3    7     0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19" name="Shape 4365"/>
          <p:cNvSpPr/>
          <p:nvPr/>
        </p:nvSpPr>
        <p:spPr>
          <a:xfrm>
            <a:off x="4108320" y="2736720"/>
            <a:ext cx="1706040" cy="1433160"/>
          </a:xfrm>
          <a:prstGeom prst="bracketPair">
            <a:avLst>
              <a:gd name="adj" fmla="val 16667"/>
            </a:avLst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920" name="Shape 4366"/>
          <p:cNvSpPr/>
          <p:nvPr/>
        </p:nvSpPr>
        <p:spPr>
          <a:xfrm flipH="1">
            <a:off x="2867760" y="5168880"/>
            <a:ext cx="1302840" cy="556920"/>
          </a:xfrm>
          <a:prstGeom prst="rect">
            <a:avLst/>
          </a:prstGeom>
          <a:noFill/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path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b="1" lang="en-US" sz="280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21" name="Shape 4367"/>
          <p:cNvSpPr/>
          <p:nvPr/>
        </p:nvSpPr>
        <p:spPr>
          <a:xfrm>
            <a:off x="4172040" y="4548240"/>
            <a:ext cx="1734840" cy="14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ab    ac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ba          bc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ca  cab      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22" name="Shape 4368"/>
          <p:cNvSpPr/>
          <p:nvPr/>
        </p:nvSpPr>
        <p:spPr>
          <a:xfrm>
            <a:off x="4049640" y="4641840"/>
            <a:ext cx="1842840" cy="1433160"/>
          </a:xfrm>
          <a:prstGeom prst="bracketPair">
            <a:avLst>
              <a:gd name="adj" fmla="val 16667"/>
            </a:avLst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923" name="Shape 4369"/>
          <p:cNvSpPr/>
          <p:nvPr/>
        </p:nvSpPr>
        <p:spPr>
          <a:xfrm>
            <a:off x="6105600" y="3268800"/>
            <a:ext cx="12600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dist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en-US" sz="280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24" name="Shape 4370"/>
          <p:cNvSpPr/>
          <p:nvPr/>
        </p:nvSpPr>
        <p:spPr>
          <a:xfrm>
            <a:off x="7386480" y="2668680"/>
            <a:ext cx="1788840" cy="16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0    4     </a:t>
            </a: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6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6    0     2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3    7     0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25" name="Shape 4371"/>
          <p:cNvSpPr/>
          <p:nvPr/>
        </p:nvSpPr>
        <p:spPr>
          <a:xfrm>
            <a:off x="7230960" y="2754360"/>
            <a:ext cx="1706040" cy="1433160"/>
          </a:xfrm>
          <a:prstGeom prst="bracketPair">
            <a:avLst>
              <a:gd name="adj" fmla="val 16667"/>
            </a:avLst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926" name="Shape 4372"/>
          <p:cNvSpPr/>
          <p:nvPr/>
        </p:nvSpPr>
        <p:spPr>
          <a:xfrm flipH="1">
            <a:off x="5990400" y="5186520"/>
            <a:ext cx="1302840" cy="556920"/>
          </a:xfrm>
          <a:prstGeom prst="rect">
            <a:avLst/>
          </a:prstGeom>
          <a:noFill/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path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en-US" sz="280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27" name="Shape 4373"/>
          <p:cNvSpPr/>
          <p:nvPr/>
        </p:nvSpPr>
        <p:spPr>
          <a:xfrm>
            <a:off x="7294680" y="4565520"/>
            <a:ext cx="1734840" cy="14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ab   </a:t>
            </a: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abc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ba          bc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ca  cab      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28" name="Shape 4374"/>
          <p:cNvSpPr/>
          <p:nvPr/>
        </p:nvSpPr>
        <p:spPr>
          <a:xfrm>
            <a:off x="7219800" y="4659480"/>
            <a:ext cx="1842840" cy="1433160"/>
          </a:xfrm>
          <a:prstGeom prst="bracketPair">
            <a:avLst>
              <a:gd name="adj" fmla="val 16667"/>
            </a:avLst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929" name="Shape 4375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0" name="Shape 4380"/>
          <p:cNvSpPr/>
          <p:nvPr/>
        </p:nvSpPr>
        <p:spPr>
          <a:xfrm>
            <a:off x="426960" y="1281240"/>
            <a:ext cx="423684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Floyd</a:t>
            </a: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算法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931" name="Shape 4381"/>
          <p:cNvSpPr/>
          <p:nvPr/>
        </p:nvSpPr>
        <p:spPr>
          <a:xfrm>
            <a:off x="1644480" y="3780000"/>
            <a:ext cx="647280" cy="1007640"/>
          </a:xfrm>
          <a:custGeom>
            <a:avLst/>
            <a:gdLst/>
            <a:ahLst/>
            <a:rect l="l" t="t" r="r" b="b"/>
            <a:pathLst>
              <a:path w="447" h="634">
                <a:moveTo>
                  <a:pt x="0" y="0"/>
                </a:moveTo>
                <a:lnTo>
                  <a:pt x="447" y="634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932" name="Shape 4382"/>
          <p:cNvSpPr/>
          <p:nvPr/>
        </p:nvSpPr>
        <p:spPr>
          <a:xfrm flipH="1" rot="10800000">
            <a:off x="749880" y="5001120"/>
            <a:ext cx="1275840" cy="42480"/>
          </a:xfrm>
          <a:custGeom>
            <a:avLst/>
            <a:gdLst/>
            <a:ahLst/>
            <a:rect l="l" t="t" r="r" b="b"/>
            <a:pathLst>
              <a:path w="960" h="1">
                <a:moveTo>
                  <a:pt x="96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933" name="Shape 4383"/>
          <p:cNvSpPr/>
          <p:nvPr/>
        </p:nvSpPr>
        <p:spPr>
          <a:xfrm>
            <a:off x="1512720" y="3833640"/>
            <a:ext cx="606240" cy="980640"/>
          </a:xfrm>
          <a:custGeom>
            <a:avLst/>
            <a:gdLst/>
            <a:ahLst/>
            <a:rect l="l" t="t" r="r" b="b"/>
            <a:pathLst>
              <a:path w="420" h="600">
                <a:moveTo>
                  <a:pt x="420" y="60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934" name="Shape 4384"/>
          <p:cNvSpPr/>
          <p:nvPr/>
        </p:nvSpPr>
        <p:spPr>
          <a:xfrm>
            <a:off x="693720" y="3892680"/>
            <a:ext cx="647280" cy="958320"/>
          </a:xfrm>
          <a:custGeom>
            <a:avLst/>
            <a:gdLst/>
            <a:ahLst/>
            <a:rect l="l" t="t" r="r" b="b"/>
            <a:pathLst>
              <a:path w="468" h="589">
                <a:moveTo>
                  <a:pt x="468" y="0"/>
                </a:moveTo>
                <a:lnTo>
                  <a:pt x="0" y="589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3935" name="Shape 4385"/>
          <p:cNvSpPr/>
          <p:nvPr/>
        </p:nvSpPr>
        <p:spPr>
          <a:xfrm>
            <a:off x="569880" y="3776760"/>
            <a:ext cx="666360" cy="963360"/>
          </a:xfrm>
          <a:custGeom>
            <a:avLst/>
            <a:gdLst/>
            <a:ahLst/>
            <a:rect l="l" t="t" r="r" b="b"/>
            <a:pathLst>
              <a:path w="483" h="574">
                <a:moveTo>
                  <a:pt x="0" y="574"/>
                </a:moveTo>
                <a:lnTo>
                  <a:pt x="483" y="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936" name="Shape 4386"/>
          <p:cNvGrpSpPr/>
          <p:nvPr/>
        </p:nvGrpSpPr>
        <p:grpSpPr>
          <a:xfrm>
            <a:off x="1184400" y="3330720"/>
            <a:ext cx="529920" cy="595080"/>
            <a:chOff x="1184400" y="3330720"/>
            <a:chExt cx="529920" cy="595080"/>
          </a:xfrm>
        </p:grpSpPr>
        <p:sp>
          <p:nvSpPr>
            <p:cNvPr id="3937" name="Shape 4387"/>
            <p:cNvSpPr/>
            <p:nvPr/>
          </p:nvSpPr>
          <p:spPr>
            <a:xfrm>
              <a:off x="1184400" y="3379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38" name="Shape 4388"/>
            <p:cNvSpPr/>
            <p:nvPr/>
          </p:nvSpPr>
          <p:spPr>
            <a:xfrm>
              <a:off x="1251000" y="3330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939" name="Shape 4389"/>
          <p:cNvGrpSpPr/>
          <p:nvPr/>
        </p:nvGrpSpPr>
        <p:grpSpPr>
          <a:xfrm>
            <a:off x="271440" y="4703760"/>
            <a:ext cx="529920" cy="595080"/>
            <a:chOff x="271440" y="4703760"/>
            <a:chExt cx="529920" cy="595080"/>
          </a:xfrm>
        </p:grpSpPr>
        <p:sp>
          <p:nvSpPr>
            <p:cNvPr id="3940" name="Shape 4390"/>
            <p:cNvSpPr/>
            <p:nvPr/>
          </p:nvSpPr>
          <p:spPr>
            <a:xfrm>
              <a:off x="271440" y="47530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41" name="Shape 4391"/>
            <p:cNvSpPr/>
            <p:nvPr/>
          </p:nvSpPr>
          <p:spPr>
            <a:xfrm>
              <a:off x="338040" y="47037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942" name="Shape 4392"/>
          <p:cNvGrpSpPr/>
          <p:nvPr/>
        </p:nvGrpSpPr>
        <p:grpSpPr>
          <a:xfrm>
            <a:off x="2039760" y="4734000"/>
            <a:ext cx="530280" cy="595080"/>
            <a:chOff x="2039760" y="4734000"/>
            <a:chExt cx="530280" cy="595080"/>
          </a:xfrm>
        </p:grpSpPr>
        <p:sp>
          <p:nvSpPr>
            <p:cNvPr id="3943" name="Shape 4393"/>
            <p:cNvSpPr/>
            <p:nvPr/>
          </p:nvSpPr>
          <p:spPr>
            <a:xfrm>
              <a:off x="2039760" y="47829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44" name="Shape 4394"/>
            <p:cNvSpPr/>
            <p:nvPr/>
          </p:nvSpPr>
          <p:spPr>
            <a:xfrm>
              <a:off x="2106720" y="4734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54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3945" name="Shape 4395"/>
          <p:cNvSpPr/>
          <p:nvPr/>
        </p:nvSpPr>
        <p:spPr>
          <a:xfrm>
            <a:off x="689040" y="3789360"/>
            <a:ext cx="39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946" name="Shape 4396"/>
          <p:cNvSpPr/>
          <p:nvPr/>
        </p:nvSpPr>
        <p:spPr>
          <a:xfrm>
            <a:off x="1909800" y="3819600"/>
            <a:ext cx="51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947" name="Shape 4397"/>
          <p:cNvSpPr/>
          <p:nvPr/>
        </p:nvSpPr>
        <p:spPr>
          <a:xfrm>
            <a:off x="1589040" y="4368960"/>
            <a:ext cx="51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948" name="Shape 4398"/>
          <p:cNvSpPr/>
          <p:nvPr/>
        </p:nvSpPr>
        <p:spPr>
          <a:xfrm>
            <a:off x="917640" y="4368960"/>
            <a:ext cx="48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949" name="Shape 4399"/>
          <p:cNvSpPr/>
          <p:nvPr/>
        </p:nvSpPr>
        <p:spPr>
          <a:xfrm>
            <a:off x="1298520" y="5040360"/>
            <a:ext cx="41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950" name="Shape 4400"/>
          <p:cNvSpPr/>
          <p:nvPr/>
        </p:nvSpPr>
        <p:spPr>
          <a:xfrm>
            <a:off x="488880" y="5545080"/>
            <a:ext cx="1844280" cy="51876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第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3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次迭代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51" name="Shape 4401"/>
          <p:cNvSpPr/>
          <p:nvPr/>
        </p:nvSpPr>
        <p:spPr>
          <a:xfrm>
            <a:off x="6062760" y="3257640"/>
            <a:ext cx="12600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dist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b="1" lang="en-US" sz="280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52" name="Shape 4402"/>
          <p:cNvSpPr/>
          <p:nvPr/>
        </p:nvSpPr>
        <p:spPr>
          <a:xfrm>
            <a:off x="7338960" y="2662200"/>
            <a:ext cx="1788840" cy="16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0    4     6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5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0     2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3    7     0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53" name="Shape 4403"/>
          <p:cNvSpPr/>
          <p:nvPr/>
        </p:nvSpPr>
        <p:spPr>
          <a:xfrm>
            <a:off x="7188120" y="2743200"/>
            <a:ext cx="1706040" cy="1433160"/>
          </a:xfrm>
          <a:prstGeom prst="bracketPair">
            <a:avLst>
              <a:gd name="adj" fmla="val 16667"/>
            </a:avLst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954" name="Shape 4404"/>
          <p:cNvSpPr/>
          <p:nvPr/>
        </p:nvSpPr>
        <p:spPr>
          <a:xfrm flipH="1">
            <a:off x="5947560" y="5175360"/>
            <a:ext cx="1302840" cy="556920"/>
          </a:xfrm>
          <a:prstGeom prst="rect">
            <a:avLst/>
          </a:prstGeom>
          <a:noFill/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path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b="1" lang="en-US" sz="280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55" name="Shape 4405"/>
          <p:cNvSpPr/>
          <p:nvPr/>
        </p:nvSpPr>
        <p:spPr>
          <a:xfrm>
            <a:off x="7251840" y="4554360"/>
            <a:ext cx="1734840" cy="14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ab   abc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bca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bc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ca  cab      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56" name="Shape 4406"/>
          <p:cNvSpPr/>
          <p:nvPr/>
        </p:nvSpPr>
        <p:spPr>
          <a:xfrm>
            <a:off x="7176960" y="4648320"/>
            <a:ext cx="1842840" cy="1433160"/>
          </a:xfrm>
          <a:prstGeom prst="bracketPair">
            <a:avLst>
              <a:gd name="adj" fmla="val 16667"/>
            </a:avLst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957" name="Shape 4407"/>
          <p:cNvSpPr/>
          <p:nvPr/>
        </p:nvSpPr>
        <p:spPr>
          <a:xfrm>
            <a:off x="2825640" y="3214800"/>
            <a:ext cx="12600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dist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en-US" sz="280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58" name="Shape 4408"/>
          <p:cNvSpPr/>
          <p:nvPr/>
        </p:nvSpPr>
        <p:spPr>
          <a:xfrm>
            <a:off x="4106880" y="2614680"/>
            <a:ext cx="1788840" cy="16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0    4     6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6    0     2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3    7     0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59" name="Shape 4409"/>
          <p:cNvSpPr/>
          <p:nvPr/>
        </p:nvSpPr>
        <p:spPr>
          <a:xfrm>
            <a:off x="3951360" y="2700360"/>
            <a:ext cx="1706040" cy="1433160"/>
          </a:xfrm>
          <a:prstGeom prst="bracketPair">
            <a:avLst>
              <a:gd name="adj" fmla="val 16667"/>
            </a:avLst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960" name="Shape 4410"/>
          <p:cNvSpPr/>
          <p:nvPr/>
        </p:nvSpPr>
        <p:spPr>
          <a:xfrm flipH="1">
            <a:off x="2710800" y="5132520"/>
            <a:ext cx="1302840" cy="556920"/>
          </a:xfrm>
          <a:prstGeom prst="rect">
            <a:avLst/>
          </a:prstGeom>
          <a:noFill/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path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en-US" sz="2800" spc="-1" strike="noStrike" baseline="3000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61" name="Shape 4411"/>
          <p:cNvSpPr/>
          <p:nvPr/>
        </p:nvSpPr>
        <p:spPr>
          <a:xfrm>
            <a:off x="4014720" y="4511520"/>
            <a:ext cx="1734840" cy="14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ab   abc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ba          bc 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ca  cab      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62" name="Shape 4412"/>
          <p:cNvSpPr/>
          <p:nvPr/>
        </p:nvSpPr>
        <p:spPr>
          <a:xfrm>
            <a:off x="3940200" y="4605480"/>
            <a:ext cx="1842840" cy="1433160"/>
          </a:xfrm>
          <a:prstGeom prst="bracketPair">
            <a:avLst>
              <a:gd name="adj" fmla="val 16667"/>
            </a:avLst>
          </a:pr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963" name="Shape 4413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4" name="Shape 4418"/>
          <p:cNvSpPr/>
          <p:nvPr/>
        </p:nvSpPr>
        <p:spPr>
          <a:xfrm>
            <a:off x="609480" y="2006640"/>
            <a:ext cx="8152920" cy="42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图的存储结构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带权的邻接矩阵存储结构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数组</a:t>
            </a: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dist[n][n]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存放在迭代过程中求得的最短路径长度。迭代公式：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1400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1400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11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数组</a:t>
            </a: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path[n][n]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存放从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到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的最短路径，初始为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path[i][j]="v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"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65" name="Shape 4419"/>
          <p:cNvSpPr/>
          <p:nvPr/>
        </p:nvSpPr>
        <p:spPr>
          <a:xfrm>
            <a:off x="522360" y="1171440"/>
            <a:ext cx="44193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数据结构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3966" name="Shape 4420"/>
          <p:cNvGrpSpPr/>
          <p:nvPr/>
        </p:nvGrpSpPr>
        <p:grpSpPr>
          <a:xfrm>
            <a:off x="685800" y="3906720"/>
            <a:ext cx="8264160" cy="1371240"/>
            <a:chOff x="685800" y="3906720"/>
            <a:chExt cx="8264160" cy="1371240"/>
          </a:xfrm>
        </p:grpSpPr>
        <p:sp>
          <p:nvSpPr>
            <p:cNvPr id="3967" name="Shape 4421"/>
            <p:cNvSpPr/>
            <p:nvPr/>
          </p:nvSpPr>
          <p:spPr>
            <a:xfrm>
              <a:off x="938160" y="3906720"/>
              <a:ext cx="8011800" cy="1371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10800" bIns="10800" anchor="t">
              <a:noAutofit/>
            </a:bodyPr>
            <a:p>
              <a:pPr algn="just">
                <a:lnSpc>
                  <a:spcPct val="11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dist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-1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[i][j]=arc[i][j]</a:t>
              </a:r>
              <a:endParaRPr b="0" lang="en-US" sz="2800" spc="-1" strike="noStrike">
                <a:latin typeface="Arial"/>
              </a:endParaRPr>
            </a:p>
            <a:p>
              <a:pPr algn="just">
                <a:lnSpc>
                  <a:spcPct val="11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dist</a:t>
              </a:r>
              <a:r>
                <a:rPr b="1" lang="en-US" sz="2800" spc="-1" strike="noStrike" baseline="30000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k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[i][j]=min{dist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k-1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[i][j], dist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k-1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[i][k]+dist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k-1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[k][j]} </a:t>
              </a:r>
              <a:endParaRPr b="0" lang="en-US" sz="2800" spc="-1" strike="noStrike">
                <a:latin typeface="Arial"/>
              </a:endParaRPr>
            </a:p>
            <a:p>
              <a:pPr algn="just">
                <a:lnSpc>
                  <a:spcPct val="11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                                                                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0≤k ≤n-1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3968" name="Shape 4422"/>
            <p:cNvSpPr/>
            <p:nvPr/>
          </p:nvSpPr>
          <p:spPr>
            <a:xfrm>
              <a:off x="685800" y="4084560"/>
              <a:ext cx="151920" cy="1096560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969" name="Shape 4423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0" name="Shape 4428"/>
          <p:cNvSpPr/>
          <p:nvPr/>
        </p:nvSpPr>
        <p:spPr>
          <a:xfrm>
            <a:off x="569880" y="1641600"/>
            <a:ext cx="7619760" cy="521604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void Floyd(MGraph G)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for (i=0; i&lt;G.vertexNum; i++)       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   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for (j=0; j&lt;G.vertexNum; j++)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   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{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dist[i][j]=G.arc[i][j];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     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if (dist[i][j]!=∞)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path[i][j]=G.vertex[i]+G.vertex[j];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      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else path[i][j]="";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for (k=0; k&lt;G.vertexNum; k++)        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       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for (i=0; i&lt;G.vertexNum; i++)      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       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for (j=0; j&lt;G.vertexNum; j++)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       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if (dist[i][k]+dist[k][j]&lt;dist[i][j]) {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           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dist[i][j]=dist[i][k]+dist[k][j];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            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path[i][j]=path[i][k]+path[k][j];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   </a:t>
            </a: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}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971" name="Shape 4429"/>
          <p:cNvSpPr/>
          <p:nvPr/>
        </p:nvSpPr>
        <p:spPr>
          <a:xfrm>
            <a:off x="441360" y="1150920"/>
            <a:ext cx="595440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Floyd</a:t>
            </a: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算法——</a:t>
            </a: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C++</a:t>
            </a: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描述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3972" name="Shape 4430"/>
          <p:cNvSpPr/>
          <p:nvPr/>
        </p:nvSpPr>
        <p:spPr>
          <a:xfrm>
            <a:off x="2792520" y="380880"/>
            <a:ext cx="373644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6.4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最短路径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" name="Shape 4435"/>
          <p:cNvSpPr/>
          <p:nvPr/>
        </p:nvSpPr>
        <p:spPr>
          <a:xfrm>
            <a:off x="477720" y="2716200"/>
            <a:ext cx="8183160" cy="16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AOV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网：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在一个表示工程的有向图中，用顶点表示活动，用弧表示活动之间的优先关系，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称这样的有向图为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顶点表示活动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的网，简称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AOV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网。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74" name="Shape 4436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975" name="Shape 4437"/>
          <p:cNvSpPr/>
          <p:nvPr/>
        </p:nvSpPr>
        <p:spPr>
          <a:xfrm>
            <a:off x="426960" y="1281240"/>
            <a:ext cx="595440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AOV</a:t>
            </a: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网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3976" name="Shape 4438"/>
          <p:cNvGrpSpPr/>
          <p:nvPr/>
        </p:nvGrpSpPr>
        <p:grpSpPr>
          <a:xfrm>
            <a:off x="617400" y="2092320"/>
            <a:ext cx="7667280" cy="518760"/>
            <a:chOff x="617400" y="2092320"/>
            <a:chExt cx="7667280" cy="518760"/>
          </a:xfrm>
        </p:grpSpPr>
        <p:sp>
          <p:nvSpPr>
            <p:cNvPr id="3977" name="Shape 4439"/>
            <p:cNvSpPr/>
            <p:nvPr/>
          </p:nvSpPr>
          <p:spPr>
            <a:xfrm>
              <a:off x="1258920" y="2092320"/>
              <a:ext cx="70257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什么是工程？工程有什么共性？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3978" name="Shape 4440" descr=""/>
            <p:cNvPicPr/>
            <p:nvPr/>
          </p:nvPicPr>
          <p:blipFill>
            <a:blip r:embed="rId1"/>
            <a:stretch/>
          </p:blipFill>
          <p:spPr>
            <a:xfrm>
              <a:off x="617400" y="210816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979" name="Shape 4441"/>
          <p:cNvGrpSpPr/>
          <p:nvPr/>
        </p:nvGrpSpPr>
        <p:grpSpPr>
          <a:xfrm>
            <a:off x="639720" y="4867200"/>
            <a:ext cx="7667280" cy="518760"/>
            <a:chOff x="639720" y="4867200"/>
            <a:chExt cx="7667280" cy="518760"/>
          </a:xfrm>
        </p:grpSpPr>
        <p:sp>
          <p:nvSpPr>
            <p:cNvPr id="3980" name="Shape 4442"/>
            <p:cNvSpPr/>
            <p:nvPr/>
          </p:nvSpPr>
          <p:spPr>
            <a:xfrm>
              <a:off x="1281240" y="4867200"/>
              <a:ext cx="70257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AOV</a:t>
              </a: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网中出现回路意味着什么？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3981" name="Shape 4443" descr=""/>
            <p:cNvPicPr/>
            <p:nvPr/>
          </p:nvPicPr>
          <p:blipFill>
            <a:blip r:embed="rId2"/>
            <a:stretch/>
          </p:blipFill>
          <p:spPr>
            <a:xfrm>
              <a:off x="639720" y="488304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46" dur="indefinite" restart="never" nodeType="tmRoot">
          <p:childTnLst>
            <p:seq>
              <p:cTn id="1047" dur="indefinite" nodeType="mainSeq">
                <p:childTnLst>
                  <p:par>
                    <p:cTn id="1048" fill="hold">
                      <p:stCondLst>
                        <p:cond delay="indefinite"/>
                      </p:stCondLst>
                      <p:childTnLst>
                        <p:par>
                          <p:cTn id="1049" fill="hold">
                            <p:stCondLst>
                              <p:cond delay="0"/>
                            </p:stCondLst>
                            <p:childTnLst>
                              <p:par>
                                <p:cTn id="105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2" name="Shape 4448"/>
          <p:cNvSpPr/>
          <p:nvPr/>
        </p:nvSpPr>
        <p:spPr>
          <a:xfrm>
            <a:off x="477720" y="2716200"/>
            <a:ext cx="8183160" cy="16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AOV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网：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在一个表示工程的有向图中，用顶点表示活动，用弧表示活动之间的优先关系，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称这样的有向图为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顶点表示活动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的网，简称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AOV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网。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983" name="Shape 4449"/>
          <p:cNvSpPr/>
          <p:nvPr/>
        </p:nvSpPr>
        <p:spPr>
          <a:xfrm>
            <a:off x="426960" y="1281240"/>
            <a:ext cx="595440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AOV</a:t>
            </a: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网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3984" name="Shape 4450"/>
          <p:cNvGrpSpPr/>
          <p:nvPr/>
        </p:nvGrpSpPr>
        <p:grpSpPr>
          <a:xfrm>
            <a:off x="395280" y="4697280"/>
            <a:ext cx="8930880" cy="1741320"/>
            <a:chOff x="395280" y="4697280"/>
            <a:chExt cx="8930880" cy="1741320"/>
          </a:xfrm>
        </p:grpSpPr>
        <p:sp>
          <p:nvSpPr>
            <p:cNvPr id="3985" name="Shape 4451"/>
            <p:cNvSpPr/>
            <p:nvPr/>
          </p:nvSpPr>
          <p:spPr>
            <a:xfrm>
              <a:off x="395280" y="5919840"/>
              <a:ext cx="51051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2.AOV</a:t>
              </a:r>
              <a:r>
                <a:rPr b="1" lang="ja-JP" sz="2800" spc="-1" strike="noStrike">
                  <a:solidFill>
                    <a:srgbClr val="000000"/>
                  </a:solidFill>
                  <a:latin typeface="Arial"/>
                  <a:ea typeface="Arial"/>
                </a:rPr>
                <a:t>网中不能出现回路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。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3986" name="Shape 4452"/>
            <p:cNvSpPr/>
            <p:nvPr/>
          </p:nvSpPr>
          <p:spPr>
            <a:xfrm>
              <a:off x="455760" y="4697280"/>
              <a:ext cx="54860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ff0000"/>
                  </a:solidFill>
                  <a:latin typeface="Times New Roman"/>
                  <a:ea typeface="Times New Roman"/>
                </a:rPr>
                <a:t>AOV</a:t>
              </a:r>
              <a:r>
                <a:rPr b="1" lang="ja-JP" sz="2800" spc="-1" strike="noStrike">
                  <a:solidFill>
                    <a:srgbClr val="ff0000"/>
                  </a:solidFill>
                  <a:latin typeface="Times New Roman"/>
                  <a:ea typeface="Times New Roman"/>
                </a:rPr>
                <a:t>网特点：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3987" name="Shape 4453"/>
            <p:cNvSpPr/>
            <p:nvPr/>
          </p:nvSpPr>
          <p:spPr>
            <a:xfrm>
              <a:off x="487440" y="5307120"/>
              <a:ext cx="88387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1.AOV</a:t>
              </a:r>
              <a:r>
                <a:rPr b="1" lang="ja-JP" sz="2800" spc="-1" strike="noStrike">
                  <a:solidFill>
                    <a:srgbClr val="000000"/>
                  </a:solidFill>
                  <a:latin typeface="Arial"/>
                  <a:ea typeface="Arial"/>
                </a:rPr>
                <a:t>网中的弧表示活动之间存在的某种制约关系。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3988" name="Shape 4454"/>
          <p:cNvGrpSpPr/>
          <p:nvPr/>
        </p:nvGrpSpPr>
        <p:grpSpPr>
          <a:xfrm>
            <a:off x="617400" y="2092320"/>
            <a:ext cx="7667280" cy="518760"/>
            <a:chOff x="617400" y="2092320"/>
            <a:chExt cx="7667280" cy="518760"/>
          </a:xfrm>
        </p:grpSpPr>
        <p:sp>
          <p:nvSpPr>
            <p:cNvPr id="3989" name="Shape 4455"/>
            <p:cNvSpPr/>
            <p:nvPr/>
          </p:nvSpPr>
          <p:spPr>
            <a:xfrm>
              <a:off x="1258920" y="2092320"/>
              <a:ext cx="70257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什么是工程？工程有什么共性？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3990" name="Shape 4456" descr=""/>
            <p:cNvPicPr/>
            <p:nvPr/>
          </p:nvPicPr>
          <p:blipFill>
            <a:blip r:embed="rId1"/>
            <a:stretch/>
          </p:blipFill>
          <p:spPr>
            <a:xfrm>
              <a:off x="617400" y="210816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991" name="Shape 4457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2" name="Shape 4462"/>
          <p:cNvGraphicFramePr/>
          <p:nvPr/>
        </p:nvGraphicFramePr>
        <p:xfrm>
          <a:off x="228600" y="2027160"/>
          <a:ext cx="4495320" cy="4712760"/>
        </p:xfrm>
        <a:graphic>
          <a:graphicData uri="http://schemas.openxmlformats.org/drawingml/2006/table">
            <a:tbl>
              <a:tblPr/>
              <a:tblGrid>
                <a:gridCol w="1015920"/>
                <a:gridCol w="1957320"/>
                <a:gridCol w="1522080"/>
              </a:tblGrid>
              <a:tr h="588600"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ja-JP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编号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936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ja-JP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课程名称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ja-JP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先修课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>
                      <a:noFill/>
                    </a:lnB>
                    <a:noFill/>
                  </a:tcPr>
                </a:tc>
              </a:tr>
              <a:tr h="588600"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</a:t>
                      </a:r>
                      <a:r>
                        <a:rPr b="1" lang="en-US" sz="24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936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ja-JP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高等数学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ja-JP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无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8600"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</a:t>
                      </a:r>
                      <a:r>
                        <a:rPr b="1" lang="en-US" sz="24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936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ja-JP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计算机导论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ja-JP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无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8600"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</a:t>
                      </a:r>
                      <a:r>
                        <a:rPr b="1" lang="en-US" sz="24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936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ja-JP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离散数学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</a:t>
                      </a:r>
                      <a:r>
                        <a:rPr b="1" lang="en-US" sz="24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8600"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</a:t>
                      </a:r>
                      <a:r>
                        <a:rPr b="1" lang="en-US" sz="24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936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ja-JP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程序设计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</a:t>
                      </a:r>
                      <a:r>
                        <a:rPr b="1" lang="en-US" sz="24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,  C</a:t>
                      </a:r>
                      <a:r>
                        <a:rPr b="1" lang="en-US" sz="24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8600"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</a:t>
                      </a:r>
                      <a:r>
                        <a:rPr b="1" lang="en-US" sz="24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936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ja-JP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数据结构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</a:t>
                      </a:r>
                      <a:r>
                        <a:rPr b="1" lang="en-US" sz="20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r>
                        <a:rPr b="1" lang="ja-JP" sz="20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，</a:t>
                      </a: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</a:t>
                      </a:r>
                      <a:r>
                        <a:rPr b="1" lang="en-US" sz="20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9240"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</a:t>
                      </a:r>
                      <a:r>
                        <a:rPr b="1" lang="en-US" sz="24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936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ja-JP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计算机原理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</a:t>
                      </a:r>
                      <a:r>
                        <a:rPr b="1" lang="en-US" sz="24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r>
                        <a:rPr b="1" lang="ja-JP" sz="24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，</a:t>
                      </a: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</a:t>
                      </a:r>
                      <a:r>
                        <a:rPr b="1" lang="en-US" sz="24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1920"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</a:t>
                      </a:r>
                      <a:r>
                        <a:rPr b="1" lang="en-US" sz="24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936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>
                      <a:noFill/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ja-JP" sz="24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数据库原理</a:t>
                      </a:r>
                      <a:endParaRPr b="0" lang="en-US" sz="24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>
                      <a:noFill/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</a:t>
                      </a:r>
                      <a:r>
                        <a:rPr b="1" lang="en-US" sz="20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r>
                        <a:rPr b="1" lang="ja-JP" sz="20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，</a:t>
                      </a: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</a:t>
                      </a:r>
                      <a:r>
                        <a:rPr b="1" lang="en-US" sz="20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  <a:r>
                        <a:rPr b="1" lang="ja-JP" sz="20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，</a:t>
                      </a:r>
                      <a:r>
                        <a:rPr b="1" lang="en-US" sz="2000" spc="-1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</a:t>
                      </a:r>
                      <a:r>
                        <a:rPr b="1" lang="en-US" sz="2000" spc="-1" strike="noStrike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>
                      <a:noFill/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3993" name="Shape 4463"/>
          <p:cNvGrpSpPr/>
          <p:nvPr/>
        </p:nvGrpSpPr>
        <p:grpSpPr>
          <a:xfrm>
            <a:off x="4565520" y="2263680"/>
            <a:ext cx="4483080" cy="3352680"/>
            <a:chOff x="4565520" y="2263680"/>
            <a:chExt cx="4483080" cy="3352680"/>
          </a:xfrm>
        </p:grpSpPr>
        <p:sp>
          <p:nvSpPr>
            <p:cNvPr id="3994" name="Shape 4464"/>
            <p:cNvSpPr/>
            <p:nvPr/>
          </p:nvSpPr>
          <p:spPr>
            <a:xfrm>
              <a:off x="7497720" y="4111560"/>
              <a:ext cx="1106280" cy="1058400"/>
            </a:xfrm>
            <a:custGeom>
              <a:avLst/>
              <a:gdLst/>
              <a:ahLst/>
              <a:rect l="l" t="t" r="r" b="b"/>
              <a:pathLst>
                <a:path w="900" h="650">
                  <a:moveTo>
                    <a:pt x="0" y="650"/>
                  </a:moveTo>
                  <a:lnTo>
                    <a:pt x="90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95" name="Shape 4465"/>
            <p:cNvSpPr/>
            <p:nvPr/>
          </p:nvSpPr>
          <p:spPr>
            <a:xfrm>
              <a:off x="7927920" y="2806560"/>
              <a:ext cx="686880" cy="926640"/>
            </a:xfrm>
            <a:custGeom>
              <a:avLst/>
              <a:gdLst/>
              <a:ahLst/>
              <a:rect l="l" t="t" r="r" b="b"/>
              <a:pathLst>
                <a:path w="548" h="597">
                  <a:moveTo>
                    <a:pt x="0" y="0"/>
                  </a:moveTo>
                  <a:lnTo>
                    <a:pt x="548" y="59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96" name="Shape 4466"/>
            <p:cNvSpPr/>
            <p:nvPr/>
          </p:nvSpPr>
          <p:spPr>
            <a:xfrm>
              <a:off x="6404040" y="2577960"/>
              <a:ext cx="1112400" cy="1080"/>
            </a:xfrm>
            <a:custGeom>
              <a:avLst/>
              <a:gdLst/>
              <a:ahLst/>
              <a:rect l="l" t="t" r="r" b="b"/>
              <a:pathLst>
                <a:path w="1005" h="5">
                  <a:moveTo>
                    <a:pt x="0" y="5"/>
                  </a:moveTo>
                  <a:lnTo>
                    <a:pt x="1005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97" name="Shape 4467"/>
            <p:cNvSpPr/>
            <p:nvPr/>
          </p:nvSpPr>
          <p:spPr>
            <a:xfrm>
              <a:off x="6392880" y="2814480"/>
              <a:ext cx="1169640" cy="1028520"/>
            </a:xfrm>
            <a:custGeom>
              <a:avLst/>
              <a:gdLst/>
              <a:ahLst/>
              <a:rect l="l" t="t" r="r" b="b"/>
              <a:pathLst>
                <a:path w="1028" h="650">
                  <a:moveTo>
                    <a:pt x="0" y="650"/>
                  </a:moveTo>
                  <a:lnTo>
                    <a:pt x="1028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98" name="Shape 4468"/>
            <p:cNvSpPr/>
            <p:nvPr/>
          </p:nvSpPr>
          <p:spPr>
            <a:xfrm>
              <a:off x="6372360" y="4165560"/>
              <a:ext cx="786960" cy="1006200"/>
            </a:xfrm>
            <a:custGeom>
              <a:avLst/>
              <a:gdLst/>
              <a:ahLst/>
              <a:rect l="l" t="t" r="r" b="b"/>
              <a:pathLst>
                <a:path w="629" h="645">
                  <a:moveTo>
                    <a:pt x="0" y="0"/>
                  </a:moveTo>
                  <a:lnTo>
                    <a:pt x="629" y="64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99" name="Shape 4469"/>
            <p:cNvSpPr/>
            <p:nvPr/>
          </p:nvSpPr>
          <p:spPr>
            <a:xfrm>
              <a:off x="6423120" y="3968640"/>
              <a:ext cx="2101320" cy="1080"/>
            </a:xfrm>
            <a:custGeom>
              <a:avLst/>
              <a:gdLst/>
              <a:ahLst/>
              <a:rect l="l" t="t" r="r" b="b"/>
              <a:pathLst>
                <a:path w="1711" h="1">
                  <a:moveTo>
                    <a:pt x="0" y="1"/>
                  </a:moveTo>
                  <a:lnTo>
                    <a:pt x="171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00" name="Shape 4470"/>
            <p:cNvSpPr/>
            <p:nvPr/>
          </p:nvSpPr>
          <p:spPr>
            <a:xfrm>
              <a:off x="5052960" y="2629080"/>
              <a:ext cx="861480" cy="439200"/>
            </a:xfrm>
            <a:custGeom>
              <a:avLst/>
              <a:gdLst/>
              <a:ahLst/>
              <a:rect l="l" t="t" r="r" b="b"/>
              <a:pathLst>
                <a:path w="763" h="260">
                  <a:moveTo>
                    <a:pt x="0" y="260"/>
                  </a:moveTo>
                  <a:lnTo>
                    <a:pt x="76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01" name="Shape 4471"/>
            <p:cNvSpPr/>
            <p:nvPr/>
          </p:nvSpPr>
          <p:spPr>
            <a:xfrm>
              <a:off x="4976640" y="4522680"/>
              <a:ext cx="2090520" cy="764640"/>
            </a:xfrm>
            <a:custGeom>
              <a:avLst/>
              <a:gdLst/>
              <a:ahLst/>
              <a:rect l="l" t="t" r="r" b="b"/>
              <a:pathLst>
                <a:path w="1764" h="470">
                  <a:moveTo>
                    <a:pt x="0" y="0"/>
                  </a:moveTo>
                  <a:lnTo>
                    <a:pt x="1764" y="47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02" name="Shape 4472"/>
            <p:cNvSpPr/>
            <p:nvPr/>
          </p:nvSpPr>
          <p:spPr>
            <a:xfrm>
              <a:off x="5048280" y="4033800"/>
              <a:ext cx="915480" cy="225000"/>
            </a:xfrm>
            <a:custGeom>
              <a:avLst/>
              <a:gdLst/>
              <a:ahLst/>
              <a:rect l="l" t="t" r="r" b="b"/>
              <a:pathLst>
                <a:path w="821" h="148">
                  <a:moveTo>
                    <a:pt x="0" y="148"/>
                  </a:moveTo>
                  <a:lnTo>
                    <a:pt x="82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03" name="Shape 4473"/>
            <p:cNvSpPr/>
            <p:nvPr/>
          </p:nvSpPr>
          <p:spPr>
            <a:xfrm>
              <a:off x="5041800" y="3281400"/>
              <a:ext cx="928440" cy="522000"/>
            </a:xfrm>
            <a:custGeom>
              <a:avLst/>
              <a:gdLst/>
              <a:ahLst/>
              <a:rect l="l" t="t" r="r" b="b"/>
              <a:pathLst>
                <a:path w="830" h="340">
                  <a:moveTo>
                    <a:pt x="0" y="0"/>
                  </a:moveTo>
                  <a:lnTo>
                    <a:pt x="830" y="34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004" name="Shape 4474"/>
            <p:cNvGrpSpPr/>
            <p:nvPr/>
          </p:nvGrpSpPr>
          <p:grpSpPr>
            <a:xfrm>
              <a:off x="4565520" y="2873520"/>
              <a:ext cx="530280" cy="595080"/>
              <a:chOff x="4565520" y="2873520"/>
              <a:chExt cx="530280" cy="595080"/>
            </a:xfrm>
          </p:grpSpPr>
          <p:sp>
            <p:nvSpPr>
              <p:cNvPr id="4005" name="Shape 4475"/>
              <p:cNvSpPr/>
              <p:nvPr/>
            </p:nvSpPr>
            <p:spPr>
              <a:xfrm>
                <a:off x="4565520" y="292248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06" name="Shape 4476"/>
              <p:cNvSpPr/>
              <p:nvPr/>
            </p:nvSpPr>
            <p:spPr>
              <a:xfrm>
                <a:off x="4632480" y="287352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rIns="0" tIns="18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1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4007" name="Shape 4477"/>
            <p:cNvGrpSpPr/>
            <p:nvPr/>
          </p:nvGrpSpPr>
          <p:grpSpPr>
            <a:xfrm>
              <a:off x="4595760" y="4092480"/>
              <a:ext cx="529920" cy="595080"/>
              <a:chOff x="4595760" y="4092480"/>
              <a:chExt cx="529920" cy="595080"/>
            </a:xfrm>
          </p:grpSpPr>
          <p:sp>
            <p:nvSpPr>
              <p:cNvPr id="4008" name="Shape 4478"/>
              <p:cNvSpPr/>
              <p:nvPr/>
            </p:nvSpPr>
            <p:spPr>
              <a:xfrm>
                <a:off x="4595760" y="41418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09" name="Shape 4479"/>
              <p:cNvSpPr/>
              <p:nvPr/>
            </p:nvSpPr>
            <p:spPr>
              <a:xfrm>
                <a:off x="4662360" y="40924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rIns="0" tIns="18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2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4010" name="Shape 4480"/>
            <p:cNvGrpSpPr/>
            <p:nvPr/>
          </p:nvGrpSpPr>
          <p:grpSpPr>
            <a:xfrm>
              <a:off x="5891040" y="2263680"/>
              <a:ext cx="530280" cy="595080"/>
              <a:chOff x="5891040" y="2263680"/>
              <a:chExt cx="530280" cy="595080"/>
            </a:xfrm>
          </p:grpSpPr>
          <p:sp>
            <p:nvSpPr>
              <p:cNvPr id="4011" name="Shape 4481"/>
              <p:cNvSpPr/>
              <p:nvPr/>
            </p:nvSpPr>
            <p:spPr>
              <a:xfrm>
                <a:off x="5891040" y="23130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12" name="Shape 4482"/>
              <p:cNvSpPr/>
              <p:nvPr/>
            </p:nvSpPr>
            <p:spPr>
              <a:xfrm>
                <a:off x="5958000" y="22636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rIns="0" tIns="18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3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4013" name="Shape 4483"/>
            <p:cNvGrpSpPr/>
            <p:nvPr/>
          </p:nvGrpSpPr>
          <p:grpSpPr>
            <a:xfrm>
              <a:off x="5951520" y="3649680"/>
              <a:ext cx="529920" cy="595080"/>
              <a:chOff x="5951520" y="3649680"/>
              <a:chExt cx="529920" cy="595080"/>
            </a:xfrm>
          </p:grpSpPr>
          <p:sp>
            <p:nvSpPr>
              <p:cNvPr id="4014" name="Shape 4484"/>
              <p:cNvSpPr/>
              <p:nvPr/>
            </p:nvSpPr>
            <p:spPr>
              <a:xfrm>
                <a:off x="5951520" y="36990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15" name="Shape 4485"/>
              <p:cNvSpPr/>
              <p:nvPr/>
            </p:nvSpPr>
            <p:spPr>
              <a:xfrm>
                <a:off x="6018120" y="36496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rIns="0" tIns="18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4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4016" name="Shape 4486"/>
            <p:cNvGrpSpPr/>
            <p:nvPr/>
          </p:nvGrpSpPr>
          <p:grpSpPr>
            <a:xfrm>
              <a:off x="7064280" y="5021280"/>
              <a:ext cx="529920" cy="595080"/>
              <a:chOff x="7064280" y="5021280"/>
              <a:chExt cx="529920" cy="595080"/>
            </a:xfrm>
          </p:grpSpPr>
          <p:sp>
            <p:nvSpPr>
              <p:cNvPr id="4017" name="Shape 4487"/>
              <p:cNvSpPr/>
              <p:nvPr/>
            </p:nvSpPr>
            <p:spPr>
              <a:xfrm>
                <a:off x="7064280" y="50706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18" name="Shape 4488"/>
              <p:cNvSpPr/>
              <p:nvPr/>
            </p:nvSpPr>
            <p:spPr>
              <a:xfrm>
                <a:off x="7130880" y="502128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rIns="0" tIns="18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6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grpSp>
          <p:nvGrpSpPr>
            <p:cNvPr id="4019" name="Shape 4489"/>
            <p:cNvGrpSpPr/>
            <p:nvPr/>
          </p:nvGrpSpPr>
          <p:grpSpPr>
            <a:xfrm>
              <a:off x="7521480" y="2354400"/>
              <a:ext cx="529920" cy="595080"/>
              <a:chOff x="7521480" y="2354400"/>
              <a:chExt cx="529920" cy="595080"/>
            </a:xfrm>
          </p:grpSpPr>
          <p:sp>
            <p:nvSpPr>
              <p:cNvPr id="4020" name="Shape 4490"/>
              <p:cNvSpPr/>
              <p:nvPr/>
            </p:nvSpPr>
            <p:spPr>
              <a:xfrm>
                <a:off x="7521480" y="240336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21" name="Shape 4491"/>
              <p:cNvSpPr/>
              <p:nvPr/>
            </p:nvSpPr>
            <p:spPr>
              <a:xfrm>
                <a:off x="7588080" y="235440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rIns="0" tIns="18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5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  <p:sp>
          <p:nvSpPr>
            <p:cNvPr id="4022" name="Shape 4492"/>
            <p:cNvSpPr/>
            <p:nvPr/>
          </p:nvSpPr>
          <p:spPr>
            <a:xfrm>
              <a:off x="8518680" y="3666960"/>
              <a:ext cx="502920" cy="4903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23" name="Shape 4493"/>
            <p:cNvSpPr/>
            <p:nvPr/>
          </p:nvSpPr>
          <p:spPr>
            <a:xfrm>
              <a:off x="8585280" y="3651120"/>
              <a:ext cx="463320" cy="57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4024" name="Shape 4494"/>
          <p:cNvSpPr/>
          <p:nvPr/>
        </p:nvSpPr>
        <p:spPr>
          <a:xfrm>
            <a:off x="426960" y="1281240"/>
            <a:ext cx="595440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AOV</a:t>
            </a: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网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025" name="Shape 4495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6" name="Shape 4500"/>
          <p:cNvSpPr/>
          <p:nvPr/>
        </p:nvSpPr>
        <p:spPr>
          <a:xfrm>
            <a:off x="409680" y="2089080"/>
            <a:ext cx="8229240" cy="31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拓扑序列：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设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是一个具有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个顶点的有向图，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中的顶点序列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…,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n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称为一个拓扑序列，当且仅当满足下列条件：若从顶点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到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有一条路径，则在顶点序列中顶点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必在顶点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之前。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拓扑排序：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对一个有向图构造拓扑序列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的过程称为拓扑排序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027" name="Shape 4501"/>
          <p:cNvSpPr/>
          <p:nvPr/>
        </p:nvSpPr>
        <p:spPr>
          <a:xfrm>
            <a:off x="426960" y="1281240"/>
            <a:ext cx="595440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拓扑排序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028" name="Shape 4502"/>
          <p:cNvSpPr/>
          <p:nvPr/>
        </p:nvSpPr>
        <p:spPr>
          <a:xfrm>
            <a:off x="592200" y="5425920"/>
            <a:ext cx="7895880" cy="974520"/>
          </a:xfrm>
          <a:prstGeom prst="rect">
            <a:avLst/>
          </a:prstGeom>
          <a:noFill/>
          <a:ln w="28575">
            <a:solidFill>
              <a:srgbClr val="00cc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拓扑序列使得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AOV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网中所有应存在的前驱和后继关系都能得到满足。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029" name="Shape 4503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52" dur="indefinite" restart="never" nodeType="tmRoot">
          <p:childTnLst>
            <p:seq>
              <p:cTn id="1053" dur="indefinite" nodeType="mainSeq">
                <p:childTnLst>
                  <p:par>
                    <p:cTn id="1054" fill="hold">
                      <p:stCondLst>
                        <p:cond delay="indefinite"/>
                      </p:stCondLst>
                      <p:childTnLst>
                        <p:par>
                          <p:cTn id="1055" fill="hold">
                            <p:stCondLst>
                              <p:cond delay="0"/>
                            </p:stCondLst>
                            <p:childTnLst>
                              <p:par>
                                <p:cTn id="10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8" dur="500"/>
                                        <p:tgtEl>
                                          <p:spTgt spid="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0" name="Shape 4508"/>
          <p:cNvSpPr/>
          <p:nvPr/>
        </p:nvSpPr>
        <p:spPr>
          <a:xfrm>
            <a:off x="609480" y="1996920"/>
            <a:ext cx="8259480" cy="32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基本思想：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⑴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从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AOV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网中选择一个没有前驱的顶点并且输出；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⑵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从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AOV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网中删去该顶点，并且删去所有以该顶点为尾的弧；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⑶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重复上述两步，直到全部顶点都被输出，或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AOV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网中不存在没有前驱的顶点。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031" name="Shape 4509"/>
          <p:cNvSpPr/>
          <p:nvPr/>
        </p:nvSpPr>
        <p:spPr>
          <a:xfrm>
            <a:off x="1049400" y="5638680"/>
            <a:ext cx="7351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32" name="Shape 4510"/>
          <p:cNvSpPr/>
          <p:nvPr/>
        </p:nvSpPr>
        <p:spPr>
          <a:xfrm>
            <a:off x="426960" y="1281240"/>
            <a:ext cx="595440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拓扑排序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4033" name="Shape 4511"/>
          <p:cNvGrpSpPr/>
          <p:nvPr/>
        </p:nvGrpSpPr>
        <p:grpSpPr>
          <a:xfrm>
            <a:off x="633240" y="5578560"/>
            <a:ext cx="7900920" cy="518760"/>
            <a:chOff x="633240" y="5578560"/>
            <a:chExt cx="7900920" cy="518760"/>
          </a:xfrm>
        </p:grpSpPr>
        <p:sp>
          <p:nvSpPr>
            <p:cNvPr id="4034" name="Shape 4512"/>
            <p:cNvSpPr/>
            <p:nvPr/>
          </p:nvSpPr>
          <p:spPr>
            <a:xfrm>
              <a:off x="1143000" y="5578560"/>
              <a:ext cx="73911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拓扑排序的结果？</a:t>
              </a:r>
              <a:endParaRPr b="0" lang="en-US" sz="2800" spc="-1" strike="noStrike">
                <a:latin typeface="Arial"/>
              </a:endParaRPr>
            </a:p>
          </p:txBody>
        </p:sp>
        <p:pic>
          <p:nvPicPr>
            <p:cNvPr id="4035" name="Shape 4513" descr=""/>
            <p:cNvPicPr/>
            <p:nvPr/>
          </p:nvPicPr>
          <p:blipFill>
            <a:blip r:embed="rId1"/>
            <a:stretch/>
          </p:blipFill>
          <p:spPr>
            <a:xfrm>
              <a:off x="633240" y="5589720"/>
              <a:ext cx="506160" cy="496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4036" name="Shape 4514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7" name="Shape 4519"/>
          <p:cNvSpPr/>
          <p:nvPr/>
        </p:nvSpPr>
        <p:spPr>
          <a:xfrm>
            <a:off x="426960" y="1281240"/>
            <a:ext cx="595440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拓扑排序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4038" name="Shape 4520"/>
          <p:cNvGrpSpPr/>
          <p:nvPr/>
        </p:nvGrpSpPr>
        <p:grpSpPr>
          <a:xfrm>
            <a:off x="1884240" y="2644920"/>
            <a:ext cx="1404720" cy="1174320"/>
            <a:chOff x="1884240" y="2644920"/>
            <a:chExt cx="1404720" cy="1174320"/>
          </a:xfrm>
        </p:grpSpPr>
        <p:sp>
          <p:nvSpPr>
            <p:cNvPr id="4039" name="Shape 4521"/>
            <p:cNvSpPr/>
            <p:nvPr/>
          </p:nvSpPr>
          <p:spPr>
            <a:xfrm>
              <a:off x="2371680" y="2644920"/>
              <a:ext cx="861480" cy="439200"/>
            </a:xfrm>
            <a:custGeom>
              <a:avLst/>
              <a:gdLst/>
              <a:ahLst/>
              <a:rect l="l" t="t" r="r" b="b"/>
              <a:pathLst>
                <a:path w="763" h="260">
                  <a:moveTo>
                    <a:pt x="0" y="260"/>
                  </a:moveTo>
                  <a:lnTo>
                    <a:pt x="76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40" name="Shape 4522"/>
            <p:cNvSpPr/>
            <p:nvPr/>
          </p:nvSpPr>
          <p:spPr>
            <a:xfrm>
              <a:off x="2360520" y="3297240"/>
              <a:ext cx="928440" cy="522000"/>
            </a:xfrm>
            <a:custGeom>
              <a:avLst/>
              <a:gdLst/>
              <a:ahLst/>
              <a:rect l="l" t="t" r="r" b="b"/>
              <a:pathLst>
                <a:path w="830" h="340">
                  <a:moveTo>
                    <a:pt x="0" y="0"/>
                  </a:moveTo>
                  <a:lnTo>
                    <a:pt x="830" y="34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041" name="Shape 4523"/>
            <p:cNvGrpSpPr/>
            <p:nvPr/>
          </p:nvGrpSpPr>
          <p:grpSpPr>
            <a:xfrm>
              <a:off x="1884240" y="2889360"/>
              <a:ext cx="530280" cy="595080"/>
              <a:chOff x="1884240" y="2889360"/>
              <a:chExt cx="530280" cy="595080"/>
            </a:xfrm>
          </p:grpSpPr>
          <p:sp>
            <p:nvSpPr>
              <p:cNvPr id="4042" name="Shape 4524"/>
              <p:cNvSpPr/>
              <p:nvPr/>
            </p:nvSpPr>
            <p:spPr>
              <a:xfrm>
                <a:off x="1884240" y="293832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43" name="Shape 4525"/>
              <p:cNvSpPr/>
              <p:nvPr/>
            </p:nvSpPr>
            <p:spPr>
              <a:xfrm>
                <a:off x="1951200" y="288936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rIns="0" tIns="18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1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4044" name="Shape 4526"/>
          <p:cNvGrpSpPr/>
          <p:nvPr/>
        </p:nvGrpSpPr>
        <p:grpSpPr>
          <a:xfrm>
            <a:off x="1914480" y="4049640"/>
            <a:ext cx="2471400" cy="1253520"/>
            <a:chOff x="1914480" y="4049640"/>
            <a:chExt cx="2471400" cy="1253520"/>
          </a:xfrm>
        </p:grpSpPr>
        <p:sp>
          <p:nvSpPr>
            <p:cNvPr id="4045" name="Shape 4527"/>
            <p:cNvSpPr/>
            <p:nvPr/>
          </p:nvSpPr>
          <p:spPr>
            <a:xfrm>
              <a:off x="2295360" y="4538520"/>
              <a:ext cx="2090520" cy="764640"/>
            </a:xfrm>
            <a:custGeom>
              <a:avLst/>
              <a:gdLst/>
              <a:ahLst/>
              <a:rect l="l" t="t" r="r" b="b"/>
              <a:pathLst>
                <a:path w="1764" h="470">
                  <a:moveTo>
                    <a:pt x="0" y="0"/>
                  </a:moveTo>
                  <a:lnTo>
                    <a:pt x="1764" y="47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46" name="Shape 4528"/>
            <p:cNvSpPr/>
            <p:nvPr/>
          </p:nvSpPr>
          <p:spPr>
            <a:xfrm>
              <a:off x="2367000" y="4049640"/>
              <a:ext cx="915480" cy="225000"/>
            </a:xfrm>
            <a:custGeom>
              <a:avLst/>
              <a:gdLst/>
              <a:ahLst/>
              <a:rect l="l" t="t" r="r" b="b"/>
              <a:pathLst>
                <a:path w="821" h="148">
                  <a:moveTo>
                    <a:pt x="0" y="148"/>
                  </a:moveTo>
                  <a:lnTo>
                    <a:pt x="82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047" name="Shape 4529"/>
            <p:cNvGrpSpPr/>
            <p:nvPr/>
          </p:nvGrpSpPr>
          <p:grpSpPr>
            <a:xfrm>
              <a:off x="1914480" y="4108320"/>
              <a:ext cx="529920" cy="595080"/>
              <a:chOff x="1914480" y="4108320"/>
              <a:chExt cx="529920" cy="595080"/>
            </a:xfrm>
          </p:grpSpPr>
          <p:sp>
            <p:nvSpPr>
              <p:cNvPr id="4048" name="Shape 4530"/>
              <p:cNvSpPr/>
              <p:nvPr/>
            </p:nvSpPr>
            <p:spPr>
              <a:xfrm>
                <a:off x="1914480" y="41576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49" name="Shape 4531"/>
              <p:cNvSpPr/>
              <p:nvPr/>
            </p:nvSpPr>
            <p:spPr>
              <a:xfrm>
                <a:off x="1981080" y="410832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rIns="0" tIns="18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2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4050" name="Shape 4532"/>
          <p:cNvGrpSpPr/>
          <p:nvPr/>
        </p:nvGrpSpPr>
        <p:grpSpPr>
          <a:xfrm>
            <a:off x="3209760" y="2279520"/>
            <a:ext cx="1625400" cy="595080"/>
            <a:chOff x="3209760" y="2279520"/>
            <a:chExt cx="1625400" cy="595080"/>
          </a:xfrm>
        </p:grpSpPr>
        <p:sp>
          <p:nvSpPr>
            <p:cNvPr id="4051" name="Shape 4533"/>
            <p:cNvSpPr/>
            <p:nvPr/>
          </p:nvSpPr>
          <p:spPr>
            <a:xfrm>
              <a:off x="3722760" y="2593800"/>
              <a:ext cx="1112400" cy="1080"/>
            </a:xfrm>
            <a:custGeom>
              <a:avLst/>
              <a:gdLst/>
              <a:ahLst/>
              <a:rect l="l" t="t" r="r" b="b"/>
              <a:pathLst>
                <a:path w="1005" h="5">
                  <a:moveTo>
                    <a:pt x="0" y="5"/>
                  </a:moveTo>
                  <a:lnTo>
                    <a:pt x="1005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052" name="Shape 4534"/>
            <p:cNvGrpSpPr/>
            <p:nvPr/>
          </p:nvGrpSpPr>
          <p:grpSpPr>
            <a:xfrm>
              <a:off x="3209760" y="2279520"/>
              <a:ext cx="530280" cy="595080"/>
              <a:chOff x="3209760" y="2279520"/>
              <a:chExt cx="530280" cy="595080"/>
            </a:xfrm>
          </p:grpSpPr>
          <p:sp>
            <p:nvSpPr>
              <p:cNvPr id="4053" name="Shape 4535"/>
              <p:cNvSpPr/>
              <p:nvPr/>
            </p:nvSpPr>
            <p:spPr>
              <a:xfrm>
                <a:off x="3209760" y="23288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54" name="Shape 4536"/>
              <p:cNvSpPr/>
              <p:nvPr/>
            </p:nvSpPr>
            <p:spPr>
              <a:xfrm>
                <a:off x="3276720" y="227952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rIns="0" tIns="18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3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4055" name="Shape 4537"/>
          <p:cNvGrpSpPr/>
          <p:nvPr/>
        </p:nvGrpSpPr>
        <p:grpSpPr>
          <a:xfrm>
            <a:off x="3270240" y="2830680"/>
            <a:ext cx="2572920" cy="2356920"/>
            <a:chOff x="3270240" y="2830680"/>
            <a:chExt cx="2572920" cy="2356920"/>
          </a:xfrm>
        </p:grpSpPr>
        <p:sp>
          <p:nvSpPr>
            <p:cNvPr id="4056" name="Shape 4538"/>
            <p:cNvSpPr/>
            <p:nvPr/>
          </p:nvSpPr>
          <p:spPr>
            <a:xfrm>
              <a:off x="3711600" y="2830680"/>
              <a:ext cx="1169640" cy="1028520"/>
            </a:xfrm>
            <a:custGeom>
              <a:avLst/>
              <a:gdLst/>
              <a:ahLst/>
              <a:rect l="l" t="t" r="r" b="b"/>
              <a:pathLst>
                <a:path w="1028" h="650">
                  <a:moveTo>
                    <a:pt x="0" y="650"/>
                  </a:moveTo>
                  <a:lnTo>
                    <a:pt x="1028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57" name="Shape 4539"/>
            <p:cNvSpPr/>
            <p:nvPr/>
          </p:nvSpPr>
          <p:spPr>
            <a:xfrm>
              <a:off x="3691080" y="4181400"/>
              <a:ext cx="786960" cy="1006200"/>
            </a:xfrm>
            <a:custGeom>
              <a:avLst/>
              <a:gdLst/>
              <a:ahLst/>
              <a:rect l="l" t="t" r="r" b="b"/>
              <a:pathLst>
                <a:path w="629" h="645">
                  <a:moveTo>
                    <a:pt x="0" y="0"/>
                  </a:moveTo>
                  <a:lnTo>
                    <a:pt x="629" y="64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58" name="Shape 4540"/>
            <p:cNvSpPr/>
            <p:nvPr/>
          </p:nvSpPr>
          <p:spPr>
            <a:xfrm>
              <a:off x="3741840" y="3984480"/>
              <a:ext cx="2101320" cy="1080"/>
            </a:xfrm>
            <a:custGeom>
              <a:avLst/>
              <a:gdLst/>
              <a:ahLst/>
              <a:rect l="l" t="t" r="r" b="b"/>
              <a:pathLst>
                <a:path w="1711" h="1">
                  <a:moveTo>
                    <a:pt x="0" y="1"/>
                  </a:moveTo>
                  <a:lnTo>
                    <a:pt x="171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059" name="Shape 4541"/>
            <p:cNvGrpSpPr/>
            <p:nvPr/>
          </p:nvGrpSpPr>
          <p:grpSpPr>
            <a:xfrm>
              <a:off x="3270240" y="3665520"/>
              <a:ext cx="529920" cy="595080"/>
              <a:chOff x="3270240" y="3665520"/>
              <a:chExt cx="529920" cy="595080"/>
            </a:xfrm>
          </p:grpSpPr>
          <p:sp>
            <p:nvSpPr>
              <p:cNvPr id="4060" name="Shape 4542"/>
              <p:cNvSpPr/>
              <p:nvPr/>
            </p:nvSpPr>
            <p:spPr>
              <a:xfrm>
                <a:off x="3270240" y="37148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61" name="Shape 4543"/>
              <p:cNvSpPr/>
              <p:nvPr/>
            </p:nvSpPr>
            <p:spPr>
              <a:xfrm>
                <a:off x="3336840" y="366552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rIns="0" tIns="18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4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4062" name="Shape 4544"/>
          <p:cNvGrpSpPr/>
          <p:nvPr/>
        </p:nvGrpSpPr>
        <p:grpSpPr>
          <a:xfrm>
            <a:off x="4383000" y="4127400"/>
            <a:ext cx="1539720" cy="1504800"/>
            <a:chOff x="4383000" y="4127400"/>
            <a:chExt cx="1539720" cy="1504800"/>
          </a:xfrm>
        </p:grpSpPr>
        <p:sp>
          <p:nvSpPr>
            <p:cNvPr id="4063" name="Shape 4545"/>
            <p:cNvSpPr/>
            <p:nvPr/>
          </p:nvSpPr>
          <p:spPr>
            <a:xfrm>
              <a:off x="4816440" y="4127400"/>
              <a:ext cx="1106280" cy="1058400"/>
            </a:xfrm>
            <a:custGeom>
              <a:avLst/>
              <a:gdLst/>
              <a:ahLst/>
              <a:rect l="l" t="t" r="r" b="b"/>
              <a:pathLst>
                <a:path w="900" h="650">
                  <a:moveTo>
                    <a:pt x="0" y="650"/>
                  </a:moveTo>
                  <a:lnTo>
                    <a:pt x="90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064" name="Shape 4546"/>
            <p:cNvGrpSpPr/>
            <p:nvPr/>
          </p:nvGrpSpPr>
          <p:grpSpPr>
            <a:xfrm>
              <a:off x="4383000" y="5037120"/>
              <a:ext cx="529920" cy="595080"/>
              <a:chOff x="4383000" y="5037120"/>
              <a:chExt cx="529920" cy="595080"/>
            </a:xfrm>
          </p:grpSpPr>
          <p:sp>
            <p:nvSpPr>
              <p:cNvPr id="4065" name="Shape 4547"/>
              <p:cNvSpPr/>
              <p:nvPr/>
            </p:nvSpPr>
            <p:spPr>
              <a:xfrm>
                <a:off x="4383000" y="50864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66" name="Shape 4548"/>
              <p:cNvSpPr/>
              <p:nvPr/>
            </p:nvSpPr>
            <p:spPr>
              <a:xfrm>
                <a:off x="4449600" y="503712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rIns="0" tIns="18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6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4067" name="Shape 4549"/>
          <p:cNvGrpSpPr/>
          <p:nvPr/>
        </p:nvGrpSpPr>
        <p:grpSpPr>
          <a:xfrm>
            <a:off x="4840200" y="2370240"/>
            <a:ext cx="1093320" cy="1378800"/>
            <a:chOff x="4840200" y="2370240"/>
            <a:chExt cx="1093320" cy="1378800"/>
          </a:xfrm>
        </p:grpSpPr>
        <p:sp>
          <p:nvSpPr>
            <p:cNvPr id="4068" name="Shape 4550"/>
            <p:cNvSpPr/>
            <p:nvPr/>
          </p:nvSpPr>
          <p:spPr>
            <a:xfrm>
              <a:off x="5246640" y="2822400"/>
              <a:ext cx="686880" cy="926640"/>
            </a:xfrm>
            <a:custGeom>
              <a:avLst/>
              <a:gdLst/>
              <a:ahLst/>
              <a:rect l="l" t="t" r="r" b="b"/>
              <a:pathLst>
                <a:path w="548" h="597">
                  <a:moveTo>
                    <a:pt x="0" y="0"/>
                  </a:moveTo>
                  <a:lnTo>
                    <a:pt x="548" y="59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069" name="Shape 4551"/>
            <p:cNvGrpSpPr/>
            <p:nvPr/>
          </p:nvGrpSpPr>
          <p:grpSpPr>
            <a:xfrm>
              <a:off x="4840200" y="2370240"/>
              <a:ext cx="529920" cy="595080"/>
              <a:chOff x="4840200" y="2370240"/>
              <a:chExt cx="529920" cy="595080"/>
            </a:xfrm>
          </p:grpSpPr>
          <p:sp>
            <p:nvSpPr>
              <p:cNvPr id="4070" name="Shape 4552"/>
              <p:cNvSpPr/>
              <p:nvPr/>
            </p:nvSpPr>
            <p:spPr>
              <a:xfrm>
                <a:off x="4840200" y="241920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71" name="Shape 4553"/>
              <p:cNvSpPr/>
              <p:nvPr/>
            </p:nvSpPr>
            <p:spPr>
              <a:xfrm>
                <a:off x="4906800" y="237024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rIns="0" tIns="18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5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4072" name="Shape 4554"/>
          <p:cNvGrpSpPr/>
          <p:nvPr/>
        </p:nvGrpSpPr>
        <p:grpSpPr>
          <a:xfrm>
            <a:off x="5837400" y="3666960"/>
            <a:ext cx="529920" cy="579240"/>
            <a:chOff x="5837400" y="3666960"/>
            <a:chExt cx="529920" cy="579240"/>
          </a:xfrm>
        </p:grpSpPr>
        <p:sp>
          <p:nvSpPr>
            <p:cNvPr id="4073" name="Shape 4555"/>
            <p:cNvSpPr/>
            <p:nvPr/>
          </p:nvSpPr>
          <p:spPr>
            <a:xfrm>
              <a:off x="5837400" y="3683160"/>
              <a:ext cx="502920" cy="4903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74" name="Shape 4556"/>
            <p:cNvSpPr/>
            <p:nvPr/>
          </p:nvSpPr>
          <p:spPr>
            <a:xfrm>
              <a:off x="5904000" y="3666960"/>
              <a:ext cx="463320" cy="57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4075" name="Shape 4557"/>
          <p:cNvSpPr/>
          <p:nvPr/>
        </p:nvSpPr>
        <p:spPr>
          <a:xfrm>
            <a:off x="838080" y="5867280"/>
            <a:ext cx="219348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拓扑序列：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076" name="Shape 4558"/>
          <p:cNvSpPr/>
          <p:nvPr/>
        </p:nvSpPr>
        <p:spPr>
          <a:xfrm>
            <a:off x="2822400" y="5883120"/>
            <a:ext cx="739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077" name="Shape 4559"/>
          <p:cNvSpPr/>
          <p:nvPr/>
        </p:nvSpPr>
        <p:spPr>
          <a:xfrm>
            <a:off x="3524400" y="5883120"/>
            <a:ext cx="739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078" name="Shape 4560"/>
          <p:cNvSpPr/>
          <p:nvPr/>
        </p:nvSpPr>
        <p:spPr>
          <a:xfrm>
            <a:off x="4149720" y="5883120"/>
            <a:ext cx="739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079" name="Shape 4561"/>
          <p:cNvSpPr/>
          <p:nvPr/>
        </p:nvSpPr>
        <p:spPr>
          <a:xfrm>
            <a:off x="4819680" y="5867280"/>
            <a:ext cx="739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080" name="Shape 4562"/>
          <p:cNvSpPr/>
          <p:nvPr/>
        </p:nvSpPr>
        <p:spPr>
          <a:xfrm>
            <a:off x="5445000" y="5880240"/>
            <a:ext cx="739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081" name="Shape 4563"/>
          <p:cNvSpPr/>
          <p:nvPr/>
        </p:nvSpPr>
        <p:spPr>
          <a:xfrm>
            <a:off x="6100920" y="5867280"/>
            <a:ext cx="7394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082" name="Shape 4564"/>
          <p:cNvSpPr/>
          <p:nvPr/>
        </p:nvSpPr>
        <p:spPr>
          <a:xfrm>
            <a:off x="6694560" y="5869080"/>
            <a:ext cx="6505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083" name="Shape 4565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59" dur="indefinite" restart="never" nodeType="tmRoot">
          <p:childTnLst>
            <p:seq>
              <p:cTn id="1060" dur="indefinite" nodeType="mainSeq">
                <p:childTnLst>
                  <p:par>
                    <p:cTn id="1061" fill="hold">
                      <p:stCondLst>
                        <p:cond delay="indefinite"/>
                      </p:stCondLst>
                      <p:childTnLst>
                        <p:par>
                          <p:cTn id="1062" fill="hold">
                            <p:stCondLst>
                              <p:cond delay="0"/>
                            </p:stCondLst>
                            <p:childTnLst>
                              <p:par>
                                <p:cTn id="10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5" fill="hold">
                      <p:stCondLst>
                        <p:cond delay="indefinite"/>
                      </p:stCondLst>
                      <p:childTnLst>
                        <p:par>
                          <p:cTn id="1066" fill="hold">
                            <p:stCondLst>
                              <p:cond delay="0"/>
                            </p:stCondLst>
                            <p:childTnLst>
                              <p:par>
                                <p:cTn id="10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9" fill="hold">
                      <p:stCondLst>
                        <p:cond delay="indefinite"/>
                      </p:stCondLst>
                      <p:childTnLst>
                        <p:par>
                          <p:cTn id="1070" fill="hold">
                            <p:stCondLst>
                              <p:cond delay="0"/>
                            </p:stCondLst>
                            <p:childTnLst>
                              <p:par>
                                <p:cTn id="10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3" fill="hold">
                      <p:stCondLst>
                        <p:cond delay="indefinite"/>
                      </p:stCondLst>
                      <p:childTnLst>
                        <p:par>
                          <p:cTn id="1074" fill="hold">
                            <p:stCondLst>
                              <p:cond delay="0"/>
                            </p:stCondLst>
                            <p:childTnLst>
                              <p:par>
                                <p:cTn id="10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7" fill="hold">
                      <p:stCondLst>
                        <p:cond delay="indefinite"/>
                      </p:stCondLst>
                      <p:childTnLst>
                        <p:par>
                          <p:cTn id="1078" fill="hold">
                            <p:stCondLst>
                              <p:cond delay="0"/>
                            </p:stCondLst>
                            <p:childTnLst>
                              <p:par>
                                <p:cTn id="10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1" fill="hold">
                      <p:stCondLst>
                        <p:cond delay="indefinite"/>
                      </p:stCondLst>
                      <p:childTnLst>
                        <p:par>
                          <p:cTn id="1082" fill="hold">
                            <p:stCondLst>
                              <p:cond delay="0"/>
                            </p:stCondLst>
                            <p:childTnLst>
                              <p:par>
                                <p:cTn id="10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5" fill="hold">
                      <p:stCondLst>
                        <p:cond delay="indefinite"/>
                      </p:stCondLst>
                      <p:childTnLst>
                        <p:par>
                          <p:cTn id="1086" fill="hold">
                            <p:stCondLst>
                              <p:cond delay="0"/>
                            </p:stCondLst>
                            <p:childTnLst>
                              <p:par>
                                <p:cTn id="10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4" name="Shape 4570"/>
          <p:cNvSpPr/>
          <p:nvPr/>
        </p:nvSpPr>
        <p:spPr>
          <a:xfrm>
            <a:off x="426960" y="1281240"/>
            <a:ext cx="595440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拓扑排序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4085" name="Shape 4571"/>
          <p:cNvGrpSpPr/>
          <p:nvPr/>
        </p:nvGrpSpPr>
        <p:grpSpPr>
          <a:xfrm>
            <a:off x="1884240" y="2644920"/>
            <a:ext cx="1404720" cy="1174320"/>
            <a:chOff x="1884240" y="2644920"/>
            <a:chExt cx="1404720" cy="1174320"/>
          </a:xfrm>
        </p:grpSpPr>
        <p:sp>
          <p:nvSpPr>
            <p:cNvPr id="4086" name="Shape 4572"/>
            <p:cNvSpPr/>
            <p:nvPr/>
          </p:nvSpPr>
          <p:spPr>
            <a:xfrm>
              <a:off x="2371680" y="2644920"/>
              <a:ext cx="861480" cy="439200"/>
            </a:xfrm>
            <a:custGeom>
              <a:avLst/>
              <a:gdLst/>
              <a:ahLst/>
              <a:rect l="l" t="t" r="r" b="b"/>
              <a:pathLst>
                <a:path w="763" h="260">
                  <a:moveTo>
                    <a:pt x="0" y="260"/>
                  </a:moveTo>
                  <a:lnTo>
                    <a:pt x="763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87" name="Shape 4573"/>
            <p:cNvSpPr/>
            <p:nvPr/>
          </p:nvSpPr>
          <p:spPr>
            <a:xfrm>
              <a:off x="2360520" y="3297240"/>
              <a:ext cx="928440" cy="522000"/>
            </a:xfrm>
            <a:custGeom>
              <a:avLst/>
              <a:gdLst/>
              <a:ahLst/>
              <a:rect l="l" t="t" r="r" b="b"/>
              <a:pathLst>
                <a:path w="830" h="340">
                  <a:moveTo>
                    <a:pt x="0" y="0"/>
                  </a:moveTo>
                  <a:lnTo>
                    <a:pt x="830" y="34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088" name="Shape 4574"/>
            <p:cNvGrpSpPr/>
            <p:nvPr/>
          </p:nvGrpSpPr>
          <p:grpSpPr>
            <a:xfrm>
              <a:off x="1884240" y="2889360"/>
              <a:ext cx="530280" cy="595080"/>
              <a:chOff x="1884240" y="2889360"/>
              <a:chExt cx="530280" cy="595080"/>
            </a:xfrm>
          </p:grpSpPr>
          <p:sp>
            <p:nvSpPr>
              <p:cNvPr id="4089" name="Shape 4575"/>
              <p:cNvSpPr/>
              <p:nvPr/>
            </p:nvSpPr>
            <p:spPr>
              <a:xfrm>
                <a:off x="1884240" y="293832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90" name="Shape 4576"/>
              <p:cNvSpPr/>
              <p:nvPr/>
            </p:nvSpPr>
            <p:spPr>
              <a:xfrm>
                <a:off x="1951200" y="288936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rIns="0" tIns="18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1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4091" name="Shape 4577"/>
          <p:cNvGrpSpPr/>
          <p:nvPr/>
        </p:nvGrpSpPr>
        <p:grpSpPr>
          <a:xfrm>
            <a:off x="1914480" y="4049640"/>
            <a:ext cx="2775960" cy="1161720"/>
            <a:chOff x="1914480" y="4049640"/>
            <a:chExt cx="2775960" cy="1161720"/>
          </a:xfrm>
        </p:grpSpPr>
        <p:sp>
          <p:nvSpPr>
            <p:cNvPr id="4092" name="Shape 4578"/>
            <p:cNvSpPr/>
            <p:nvPr/>
          </p:nvSpPr>
          <p:spPr>
            <a:xfrm>
              <a:off x="2295360" y="4538520"/>
              <a:ext cx="2395080" cy="672840"/>
            </a:xfrm>
            <a:custGeom>
              <a:avLst/>
              <a:gdLst/>
              <a:ahLst/>
              <a:rect l="l" t="t" r="r" b="b"/>
              <a:pathLst>
                <a:path w="1764" h="470">
                  <a:moveTo>
                    <a:pt x="0" y="0"/>
                  </a:moveTo>
                  <a:lnTo>
                    <a:pt x="1764" y="47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93" name="Shape 4579"/>
            <p:cNvSpPr/>
            <p:nvPr/>
          </p:nvSpPr>
          <p:spPr>
            <a:xfrm>
              <a:off x="2367000" y="4049640"/>
              <a:ext cx="915480" cy="225000"/>
            </a:xfrm>
            <a:custGeom>
              <a:avLst/>
              <a:gdLst/>
              <a:ahLst/>
              <a:rect l="l" t="t" r="r" b="b"/>
              <a:pathLst>
                <a:path w="821" h="148">
                  <a:moveTo>
                    <a:pt x="0" y="148"/>
                  </a:moveTo>
                  <a:lnTo>
                    <a:pt x="82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094" name="Shape 4580"/>
            <p:cNvGrpSpPr/>
            <p:nvPr/>
          </p:nvGrpSpPr>
          <p:grpSpPr>
            <a:xfrm>
              <a:off x="1914480" y="4108320"/>
              <a:ext cx="529920" cy="595080"/>
              <a:chOff x="1914480" y="4108320"/>
              <a:chExt cx="529920" cy="595080"/>
            </a:xfrm>
          </p:grpSpPr>
          <p:sp>
            <p:nvSpPr>
              <p:cNvPr id="4095" name="Shape 4581"/>
              <p:cNvSpPr/>
              <p:nvPr/>
            </p:nvSpPr>
            <p:spPr>
              <a:xfrm>
                <a:off x="1914480" y="41576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96" name="Shape 4582"/>
              <p:cNvSpPr/>
              <p:nvPr/>
            </p:nvSpPr>
            <p:spPr>
              <a:xfrm>
                <a:off x="1981080" y="410832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rIns="0" tIns="18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2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4097" name="Shape 4583"/>
          <p:cNvGrpSpPr/>
          <p:nvPr/>
        </p:nvGrpSpPr>
        <p:grpSpPr>
          <a:xfrm>
            <a:off x="3209760" y="2279520"/>
            <a:ext cx="1625400" cy="595080"/>
            <a:chOff x="3209760" y="2279520"/>
            <a:chExt cx="1625400" cy="595080"/>
          </a:xfrm>
        </p:grpSpPr>
        <p:sp>
          <p:nvSpPr>
            <p:cNvPr id="4098" name="Shape 4584"/>
            <p:cNvSpPr/>
            <p:nvPr/>
          </p:nvSpPr>
          <p:spPr>
            <a:xfrm>
              <a:off x="3722760" y="2593800"/>
              <a:ext cx="1112400" cy="1080"/>
            </a:xfrm>
            <a:custGeom>
              <a:avLst/>
              <a:gdLst/>
              <a:ahLst/>
              <a:rect l="l" t="t" r="r" b="b"/>
              <a:pathLst>
                <a:path w="1005" h="5">
                  <a:moveTo>
                    <a:pt x="0" y="5"/>
                  </a:moveTo>
                  <a:lnTo>
                    <a:pt x="1005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099" name="Shape 4585"/>
            <p:cNvGrpSpPr/>
            <p:nvPr/>
          </p:nvGrpSpPr>
          <p:grpSpPr>
            <a:xfrm>
              <a:off x="3209760" y="2279520"/>
              <a:ext cx="530280" cy="595080"/>
              <a:chOff x="3209760" y="2279520"/>
              <a:chExt cx="530280" cy="595080"/>
            </a:xfrm>
          </p:grpSpPr>
          <p:sp>
            <p:nvSpPr>
              <p:cNvPr id="4100" name="Shape 4586"/>
              <p:cNvSpPr/>
              <p:nvPr/>
            </p:nvSpPr>
            <p:spPr>
              <a:xfrm>
                <a:off x="3209760" y="23288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01" name="Shape 4587"/>
              <p:cNvSpPr/>
              <p:nvPr/>
            </p:nvSpPr>
            <p:spPr>
              <a:xfrm>
                <a:off x="3276720" y="227952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rIns="0" tIns="18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r>
                  <a:rPr b="1" lang="en-US" sz="28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3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sp>
        <p:nvSpPr>
          <p:cNvPr id="4102" name="Shape 4588"/>
          <p:cNvSpPr/>
          <p:nvPr/>
        </p:nvSpPr>
        <p:spPr>
          <a:xfrm>
            <a:off x="3711600" y="2830680"/>
            <a:ext cx="1169640" cy="1028520"/>
          </a:xfrm>
          <a:custGeom>
            <a:avLst/>
            <a:gdLst/>
            <a:ahLst/>
            <a:rect l="l" t="t" r="r" b="b"/>
            <a:pathLst>
              <a:path w="1028" h="650">
                <a:moveTo>
                  <a:pt x="0" y="650"/>
                </a:moveTo>
                <a:lnTo>
                  <a:pt x="1028" y="0"/>
                </a:lnTo>
              </a:path>
            </a:pathLst>
          </a:custGeom>
          <a:noFill/>
          <a:ln w="3810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4103" name="Shape 4589"/>
          <p:cNvSpPr/>
          <p:nvPr/>
        </p:nvSpPr>
        <p:spPr>
          <a:xfrm>
            <a:off x="3691080" y="4181400"/>
            <a:ext cx="1061640" cy="899640"/>
          </a:xfrm>
          <a:custGeom>
            <a:avLst/>
            <a:gdLst/>
            <a:ahLst/>
            <a:rect l="l" t="t" r="r" b="b"/>
            <a:pathLst>
              <a:path w="629" h="645">
                <a:moveTo>
                  <a:pt x="0" y="0"/>
                </a:moveTo>
                <a:lnTo>
                  <a:pt x="629" y="645"/>
                </a:lnTo>
              </a:path>
            </a:pathLst>
          </a:custGeom>
          <a:noFill/>
          <a:ln w="38100">
            <a:solidFill>
              <a:srgbClr val="000000"/>
            </a:solidFill>
            <a:miter/>
            <a:headEnd len="lg" type="stealth" w="lg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104" name="Shape 4590"/>
          <p:cNvGrpSpPr/>
          <p:nvPr/>
        </p:nvGrpSpPr>
        <p:grpSpPr>
          <a:xfrm>
            <a:off x="3270240" y="3665520"/>
            <a:ext cx="529920" cy="595080"/>
            <a:chOff x="3270240" y="3665520"/>
            <a:chExt cx="529920" cy="595080"/>
          </a:xfrm>
        </p:grpSpPr>
        <p:sp>
          <p:nvSpPr>
            <p:cNvPr id="4105" name="Shape 4591"/>
            <p:cNvSpPr/>
            <p:nvPr/>
          </p:nvSpPr>
          <p:spPr>
            <a:xfrm>
              <a:off x="3270240" y="3714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06" name="Shape 4592"/>
            <p:cNvSpPr/>
            <p:nvPr/>
          </p:nvSpPr>
          <p:spPr>
            <a:xfrm>
              <a:off x="3336840" y="3665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107" name="Shape 4593"/>
          <p:cNvGrpSpPr/>
          <p:nvPr/>
        </p:nvGrpSpPr>
        <p:grpSpPr>
          <a:xfrm>
            <a:off x="4724280" y="4943520"/>
            <a:ext cx="530280" cy="595080"/>
            <a:chOff x="4724280" y="4943520"/>
            <a:chExt cx="530280" cy="595080"/>
          </a:xfrm>
        </p:grpSpPr>
        <p:sp>
          <p:nvSpPr>
            <p:cNvPr id="4108" name="Shape 4594"/>
            <p:cNvSpPr/>
            <p:nvPr/>
          </p:nvSpPr>
          <p:spPr>
            <a:xfrm>
              <a:off x="4724280" y="49928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09" name="Shape 4595"/>
            <p:cNvSpPr/>
            <p:nvPr/>
          </p:nvSpPr>
          <p:spPr>
            <a:xfrm>
              <a:off x="4791240" y="49435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110" name="Shape 4596"/>
          <p:cNvGrpSpPr/>
          <p:nvPr/>
        </p:nvGrpSpPr>
        <p:grpSpPr>
          <a:xfrm>
            <a:off x="4748040" y="2340000"/>
            <a:ext cx="530280" cy="595080"/>
            <a:chOff x="4748040" y="2340000"/>
            <a:chExt cx="530280" cy="595080"/>
          </a:xfrm>
        </p:grpSpPr>
        <p:sp>
          <p:nvSpPr>
            <p:cNvPr id="4111" name="Shape 4597"/>
            <p:cNvSpPr/>
            <p:nvPr/>
          </p:nvSpPr>
          <p:spPr>
            <a:xfrm>
              <a:off x="4748040" y="23893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12" name="Shape 4598"/>
            <p:cNvSpPr/>
            <p:nvPr/>
          </p:nvSpPr>
          <p:spPr>
            <a:xfrm>
              <a:off x="4815000" y="23400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r>
                <a:rPr b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4113" name="Shape 4599"/>
          <p:cNvSpPr/>
          <p:nvPr/>
        </p:nvSpPr>
        <p:spPr>
          <a:xfrm flipH="1">
            <a:off x="4982400" y="2901960"/>
            <a:ext cx="1080" cy="2104560"/>
          </a:xfrm>
          <a:custGeom>
            <a:avLst/>
            <a:gdLst/>
            <a:ahLst/>
            <a:rect l="l" t="t" r="r" b="b"/>
            <a:pathLst>
              <a:path w="629" h="645">
                <a:moveTo>
                  <a:pt x="0" y="0"/>
                </a:moveTo>
                <a:lnTo>
                  <a:pt x="629" y="645"/>
                </a:lnTo>
              </a:path>
            </a:pathLst>
          </a:custGeom>
          <a:noFill/>
          <a:ln w="38100">
            <a:solidFill>
              <a:srgbClr val="000000"/>
            </a:solidFill>
            <a:miter/>
            <a:tailEnd len="lg" type="stealth" w="lg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114" name="Shape 4600"/>
          <p:cNvGrpSpPr/>
          <p:nvPr/>
        </p:nvGrpSpPr>
        <p:grpSpPr>
          <a:xfrm>
            <a:off x="838080" y="5867280"/>
            <a:ext cx="4051080" cy="534600"/>
            <a:chOff x="838080" y="5867280"/>
            <a:chExt cx="4051080" cy="534600"/>
          </a:xfrm>
        </p:grpSpPr>
        <p:sp>
          <p:nvSpPr>
            <p:cNvPr id="4115" name="Shape 4601"/>
            <p:cNvSpPr/>
            <p:nvPr/>
          </p:nvSpPr>
          <p:spPr>
            <a:xfrm>
              <a:off x="838080" y="5867280"/>
              <a:ext cx="219348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拓扑序列：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116" name="Shape 4602"/>
            <p:cNvSpPr/>
            <p:nvPr/>
          </p:nvSpPr>
          <p:spPr>
            <a:xfrm>
              <a:off x="2822400" y="5883120"/>
              <a:ext cx="7394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C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, 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117" name="Shape 4603"/>
            <p:cNvSpPr/>
            <p:nvPr/>
          </p:nvSpPr>
          <p:spPr>
            <a:xfrm>
              <a:off x="3524400" y="5883120"/>
              <a:ext cx="7394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C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, 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118" name="Shape 4604"/>
            <p:cNvSpPr/>
            <p:nvPr/>
          </p:nvSpPr>
          <p:spPr>
            <a:xfrm>
              <a:off x="4149720" y="5883120"/>
              <a:ext cx="73944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C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, 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119" name="Shape 4605"/>
          <p:cNvGrpSpPr/>
          <p:nvPr/>
        </p:nvGrpSpPr>
        <p:grpSpPr>
          <a:xfrm>
            <a:off x="5516640" y="3506760"/>
            <a:ext cx="3320640" cy="945720"/>
            <a:chOff x="5516640" y="3506760"/>
            <a:chExt cx="3320640" cy="945720"/>
          </a:xfrm>
        </p:grpSpPr>
        <p:sp>
          <p:nvSpPr>
            <p:cNvPr id="4120" name="Shape 4606"/>
            <p:cNvSpPr/>
            <p:nvPr/>
          </p:nvSpPr>
          <p:spPr>
            <a:xfrm>
              <a:off x="6308640" y="3506760"/>
              <a:ext cx="2528640" cy="94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800" spc="-1" strike="noStrike">
                  <a:solidFill>
                    <a:srgbClr val="3333cc"/>
                  </a:solidFill>
                  <a:latin typeface="Times New Roman"/>
                  <a:ea typeface="Times New Roman"/>
                </a:rPr>
                <a:t>说明</a:t>
              </a:r>
              <a:r>
                <a:rPr b="1" lang="en-US" sz="2800" spc="-1" strike="noStrike">
                  <a:solidFill>
                    <a:srgbClr val="3333cc"/>
                  </a:solidFill>
                  <a:latin typeface="Times New Roman"/>
                  <a:ea typeface="Times New Roman"/>
                </a:rPr>
                <a:t>AOV</a:t>
              </a:r>
              <a:r>
                <a:rPr b="1" lang="ja-JP" sz="2800" spc="-1" strike="noStrike">
                  <a:solidFill>
                    <a:srgbClr val="3333cc"/>
                  </a:solidFill>
                  <a:latin typeface="Times New Roman"/>
                  <a:ea typeface="Times New Roman"/>
                </a:rPr>
                <a:t>网中存在回路。 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121" name="Shape 4607"/>
            <p:cNvSpPr/>
            <p:nvPr/>
          </p:nvSpPr>
          <p:spPr>
            <a:xfrm>
              <a:off x="5516640" y="3840120"/>
              <a:ext cx="685440" cy="35064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>
              <a:solidFill>
                <a:srgbClr val="3333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122" name="Shape 4608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3" name="Shape 4613"/>
          <p:cNvSpPr/>
          <p:nvPr/>
        </p:nvSpPr>
        <p:spPr>
          <a:xfrm>
            <a:off x="318960" y="1157400"/>
            <a:ext cx="358092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设计数据结构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124" name="Shape 4614"/>
          <p:cNvSpPr/>
          <p:nvPr/>
        </p:nvSpPr>
        <p:spPr>
          <a:xfrm>
            <a:off x="525600" y="2222640"/>
            <a:ext cx="8110080" cy="22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  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图的存储结构：采用邻接表存储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，在顶点表中增加一个入度域。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                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顶点表结点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4125" name="Shape 4615"/>
          <p:cNvGrpSpPr/>
          <p:nvPr/>
        </p:nvGrpSpPr>
        <p:grpSpPr>
          <a:xfrm>
            <a:off x="1752480" y="3430440"/>
            <a:ext cx="4495320" cy="466200"/>
            <a:chOff x="1752480" y="3430440"/>
            <a:chExt cx="4495320" cy="466200"/>
          </a:xfrm>
        </p:grpSpPr>
        <p:sp>
          <p:nvSpPr>
            <p:cNvPr id="4126" name="Shape 4616"/>
            <p:cNvSpPr/>
            <p:nvPr/>
          </p:nvSpPr>
          <p:spPr>
            <a:xfrm>
              <a:off x="1752480" y="3430440"/>
              <a:ext cx="1306080" cy="466200"/>
            </a:xfrm>
            <a:prstGeom prst="rect">
              <a:avLst/>
            </a:prstGeom>
            <a:blipFill rotWithShape="0">
              <a:blip r:embed="rId1"/>
              <a:srcRect/>
              <a:stretch/>
            </a:blip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0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 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in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127" name="Shape 4617"/>
            <p:cNvSpPr/>
            <p:nvPr/>
          </p:nvSpPr>
          <p:spPr>
            <a:xfrm>
              <a:off x="3059280" y="3430440"/>
              <a:ext cx="1517400" cy="466200"/>
            </a:xfrm>
            <a:prstGeom prst="rect">
              <a:avLst/>
            </a:prstGeom>
            <a:blipFill rotWithShape="0">
              <a:blip r:embed="rId2"/>
              <a:srcRect/>
              <a:stretch/>
            </a:blip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0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 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vertex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128" name="Shape 4618"/>
            <p:cNvSpPr/>
            <p:nvPr/>
          </p:nvSpPr>
          <p:spPr>
            <a:xfrm>
              <a:off x="4576680" y="3430440"/>
              <a:ext cx="1671120" cy="466200"/>
            </a:xfrm>
            <a:prstGeom prst="rect">
              <a:avLst/>
            </a:prstGeom>
            <a:blipFill rotWithShape="0">
              <a:blip r:embed="rId3"/>
              <a:srcRect/>
              <a:stretch/>
            </a:blipFill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108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firstedge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4129" name="Shape 4619"/>
          <p:cNvSpPr/>
          <p:nvPr/>
        </p:nvSpPr>
        <p:spPr>
          <a:xfrm>
            <a:off x="714240" y="5035680"/>
            <a:ext cx="79959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栈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：存储所有无前驱的顶点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。也可以用队列。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130" name="Shape 4620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1" name="Shape 4625"/>
          <p:cNvSpPr/>
          <p:nvPr/>
        </p:nvSpPr>
        <p:spPr>
          <a:xfrm>
            <a:off x="476280" y="5626080"/>
            <a:ext cx="7926120" cy="93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(a) 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一个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AOV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网        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(b) AOV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网的邻接表存储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 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132" name="Shape 4626"/>
          <p:cNvSpPr/>
          <p:nvPr/>
        </p:nvSpPr>
        <p:spPr>
          <a:xfrm rot="10800000">
            <a:off x="1214640" y="2426760"/>
            <a:ext cx="615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33" name="Shape 4627"/>
          <p:cNvSpPr/>
          <p:nvPr/>
        </p:nvSpPr>
        <p:spPr>
          <a:xfrm>
            <a:off x="2058840" y="2732040"/>
            <a:ext cx="360" cy="595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34" name="Shape 4628"/>
          <p:cNvSpPr/>
          <p:nvPr/>
        </p:nvSpPr>
        <p:spPr>
          <a:xfrm>
            <a:off x="2058840" y="3835440"/>
            <a:ext cx="360" cy="612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35" name="Shape 4629"/>
          <p:cNvSpPr/>
          <p:nvPr/>
        </p:nvSpPr>
        <p:spPr>
          <a:xfrm>
            <a:off x="1184400" y="4711680"/>
            <a:ext cx="5965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36" name="Shape 4630"/>
          <p:cNvSpPr/>
          <p:nvPr/>
        </p:nvSpPr>
        <p:spPr>
          <a:xfrm rot="10800000">
            <a:off x="941040" y="3816720"/>
            <a:ext cx="360" cy="636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37" name="Shape 4631"/>
          <p:cNvSpPr/>
          <p:nvPr/>
        </p:nvSpPr>
        <p:spPr>
          <a:xfrm>
            <a:off x="1228680" y="3578400"/>
            <a:ext cx="568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38" name="Shape 4632"/>
          <p:cNvSpPr/>
          <p:nvPr/>
        </p:nvSpPr>
        <p:spPr>
          <a:xfrm rot="10800000">
            <a:off x="953640" y="2667240"/>
            <a:ext cx="360" cy="61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39" name="Shape 4633"/>
          <p:cNvSpPr/>
          <p:nvPr/>
        </p:nvSpPr>
        <p:spPr>
          <a:xfrm rot="10800000">
            <a:off x="1124280" y="2584800"/>
            <a:ext cx="753840" cy="813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40" name="Shape 4634"/>
          <p:cNvSpPr/>
          <p:nvPr/>
        </p:nvSpPr>
        <p:spPr>
          <a:xfrm flipH="1" rot="10800000">
            <a:off x="1106280" y="3702240"/>
            <a:ext cx="736200" cy="807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41" name="Shape 4635"/>
          <p:cNvSpPr/>
          <p:nvPr/>
        </p:nvSpPr>
        <p:spPr>
          <a:xfrm>
            <a:off x="2994120" y="2422440"/>
            <a:ext cx="183960" cy="30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142" name="Shape 4636"/>
          <p:cNvSpPr/>
          <p:nvPr/>
        </p:nvSpPr>
        <p:spPr>
          <a:xfrm>
            <a:off x="3344760" y="2028960"/>
            <a:ext cx="270000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  vertex firstedge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143" name="Shape 4637"/>
          <p:cNvSpPr/>
          <p:nvPr/>
        </p:nvSpPr>
        <p:spPr>
          <a:xfrm>
            <a:off x="3255840" y="2421000"/>
            <a:ext cx="1614240" cy="2998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t">
            <a:noAutofit/>
          </a:bodyPr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∧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∧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4144" name="Shape 4638"/>
          <p:cNvGrpSpPr/>
          <p:nvPr/>
        </p:nvGrpSpPr>
        <p:grpSpPr>
          <a:xfrm>
            <a:off x="3251160" y="2935440"/>
            <a:ext cx="1605960" cy="1997280"/>
            <a:chOff x="3251160" y="2935440"/>
            <a:chExt cx="1605960" cy="1997280"/>
          </a:xfrm>
        </p:grpSpPr>
        <p:sp>
          <p:nvSpPr>
            <p:cNvPr id="4145" name="Shape 4639"/>
            <p:cNvSpPr/>
            <p:nvPr/>
          </p:nvSpPr>
          <p:spPr>
            <a:xfrm>
              <a:off x="3256200" y="293544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46" name="Shape 4640"/>
            <p:cNvSpPr/>
            <p:nvPr/>
          </p:nvSpPr>
          <p:spPr>
            <a:xfrm>
              <a:off x="3259440" y="342900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47" name="Shape 4641"/>
            <p:cNvSpPr/>
            <p:nvPr/>
          </p:nvSpPr>
          <p:spPr>
            <a:xfrm>
              <a:off x="3259440" y="443232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48" name="Shape 4642"/>
            <p:cNvSpPr/>
            <p:nvPr/>
          </p:nvSpPr>
          <p:spPr>
            <a:xfrm>
              <a:off x="3252960" y="493236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49" name="Shape 4643"/>
            <p:cNvSpPr/>
            <p:nvPr/>
          </p:nvSpPr>
          <p:spPr>
            <a:xfrm>
              <a:off x="3251160" y="393876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150" name="Shape 4644"/>
          <p:cNvGrpSpPr/>
          <p:nvPr/>
        </p:nvGrpSpPr>
        <p:grpSpPr>
          <a:xfrm>
            <a:off x="3828960" y="2421000"/>
            <a:ext cx="539640" cy="2976120"/>
            <a:chOff x="3828960" y="2421000"/>
            <a:chExt cx="539640" cy="2976120"/>
          </a:xfrm>
        </p:grpSpPr>
        <p:sp>
          <p:nvSpPr>
            <p:cNvPr id="4151" name="Shape 4645"/>
            <p:cNvSpPr/>
            <p:nvPr/>
          </p:nvSpPr>
          <p:spPr>
            <a:xfrm>
              <a:off x="3828960" y="2421000"/>
              <a:ext cx="720" cy="297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52" name="Shape 4646"/>
            <p:cNvSpPr/>
            <p:nvPr/>
          </p:nvSpPr>
          <p:spPr>
            <a:xfrm>
              <a:off x="4367880" y="2421000"/>
              <a:ext cx="720" cy="297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153" name="Shape 4647"/>
          <p:cNvSpPr/>
          <p:nvPr/>
        </p:nvSpPr>
        <p:spPr>
          <a:xfrm>
            <a:off x="4546440" y="318780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54" name="Shape 4648"/>
          <p:cNvSpPr/>
          <p:nvPr/>
        </p:nvSpPr>
        <p:spPr>
          <a:xfrm>
            <a:off x="4546440" y="372096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55" name="Shape 4649"/>
          <p:cNvSpPr/>
          <p:nvPr/>
        </p:nvSpPr>
        <p:spPr>
          <a:xfrm>
            <a:off x="4556160" y="419112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56" name="Shape 4650"/>
          <p:cNvSpPr/>
          <p:nvPr/>
        </p:nvSpPr>
        <p:spPr>
          <a:xfrm>
            <a:off x="5132520" y="29224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157" name="Shape 4651"/>
          <p:cNvSpPr/>
          <p:nvPr/>
        </p:nvSpPr>
        <p:spPr>
          <a:xfrm>
            <a:off x="5532480" y="291456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158" name="Shape 4652"/>
          <p:cNvSpPr/>
          <p:nvPr/>
        </p:nvSpPr>
        <p:spPr>
          <a:xfrm>
            <a:off x="6251400" y="2957400"/>
            <a:ext cx="772920" cy="44100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159" name="Shape 4653"/>
          <p:cNvSpPr/>
          <p:nvPr/>
        </p:nvSpPr>
        <p:spPr>
          <a:xfrm>
            <a:off x="6651720" y="294804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160" name="Shape 4654"/>
          <p:cNvSpPr/>
          <p:nvPr/>
        </p:nvSpPr>
        <p:spPr>
          <a:xfrm>
            <a:off x="5656320" y="319896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61" name="Shape 4655"/>
          <p:cNvSpPr/>
          <p:nvPr/>
        </p:nvSpPr>
        <p:spPr>
          <a:xfrm>
            <a:off x="5132520" y="343692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162" name="Shape 4656"/>
          <p:cNvSpPr/>
          <p:nvPr/>
        </p:nvSpPr>
        <p:spPr>
          <a:xfrm>
            <a:off x="5532480" y="342900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163" name="Shape 4657"/>
          <p:cNvSpPr/>
          <p:nvPr/>
        </p:nvSpPr>
        <p:spPr>
          <a:xfrm>
            <a:off x="5132520" y="3952800"/>
            <a:ext cx="772920" cy="44100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164" name="Shape 4658"/>
          <p:cNvSpPr/>
          <p:nvPr/>
        </p:nvSpPr>
        <p:spPr>
          <a:xfrm>
            <a:off x="5532480" y="3965400"/>
            <a:ext cx="360" cy="423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165" name="Shape 4659"/>
          <p:cNvSpPr/>
          <p:nvPr/>
        </p:nvSpPr>
        <p:spPr>
          <a:xfrm>
            <a:off x="6251400" y="39862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166" name="Shape 4660"/>
          <p:cNvSpPr/>
          <p:nvPr/>
        </p:nvSpPr>
        <p:spPr>
          <a:xfrm>
            <a:off x="6651720" y="3978360"/>
            <a:ext cx="360" cy="441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167" name="Shape 4661"/>
          <p:cNvSpPr/>
          <p:nvPr/>
        </p:nvSpPr>
        <p:spPr>
          <a:xfrm>
            <a:off x="5656320" y="422928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68" name="Shape 4662"/>
          <p:cNvSpPr/>
          <p:nvPr/>
        </p:nvSpPr>
        <p:spPr>
          <a:xfrm>
            <a:off x="4564080" y="470844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69" name="Shape 4663"/>
          <p:cNvSpPr/>
          <p:nvPr/>
        </p:nvSpPr>
        <p:spPr>
          <a:xfrm>
            <a:off x="5126040" y="448452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170" name="Shape 4664"/>
          <p:cNvSpPr/>
          <p:nvPr/>
        </p:nvSpPr>
        <p:spPr>
          <a:xfrm>
            <a:off x="5526000" y="4497480"/>
            <a:ext cx="360" cy="425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171" name="Shape 4665"/>
          <p:cNvSpPr/>
          <p:nvPr/>
        </p:nvSpPr>
        <p:spPr>
          <a:xfrm>
            <a:off x="6253200" y="346716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172" name="Shape 4666"/>
          <p:cNvSpPr/>
          <p:nvPr/>
        </p:nvSpPr>
        <p:spPr>
          <a:xfrm>
            <a:off x="6653160" y="347976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173" name="Shape 4667"/>
          <p:cNvSpPr/>
          <p:nvPr/>
        </p:nvSpPr>
        <p:spPr>
          <a:xfrm>
            <a:off x="5656320" y="3730680"/>
            <a:ext cx="582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74" name="Shape 4668"/>
          <p:cNvSpPr/>
          <p:nvPr/>
        </p:nvSpPr>
        <p:spPr>
          <a:xfrm>
            <a:off x="5653080" y="4719600"/>
            <a:ext cx="582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175" name="Shape 4669"/>
          <p:cNvSpPr/>
          <p:nvPr/>
        </p:nvSpPr>
        <p:spPr>
          <a:xfrm>
            <a:off x="6256440" y="44956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176" name="Shape 4670"/>
          <p:cNvSpPr/>
          <p:nvPr/>
        </p:nvSpPr>
        <p:spPr>
          <a:xfrm>
            <a:off x="6656400" y="4487760"/>
            <a:ext cx="360" cy="425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177" name="Shape 4671"/>
          <p:cNvSpPr/>
          <p:nvPr/>
        </p:nvSpPr>
        <p:spPr>
          <a:xfrm>
            <a:off x="7359480" y="448776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178" name="Shape 4672"/>
          <p:cNvSpPr/>
          <p:nvPr/>
        </p:nvSpPr>
        <p:spPr>
          <a:xfrm>
            <a:off x="7759800" y="450072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179" name="Shape 4673"/>
          <p:cNvSpPr/>
          <p:nvPr/>
        </p:nvSpPr>
        <p:spPr>
          <a:xfrm>
            <a:off x="6778800" y="475128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180" name="Shape 4674"/>
          <p:cNvGrpSpPr/>
          <p:nvPr/>
        </p:nvGrpSpPr>
        <p:grpSpPr>
          <a:xfrm>
            <a:off x="716040" y="2109960"/>
            <a:ext cx="529920" cy="595080"/>
            <a:chOff x="716040" y="2109960"/>
            <a:chExt cx="529920" cy="595080"/>
          </a:xfrm>
        </p:grpSpPr>
        <p:sp>
          <p:nvSpPr>
            <p:cNvPr id="4181" name="Shape 4675"/>
            <p:cNvSpPr/>
            <p:nvPr/>
          </p:nvSpPr>
          <p:spPr>
            <a:xfrm>
              <a:off x="716040" y="21589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82" name="Shape 4676"/>
            <p:cNvSpPr/>
            <p:nvPr/>
          </p:nvSpPr>
          <p:spPr>
            <a:xfrm>
              <a:off x="782640" y="21099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183" name="Shape 4677"/>
          <p:cNvGrpSpPr/>
          <p:nvPr/>
        </p:nvGrpSpPr>
        <p:grpSpPr>
          <a:xfrm>
            <a:off x="1830240" y="2160720"/>
            <a:ext cx="530280" cy="595080"/>
            <a:chOff x="1830240" y="2160720"/>
            <a:chExt cx="530280" cy="595080"/>
          </a:xfrm>
        </p:grpSpPr>
        <p:sp>
          <p:nvSpPr>
            <p:cNvPr id="4184" name="Shape 4678"/>
            <p:cNvSpPr/>
            <p:nvPr/>
          </p:nvSpPr>
          <p:spPr>
            <a:xfrm>
              <a:off x="1830240" y="2209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85" name="Shape 4679"/>
            <p:cNvSpPr/>
            <p:nvPr/>
          </p:nvSpPr>
          <p:spPr>
            <a:xfrm>
              <a:off x="1897200" y="2160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186" name="Shape 4680"/>
          <p:cNvGrpSpPr/>
          <p:nvPr/>
        </p:nvGrpSpPr>
        <p:grpSpPr>
          <a:xfrm>
            <a:off x="717480" y="3254400"/>
            <a:ext cx="529920" cy="595080"/>
            <a:chOff x="717480" y="3254400"/>
            <a:chExt cx="529920" cy="595080"/>
          </a:xfrm>
        </p:grpSpPr>
        <p:sp>
          <p:nvSpPr>
            <p:cNvPr id="4187" name="Shape 4681"/>
            <p:cNvSpPr/>
            <p:nvPr/>
          </p:nvSpPr>
          <p:spPr>
            <a:xfrm>
              <a:off x="717480" y="33037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88" name="Shape 4682"/>
            <p:cNvSpPr/>
            <p:nvPr/>
          </p:nvSpPr>
          <p:spPr>
            <a:xfrm>
              <a:off x="784080" y="32544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189" name="Shape 4683"/>
          <p:cNvGrpSpPr/>
          <p:nvPr/>
        </p:nvGrpSpPr>
        <p:grpSpPr>
          <a:xfrm>
            <a:off x="1801800" y="3270240"/>
            <a:ext cx="529920" cy="595080"/>
            <a:chOff x="1801800" y="3270240"/>
            <a:chExt cx="529920" cy="595080"/>
          </a:xfrm>
        </p:grpSpPr>
        <p:sp>
          <p:nvSpPr>
            <p:cNvPr id="4190" name="Shape 4684"/>
            <p:cNvSpPr/>
            <p:nvPr/>
          </p:nvSpPr>
          <p:spPr>
            <a:xfrm>
              <a:off x="1801800" y="3319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91" name="Shape 4685"/>
            <p:cNvSpPr/>
            <p:nvPr/>
          </p:nvSpPr>
          <p:spPr>
            <a:xfrm>
              <a:off x="1868400" y="3270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192" name="Shape 4686"/>
          <p:cNvGrpSpPr/>
          <p:nvPr/>
        </p:nvGrpSpPr>
        <p:grpSpPr>
          <a:xfrm>
            <a:off x="685800" y="4405320"/>
            <a:ext cx="529920" cy="595080"/>
            <a:chOff x="685800" y="4405320"/>
            <a:chExt cx="529920" cy="595080"/>
          </a:xfrm>
        </p:grpSpPr>
        <p:sp>
          <p:nvSpPr>
            <p:cNvPr id="4193" name="Shape 4687"/>
            <p:cNvSpPr/>
            <p:nvPr/>
          </p:nvSpPr>
          <p:spPr>
            <a:xfrm>
              <a:off x="685800" y="4454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94" name="Shape 4688"/>
            <p:cNvSpPr/>
            <p:nvPr/>
          </p:nvSpPr>
          <p:spPr>
            <a:xfrm>
              <a:off x="752400" y="4405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195" name="Shape 4689"/>
          <p:cNvGrpSpPr/>
          <p:nvPr/>
        </p:nvGrpSpPr>
        <p:grpSpPr>
          <a:xfrm>
            <a:off x="1790640" y="4417920"/>
            <a:ext cx="529920" cy="595080"/>
            <a:chOff x="1790640" y="4417920"/>
            <a:chExt cx="529920" cy="595080"/>
          </a:xfrm>
        </p:grpSpPr>
        <p:sp>
          <p:nvSpPr>
            <p:cNvPr id="4196" name="Shape 4690"/>
            <p:cNvSpPr/>
            <p:nvPr/>
          </p:nvSpPr>
          <p:spPr>
            <a:xfrm>
              <a:off x="1790640" y="4467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97" name="Shape 4691"/>
            <p:cNvSpPr/>
            <p:nvPr/>
          </p:nvSpPr>
          <p:spPr>
            <a:xfrm>
              <a:off x="1857240" y="4417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4198" name="Shape 4692"/>
          <p:cNvSpPr/>
          <p:nvPr/>
        </p:nvSpPr>
        <p:spPr>
          <a:xfrm>
            <a:off x="426960" y="1281240"/>
            <a:ext cx="595440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拓扑排序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199" name="Shape 4693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0" name="Shape 4698"/>
          <p:cNvSpPr/>
          <p:nvPr/>
        </p:nvSpPr>
        <p:spPr>
          <a:xfrm>
            <a:off x="426960" y="1281240"/>
            <a:ext cx="595440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拓扑排序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201" name="Shape 4699"/>
          <p:cNvSpPr/>
          <p:nvPr/>
        </p:nvSpPr>
        <p:spPr>
          <a:xfrm>
            <a:off x="2597040" y="2422440"/>
            <a:ext cx="183960" cy="30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202" name="Shape 4700"/>
          <p:cNvSpPr/>
          <p:nvPr/>
        </p:nvSpPr>
        <p:spPr>
          <a:xfrm>
            <a:off x="2948040" y="2028960"/>
            <a:ext cx="270000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  vertex firstedge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203" name="Shape 4701"/>
          <p:cNvSpPr/>
          <p:nvPr/>
        </p:nvSpPr>
        <p:spPr>
          <a:xfrm>
            <a:off x="2859120" y="2421000"/>
            <a:ext cx="1614240" cy="2998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t">
            <a:noAutofit/>
          </a:bodyPr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∧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∧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4204" name="Shape 4702"/>
          <p:cNvGrpSpPr/>
          <p:nvPr/>
        </p:nvGrpSpPr>
        <p:grpSpPr>
          <a:xfrm>
            <a:off x="2854440" y="2935440"/>
            <a:ext cx="1605960" cy="1997280"/>
            <a:chOff x="2854440" y="2935440"/>
            <a:chExt cx="1605960" cy="1997280"/>
          </a:xfrm>
        </p:grpSpPr>
        <p:sp>
          <p:nvSpPr>
            <p:cNvPr id="4205" name="Shape 4703"/>
            <p:cNvSpPr/>
            <p:nvPr/>
          </p:nvSpPr>
          <p:spPr>
            <a:xfrm>
              <a:off x="2859480" y="293544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06" name="Shape 4704"/>
            <p:cNvSpPr/>
            <p:nvPr/>
          </p:nvSpPr>
          <p:spPr>
            <a:xfrm>
              <a:off x="2862720" y="342900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07" name="Shape 4705"/>
            <p:cNvSpPr/>
            <p:nvPr/>
          </p:nvSpPr>
          <p:spPr>
            <a:xfrm>
              <a:off x="2862720" y="443232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08" name="Shape 4706"/>
            <p:cNvSpPr/>
            <p:nvPr/>
          </p:nvSpPr>
          <p:spPr>
            <a:xfrm>
              <a:off x="2855880" y="493236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09" name="Shape 4707"/>
            <p:cNvSpPr/>
            <p:nvPr/>
          </p:nvSpPr>
          <p:spPr>
            <a:xfrm>
              <a:off x="2854440" y="393876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210" name="Shape 4708"/>
          <p:cNvGrpSpPr/>
          <p:nvPr/>
        </p:nvGrpSpPr>
        <p:grpSpPr>
          <a:xfrm>
            <a:off x="3432240" y="2421000"/>
            <a:ext cx="539280" cy="2976120"/>
            <a:chOff x="3432240" y="2421000"/>
            <a:chExt cx="539280" cy="2976120"/>
          </a:xfrm>
        </p:grpSpPr>
        <p:sp>
          <p:nvSpPr>
            <p:cNvPr id="4211" name="Shape 4709"/>
            <p:cNvSpPr/>
            <p:nvPr/>
          </p:nvSpPr>
          <p:spPr>
            <a:xfrm>
              <a:off x="3432240" y="2421000"/>
              <a:ext cx="720" cy="297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12" name="Shape 4710"/>
            <p:cNvSpPr/>
            <p:nvPr/>
          </p:nvSpPr>
          <p:spPr>
            <a:xfrm>
              <a:off x="3970800" y="2421000"/>
              <a:ext cx="720" cy="297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213" name="Shape 4711"/>
          <p:cNvSpPr/>
          <p:nvPr/>
        </p:nvSpPr>
        <p:spPr>
          <a:xfrm>
            <a:off x="4149720" y="318780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14" name="Shape 4712"/>
          <p:cNvSpPr/>
          <p:nvPr/>
        </p:nvSpPr>
        <p:spPr>
          <a:xfrm>
            <a:off x="4149720" y="372096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15" name="Shape 4713"/>
          <p:cNvSpPr/>
          <p:nvPr/>
        </p:nvSpPr>
        <p:spPr>
          <a:xfrm>
            <a:off x="4159080" y="419112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16" name="Shape 4714"/>
          <p:cNvSpPr/>
          <p:nvPr/>
        </p:nvSpPr>
        <p:spPr>
          <a:xfrm>
            <a:off x="4735440" y="29224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217" name="Shape 4715"/>
          <p:cNvSpPr/>
          <p:nvPr/>
        </p:nvSpPr>
        <p:spPr>
          <a:xfrm>
            <a:off x="5135400" y="291456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218" name="Shape 4716"/>
          <p:cNvSpPr/>
          <p:nvPr/>
        </p:nvSpPr>
        <p:spPr>
          <a:xfrm>
            <a:off x="5854680" y="2957400"/>
            <a:ext cx="772920" cy="44100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219" name="Shape 4717"/>
          <p:cNvSpPr/>
          <p:nvPr/>
        </p:nvSpPr>
        <p:spPr>
          <a:xfrm>
            <a:off x="6254640" y="294804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220" name="Shape 4718"/>
          <p:cNvSpPr/>
          <p:nvPr/>
        </p:nvSpPr>
        <p:spPr>
          <a:xfrm>
            <a:off x="5259240" y="319896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21" name="Shape 4719"/>
          <p:cNvSpPr/>
          <p:nvPr/>
        </p:nvSpPr>
        <p:spPr>
          <a:xfrm>
            <a:off x="4735440" y="343692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222" name="Shape 4720"/>
          <p:cNvSpPr/>
          <p:nvPr/>
        </p:nvSpPr>
        <p:spPr>
          <a:xfrm>
            <a:off x="5135400" y="342900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223" name="Shape 4721"/>
          <p:cNvSpPr/>
          <p:nvPr/>
        </p:nvSpPr>
        <p:spPr>
          <a:xfrm>
            <a:off x="4735440" y="3952800"/>
            <a:ext cx="772920" cy="44100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224" name="Shape 4722"/>
          <p:cNvSpPr/>
          <p:nvPr/>
        </p:nvSpPr>
        <p:spPr>
          <a:xfrm>
            <a:off x="5135400" y="3965400"/>
            <a:ext cx="360" cy="423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225" name="Shape 4723"/>
          <p:cNvSpPr/>
          <p:nvPr/>
        </p:nvSpPr>
        <p:spPr>
          <a:xfrm>
            <a:off x="5854680" y="39862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226" name="Shape 4724"/>
          <p:cNvSpPr/>
          <p:nvPr/>
        </p:nvSpPr>
        <p:spPr>
          <a:xfrm>
            <a:off x="6254640" y="3978360"/>
            <a:ext cx="360" cy="441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227" name="Shape 4725"/>
          <p:cNvSpPr/>
          <p:nvPr/>
        </p:nvSpPr>
        <p:spPr>
          <a:xfrm>
            <a:off x="5259240" y="422928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28" name="Shape 4726"/>
          <p:cNvSpPr/>
          <p:nvPr/>
        </p:nvSpPr>
        <p:spPr>
          <a:xfrm>
            <a:off x="4167360" y="470844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29" name="Shape 4727"/>
          <p:cNvSpPr/>
          <p:nvPr/>
        </p:nvSpPr>
        <p:spPr>
          <a:xfrm>
            <a:off x="4729320" y="448452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230" name="Shape 4728"/>
          <p:cNvSpPr/>
          <p:nvPr/>
        </p:nvSpPr>
        <p:spPr>
          <a:xfrm>
            <a:off x="5129280" y="4497480"/>
            <a:ext cx="360" cy="425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231" name="Shape 4729"/>
          <p:cNvSpPr/>
          <p:nvPr/>
        </p:nvSpPr>
        <p:spPr>
          <a:xfrm>
            <a:off x="5856120" y="346716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232" name="Shape 4730"/>
          <p:cNvSpPr/>
          <p:nvPr/>
        </p:nvSpPr>
        <p:spPr>
          <a:xfrm>
            <a:off x="6256440" y="347976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233" name="Shape 4731"/>
          <p:cNvSpPr/>
          <p:nvPr/>
        </p:nvSpPr>
        <p:spPr>
          <a:xfrm>
            <a:off x="5259240" y="3730680"/>
            <a:ext cx="582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34" name="Shape 4732"/>
          <p:cNvSpPr/>
          <p:nvPr/>
        </p:nvSpPr>
        <p:spPr>
          <a:xfrm>
            <a:off x="5256360" y="4719600"/>
            <a:ext cx="582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35" name="Shape 4733"/>
          <p:cNvSpPr/>
          <p:nvPr/>
        </p:nvSpPr>
        <p:spPr>
          <a:xfrm>
            <a:off x="5859360" y="44956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236" name="Shape 4734"/>
          <p:cNvSpPr/>
          <p:nvPr/>
        </p:nvSpPr>
        <p:spPr>
          <a:xfrm>
            <a:off x="6259680" y="4487760"/>
            <a:ext cx="360" cy="425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237" name="Shape 4735"/>
          <p:cNvSpPr/>
          <p:nvPr/>
        </p:nvSpPr>
        <p:spPr>
          <a:xfrm>
            <a:off x="6962760" y="448776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238" name="Shape 4736"/>
          <p:cNvSpPr/>
          <p:nvPr/>
        </p:nvSpPr>
        <p:spPr>
          <a:xfrm>
            <a:off x="7362720" y="450072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239" name="Shape 4737"/>
          <p:cNvSpPr/>
          <p:nvPr/>
        </p:nvSpPr>
        <p:spPr>
          <a:xfrm>
            <a:off x="6381720" y="475128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40" name="Shape 4738"/>
          <p:cNvSpPr/>
          <p:nvPr/>
        </p:nvSpPr>
        <p:spPr>
          <a:xfrm rot="10800000">
            <a:off x="1119600" y="2426760"/>
            <a:ext cx="615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41" name="Shape 4739"/>
          <p:cNvSpPr/>
          <p:nvPr/>
        </p:nvSpPr>
        <p:spPr>
          <a:xfrm>
            <a:off x="1963800" y="2732040"/>
            <a:ext cx="360" cy="595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42" name="Shape 4740"/>
          <p:cNvSpPr/>
          <p:nvPr/>
        </p:nvSpPr>
        <p:spPr>
          <a:xfrm>
            <a:off x="1963800" y="3835440"/>
            <a:ext cx="360" cy="612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43" name="Shape 4741"/>
          <p:cNvSpPr/>
          <p:nvPr/>
        </p:nvSpPr>
        <p:spPr>
          <a:xfrm>
            <a:off x="1089000" y="4711680"/>
            <a:ext cx="5965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44" name="Shape 4742"/>
          <p:cNvSpPr/>
          <p:nvPr/>
        </p:nvSpPr>
        <p:spPr>
          <a:xfrm rot="10800000">
            <a:off x="845640" y="3816720"/>
            <a:ext cx="360" cy="636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45" name="Shape 4743"/>
          <p:cNvSpPr/>
          <p:nvPr/>
        </p:nvSpPr>
        <p:spPr>
          <a:xfrm>
            <a:off x="1133640" y="3578400"/>
            <a:ext cx="568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46" name="Shape 4744"/>
          <p:cNvSpPr/>
          <p:nvPr/>
        </p:nvSpPr>
        <p:spPr>
          <a:xfrm rot="10800000">
            <a:off x="858600" y="2667240"/>
            <a:ext cx="360" cy="61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47" name="Shape 4745"/>
          <p:cNvSpPr/>
          <p:nvPr/>
        </p:nvSpPr>
        <p:spPr>
          <a:xfrm rot="10800000">
            <a:off x="1028880" y="2584800"/>
            <a:ext cx="753840" cy="813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48" name="Shape 4746"/>
          <p:cNvSpPr/>
          <p:nvPr/>
        </p:nvSpPr>
        <p:spPr>
          <a:xfrm flipH="1" rot="10800000">
            <a:off x="1010880" y="3702240"/>
            <a:ext cx="736200" cy="807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249" name="Shape 4747"/>
          <p:cNvGrpSpPr/>
          <p:nvPr/>
        </p:nvGrpSpPr>
        <p:grpSpPr>
          <a:xfrm>
            <a:off x="620640" y="2109960"/>
            <a:ext cx="529920" cy="595080"/>
            <a:chOff x="620640" y="2109960"/>
            <a:chExt cx="529920" cy="595080"/>
          </a:xfrm>
        </p:grpSpPr>
        <p:sp>
          <p:nvSpPr>
            <p:cNvPr id="4250" name="Shape 4748"/>
            <p:cNvSpPr/>
            <p:nvPr/>
          </p:nvSpPr>
          <p:spPr>
            <a:xfrm>
              <a:off x="620640" y="21589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51" name="Shape 4749"/>
            <p:cNvSpPr/>
            <p:nvPr/>
          </p:nvSpPr>
          <p:spPr>
            <a:xfrm>
              <a:off x="687240" y="21099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252" name="Shape 4750"/>
          <p:cNvGrpSpPr/>
          <p:nvPr/>
        </p:nvGrpSpPr>
        <p:grpSpPr>
          <a:xfrm>
            <a:off x="1735200" y="2160720"/>
            <a:ext cx="529920" cy="595080"/>
            <a:chOff x="1735200" y="2160720"/>
            <a:chExt cx="529920" cy="595080"/>
          </a:xfrm>
        </p:grpSpPr>
        <p:sp>
          <p:nvSpPr>
            <p:cNvPr id="4253" name="Shape 4751"/>
            <p:cNvSpPr/>
            <p:nvPr/>
          </p:nvSpPr>
          <p:spPr>
            <a:xfrm>
              <a:off x="1735200" y="2209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54" name="Shape 4752"/>
            <p:cNvSpPr/>
            <p:nvPr/>
          </p:nvSpPr>
          <p:spPr>
            <a:xfrm>
              <a:off x="1801800" y="2160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255" name="Shape 4753"/>
          <p:cNvGrpSpPr/>
          <p:nvPr/>
        </p:nvGrpSpPr>
        <p:grpSpPr>
          <a:xfrm>
            <a:off x="622440" y="3254400"/>
            <a:ext cx="529920" cy="595080"/>
            <a:chOff x="622440" y="3254400"/>
            <a:chExt cx="529920" cy="595080"/>
          </a:xfrm>
        </p:grpSpPr>
        <p:sp>
          <p:nvSpPr>
            <p:cNvPr id="4256" name="Shape 4754"/>
            <p:cNvSpPr/>
            <p:nvPr/>
          </p:nvSpPr>
          <p:spPr>
            <a:xfrm>
              <a:off x="622440" y="33037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57" name="Shape 4755"/>
            <p:cNvSpPr/>
            <p:nvPr/>
          </p:nvSpPr>
          <p:spPr>
            <a:xfrm>
              <a:off x="689040" y="32544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258" name="Shape 4756"/>
          <p:cNvGrpSpPr/>
          <p:nvPr/>
        </p:nvGrpSpPr>
        <p:grpSpPr>
          <a:xfrm>
            <a:off x="1706400" y="3270240"/>
            <a:ext cx="530280" cy="595080"/>
            <a:chOff x="1706400" y="3270240"/>
            <a:chExt cx="530280" cy="595080"/>
          </a:xfrm>
        </p:grpSpPr>
        <p:sp>
          <p:nvSpPr>
            <p:cNvPr id="4259" name="Shape 4757"/>
            <p:cNvSpPr/>
            <p:nvPr/>
          </p:nvSpPr>
          <p:spPr>
            <a:xfrm>
              <a:off x="1706400" y="3319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60" name="Shape 4758"/>
            <p:cNvSpPr/>
            <p:nvPr/>
          </p:nvSpPr>
          <p:spPr>
            <a:xfrm>
              <a:off x="1773360" y="3270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261" name="Shape 4759"/>
          <p:cNvGrpSpPr/>
          <p:nvPr/>
        </p:nvGrpSpPr>
        <p:grpSpPr>
          <a:xfrm>
            <a:off x="590400" y="4405320"/>
            <a:ext cx="530280" cy="595080"/>
            <a:chOff x="590400" y="4405320"/>
            <a:chExt cx="530280" cy="595080"/>
          </a:xfrm>
        </p:grpSpPr>
        <p:sp>
          <p:nvSpPr>
            <p:cNvPr id="4262" name="Shape 4760"/>
            <p:cNvSpPr/>
            <p:nvPr/>
          </p:nvSpPr>
          <p:spPr>
            <a:xfrm>
              <a:off x="590400" y="44546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63" name="Shape 4761"/>
            <p:cNvSpPr/>
            <p:nvPr/>
          </p:nvSpPr>
          <p:spPr>
            <a:xfrm>
              <a:off x="657360" y="44053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E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264" name="Shape 4762"/>
          <p:cNvGrpSpPr/>
          <p:nvPr/>
        </p:nvGrpSpPr>
        <p:grpSpPr>
          <a:xfrm>
            <a:off x="1695600" y="4417920"/>
            <a:ext cx="529920" cy="595080"/>
            <a:chOff x="1695600" y="4417920"/>
            <a:chExt cx="529920" cy="595080"/>
          </a:xfrm>
        </p:grpSpPr>
        <p:sp>
          <p:nvSpPr>
            <p:cNvPr id="4265" name="Shape 4763"/>
            <p:cNvSpPr/>
            <p:nvPr/>
          </p:nvSpPr>
          <p:spPr>
            <a:xfrm>
              <a:off x="1695600" y="4467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66" name="Shape 4764"/>
            <p:cNvSpPr/>
            <p:nvPr/>
          </p:nvSpPr>
          <p:spPr>
            <a:xfrm>
              <a:off x="1762200" y="4417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4267" name="Shape 4765"/>
          <p:cNvSpPr/>
          <p:nvPr/>
        </p:nvSpPr>
        <p:spPr>
          <a:xfrm>
            <a:off x="8107200" y="2540160"/>
            <a:ext cx="853560" cy="284292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4268" name="Shape 4766"/>
          <p:cNvSpPr/>
          <p:nvPr/>
        </p:nvSpPr>
        <p:spPr>
          <a:xfrm>
            <a:off x="8107200" y="2540160"/>
            <a:ext cx="360" cy="286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269" name="Shape 4767"/>
          <p:cNvSpPr/>
          <p:nvPr/>
        </p:nvSpPr>
        <p:spPr>
          <a:xfrm>
            <a:off x="8959680" y="2540160"/>
            <a:ext cx="360" cy="286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270" name="Shape 4768"/>
          <p:cNvSpPr/>
          <p:nvPr/>
        </p:nvSpPr>
        <p:spPr>
          <a:xfrm>
            <a:off x="8107200" y="5391000"/>
            <a:ext cx="8377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271" name="Shape 4769"/>
          <p:cNvSpPr/>
          <p:nvPr/>
        </p:nvSpPr>
        <p:spPr>
          <a:xfrm>
            <a:off x="8093160" y="4856040"/>
            <a:ext cx="853560" cy="52524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272" name="Shape 4770"/>
          <p:cNvSpPr/>
          <p:nvPr/>
        </p:nvSpPr>
        <p:spPr>
          <a:xfrm>
            <a:off x="8107200" y="4322880"/>
            <a:ext cx="853560" cy="52524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273" name="Shape 4771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89" dur="indefinite" restart="never" nodeType="tmRoot">
          <p:childTnLst>
            <p:seq>
              <p:cTn id="1090" dur="indefinite" nodeType="mainSeq">
                <p:childTnLst>
                  <p:par>
                    <p:cTn id="1091" fill="hold">
                      <p:stCondLst>
                        <p:cond delay="indefinite"/>
                      </p:stCondLst>
                      <p:childTnLst>
                        <p:par>
                          <p:cTn id="1092" fill="hold">
                            <p:stCondLst>
                              <p:cond delay="0"/>
                            </p:stCondLst>
                            <p:childTnLst>
                              <p:par>
                                <p:cTn id="1093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95" dur="500"/>
                                        <p:tgtEl>
                                          <p:spTgt spid="4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6" fill="hold">
                      <p:stCondLst>
                        <p:cond delay="indefinite"/>
                      </p:stCondLst>
                      <p:childTnLst>
                        <p:par>
                          <p:cTn id="1097" fill="hold">
                            <p:stCondLst>
                              <p:cond delay="0"/>
                            </p:stCondLst>
                            <p:childTnLst>
                              <p:par>
                                <p:cTn id="1098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00" dur="500"/>
                                        <p:tgtEl>
                                          <p:spTgt spid="4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4" name="Shape 4776"/>
          <p:cNvSpPr/>
          <p:nvPr/>
        </p:nvSpPr>
        <p:spPr>
          <a:xfrm>
            <a:off x="426960" y="1281240"/>
            <a:ext cx="595440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拓扑排序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275" name="Shape 4777"/>
          <p:cNvSpPr/>
          <p:nvPr/>
        </p:nvSpPr>
        <p:spPr>
          <a:xfrm>
            <a:off x="2597040" y="2422440"/>
            <a:ext cx="183960" cy="30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276" name="Shape 4778"/>
          <p:cNvSpPr/>
          <p:nvPr/>
        </p:nvSpPr>
        <p:spPr>
          <a:xfrm>
            <a:off x="2948040" y="2028960"/>
            <a:ext cx="270000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  vertex firstedge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277" name="Shape 4779"/>
          <p:cNvSpPr/>
          <p:nvPr/>
        </p:nvSpPr>
        <p:spPr>
          <a:xfrm>
            <a:off x="2859120" y="2421000"/>
            <a:ext cx="1614240" cy="2998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t">
            <a:noAutofit/>
          </a:bodyPr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∧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∧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4278" name="Shape 4780"/>
          <p:cNvGrpSpPr/>
          <p:nvPr/>
        </p:nvGrpSpPr>
        <p:grpSpPr>
          <a:xfrm>
            <a:off x="2854440" y="2935440"/>
            <a:ext cx="1605960" cy="1997280"/>
            <a:chOff x="2854440" y="2935440"/>
            <a:chExt cx="1605960" cy="1997280"/>
          </a:xfrm>
        </p:grpSpPr>
        <p:sp>
          <p:nvSpPr>
            <p:cNvPr id="4279" name="Shape 4781"/>
            <p:cNvSpPr/>
            <p:nvPr/>
          </p:nvSpPr>
          <p:spPr>
            <a:xfrm>
              <a:off x="2859480" y="293544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80" name="Shape 4782"/>
            <p:cNvSpPr/>
            <p:nvPr/>
          </p:nvSpPr>
          <p:spPr>
            <a:xfrm>
              <a:off x="2862720" y="342900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81" name="Shape 4783"/>
            <p:cNvSpPr/>
            <p:nvPr/>
          </p:nvSpPr>
          <p:spPr>
            <a:xfrm>
              <a:off x="2862720" y="443232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82" name="Shape 4784"/>
            <p:cNvSpPr/>
            <p:nvPr/>
          </p:nvSpPr>
          <p:spPr>
            <a:xfrm>
              <a:off x="2855880" y="493236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83" name="Shape 4785"/>
            <p:cNvSpPr/>
            <p:nvPr/>
          </p:nvSpPr>
          <p:spPr>
            <a:xfrm>
              <a:off x="2854440" y="393876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284" name="Shape 4786"/>
          <p:cNvGrpSpPr/>
          <p:nvPr/>
        </p:nvGrpSpPr>
        <p:grpSpPr>
          <a:xfrm>
            <a:off x="3432240" y="2421000"/>
            <a:ext cx="539280" cy="2976120"/>
            <a:chOff x="3432240" y="2421000"/>
            <a:chExt cx="539280" cy="2976120"/>
          </a:xfrm>
        </p:grpSpPr>
        <p:sp>
          <p:nvSpPr>
            <p:cNvPr id="4285" name="Shape 4787"/>
            <p:cNvSpPr/>
            <p:nvPr/>
          </p:nvSpPr>
          <p:spPr>
            <a:xfrm>
              <a:off x="3432240" y="2421000"/>
              <a:ext cx="720" cy="297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86" name="Shape 4788"/>
            <p:cNvSpPr/>
            <p:nvPr/>
          </p:nvSpPr>
          <p:spPr>
            <a:xfrm>
              <a:off x="3970800" y="2421000"/>
              <a:ext cx="720" cy="297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287" name="Shape 4789"/>
          <p:cNvSpPr/>
          <p:nvPr/>
        </p:nvSpPr>
        <p:spPr>
          <a:xfrm>
            <a:off x="4149720" y="318780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88" name="Shape 4790"/>
          <p:cNvSpPr/>
          <p:nvPr/>
        </p:nvSpPr>
        <p:spPr>
          <a:xfrm>
            <a:off x="4149720" y="372096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89" name="Shape 4791"/>
          <p:cNvSpPr/>
          <p:nvPr/>
        </p:nvSpPr>
        <p:spPr>
          <a:xfrm>
            <a:off x="4159080" y="419112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90" name="Shape 4792"/>
          <p:cNvSpPr/>
          <p:nvPr/>
        </p:nvSpPr>
        <p:spPr>
          <a:xfrm>
            <a:off x="4735440" y="29224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291" name="Shape 4793"/>
          <p:cNvSpPr/>
          <p:nvPr/>
        </p:nvSpPr>
        <p:spPr>
          <a:xfrm>
            <a:off x="5135400" y="291456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292" name="Shape 4794"/>
          <p:cNvSpPr/>
          <p:nvPr/>
        </p:nvSpPr>
        <p:spPr>
          <a:xfrm>
            <a:off x="5854680" y="2957400"/>
            <a:ext cx="772920" cy="44100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293" name="Shape 4795"/>
          <p:cNvSpPr/>
          <p:nvPr/>
        </p:nvSpPr>
        <p:spPr>
          <a:xfrm>
            <a:off x="6254640" y="294804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294" name="Shape 4796"/>
          <p:cNvSpPr/>
          <p:nvPr/>
        </p:nvSpPr>
        <p:spPr>
          <a:xfrm>
            <a:off x="5259240" y="319896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295" name="Shape 4797"/>
          <p:cNvSpPr/>
          <p:nvPr/>
        </p:nvSpPr>
        <p:spPr>
          <a:xfrm>
            <a:off x="4735440" y="343692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296" name="Shape 4798"/>
          <p:cNvSpPr/>
          <p:nvPr/>
        </p:nvSpPr>
        <p:spPr>
          <a:xfrm>
            <a:off x="5135400" y="342900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297" name="Shape 4799"/>
          <p:cNvSpPr/>
          <p:nvPr/>
        </p:nvSpPr>
        <p:spPr>
          <a:xfrm>
            <a:off x="4735440" y="3952800"/>
            <a:ext cx="772920" cy="44100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298" name="Shape 4800"/>
          <p:cNvSpPr/>
          <p:nvPr/>
        </p:nvSpPr>
        <p:spPr>
          <a:xfrm>
            <a:off x="5135400" y="3965400"/>
            <a:ext cx="360" cy="423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299" name="Shape 4801"/>
          <p:cNvSpPr/>
          <p:nvPr/>
        </p:nvSpPr>
        <p:spPr>
          <a:xfrm>
            <a:off x="5854680" y="39862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00" name="Shape 4802"/>
          <p:cNvSpPr/>
          <p:nvPr/>
        </p:nvSpPr>
        <p:spPr>
          <a:xfrm>
            <a:off x="6254640" y="3978360"/>
            <a:ext cx="360" cy="441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01" name="Shape 4803"/>
          <p:cNvSpPr/>
          <p:nvPr/>
        </p:nvSpPr>
        <p:spPr>
          <a:xfrm>
            <a:off x="5259240" y="422928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02" name="Shape 4804"/>
          <p:cNvSpPr/>
          <p:nvPr/>
        </p:nvSpPr>
        <p:spPr>
          <a:xfrm>
            <a:off x="4167360" y="470844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03" name="Shape 4805"/>
          <p:cNvSpPr/>
          <p:nvPr/>
        </p:nvSpPr>
        <p:spPr>
          <a:xfrm>
            <a:off x="4729320" y="448452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04" name="Shape 4806"/>
          <p:cNvSpPr/>
          <p:nvPr/>
        </p:nvSpPr>
        <p:spPr>
          <a:xfrm>
            <a:off x="5129280" y="4497480"/>
            <a:ext cx="360" cy="425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05" name="Shape 4807"/>
          <p:cNvSpPr/>
          <p:nvPr/>
        </p:nvSpPr>
        <p:spPr>
          <a:xfrm>
            <a:off x="5856120" y="346716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06" name="Shape 4808"/>
          <p:cNvSpPr/>
          <p:nvPr/>
        </p:nvSpPr>
        <p:spPr>
          <a:xfrm>
            <a:off x="6256440" y="347976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07" name="Shape 4809"/>
          <p:cNvSpPr/>
          <p:nvPr/>
        </p:nvSpPr>
        <p:spPr>
          <a:xfrm>
            <a:off x="5259240" y="3730680"/>
            <a:ext cx="582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08" name="Shape 4810"/>
          <p:cNvSpPr/>
          <p:nvPr/>
        </p:nvSpPr>
        <p:spPr>
          <a:xfrm>
            <a:off x="5256360" y="4719600"/>
            <a:ext cx="582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09" name="Shape 4811"/>
          <p:cNvSpPr/>
          <p:nvPr/>
        </p:nvSpPr>
        <p:spPr>
          <a:xfrm>
            <a:off x="5859360" y="44956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10" name="Shape 4812"/>
          <p:cNvSpPr/>
          <p:nvPr/>
        </p:nvSpPr>
        <p:spPr>
          <a:xfrm>
            <a:off x="6259680" y="4487760"/>
            <a:ext cx="360" cy="425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11" name="Shape 4813"/>
          <p:cNvSpPr/>
          <p:nvPr/>
        </p:nvSpPr>
        <p:spPr>
          <a:xfrm>
            <a:off x="6962760" y="448776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12" name="Shape 4814"/>
          <p:cNvSpPr/>
          <p:nvPr/>
        </p:nvSpPr>
        <p:spPr>
          <a:xfrm>
            <a:off x="7362720" y="450072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13" name="Shape 4815"/>
          <p:cNvSpPr/>
          <p:nvPr/>
        </p:nvSpPr>
        <p:spPr>
          <a:xfrm>
            <a:off x="6381720" y="475128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14" name="Shape 4816"/>
          <p:cNvSpPr/>
          <p:nvPr/>
        </p:nvSpPr>
        <p:spPr>
          <a:xfrm rot="10800000">
            <a:off x="1119600" y="2426760"/>
            <a:ext cx="615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15" name="Shape 4817"/>
          <p:cNvSpPr/>
          <p:nvPr/>
        </p:nvSpPr>
        <p:spPr>
          <a:xfrm>
            <a:off x="1963800" y="2732040"/>
            <a:ext cx="360" cy="595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16" name="Shape 4818"/>
          <p:cNvSpPr/>
          <p:nvPr/>
        </p:nvSpPr>
        <p:spPr>
          <a:xfrm>
            <a:off x="1963800" y="3835440"/>
            <a:ext cx="360" cy="612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17" name="Shape 4819"/>
          <p:cNvSpPr/>
          <p:nvPr/>
        </p:nvSpPr>
        <p:spPr>
          <a:xfrm>
            <a:off x="1133640" y="3578400"/>
            <a:ext cx="568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18" name="Shape 4820"/>
          <p:cNvSpPr/>
          <p:nvPr/>
        </p:nvSpPr>
        <p:spPr>
          <a:xfrm rot="10800000">
            <a:off x="858600" y="2667240"/>
            <a:ext cx="360" cy="615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19" name="Shape 4821"/>
          <p:cNvSpPr/>
          <p:nvPr/>
        </p:nvSpPr>
        <p:spPr>
          <a:xfrm rot="10800000">
            <a:off x="1028880" y="2584800"/>
            <a:ext cx="753840" cy="813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320" name="Shape 4822"/>
          <p:cNvGrpSpPr/>
          <p:nvPr/>
        </p:nvGrpSpPr>
        <p:grpSpPr>
          <a:xfrm>
            <a:off x="620640" y="2109960"/>
            <a:ext cx="529920" cy="595080"/>
            <a:chOff x="620640" y="2109960"/>
            <a:chExt cx="529920" cy="595080"/>
          </a:xfrm>
        </p:grpSpPr>
        <p:sp>
          <p:nvSpPr>
            <p:cNvPr id="4321" name="Shape 4823"/>
            <p:cNvSpPr/>
            <p:nvPr/>
          </p:nvSpPr>
          <p:spPr>
            <a:xfrm>
              <a:off x="620640" y="21589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22" name="Shape 4824"/>
            <p:cNvSpPr/>
            <p:nvPr/>
          </p:nvSpPr>
          <p:spPr>
            <a:xfrm>
              <a:off x="687240" y="21099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323" name="Shape 4825"/>
          <p:cNvGrpSpPr/>
          <p:nvPr/>
        </p:nvGrpSpPr>
        <p:grpSpPr>
          <a:xfrm>
            <a:off x="1735200" y="2160720"/>
            <a:ext cx="529920" cy="595080"/>
            <a:chOff x="1735200" y="2160720"/>
            <a:chExt cx="529920" cy="595080"/>
          </a:xfrm>
        </p:grpSpPr>
        <p:sp>
          <p:nvSpPr>
            <p:cNvPr id="4324" name="Shape 4826"/>
            <p:cNvSpPr/>
            <p:nvPr/>
          </p:nvSpPr>
          <p:spPr>
            <a:xfrm>
              <a:off x="1735200" y="2209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25" name="Shape 4827"/>
            <p:cNvSpPr/>
            <p:nvPr/>
          </p:nvSpPr>
          <p:spPr>
            <a:xfrm>
              <a:off x="1801800" y="2160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326" name="Shape 4828"/>
          <p:cNvGrpSpPr/>
          <p:nvPr/>
        </p:nvGrpSpPr>
        <p:grpSpPr>
          <a:xfrm>
            <a:off x="622440" y="3254400"/>
            <a:ext cx="529920" cy="595080"/>
            <a:chOff x="622440" y="3254400"/>
            <a:chExt cx="529920" cy="595080"/>
          </a:xfrm>
        </p:grpSpPr>
        <p:sp>
          <p:nvSpPr>
            <p:cNvPr id="4327" name="Shape 4829"/>
            <p:cNvSpPr/>
            <p:nvPr/>
          </p:nvSpPr>
          <p:spPr>
            <a:xfrm>
              <a:off x="622440" y="33037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28" name="Shape 4830"/>
            <p:cNvSpPr/>
            <p:nvPr/>
          </p:nvSpPr>
          <p:spPr>
            <a:xfrm>
              <a:off x="689040" y="32544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C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329" name="Shape 4831"/>
          <p:cNvGrpSpPr/>
          <p:nvPr/>
        </p:nvGrpSpPr>
        <p:grpSpPr>
          <a:xfrm>
            <a:off x="1706400" y="3270240"/>
            <a:ext cx="530280" cy="595080"/>
            <a:chOff x="1706400" y="3270240"/>
            <a:chExt cx="530280" cy="595080"/>
          </a:xfrm>
        </p:grpSpPr>
        <p:sp>
          <p:nvSpPr>
            <p:cNvPr id="4330" name="Shape 4832"/>
            <p:cNvSpPr/>
            <p:nvPr/>
          </p:nvSpPr>
          <p:spPr>
            <a:xfrm>
              <a:off x="1706400" y="3319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31" name="Shape 4833"/>
            <p:cNvSpPr/>
            <p:nvPr/>
          </p:nvSpPr>
          <p:spPr>
            <a:xfrm>
              <a:off x="1773360" y="3270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332" name="Shape 4834"/>
          <p:cNvGrpSpPr/>
          <p:nvPr/>
        </p:nvGrpSpPr>
        <p:grpSpPr>
          <a:xfrm>
            <a:off x="590400" y="3702240"/>
            <a:ext cx="1157040" cy="1298160"/>
            <a:chOff x="590400" y="3702240"/>
            <a:chExt cx="1157040" cy="1298160"/>
          </a:xfrm>
        </p:grpSpPr>
        <p:sp>
          <p:nvSpPr>
            <p:cNvPr id="4333" name="Shape 4835"/>
            <p:cNvSpPr/>
            <p:nvPr/>
          </p:nvSpPr>
          <p:spPr>
            <a:xfrm>
              <a:off x="1089000" y="4711680"/>
              <a:ext cx="59652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34" name="Shape 4836"/>
            <p:cNvSpPr/>
            <p:nvPr/>
          </p:nvSpPr>
          <p:spPr>
            <a:xfrm rot="10800000">
              <a:off x="845640" y="3816720"/>
              <a:ext cx="360" cy="63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35" name="Shape 4837"/>
            <p:cNvSpPr/>
            <p:nvPr/>
          </p:nvSpPr>
          <p:spPr>
            <a:xfrm flipH="1" rot="10800000">
              <a:off x="1010880" y="3702240"/>
              <a:ext cx="736200" cy="8078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336" name="Shape 4838"/>
            <p:cNvGrpSpPr/>
            <p:nvPr/>
          </p:nvGrpSpPr>
          <p:grpSpPr>
            <a:xfrm>
              <a:off x="590400" y="4405320"/>
              <a:ext cx="530280" cy="595080"/>
              <a:chOff x="590400" y="4405320"/>
              <a:chExt cx="530280" cy="595080"/>
            </a:xfrm>
          </p:grpSpPr>
          <p:sp>
            <p:nvSpPr>
              <p:cNvPr id="4337" name="Shape 4839"/>
              <p:cNvSpPr/>
              <p:nvPr/>
            </p:nvSpPr>
            <p:spPr>
              <a:xfrm>
                <a:off x="590400" y="44546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38" name="Shape 4840"/>
              <p:cNvSpPr/>
              <p:nvPr/>
            </p:nvSpPr>
            <p:spPr>
              <a:xfrm>
                <a:off x="657360" y="440532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18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E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4339" name="Shape 4841"/>
          <p:cNvGrpSpPr/>
          <p:nvPr/>
        </p:nvGrpSpPr>
        <p:grpSpPr>
          <a:xfrm>
            <a:off x="1695600" y="4417920"/>
            <a:ext cx="529920" cy="595080"/>
            <a:chOff x="1695600" y="4417920"/>
            <a:chExt cx="529920" cy="595080"/>
          </a:xfrm>
        </p:grpSpPr>
        <p:sp>
          <p:nvSpPr>
            <p:cNvPr id="4340" name="Shape 4842"/>
            <p:cNvSpPr/>
            <p:nvPr/>
          </p:nvSpPr>
          <p:spPr>
            <a:xfrm>
              <a:off x="1695600" y="4467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41" name="Shape 4843"/>
            <p:cNvSpPr/>
            <p:nvPr/>
          </p:nvSpPr>
          <p:spPr>
            <a:xfrm>
              <a:off x="1762200" y="4417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4342" name="Shape 4844"/>
          <p:cNvSpPr/>
          <p:nvPr/>
        </p:nvSpPr>
        <p:spPr>
          <a:xfrm>
            <a:off x="8107200" y="2540160"/>
            <a:ext cx="853560" cy="284292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4343" name="Shape 4845"/>
          <p:cNvSpPr/>
          <p:nvPr/>
        </p:nvSpPr>
        <p:spPr>
          <a:xfrm>
            <a:off x="8107200" y="2540160"/>
            <a:ext cx="360" cy="286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44" name="Shape 4846"/>
          <p:cNvSpPr/>
          <p:nvPr/>
        </p:nvSpPr>
        <p:spPr>
          <a:xfrm>
            <a:off x="8959680" y="2540160"/>
            <a:ext cx="360" cy="286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45" name="Shape 4847"/>
          <p:cNvSpPr/>
          <p:nvPr/>
        </p:nvSpPr>
        <p:spPr>
          <a:xfrm>
            <a:off x="8107200" y="5391000"/>
            <a:ext cx="8377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46" name="Shape 4848"/>
          <p:cNvSpPr/>
          <p:nvPr/>
        </p:nvSpPr>
        <p:spPr>
          <a:xfrm>
            <a:off x="8093160" y="4856040"/>
            <a:ext cx="853560" cy="52524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347" name="Shape 4849"/>
          <p:cNvSpPr/>
          <p:nvPr/>
        </p:nvSpPr>
        <p:spPr>
          <a:xfrm>
            <a:off x="8107200" y="4322880"/>
            <a:ext cx="853560" cy="52524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348" name="Shape 4850"/>
          <p:cNvSpPr/>
          <p:nvPr/>
        </p:nvSpPr>
        <p:spPr>
          <a:xfrm>
            <a:off x="2881440" y="3506760"/>
            <a:ext cx="533160" cy="41076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49" name="Shape 4851"/>
          <p:cNvSpPr/>
          <p:nvPr/>
        </p:nvSpPr>
        <p:spPr>
          <a:xfrm>
            <a:off x="8107200" y="4322880"/>
            <a:ext cx="853560" cy="52524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350" name="Shape 4852"/>
          <p:cNvSpPr/>
          <p:nvPr/>
        </p:nvSpPr>
        <p:spPr>
          <a:xfrm>
            <a:off x="2881440" y="4008600"/>
            <a:ext cx="533160" cy="41076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51" name="Shape 4853"/>
          <p:cNvSpPr/>
          <p:nvPr/>
        </p:nvSpPr>
        <p:spPr>
          <a:xfrm>
            <a:off x="2865600" y="4998960"/>
            <a:ext cx="533160" cy="41076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52" name="Shape 4854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01" dur="indefinite" restart="never" nodeType="tmRoot">
          <p:childTnLst>
            <p:seq>
              <p:cTn id="1102" dur="indefinite" nodeType="mainSeq">
                <p:childTnLst>
                  <p:par>
                    <p:cTn id="1103" fill="hold">
                      <p:stCondLst>
                        <p:cond delay="indefinite"/>
                      </p:stCondLst>
                      <p:childTnLst>
                        <p:par>
                          <p:cTn id="1104" fill="hold">
                            <p:stCondLst>
                              <p:cond delay="0"/>
                            </p:stCondLst>
                            <p:childTnLst>
                              <p:par>
                                <p:cTn id="1105" nodeType="clickEffect" fill="hold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1106" dur="500"/>
                                        <p:tgtEl>
                                          <p:spTgt spid="4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8" fill="hold">
                      <p:stCondLst>
                        <p:cond delay="indefinite"/>
                      </p:stCondLst>
                      <p:childTnLst>
                        <p:par>
                          <p:cTn id="1109" fill="hold">
                            <p:stCondLst>
                              <p:cond delay="0"/>
                            </p:stCondLst>
                            <p:childTnLst>
                              <p:par>
                                <p:cTn id="111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2" fill="hold">
                      <p:stCondLst>
                        <p:cond delay="indefinite"/>
                      </p:stCondLst>
                      <p:childTnLst>
                        <p:par>
                          <p:cTn id="1113" fill="hold">
                            <p:stCondLst>
                              <p:cond delay="0"/>
                            </p:stCondLst>
                            <p:childTnLst>
                              <p:par>
                                <p:cTn id="1114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16" dur="500"/>
                                        <p:tgtEl>
                                          <p:spTgt spid="4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7" fill="hold">
                      <p:stCondLst>
                        <p:cond delay="indefinite"/>
                      </p:stCondLst>
                      <p:childTnLst>
                        <p:par>
                          <p:cTn id="1118" fill="hold">
                            <p:stCondLst>
                              <p:cond delay="0"/>
                            </p:stCondLst>
                            <p:childTnLst>
                              <p:par>
                                <p:cTn id="11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1" fill="hold">
                      <p:stCondLst>
                        <p:cond delay="indefinite"/>
                      </p:stCondLst>
                      <p:childTnLst>
                        <p:par>
                          <p:cTn id="1122" fill="hold">
                            <p:stCondLst>
                              <p:cond delay="0"/>
                            </p:stCondLst>
                            <p:childTnLst>
                              <p:par>
                                <p:cTn id="1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3" name="Shape 4859"/>
          <p:cNvSpPr/>
          <p:nvPr/>
        </p:nvSpPr>
        <p:spPr>
          <a:xfrm>
            <a:off x="426960" y="1281240"/>
            <a:ext cx="595440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拓扑排序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354" name="Shape 4860"/>
          <p:cNvSpPr/>
          <p:nvPr/>
        </p:nvSpPr>
        <p:spPr>
          <a:xfrm>
            <a:off x="2597040" y="2422440"/>
            <a:ext cx="183960" cy="30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55" name="Shape 4861"/>
          <p:cNvSpPr/>
          <p:nvPr/>
        </p:nvSpPr>
        <p:spPr>
          <a:xfrm>
            <a:off x="2948040" y="2028960"/>
            <a:ext cx="270000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  vertex firstedge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56" name="Shape 4862"/>
          <p:cNvSpPr/>
          <p:nvPr/>
        </p:nvSpPr>
        <p:spPr>
          <a:xfrm>
            <a:off x="2859120" y="2421000"/>
            <a:ext cx="1614240" cy="2998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t">
            <a:noAutofit/>
          </a:bodyPr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∧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∧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4357" name="Shape 4863"/>
          <p:cNvGrpSpPr/>
          <p:nvPr/>
        </p:nvGrpSpPr>
        <p:grpSpPr>
          <a:xfrm>
            <a:off x="2854440" y="2935440"/>
            <a:ext cx="1605960" cy="1997280"/>
            <a:chOff x="2854440" y="2935440"/>
            <a:chExt cx="1605960" cy="1997280"/>
          </a:xfrm>
        </p:grpSpPr>
        <p:sp>
          <p:nvSpPr>
            <p:cNvPr id="4358" name="Shape 4864"/>
            <p:cNvSpPr/>
            <p:nvPr/>
          </p:nvSpPr>
          <p:spPr>
            <a:xfrm>
              <a:off x="2859480" y="293544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59" name="Shape 4865"/>
            <p:cNvSpPr/>
            <p:nvPr/>
          </p:nvSpPr>
          <p:spPr>
            <a:xfrm>
              <a:off x="2862720" y="342900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60" name="Shape 4866"/>
            <p:cNvSpPr/>
            <p:nvPr/>
          </p:nvSpPr>
          <p:spPr>
            <a:xfrm>
              <a:off x="2862720" y="443232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61" name="Shape 4867"/>
            <p:cNvSpPr/>
            <p:nvPr/>
          </p:nvSpPr>
          <p:spPr>
            <a:xfrm>
              <a:off x="2855880" y="493236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62" name="Shape 4868"/>
            <p:cNvSpPr/>
            <p:nvPr/>
          </p:nvSpPr>
          <p:spPr>
            <a:xfrm>
              <a:off x="2854440" y="393876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363" name="Shape 4869"/>
          <p:cNvGrpSpPr/>
          <p:nvPr/>
        </p:nvGrpSpPr>
        <p:grpSpPr>
          <a:xfrm>
            <a:off x="3432240" y="2421000"/>
            <a:ext cx="539280" cy="2976120"/>
            <a:chOff x="3432240" y="2421000"/>
            <a:chExt cx="539280" cy="2976120"/>
          </a:xfrm>
        </p:grpSpPr>
        <p:sp>
          <p:nvSpPr>
            <p:cNvPr id="4364" name="Shape 4870"/>
            <p:cNvSpPr/>
            <p:nvPr/>
          </p:nvSpPr>
          <p:spPr>
            <a:xfrm>
              <a:off x="3432240" y="2421000"/>
              <a:ext cx="720" cy="297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65" name="Shape 4871"/>
            <p:cNvSpPr/>
            <p:nvPr/>
          </p:nvSpPr>
          <p:spPr>
            <a:xfrm>
              <a:off x="3970800" y="2421000"/>
              <a:ext cx="720" cy="297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366" name="Shape 4872"/>
          <p:cNvSpPr/>
          <p:nvPr/>
        </p:nvSpPr>
        <p:spPr>
          <a:xfrm>
            <a:off x="4149720" y="318780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67" name="Shape 4873"/>
          <p:cNvSpPr/>
          <p:nvPr/>
        </p:nvSpPr>
        <p:spPr>
          <a:xfrm>
            <a:off x="4149720" y="372096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68" name="Shape 4874"/>
          <p:cNvSpPr/>
          <p:nvPr/>
        </p:nvSpPr>
        <p:spPr>
          <a:xfrm>
            <a:off x="4159080" y="419112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69" name="Shape 4875"/>
          <p:cNvSpPr/>
          <p:nvPr/>
        </p:nvSpPr>
        <p:spPr>
          <a:xfrm>
            <a:off x="4735440" y="29224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70" name="Shape 4876"/>
          <p:cNvSpPr/>
          <p:nvPr/>
        </p:nvSpPr>
        <p:spPr>
          <a:xfrm>
            <a:off x="5135400" y="291456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71" name="Shape 4877"/>
          <p:cNvSpPr/>
          <p:nvPr/>
        </p:nvSpPr>
        <p:spPr>
          <a:xfrm>
            <a:off x="5854680" y="2957400"/>
            <a:ext cx="772920" cy="44100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72" name="Shape 4878"/>
          <p:cNvSpPr/>
          <p:nvPr/>
        </p:nvSpPr>
        <p:spPr>
          <a:xfrm>
            <a:off x="6254640" y="294804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73" name="Shape 4879"/>
          <p:cNvSpPr/>
          <p:nvPr/>
        </p:nvSpPr>
        <p:spPr>
          <a:xfrm>
            <a:off x="5259240" y="319896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74" name="Shape 4880"/>
          <p:cNvSpPr/>
          <p:nvPr/>
        </p:nvSpPr>
        <p:spPr>
          <a:xfrm>
            <a:off x="4735440" y="343692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75" name="Shape 4881"/>
          <p:cNvSpPr/>
          <p:nvPr/>
        </p:nvSpPr>
        <p:spPr>
          <a:xfrm>
            <a:off x="5135400" y="342900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76" name="Shape 4882"/>
          <p:cNvSpPr/>
          <p:nvPr/>
        </p:nvSpPr>
        <p:spPr>
          <a:xfrm>
            <a:off x="4735440" y="3952800"/>
            <a:ext cx="772920" cy="44100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77" name="Shape 4883"/>
          <p:cNvSpPr/>
          <p:nvPr/>
        </p:nvSpPr>
        <p:spPr>
          <a:xfrm>
            <a:off x="5135400" y="3965400"/>
            <a:ext cx="360" cy="423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78" name="Shape 4884"/>
          <p:cNvSpPr/>
          <p:nvPr/>
        </p:nvSpPr>
        <p:spPr>
          <a:xfrm>
            <a:off x="5854680" y="39862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79" name="Shape 4885"/>
          <p:cNvSpPr/>
          <p:nvPr/>
        </p:nvSpPr>
        <p:spPr>
          <a:xfrm>
            <a:off x="6254640" y="3978360"/>
            <a:ext cx="360" cy="441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80" name="Shape 4886"/>
          <p:cNvSpPr/>
          <p:nvPr/>
        </p:nvSpPr>
        <p:spPr>
          <a:xfrm>
            <a:off x="5259240" y="422928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81" name="Shape 4887"/>
          <p:cNvSpPr/>
          <p:nvPr/>
        </p:nvSpPr>
        <p:spPr>
          <a:xfrm>
            <a:off x="4167360" y="470844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82" name="Shape 4888"/>
          <p:cNvSpPr/>
          <p:nvPr/>
        </p:nvSpPr>
        <p:spPr>
          <a:xfrm>
            <a:off x="4729320" y="448452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83" name="Shape 4889"/>
          <p:cNvSpPr/>
          <p:nvPr/>
        </p:nvSpPr>
        <p:spPr>
          <a:xfrm>
            <a:off x="5129280" y="4497480"/>
            <a:ext cx="360" cy="425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84" name="Shape 4890"/>
          <p:cNvSpPr/>
          <p:nvPr/>
        </p:nvSpPr>
        <p:spPr>
          <a:xfrm>
            <a:off x="5856120" y="346716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85" name="Shape 4891"/>
          <p:cNvSpPr/>
          <p:nvPr/>
        </p:nvSpPr>
        <p:spPr>
          <a:xfrm>
            <a:off x="6256440" y="347976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86" name="Shape 4892"/>
          <p:cNvSpPr/>
          <p:nvPr/>
        </p:nvSpPr>
        <p:spPr>
          <a:xfrm>
            <a:off x="5259240" y="3730680"/>
            <a:ext cx="582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87" name="Shape 4893"/>
          <p:cNvSpPr/>
          <p:nvPr/>
        </p:nvSpPr>
        <p:spPr>
          <a:xfrm>
            <a:off x="5256360" y="4719600"/>
            <a:ext cx="582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88" name="Shape 4894"/>
          <p:cNvSpPr/>
          <p:nvPr/>
        </p:nvSpPr>
        <p:spPr>
          <a:xfrm>
            <a:off x="5859360" y="44956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89" name="Shape 4895"/>
          <p:cNvSpPr/>
          <p:nvPr/>
        </p:nvSpPr>
        <p:spPr>
          <a:xfrm>
            <a:off x="6259680" y="4487760"/>
            <a:ext cx="360" cy="425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90" name="Shape 4896"/>
          <p:cNvSpPr/>
          <p:nvPr/>
        </p:nvSpPr>
        <p:spPr>
          <a:xfrm>
            <a:off x="6962760" y="448776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91" name="Shape 4897"/>
          <p:cNvSpPr/>
          <p:nvPr/>
        </p:nvSpPr>
        <p:spPr>
          <a:xfrm>
            <a:off x="7362720" y="450072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392" name="Shape 4898"/>
          <p:cNvSpPr/>
          <p:nvPr/>
        </p:nvSpPr>
        <p:spPr>
          <a:xfrm>
            <a:off x="6381720" y="475128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93" name="Shape 4899"/>
          <p:cNvSpPr/>
          <p:nvPr/>
        </p:nvSpPr>
        <p:spPr>
          <a:xfrm rot="10800000">
            <a:off x="1119600" y="2426760"/>
            <a:ext cx="615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94" name="Shape 4900"/>
          <p:cNvSpPr/>
          <p:nvPr/>
        </p:nvSpPr>
        <p:spPr>
          <a:xfrm>
            <a:off x="1963800" y="2732040"/>
            <a:ext cx="360" cy="595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95" name="Shape 4901"/>
          <p:cNvSpPr/>
          <p:nvPr/>
        </p:nvSpPr>
        <p:spPr>
          <a:xfrm>
            <a:off x="1963800" y="3835440"/>
            <a:ext cx="360" cy="612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396" name="Shape 4902"/>
          <p:cNvSpPr/>
          <p:nvPr/>
        </p:nvSpPr>
        <p:spPr>
          <a:xfrm rot="10800000">
            <a:off x="1028880" y="2584800"/>
            <a:ext cx="753840" cy="813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397" name="Shape 4903"/>
          <p:cNvGrpSpPr/>
          <p:nvPr/>
        </p:nvGrpSpPr>
        <p:grpSpPr>
          <a:xfrm>
            <a:off x="620640" y="2109960"/>
            <a:ext cx="529920" cy="595080"/>
            <a:chOff x="620640" y="2109960"/>
            <a:chExt cx="529920" cy="595080"/>
          </a:xfrm>
        </p:grpSpPr>
        <p:sp>
          <p:nvSpPr>
            <p:cNvPr id="4398" name="Shape 4904"/>
            <p:cNvSpPr/>
            <p:nvPr/>
          </p:nvSpPr>
          <p:spPr>
            <a:xfrm>
              <a:off x="620640" y="21589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99" name="Shape 4905"/>
            <p:cNvSpPr/>
            <p:nvPr/>
          </p:nvSpPr>
          <p:spPr>
            <a:xfrm>
              <a:off x="687240" y="21099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400" name="Shape 4906"/>
          <p:cNvGrpSpPr/>
          <p:nvPr/>
        </p:nvGrpSpPr>
        <p:grpSpPr>
          <a:xfrm>
            <a:off x="1735200" y="2160720"/>
            <a:ext cx="529920" cy="595080"/>
            <a:chOff x="1735200" y="2160720"/>
            <a:chExt cx="529920" cy="595080"/>
          </a:xfrm>
        </p:grpSpPr>
        <p:sp>
          <p:nvSpPr>
            <p:cNvPr id="4401" name="Shape 4907"/>
            <p:cNvSpPr/>
            <p:nvPr/>
          </p:nvSpPr>
          <p:spPr>
            <a:xfrm>
              <a:off x="1735200" y="220968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02" name="Shape 4908"/>
            <p:cNvSpPr/>
            <p:nvPr/>
          </p:nvSpPr>
          <p:spPr>
            <a:xfrm>
              <a:off x="1801800" y="21607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B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403" name="Shape 4909"/>
          <p:cNvGrpSpPr/>
          <p:nvPr/>
        </p:nvGrpSpPr>
        <p:grpSpPr>
          <a:xfrm>
            <a:off x="622440" y="2667240"/>
            <a:ext cx="1079280" cy="1182240"/>
            <a:chOff x="622440" y="2667240"/>
            <a:chExt cx="1079280" cy="1182240"/>
          </a:xfrm>
        </p:grpSpPr>
        <p:sp>
          <p:nvSpPr>
            <p:cNvPr id="4404" name="Shape 4910"/>
            <p:cNvSpPr/>
            <p:nvPr/>
          </p:nvSpPr>
          <p:spPr>
            <a:xfrm>
              <a:off x="1133640" y="3578400"/>
              <a:ext cx="5680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05" name="Shape 4911"/>
            <p:cNvSpPr/>
            <p:nvPr/>
          </p:nvSpPr>
          <p:spPr>
            <a:xfrm rot="10800000">
              <a:off x="858600" y="2667240"/>
              <a:ext cx="360" cy="6156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406" name="Shape 4912"/>
            <p:cNvGrpSpPr/>
            <p:nvPr/>
          </p:nvGrpSpPr>
          <p:grpSpPr>
            <a:xfrm>
              <a:off x="622440" y="3254400"/>
              <a:ext cx="529920" cy="595080"/>
              <a:chOff x="622440" y="3254400"/>
              <a:chExt cx="529920" cy="595080"/>
            </a:xfrm>
          </p:grpSpPr>
          <p:sp>
            <p:nvSpPr>
              <p:cNvPr id="4407" name="Shape 4913"/>
              <p:cNvSpPr/>
              <p:nvPr/>
            </p:nvSpPr>
            <p:spPr>
              <a:xfrm>
                <a:off x="622440" y="330372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408" name="Shape 4914"/>
              <p:cNvSpPr/>
              <p:nvPr/>
            </p:nvSpPr>
            <p:spPr>
              <a:xfrm>
                <a:off x="689040" y="325440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18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C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4409" name="Shape 4915"/>
          <p:cNvGrpSpPr/>
          <p:nvPr/>
        </p:nvGrpSpPr>
        <p:grpSpPr>
          <a:xfrm>
            <a:off x="1706400" y="3270240"/>
            <a:ext cx="530280" cy="595080"/>
            <a:chOff x="1706400" y="3270240"/>
            <a:chExt cx="530280" cy="595080"/>
          </a:xfrm>
        </p:grpSpPr>
        <p:sp>
          <p:nvSpPr>
            <p:cNvPr id="4410" name="Shape 4916"/>
            <p:cNvSpPr/>
            <p:nvPr/>
          </p:nvSpPr>
          <p:spPr>
            <a:xfrm>
              <a:off x="1706400" y="3319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11" name="Shape 4917"/>
            <p:cNvSpPr/>
            <p:nvPr/>
          </p:nvSpPr>
          <p:spPr>
            <a:xfrm>
              <a:off x="1773360" y="3270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412" name="Shape 4918"/>
          <p:cNvGrpSpPr/>
          <p:nvPr/>
        </p:nvGrpSpPr>
        <p:grpSpPr>
          <a:xfrm>
            <a:off x="1695600" y="4417920"/>
            <a:ext cx="529920" cy="595080"/>
            <a:chOff x="1695600" y="4417920"/>
            <a:chExt cx="529920" cy="595080"/>
          </a:xfrm>
        </p:grpSpPr>
        <p:sp>
          <p:nvSpPr>
            <p:cNvPr id="4413" name="Shape 4919"/>
            <p:cNvSpPr/>
            <p:nvPr/>
          </p:nvSpPr>
          <p:spPr>
            <a:xfrm>
              <a:off x="1695600" y="4467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14" name="Shape 4920"/>
            <p:cNvSpPr/>
            <p:nvPr/>
          </p:nvSpPr>
          <p:spPr>
            <a:xfrm>
              <a:off x="1762200" y="4417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4415" name="Shape 4921"/>
          <p:cNvSpPr/>
          <p:nvPr/>
        </p:nvSpPr>
        <p:spPr>
          <a:xfrm>
            <a:off x="8107200" y="2540160"/>
            <a:ext cx="853560" cy="284292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4416" name="Shape 4922"/>
          <p:cNvSpPr/>
          <p:nvPr/>
        </p:nvSpPr>
        <p:spPr>
          <a:xfrm>
            <a:off x="8107200" y="2540160"/>
            <a:ext cx="360" cy="286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417" name="Shape 4923"/>
          <p:cNvSpPr/>
          <p:nvPr/>
        </p:nvSpPr>
        <p:spPr>
          <a:xfrm>
            <a:off x="8959680" y="2540160"/>
            <a:ext cx="360" cy="286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418" name="Shape 4924"/>
          <p:cNvSpPr/>
          <p:nvPr/>
        </p:nvSpPr>
        <p:spPr>
          <a:xfrm>
            <a:off x="8107200" y="5391000"/>
            <a:ext cx="8377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419" name="Shape 4925"/>
          <p:cNvSpPr/>
          <p:nvPr/>
        </p:nvSpPr>
        <p:spPr>
          <a:xfrm>
            <a:off x="8109000" y="4856040"/>
            <a:ext cx="823680" cy="52524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420" name="Shape 4926"/>
          <p:cNvSpPr/>
          <p:nvPr/>
        </p:nvSpPr>
        <p:spPr>
          <a:xfrm>
            <a:off x="8123400" y="4307040"/>
            <a:ext cx="809280" cy="52524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421" name="Shape 4927"/>
          <p:cNvSpPr/>
          <p:nvPr/>
        </p:nvSpPr>
        <p:spPr>
          <a:xfrm>
            <a:off x="2895480" y="2484360"/>
            <a:ext cx="533160" cy="41076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22" name="Shape 4928"/>
          <p:cNvSpPr/>
          <p:nvPr/>
        </p:nvSpPr>
        <p:spPr>
          <a:xfrm>
            <a:off x="2895480" y="3978360"/>
            <a:ext cx="533160" cy="41076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23" name="Shape 4929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25" dur="indefinite" restart="never" nodeType="tmRoot">
          <p:childTnLst>
            <p:seq>
              <p:cTn id="1126" dur="indefinite" nodeType="mainSeq">
                <p:childTnLst>
                  <p:par>
                    <p:cTn id="1127" fill="hold">
                      <p:stCondLst>
                        <p:cond delay="indefinite"/>
                      </p:stCondLst>
                      <p:childTnLst>
                        <p:par>
                          <p:cTn id="1128" fill="hold">
                            <p:stCondLst>
                              <p:cond delay="0"/>
                            </p:stCondLst>
                            <p:childTnLst>
                              <p:par>
                                <p:cTn id="1129" nodeType="clickEffect" fill="hold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1130" dur="500"/>
                                        <p:tgtEl>
                                          <p:spTgt spid="4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2" fill="hold">
                      <p:stCondLst>
                        <p:cond delay="indefinite"/>
                      </p:stCondLst>
                      <p:childTnLst>
                        <p:par>
                          <p:cTn id="1133" fill="hold">
                            <p:stCondLst>
                              <p:cond delay="0"/>
                            </p:stCondLst>
                            <p:childTnLst>
                              <p:par>
                                <p:cTn id="113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6" fill="hold">
                      <p:stCondLst>
                        <p:cond delay="indefinite"/>
                      </p:stCondLst>
                      <p:childTnLst>
                        <p:par>
                          <p:cTn id="1137" fill="hold">
                            <p:stCondLst>
                              <p:cond delay="0"/>
                            </p:stCondLst>
                            <p:childTnLst>
                              <p:par>
                                <p:cTn id="113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4" name="Shape 4934"/>
          <p:cNvSpPr/>
          <p:nvPr/>
        </p:nvSpPr>
        <p:spPr>
          <a:xfrm>
            <a:off x="426960" y="1281240"/>
            <a:ext cx="595440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拓扑排序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425" name="Shape 4935"/>
          <p:cNvSpPr/>
          <p:nvPr/>
        </p:nvSpPr>
        <p:spPr>
          <a:xfrm>
            <a:off x="2597040" y="2422440"/>
            <a:ext cx="183960" cy="30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26" name="Shape 4936"/>
          <p:cNvSpPr/>
          <p:nvPr/>
        </p:nvSpPr>
        <p:spPr>
          <a:xfrm>
            <a:off x="2948040" y="2028960"/>
            <a:ext cx="270000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  vertex firstedge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427" name="Shape 4937"/>
          <p:cNvSpPr/>
          <p:nvPr/>
        </p:nvSpPr>
        <p:spPr>
          <a:xfrm>
            <a:off x="2859120" y="2421000"/>
            <a:ext cx="1614240" cy="2998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t">
            <a:noAutofit/>
          </a:bodyPr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∧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∧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4428" name="Shape 4938"/>
          <p:cNvGrpSpPr/>
          <p:nvPr/>
        </p:nvGrpSpPr>
        <p:grpSpPr>
          <a:xfrm>
            <a:off x="2854440" y="2935440"/>
            <a:ext cx="1605960" cy="1997280"/>
            <a:chOff x="2854440" y="2935440"/>
            <a:chExt cx="1605960" cy="1997280"/>
          </a:xfrm>
        </p:grpSpPr>
        <p:sp>
          <p:nvSpPr>
            <p:cNvPr id="4429" name="Shape 4939"/>
            <p:cNvSpPr/>
            <p:nvPr/>
          </p:nvSpPr>
          <p:spPr>
            <a:xfrm>
              <a:off x="2859480" y="293544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30" name="Shape 4940"/>
            <p:cNvSpPr/>
            <p:nvPr/>
          </p:nvSpPr>
          <p:spPr>
            <a:xfrm>
              <a:off x="2862720" y="342900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31" name="Shape 4941"/>
            <p:cNvSpPr/>
            <p:nvPr/>
          </p:nvSpPr>
          <p:spPr>
            <a:xfrm>
              <a:off x="2862720" y="443232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32" name="Shape 4942"/>
            <p:cNvSpPr/>
            <p:nvPr/>
          </p:nvSpPr>
          <p:spPr>
            <a:xfrm>
              <a:off x="2855880" y="493236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33" name="Shape 4943"/>
            <p:cNvSpPr/>
            <p:nvPr/>
          </p:nvSpPr>
          <p:spPr>
            <a:xfrm>
              <a:off x="2854440" y="393876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434" name="Shape 4944"/>
          <p:cNvGrpSpPr/>
          <p:nvPr/>
        </p:nvGrpSpPr>
        <p:grpSpPr>
          <a:xfrm>
            <a:off x="3432240" y="2421000"/>
            <a:ext cx="539280" cy="2976120"/>
            <a:chOff x="3432240" y="2421000"/>
            <a:chExt cx="539280" cy="2976120"/>
          </a:xfrm>
        </p:grpSpPr>
        <p:sp>
          <p:nvSpPr>
            <p:cNvPr id="4435" name="Shape 4945"/>
            <p:cNvSpPr/>
            <p:nvPr/>
          </p:nvSpPr>
          <p:spPr>
            <a:xfrm>
              <a:off x="3432240" y="2421000"/>
              <a:ext cx="720" cy="297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36" name="Shape 4946"/>
            <p:cNvSpPr/>
            <p:nvPr/>
          </p:nvSpPr>
          <p:spPr>
            <a:xfrm>
              <a:off x="3970800" y="2421000"/>
              <a:ext cx="720" cy="297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437" name="Shape 4947"/>
          <p:cNvSpPr/>
          <p:nvPr/>
        </p:nvSpPr>
        <p:spPr>
          <a:xfrm>
            <a:off x="4149720" y="318780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38" name="Shape 4948"/>
          <p:cNvSpPr/>
          <p:nvPr/>
        </p:nvSpPr>
        <p:spPr>
          <a:xfrm>
            <a:off x="4149720" y="372096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39" name="Shape 4949"/>
          <p:cNvSpPr/>
          <p:nvPr/>
        </p:nvSpPr>
        <p:spPr>
          <a:xfrm>
            <a:off x="4159080" y="419112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40" name="Shape 4950"/>
          <p:cNvSpPr/>
          <p:nvPr/>
        </p:nvSpPr>
        <p:spPr>
          <a:xfrm>
            <a:off x="4735440" y="29224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41" name="Shape 4951"/>
          <p:cNvSpPr/>
          <p:nvPr/>
        </p:nvSpPr>
        <p:spPr>
          <a:xfrm>
            <a:off x="5135400" y="291456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442" name="Shape 4952"/>
          <p:cNvSpPr/>
          <p:nvPr/>
        </p:nvSpPr>
        <p:spPr>
          <a:xfrm>
            <a:off x="5854680" y="2957400"/>
            <a:ext cx="772920" cy="44100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43" name="Shape 4953"/>
          <p:cNvSpPr/>
          <p:nvPr/>
        </p:nvSpPr>
        <p:spPr>
          <a:xfrm>
            <a:off x="6254640" y="294804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444" name="Shape 4954"/>
          <p:cNvSpPr/>
          <p:nvPr/>
        </p:nvSpPr>
        <p:spPr>
          <a:xfrm>
            <a:off x="5259240" y="319896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45" name="Shape 4955"/>
          <p:cNvSpPr/>
          <p:nvPr/>
        </p:nvSpPr>
        <p:spPr>
          <a:xfrm>
            <a:off x="4735440" y="343692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46" name="Shape 4956"/>
          <p:cNvSpPr/>
          <p:nvPr/>
        </p:nvSpPr>
        <p:spPr>
          <a:xfrm>
            <a:off x="5135400" y="342900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447" name="Shape 4957"/>
          <p:cNvSpPr/>
          <p:nvPr/>
        </p:nvSpPr>
        <p:spPr>
          <a:xfrm>
            <a:off x="4735440" y="3952800"/>
            <a:ext cx="772920" cy="44100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48" name="Shape 4958"/>
          <p:cNvSpPr/>
          <p:nvPr/>
        </p:nvSpPr>
        <p:spPr>
          <a:xfrm>
            <a:off x="5135400" y="3965400"/>
            <a:ext cx="360" cy="423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449" name="Shape 4959"/>
          <p:cNvSpPr/>
          <p:nvPr/>
        </p:nvSpPr>
        <p:spPr>
          <a:xfrm>
            <a:off x="5854680" y="39862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50" name="Shape 4960"/>
          <p:cNvSpPr/>
          <p:nvPr/>
        </p:nvSpPr>
        <p:spPr>
          <a:xfrm>
            <a:off x="6254640" y="3978360"/>
            <a:ext cx="360" cy="441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451" name="Shape 4961"/>
          <p:cNvSpPr/>
          <p:nvPr/>
        </p:nvSpPr>
        <p:spPr>
          <a:xfrm>
            <a:off x="5259240" y="422928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52" name="Shape 4962"/>
          <p:cNvSpPr/>
          <p:nvPr/>
        </p:nvSpPr>
        <p:spPr>
          <a:xfrm>
            <a:off x="4167360" y="470844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53" name="Shape 4963"/>
          <p:cNvSpPr/>
          <p:nvPr/>
        </p:nvSpPr>
        <p:spPr>
          <a:xfrm>
            <a:off x="4729320" y="448452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54" name="Shape 4964"/>
          <p:cNvSpPr/>
          <p:nvPr/>
        </p:nvSpPr>
        <p:spPr>
          <a:xfrm>
            <a:off x="5129280" y="4497480"/>
            <a:ext cx="360" cy="425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455" name="Shape 4965"/>
          <p:cNvSpPr/>
          <p:nvPr/>
        </p:nvSpPr>
        <p:spPr>
          <a:xfrm>
            <a:off x="5856120" y="346716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56" name="Shape 4966"/>
          <p:cNvSpPr/>
          <p:nvPr/>
        </p:nvSpPr>
        <p:spPr>
          <a:xfrm>
            <a:off x="6256440" y="347976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457" name="Shape 4967"/>
          <p:cNvSpPr/>
          <p:nvPr/>
        </p:nvSpPr>
        <p:spPr>
          <a:xfrm>
            <a:off x="5259240" y="3730680"/>
            <a:ext cx="582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58" name="Shape 4968"/>
          <p:cNvSpPr/>
          <p:nvPr/>
        </p:nvSpPr>
        <p:spPr>
          <a:xfrm>
            <a:off x="5256360" y="4719600"/>
            <a:ext cx="582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59" name="Shape 4969"/>
          <p:cNvSpPr/>
          <p:nvPr/>
        </p:nvSpPr>
        <p:spPr>
          <a:xfrm>
            <a:off x="5859360" y="44956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60" name="Shape 4970"/>
          <p:cNvSpPr/>
          <p:nvPr/>
        </p:nvSpPr>
        <p:spPr>
          <a:xfrm>
            <a:off x="6259680" y="4487760"/>
            <a:ext cx="360" cy="425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461" name="Shape 4971"/>
          <p:cNvSpPr/>
          <p:nvPr/>
        </p:nvSpPr>
        <p:spPr>
          <a:xfrm>
            <a:off x="6962760" y="448776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62" name="Shape 4972"/>
          <p:cNvSpPr/>
          <p:nvPr/>
        </p:nvSpPr>
        <p:spPr>
          <a:xfrm>
            <a:off x="7362720" y="450072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463" name="Shape 4973"/>
          <p:cNvSpPr/>
          <p:nvPr/>
        </p:nvSpPr>
        <p:spPr>
          <a:xfrm>
            <a:off x="6381720" y="475128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64" name="Shape 4974"/>
          <p:cNvSpPr/>
          <p:nvPr/>
        </p:nvSpPr>
        <p:spPr>
          <a:xfrm>
            <a:off x="1963800" y="3835440"/>
            <a:ext cx="360" cy="612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465" name="Shape 4975"/>
          <p:cNvSpPr/>
          <p:nvPr/>
        </p:nvSpPr>
        <p:spPr>
          <a:xfrm rot="10800000">
            <a:off x="1028880" y="2584800"/>
            <a:ext cx="753840" cy="813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466" name="Shape 4976"/>
          <p:cNvGrpSpPr/>
          <p:nvPr/>
        </p:nvGrpSpPr>
        <p:grpSpPr>
          <a:xfrm>
            <a:off x="620640" y="2109960"/>
            <a:ext cx="529920" cy="595080"/>
            <a:chOff x="620640" y="2109960"/>
            <a:chExt cx="529920" cy="595080"/>
          </a:xfrm>
        </p:grpSpPr>
        <p:sp>
          <p:nvSpPr>
            <p:cNvPr id="4467" name="Shape 4977"/>
            <p:cNvSpPr/>
            <p:nvPr/>
          </p:nvSpPr>
          <p:spPr>
            <a:xfrm>
              <a:off x="620640" y="21589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68" name="Shape 4978"/>
            <p:cNvSpPr/>
            <p:nvPr/>
          </p:nvSpPr>
          <p:spPr>
            <a:xfrm>
              <a:off x="687240" y="21099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469" name="Shape 4979"/>
          <p:cNvGrpSpPr/>
          <p:nvPr/>
        </p:nvGrpSpPr>
        <p:grpSpPr>
          <a:xfrm>
            <a:off x="1119600" y="2160720"/>
            <a:ext cx="1145520" cy="1166400"/>
            <a:chOff x="1119600" y="2160720"/>
            <a:chExt cx="1145520" cy="1166400"/>
          </a:xfrm>
        </p:grpSpPr>
        <p:sp>
          <p:nvSpPr>
            <p:cNvPr id="4470" name="Shape 4980"/>
            <p:cNvSpPr/>
            <p:nvPr/>
          </p:nvSpPr>
          <p:spPr>
            <a:xfrm rot="10800000">
              <a:off x="1119600" y="2426760"/>
              <a:ext cx="61560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71" name="Shape 4981"/>
            <p:cNvSpPr/>
            <p:nvPr/>
          </p:nvSpPr>
          <p:spPr>
            <a:xfrm>
              <a:off x="1963800" y="2732040"/>
              <a:ext cx="360" cy="595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472" name="Shape 4982"/>
            <p:cNvGrpSpPr/>
            <p:nvPr/>
          </p:nvGrpSpPr>
          <p:grpSpPr>
            <a:xfrm>
              <a:off x="1735200" y="2160720"/>
              <a:ext cx="529920" cy="595080"/>
              <a:chOff x="1735200" y="2160720"/>
              <a:chExt cx="529920" cy="595080"/>
            </a:xfrm>
          </p:grpSpPr>
          <p:sp>
            <p:nvSpPr>
              <p:cNvPr id="4473" name="Shape 4983"/>
              <p:cNvSpPr/>
              <p:nvPr/>
            </p:nvSpPr>
            <p:spPr>
              <a:xfrm>
                <a:off x="1735200" y="220968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474" name="Shape 4984"/>
              <p:cNvSpPr/>
              <p:nvPr/>
            </p:nvSpPr>
            <p:spPr>
              <a:xfrm>
                <a:off x="1801800" y="216072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18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B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4475" name="Shape 4985"/>
          <p:cNvGrpSpPr/>
          <p:nvPr/>
        </p:nvGrpSpPr>
        <p:grpSpPr>
          <a:xfrm>
            <a:off x="1706400" y="3270240"/>
            <a:ext cx="530280" cy="595080"/>
            <a:chOff x="1706400" y="3270240"/>
            <a:chExt cx="530280" cy="595080"/>
          </a:xfrm>
        </p:grpSpPr>
        <p:sp>
          <p:nvSpPr>
            <p:cNvPr id="4476" name="Shape 4986"/>
            <p:cNvSpPr/>
            <p:nvPr/>
          </p:nvSpPr>
          <p:spPr>
            <a:xfrm>
              <a:off x="1706400" y="331956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77" name="Shape 4987"/>
            <p:cNvSpPr/>
            <p:nvPr/>
          </p:nvSpPr>
          <p:spPr>
            <a:xfrm>
              <a:off x="1773360" y="32702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D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478" name="Shape 4988"/>
          <p:cNvGrpSpPr/>
          <p:nvPr/>
        </p:nvGrpSpPr>
        <p:grpSpPr>
          <a:xfrm>
            <a:off x="1695600" y="4417920"/>
            <a:ext cx="529920" cy="595080"/>
            <a:chOff x="1695600" y="4417920"/>
            <a:chExt cx="529920" cy="595080"/>
          </a:xfrm>
        </p:grpSpPr>
        <p:sp>
          <p:nvSpPr>
            <p:cNvPr id="4479" name="Shape 4989"/>
            <p:cNvSpPr/>
            <p:nvPr/>
          </p:nvSpPr>
          <p:spPr>
            <a:xfrm>
              <a:off x="1695600" y="4467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80" name="Shape 4990"/>
            <p:cNvSpPr/>
            <p:nvPr/>
          </p:nvSpPr>
          <p:spPr>
            <a:xfrm>
              <a:off x="1762200" y="4417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4481" name="Shape 4991"/>
          <p:cNvSpPr/>
          <p:nvPr/>
        </p:nvSpPr>
        <p:spPr>
          <a:xfrm>
            <a:off x="8107200" y="2540160"/>
            <a:ext cx="853560" cy="284292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4482" name="Shape 4992"/>
          <p:cNvSpPr/>
          <p:nvPr/>
        </p:nvSpPr>
        <p:spPr>
          <a:xfrm>
            <a:off x="8107200" y="2540160"/>
            <a:ext cx="360" cy="286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483" name="Shape 4993"/>
          <p:cNvSpPr/>
          <p:nvPr/>
        </p:nvSpPr>
        <p:spPr>
          <a:xfrm>
            <a:off x="8959680" y="2540160"/>
            <a:ext cx="360" cy="286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484" name="Shape 4994"/>
          <p:cNvSpPr/>
          <p:nvPr/>
        </p:nvSpPr>
        <p:spPr>
          <a:xfrm>
            <a:off x="8107200" y="5391000"/>
            <a:ext cx="8377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485" name="Shape 4995"/>
          <p:cNvSpPr/>
          <p:nvPr/>
        </p:nvSpPr>
        <p:spPr>
          <a:xfrm>
            <a:off x="8109000" y="4856040"/>
            <a:ext cx="823680" cy="52524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486" name="Shape 4996"/>
          <p:cNvSpPr/>
          <p:nvPr/>
        </p:nvSpPr>
        <p:spPr>
          <a:xfrm>
            <a:off x="8123400" y="4854600"/>
            <a:ext cx="809280" cy="52524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487" name="Shape 4997"/>
          <p:cNvSpPr/>
          <p:nvPr/>
        </p:nvSpPr>
        <p:spPr>
          <a:xfrm>
            <a:off x="2911320" y="4010040"/>
            <a:ext cx="456840" cy="41076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88" name="Shape 4998"/>
          <p:cNvSpPr/>
          <p:nvPr/>
        </p:nvSpPr>
        <p:spPr>
          <a:xfrm>
            <a:off x="2895480" y="2492280"/>
            <a:ext cx="533160" cy="41076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89" name="Shape 4999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40" dur="indefinite" restart="never" nodeType="tmRoot">
          <p:childTnLst>
            <p:seq>
              <p:cTn id="1141" dur="indefinite" nodeType="mainSeq">
                <p:childTnLst>
                  <p:par>
                    <p:cTn id="1142" fill="hold">
                      <p:stCondLst>
                        <p:cond delay="indefinite"/>
                      </p:stCondLst>
                      <p:childTnLst>
                        <p:par>
                          <p:cTn id="1143" fill="hold">
                            <p:stCondLst>
                              <p:cond delay="0"/>
                            </p:stCondLst>
                            <p:childTnLst>
                              <p:par>
                                <p:cTn id="1144" nodeType="clickEffect" fill="hold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1145" dur="500"/>
                                        <p:tgtEl>
                                          <p:spTgt spid="4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7" fill="hold">
                      <p:stCondLst>
                        <p:cond delay="indefinite"/>
                      </p:stCondLst>
                      <p:childTnLst>
                        <p:par>
                          <p:cTn id="1148" fill="hold">
                            <p:stCondLst>
                              <p:cond delay="0"/>
                            </p:stCondLst>
                            <p:childTnLst>
                              <p:par>
                                <p:cTn id="11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1" fill="hold">
                      <p:stCondLst>
                        <p:cond delay="indefinite"/>
                      </p:stCondLst>
                      <p:childTnLst>
                        <p:par>
                          <p:cTn id="1152" fill="hold">
                            <p:stCondLst>
                              <p:cond delay="0"/>
                            </p:stCondLst>
                            <p:childTnLst>
                              <p:par>
                                <p:cTn id="11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5" fill="hold">
                      <p:stCondLst>
                        <p:cond delay="indefinite"/>
                      </p:stCondLst>
                      <p:childTnLst>
                        <p:par>
                          <p:cTn id="1156" fill="hold">
                            <p:stCondLst>
                              <p:cond delay="0"/>
                            </p:stCondLst>
                            <p:childTnLst>
                              <p:par>
                                <p:cTn id="1157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59" dur="500"/>
                                        <p:tgtEl>
                                          <p:spTgt spid="4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0" name="Shape 5004"/>
          <p:cNvSpPr/>
          <p:nvPr/>
        </p:nvSpPr>
        <p:spPr>
          <a:xfrm>
            <a:off x="426960" y="1281240"/>
            <a:ext cx="595440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拓扑排序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491" name="Shape 5005"/>
          <p:cNvSpPr/>
          <p:nvPr/>
        </p:nvSpPr>
        <p:spPr>
          <a:xfrm>
            <a:off x="2597040" y="2422440"/>
            <a:ext cx="183960" cy="30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92" name="Shape 5006"/>
          <p:cNvSpPr/>
          <p:nvPr/>
        </p:nvSpPr>
        <p:spPr>
          <a:xfrm>
            <a:off x="2948040" y="2028960"/>
            <a:ext cx="270000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  vertex firstedge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493" name="Shape 5007"/>
          <p:cNvSpPr/>
          <p:nvPr/>
        </p:nvSpPr>
        <p:spPr>
          <a:xfrm>
            <a:off x="2859120" y="2421000"/>
            <a:ext cx="1614240" cy="2998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t">
            <a:noAutofit/>
          </a:bodyPr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∧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∧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4494" name="Shape 5008"/>
          <p:cNvGrpSpPr/>
          <p:nvPr/>
        </p:nvGrpSpPr>
        <p:grpSpPr>
          <a:xfrm>
            <a:off x="2854440" y="2935440"/>
            <a:ext cx="1605960" cy="1997280"/>
            <a:chOff x="2854440" y="2935440"/>
            <a:chExt cx="1605960" cy="1997280"/>
          </a:xfrm>
        </p:grpSpPr>
        <p:sp>
          <p:nvSpPr>
            <p:cNvPr id="4495" name="Shape 5009"/>
            <p:cNvSpPr/>
            <p:nvPr/>
          </p:nvSpPr>
          <p:spPr>
            <a:xfrm>
              <a:off x="2859480" y="293544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96" name="Shape 5010"/>
            <p:cNvSpPr/>
            <p:nvPr/>
          </p:nvSpPr>
          <p:spPr>
            <a:xfrm>
              <a:off x="2862720" y="342900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97" name="Shape 5011"/>
            <p:cNvSpPr/>
            <p:nvPr/>
          </p:nvSpPr>
          <p:spPr>
            <a:xfrm>
              <a:off x="2862720" y="443232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98" name="Shape 5012"/>
            <p:cNvSpPr/>
            <p:nvPr/>
          </p:nvSpPr>
          <p:spPr>
            <a:xfrm>
              <a:off x="2855880" y="493236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99" name="Shape 5013"/>
            <p:cNvSpPr/>
            <p:nvPr/>
          </p:nvSpPr>
          <p:spPr>
            <a:xfrm>
              <a:off x="2854440" y="393876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500" name="Shape 5014"/>
          <p:cNvGrpSpPr/>
          <p:nvPr/>
        </p:nvGrpSpPr>
        <p:grpSpPr>
          <a:xfrm>
            <a:off x="3432240" y="2421000"/>
            <a:ext cx="539280" cy="2976120"/>
            <a:chOff x="3432240" y="2421000"/>
            <a:chExt cx="539280" cy="2976120"/>
          </a:xfrm>
        </p:grpSpPr>
        <p:sp>
          <p:nvSpPr>
            <p:cNvPr id="4501" name="Shape 5015"/>
            <p:cNvSpPr/>
            <p:nvPr/>
          </p:nvSpPr>
          <p:spPr>
            <a:xfrm>
              <a:off x="3432240" y="2421000"/>
              <a:ext cx="720" cy="297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02" name="Shape 5016"/>
            <p:cNvSpPr/>
            <p:nvPr/>
          </p:nvSpPr>
          <p:spPr>
            <a:xfrm>
              <a:off x="3970800" y="2421000"/>
              <a:ext cx="720" cy="297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503" name="Shape 5017"/>
          <p:cNvSpPr/>
          <p:nvPr/>
        </p:nvSpPr>
        <p:spPr>
          <a:xfrm>
            <a:off x="4149720" y="318780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04" name="Shape 5018"/>
          <p:cNvSpPr/>
          <p:nvPr/>
        </p:nvSpPr>
        <p:spPr>
          <a:xfrm>
            <a:off x="4149720" y="372096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05" name="Shape 5019"/>
          <p:cNvSpPr/>
          <p:nvPr/>
        </p:nvSpPr>
        <p:spPr>
          <a:xfrm>
            <a:off x="4159080" y="419112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06" name="Shape 5020"/>
          <p:cNvSpPr/>
          <p:nvPr/>
        </p:nvSpPr>
        <p:spPr>
          <a:xfrm>
            <a:off x="4735440" y="29224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07" name="Shape 5021"/>
          <p:cNvSpPr/>
          <p:nvPr/>
        </p:nvSpPr>
        <p:spPr>
          <a:xfrm>
            <a:off x="5135400" y="291456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08" name="Shape 5022"/>
          <p:cNvSpPr/>
          <p:nvPr/>
        </p:nvSpPr>
        <p:spPr>
          <a:xfrm>
            <a:off x="5854680" y="2957400"/>
            <a:ext cx="772920" cy="44100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09" name="Shape 5023"/>
          <p:cNvSpPr/>
          <p:nvPr/>
        </p:nvSpPr>
        <p:spPr>
          <a:xfrm>
            <a:off x="6254640" y="294804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10" name="Shape 5024"/>
          <p:cNvSpPr/>
          <p:nvPr/>
        </p:nvSpPr>
        <p:spPr>
          <a:xfrm>
            <a:off x="5259240" y="319896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11" name="Shape 5025"/>
          <p:cNvSpPr/>
          <p:nvPr/>
        </p:nvSpPr>
        <p:spPr>
          <a:xfrm>
            <a:off x="4735440" y="343692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12" name="Shape 5026"/>
          <p:cNvSpPr/>
          <p:nvPr/>
        </p:nvSpPr>
        <p:spPr>
          <a:xfrm>
            <a:off x="5135400" y="342900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13" name="Shape 5027"/>
          <p:cNvSpPr/>
          <p:nvPr/>
        </p:nvSpPr>
        <p:spPr>
          <a:xfrm>
            <a:off x="4735440" y="3952800"/>
            <a:ext cx="772920" cy="44100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14" name="Shape 5028"/>
          <p:cNvSpPr/>
          <p:nvPr/>
        </p:nvSpPr>
        <p:spPr>
          <a:xfrm>
            <a:off x="5135400" y="3965400"/>
            <a:ext cx="360" cy="423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15" name="Shape 5029"/>
          <p:cNvSpPr/>
          <p:nvPr/>
        </p:nvSpPr>
        <p:spPr>
          <a:xfrm>
            <a:off x="5854680" y="39862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16" name="Shape 5030"/>
          <p:cNvSpPr/>
          <p:nvPr/>
        </p:nvSpPr>
        <p:spPr>
          <a:xfrm>
            <a:off x="6254640" y="3978360"/>
            <a:ext cx="360" cy="441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17" name="Shape 5031"/>
          <p:cNvSpPr/>
          <p:nvPr/>
        </p:nvSpPr>
        <p:spPr>
          <a:xfrm>
            <a:off x="5259240" y="422928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18" name="Shape 5032"/>
          <p:cNvSpPr/>
          <p:nvPr/>
        </p:nvSpPr>
        <p:spPr>
          <a:xfrm>
            <a:off x="4167360" y="470844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19" name="Shape 5033"/>
          <p:cNvSpPr/>
          <p:nvPr/>
        </p:nvSpPr>
        <p:spPr>
          <a:xfrm>
            <a:off x="4729320" y="448452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20" name="Shape 5034"/>
          <p:cNvSpPr/>
          <p:nvPr/>
        </p:nvSpPr>
        <p:spPr>
          <a:xfrm>
            <a:off x="5129280" y="4497480"/>
            <a:ext cx="360" cy="425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21" name="Shape 5035"/>
          <p:cNvSpPr/>
          <p:nvPr/>
        </p:nvSpPr>
        <p:spPr>
          <a:xfrm>
            <a:off x="5856120" y="346716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22" name="Shape 5036"/>
          <p:cNvSpPr/>
          <p:nvPr/>
        </p:nvSpPr>
        <p:spPr>
          <a:xfrm>
            <a:off x="6256440" y="347976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23" name="Shape 5037"/>
          <p:cNvSpPr/>
          <p:nvPr/>
        </p:nvSpPr>
        <p:spPr>
          <a:xfrm>
            <a:off x="5259240" y="3730680"/>
            <a:ext cx="582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24" name="Shape 5038"/>
          <p:cNvSpPr/>
          <p:nvPr/>
        </p:nvSpPr>
        <p:spPr>
          <a:xfrm>
            <a:off x="5256360" y="4719600"/>
            <a:ext cx="582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25" name="Shape 5039"/>
          <p:cNvSpPr/>
          <p:nvPr/>
        </p:nvSpPr>
        <p:spPr>
          <a:xfrm>
            <a:off x="5859360" y="44956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26" name="Shape 5040"/>
          <p:cNvSpPr/>
          <p:nvPr/>
        </p:nvSpPr>
        <p:spPr>
          <a:xfrm>
            <a:off x="6259680" y="4487760"/>
            <a:ext cx="360" cy="425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27" name="Shape 5041"/>
          <p:cNvSpPr/>
          <p:nvPr/>
        </p:nvSpPr>
        <p:spPr>
          <a:xfrm>
            <a:off x="6962760" y="448776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28" name="Shape 5042"/>
          <p:cNvSpPr/>
          <p:nvPr/>
        </p:nvSpPr>
        <p:spPr>
          <a:xfrm>
            <a:off x="7362720" y="450072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29" name="Shape 5043"/>
          <p:cNvSpPr/>
          <p:nvPr/>
        </p:nvSpPr>
        <p:spPr>
          <a:xfrm>
            <a:off x="6381720" y="475128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530" name="Shape 5044"/>
          <p:cNvGrpSpPr/>
          <p:nvPr/>
        </p:nvGrpSpPr>
        <p:grpSpPr>
          <a:xfrm>
            <a:off x="620640" y="2109960"/>
            <a:ext cx="529920" cy="595080"/>
            <a:chOff x="620640" y="2109960"/>
            <a:chExt cx="529920" cy="595080"/>
          </a:xfrm>
        </p:grpSpPr>
        <p:sp>
          <p:nvSpPr>
            <p:cNvPr id="4531" name="Shape 5045"/>
            <p:cNvSpPr/>
            <p:nvPr/>
          </p:nvSpPr>
          <p:spPr>
            <a:xfrm>
              <a:off x="620640" y="21589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32" name="Shape 5046"/>
            <p:cNvSpPr/>
            <p:nvPr/>
          </p:nvSpPr>
          <p:spPr>
            <a:xfrm>
              <a:off x="687240" y="21099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533" name="Shape 5047"/>
          <p:cNvGrpSpPr/>
          <p:nvPr/>
        </p:nvGrpSpPr>
        <p:grpSpPr>
          <a:xfrm>
            <a:off x="1028880" y="2584800"/>
            <a:ext cx="1207800" cy="1863000"/>
            <a:chOff x="1028880" y="2584800"/>
            <a:chExt cx="1207800" cy="1863000"/>
          </a:xfrm>
        </p:grpSpPr>
        <p:sp>
          <p:nvSpPr>
            <p:cNvPr id="4534" name="Shape 5048"/>
            <p:cNvSpPr/>
            <p:nvPr/>
          </p:nvSpPr>
          <p:spPr>
            <a:xfrm>
              <a:off x="1963800" y="3835440"/>
              <a:ext cx="360" cy="612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35" name="Shape 5049"/>
            <p:cNvSpPr/>
            <p:nvPr/>
          </p:nvSpPr>
          <p:spPr>
            <a:xfrm rot="10800000">
              <a:off x="1028880" y="2584800"/>
              <a:ext cx="753840" cy="8139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536" name="Shape 5050"/>
            <p:cNvGrpSpPr/>
            <p:nvPr/>
          </p:nvGrpSpPr>
          <p:grpSpPr>
            <a:xfrm>
              <a:off x="1706400" y="3270240"/>
              <a:ext cx="530280" cy="595080"/>
              <a:chOff x="1706400" y="3270240"/>
              <a:chExt cx="530280" cy="595080"/>
            </a:xfrm>
          </p:grpSpPr>
          <p:sp>
            <p:nvSpPr>
              <p:cNvPr id="4537" name="Shape 5051"/>
              <p:cNvSpPr/>
              <p:nvPr/>
            </p:nvSpPr>
            <p:spPr>
              <a:xfrm>
                <a:off x="1706400" y="331956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38" name="Shape 5052"/>
              <p:cNvSpPr/>
              <p:nvPr/>
            </p:nvSpPr>
            <p:spPr>
              <a:xfrm>
                <a:off x="1773360" y="3270240"/>
                <a:ext cx="463320" cy="595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18000" bIns="1080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8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D</a:t>
                </a:r>
                <a:endParaRPr b="0" lang="en-US" sz="2800" spc="-1" strike="noStrike">
                  <a:latin typeface="Arial"/>
                </a:endParaRPr>
              </a:p>
            </p:txBody>
          </p:sp>
        </p:grpSp>
      </p:grpSp>
      <p:grpSp>
        <p:nvGrpSpPr>
          <p:cNvPr id="4539" name="Shape 5053"/>
          <p:cNvGrpSpPr/>
          <p:nvPr/>
        </p:nvGrpSpPr>
        <p:grpSpPr>
          <a:xfrm>
            <a:off x="1695600" y="4417920"/>
            <a:ext cx="529920" cy="595080"/>
            <a:chOff x="1695600" y="4417920"/>
            <a:chExt cx="529920" cy="595080"/>
          </a:xfrm>
        </p:grpSpPr>
        <p:sp>
          <p:nvSpPr>
            <p:cNvPr id="4540" name="Shape 5054"/>
            <p:cNvSpPr/>
            <p:nvPr/>
          </p:nvSpPr>
          <p:spPr>
            <a:xfrm>
              <a:off x="1695600" y="4467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41" name="Shape 5055"/>
            <p:cNvSpPr/>
            <p:nvPr/>
          </p:nvSpPr>
          <p:spPr>
            <a:xfrm>
              <a:off x="1762200" y="4417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4542" name="Shape 5056"/>
          <p:cNvSpPr/>
          <p:nvPr/>
        </p:nvSpPr>
        <p:spPr>
          <a:xfrm>
            <a:off x="8107200" y="2540160"/>
            <a:ext cx="853560" cy="284292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4543" name="Shape 5057"/>
          <p:cNvSpPr/>
          <p:nvPr/>
        </p:nvSpPr>
        <p:spPr>
          <a:xfrm>
            <a:off x="8107200" y="2540160"/>
            <a:ext cx="360" cy="286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44" name="Shape 5058"/>
          <p:cNvSpPr/>
          <p:nvPr/>
        </p:nvSpPr>
        <p:spPr>
          <a:xfrm>
            <a:off x="8959680" y="2540160"/>
            <a:ext cx="360" cy="286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45" name="Shape 5059"/>
          <p:cNvSpPr/>
          <p:nvPr/>
        </p:nvSpPr>
        <p:spPr>
          <a:xfrm>
            <a:off x="8107200" y="5391000"/>
            <a:ext cx="8377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46" name="Shape 5060"/>
          <p:cNvSpPr/>
          <p:nvPr/>
        </p:nvSpPr>
        <p:spPr>
          <a:xfrm>
            <a:off x="2941560" y="2516040"/>
            <a:ext cx="456840" cy="41076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47" name="Shape 5061"/>
          <p:cNvSpPr/>
          <p:nvPr/>
        </p:nvSpPr>
        <p:spPr>
          <a:xfrm>
            <a:off x="2895480" y="4991040"/>
            <a:ext cx="533160" cy="41076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48" name="Shape 5062"/>
          <p:cNvSpPr/>
          <p:nvPr/>
        </p:nvSpPr>
        <p:spPr>
          <a:xfrm>
            <a:off x="8123400" y="4853160"/>
            <a:ext cx="809280" cy="52524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549" name="Shape 5063"/>
          <p:cNvSpPr/>
          <p:nvPr/>
        </p:nvSpPr>
        <p:spPr>
          <a:xfrm>
            <a:off x="8124840" y="4319640"/>
            <a:ext cx="809280" cy="52524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550" name="Shape 5064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60" dur="indefinite" restart="never" nodeType="tmRoot">
          <p:childTnLst>
            <p:seq>
              <p:cTn id="1161" dur="indefinite" nodeType="mainSeq">
                <p:childTnLst>
                  <p:par>
                    <p:cTn id="1162" fill="hold">
                      <p:stCondLst>
                        <p:cond delay="indefinite"/>
                      </p:stCondLst>
                      <p:childTnLst>
                        <p:par>
                          <p:cTn id="1163" fill="hold">
                            <p:stCondLst>
                              <p:cond delay="0"/>
                            </p:stCondLst>
                            <p:childTnLst>
                              <p:par>
                                <p:cTn id="116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6" fill="hold">
                      <p:stCondLst>
                        <p:cond delay="indefinite"/>
                      </p:stCondLst>
                      <p:childTnLst>
                        <p:par>
                          <p:cTn id="1167" fill="hold">
                            <p:stCondLst>
                              <p:cond delay="0"/>
                            </p:stCondLst>
                            <p:childTnLst>
                              <p:par>
                                <p:cTn id="1168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70" dur="500"/>
                                        <p:tgtEl>
                                          <p:spTgt spid="4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1" fill="hold">
                      <p:stCondLst>
                        <p:cond delay="indefinite"/>
                      </p:stCondLst>
                      <p:childTnLst>
                        <p:par>
                          <p:cTn id="1172" fill="hold">
                            <p:stCondLst>
                              <p:cond delay="0"/>
                            </p:stCondLst>
                            <p:childTnLst>
                              <p:par>
                                <p:cTn id="1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5" fill="hold">
                      <p:stCondLst>
                        <p:cond delay="indefinite"/>
                      </p:stCondLst>
                      <p:childTnLst>
                        <p:par>
                          <p:cTn id="1176" fill="hold">
                            <p:stCondLst>
                              <p:cond delay="0"/>
                            </p:stCondLst>
                            <p:childTnLst>
                              <p:par>
                                <p:cTn id="1177" nodeType="clickEffect" fill="hold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79" dur="500"/>
                                        <p:tgtEl>
                                          <p:spTgt spid="4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1" name="Shape 5069"/>
          <p:cNvSpPr/>
          <p:nvPr/>
        </p:nvSpPr>
        <p:spPr>
          <a:xfrm>
            <a:off x="426960" y="1281240"/>
            <a:ext cx="595440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拓扑排序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552" name="Shape 5070"/>
          <p:cNvSpPr/>
          <p:nvPr/>
        </p:nvSpPr>
        <p:spPr>
          <a:xfrm>
            <a:off x="2597040" y="2422440"/>
            <a:ext cx="183960" cy="30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5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53" name="Shape 5071"/>
          <p:cNvSpPr/>
          <p:nvPr/>
        </p:nvSpPr>
        <p:spPr>
          <a:xfrm>
            <a:off x="2948040" y="2028960"/>
            <a:ext cx="270000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  vertex firstedge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554" name="Shape 5072"/>
          <p:cNvSpPr/>
          <p:nvPr/>
        </p:nvSpPr>
        <p:spPr>
          <a:xfrm>
            <a:off x="2859120" y="2421000"/>
            <a:ext cx="1614240" cy="2998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t">
            <a:noAutofit/>
          </a:bodyPr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∧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B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</a:t>
            </a:r>
            <a:endParaRPr b="0" lang="en-US" sz="2400" spc="-1" strike="noStrike">
              <a:latin typeface="Arial"/>
            </a:endParaRPr>
          </a:p>
          <a:p>
            <a:pPr algn="just">
              <a:lnSpc>
                <a:spcPct val="136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   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     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∧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4555" name="Shape 5073"/>
          <p:cNvGrpSpPr/>
          <p:nvPr/>
        </p:nvGrpSpPr>
        <p:grpSpPr>
          <a:xfrm>
            <a:off x="2854440" y="2935440"/>
            <a:ext cx="1605960" cy="1997280"/>
            <a:chOff x="2854440" y="2935440"/>
            <a:chExt cx="1605960" cy="1997280"/>
          </a:xfrm>
        </p:grpSpPr>
        <p:sp>
          <p:nvSpPr>
            <p:cNvPr id="4556" name="Shape 5074"/>
            <p:cNvSpPr/>
            <p:nvPr/>
          </p:nvSpPr>
          <p:spPr>
            <a:xfrm>
              <a:off x="2859480" y="293544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57" name="Shape 5075"/>
            <p:cNvSpPr/>
            <p:nvPr/>
          </p:nvSpPr>
          <p:spPr>
            <a:xfrm>
              <a:off x="2862720" y="342900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58" name="Shape 5076"/>
            <p:cNvSpPr/>
            <p:nvPr/>
          </p:nvSpPr>
          <p:spPr>
            <a:xfrm>
              <a:off x="2862720" y="443232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59" name="Shape 5077"/>
            <p:cNvSpPr/>
            <p:nvPr/>
          </p:nvSpPr>
          <p:spPr>
            <a:xfrm>
              <a:off x="2855880" y="493236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60" name="Shape 5078"/>
            <p:cNvSpPr/>
            <p:nvPr/>
          </p:nvSpPr>
          <p:spPr>
            <a:xfrm>
              <a:off x="2854440" y="3938760"/>
              <a:ext cx="1597680" cy="3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561" name="Shape 5079"/>
          <p:cNvGrpSpPr/>
          <p:nvPr/>
        </p:nvGrpSpPr>
        <p:grpSpPr>
          <a:xfrm>
            <a:off x="3432240" y="2421000"/>
            <a:ext cx="539280" cy="2976120"/>
            <a:chOff x="3432240" y="2421000"/>
            <a:chExt cx="539280" cy="2976120"/>
          </a:xfrm>
        </p:grpSpPr>
        <p:sp>
          <p:nvSpPr>
            <p:cNvPr id="4562" name="Shape 5080"/>
            <p:cNvSpPr/>
            <p:nvPr/>
          </p:nvSpPr>
          <p:spPr>
            <a:xfrm>
              <a:off x="3432240" y="2421000"/>
              <a:ext cx="720" cy="297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63" name="Shape 5081"/>
            <p:cNvSpPr/>
            <p:nvPr/>
          </p:nvSpPr>
          <p:spPr>
            <a:xfrm>
              <a:off x="3970800" y="2421000"/>
              <a:ext cx="720" cy="29761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564" name="Shape 5082"/>
          <p:cNvSpPr/>
          <p:nvPr/>
        </p:nvSpPr>
        <p:spPr>
          <a:xfrm>
            <a:off x="4149720" y="318780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65" name="Shape 5083"/>
          <p:cNvSpPr/>
          <p:nvPr/>
        </p:nvSpPr>
        <p:spPr>
          <a:xfrm>
            <a:off x="4149720" y="372096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66" name="Shape 5084"/>
          <p:cNvSpPr/>
          <p:nvPr/>
        </p:nvSpPr>
        <p:spPr>
          <a:xfrm>
            <a:off x="4159080" y="419112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67" name="Shape 5085"/>
          <p:cNvSpPr/>
          <p:nvPr/>
        </p:nvSpPr>
        <p:spPr>
          <a:xfrm>
            <a:off x="4735440" y="29224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68" name="Shape 5086"/>
          <p:cNvSpPr/>
          <p:nvPr/>
        </p:nvSpPr>
        <p:spPr>
          <a:xfrm>
            <a:off x="5135400" y="291456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69" name="Shape 5087"/>
          <p:cNvSpPr/>
          <p:nvPr/>
        </p:nvSpPr>
        <p:spPr>
          <a:xfrm>
            <a:off x="5854680" y="2957400"/>
            <a:ext cx="772920" cy="44100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70" name="Shape 5088"/>
          <p:cNvSpPr/>
          <p:nvPr/>
        </p:nvSpPr>
        <p:spPr>
          <a:xfrm>
            <a:off x="6254640" y="294804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71" name="Shape 5089"/>
          <p:cNvSpPr/>
          <p:nvPr/>
        </p:nvSpPr>
        <p:spPr>
          <a:xfrm>
            <a:off x="5259240" y="319896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72" name="Shape 5090"/>
          <p:cNvSpPr/>
          <p:nvPr/>
        </p:nvSpPr>
        <p:spPr>
          <a:xfrm>
            <a:off x="4735440" y="343692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73" name="Shape 5091"/>
          <p:cNvSpPr/>
          <p:nvPr/>
        </p:nvSpPr>
        <p:spPr>
          <a:xfrm>
            <a:off x="5135400" y="342900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74" name="Shape 5092"/>
          <p:cNvSpPr/>
          <p:nvPr/>
        </p:nvSpPr>
        <p:spPr>
          <a:xfrm>
            <a:off x="4735440" y="3952800"/>
            <a:ext cx="772920" cy="44100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75" name="Shape 5093"/>
          <p:cNvSpPr/>
          <p:nvPr/>
        </p:nvSpPr>
        <p:spPr>
          <a:xfrm>
            <a:off x="5135400" y="3965400"/>
            <a:ext cx="360" cy="423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76" name="Shape 5094"/>
          <p:cNvSpPr/>
          <p:nvPr/>
        </p:nvSpPr>
        <p:spPr>
          <a:xfrm>
            <a:off x="5854680" y="39862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77" name="Shape 5095"/>
          <p:cNvSpPr/>
          <p:nvPr/>
        </p:nvSpPr>
        <p:spPr>
          <a:xfrm>
            <a:off x="6254640" y="3978360"/>
            <a:ext cx="360" cy="441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78" name="Shape 5096"/>
          <p:cNvSpPr/>
          <p:nvPr/>
        </p:nvSpPr>
        <p:spPr>
          <a:xfrm>
            <a:off x="5259240" y="422928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79" name="Shape 5097"/>
          <p:cNvSpPr/>
          <p:nvPr/>
        </p:nvSpPr>
        <p:spPr>
          <a:xfrm>
            <a:off x="4167360" y="470844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80" name="Shape 5098"/>
          <p:cNvSpPr/>
          <p:nvPr/>
        </p:nvSpPr>
        <p:spPr>
          <a:xfrm>
            <a:off x="4729320" y="448452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 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81" name="Shape 5099"/>
          <p:cNvSpPr/>
          <p:nvPr/>
        </p:nvSpPr>
        <p:spPr>
          <a:xfrm>
            <a:off x="5129280" y="4497480"/>
            <a:ext cx="360" cy="425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82" name="Shape 5100"/>
          <p:cNvSpPr/>
          <p:nvPr/>
        </p:nvSpPr>
        <p:spPr>
          <a:xfrm>
            <a:off x="5856120" y="346716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83" name="Shape 5101"/>
          <p:cNvSpPr/>
          <p:nvPr/>
        </p:nvSpPr>
        <p:spPr>
          <a:xfrm>
            <a:off x="6256440" y="347976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84" name="Shape 5102"/>
          <p:cNvSpPr/>
          <p:nvPr/>
        </p:nvSpPr>
        <p:spPr>
          <a:xfrm>
            <a:off x="5259240" y="3730680"/>
            <a:ext cx="582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85" name="Shape 5103"/>
          <p:cNvSpPr/>
          <p:nvPr/>
        </p:nvSpPr>
        <p:spPr>
          <a:xfrm>
            <a:off x="5256360" y="4719600"/>
            <a:ext cx="5821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586" name="Shape 5104"/>
          <p:cNvSpPr/>
          <p:nvPr/>
        </p:nvSpPr>
        <p:spPr>
          <a:xfrm>
            <a:off x="5859360" y="449568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87" name="Shape 5105"/>
          <p:cNvSpPr/>
          <p:nvPr/>
        </p:nvSpPr>
        <p:spPr>
          <a:xfrm>
            <a:off x="6259680" y="4487760"/>
            <a:ext cx="360" cy="425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88" name="Shape 5106"/>
          <p:cNvSpPr/>
          <p:nvPr/>
        </p:nvSpPr>
        <p:spPr>
          <a:xfrm>
            <a:off x="6962760" y="4487760"/>
            <a:ext cx="772920" cy="442440"/>
          </a:xfrm>
          <a:prstGeom prst="rect">
            <a:avLst/>
          </a:prstGeom>
          <a:solidFill>
            <a:schemeClr val="hlink"/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10800" bIns="10800" anchor="t">
            <a:noAutofit/>
          </a:bodyPr>
          <a:p>
            <a:pPr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  ∧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89" name="Shape 5107"/>
          <p:cNvSpPr/>
          <p:nvPr/>
        </p:nvSpPr>
        <p:spPr>
          <a:xfrm>
            <a:off x="7362720" y="4500720"/>
            <a:ext cx="360" cy="442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90" name="Shape 5108"/>
          <p:cNvSpPr/>
          <p:nvPr/>
        </p:nvSpPr>
        <p:spPr>
          <a:xfrm>
            <a:off x="6381720" y="4751280"/>
            <a:ext cx="5806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4591" name="Shape 5109"/>
          <p:cNvGrpSpPr/>
          <p:nvPr/>
        </p:nvGrpSpPr>
        <p:grpSpPr>
          <a:xfrm>
            <a:off x="620640" y="2109960"/>
            <a:ext cx="529920" cy="595080"/>
            <a:chOff x="620640" y="2109960"/>
            <a:chExt cx="529920" cy="595080"/>
          </a:xfrm>
        </p:grpSpPr>
        <p:sp>
          <p:nvSpPr>
            <p:cNvPr id="4592" name="Shape 5110"/>
            <p:cNvSpPr/>
            <p:nvPr/>
          </p:nvSpPr>
          <p:spPr>
            <a:xfrm>
              <a:off x="620640" y="215892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93" name="Shape 5111"/>
            <p:cNvSpPr/>
            <p:nvPr/>
          </p:nvSpPr>
          <p:spPr>
            <a:xfrm>
              <a:off x="687240" y="21099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A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594" name="Shape 5112"/>
          <p:cNvGrpSpPr/>
          <p:nvPr/>
        </p:nvGrpSpPr>
        <p:grpSpPr>
          <a:xfrm>
            <a:off x="1695600" y="4417920"/>
            <a:ext cx="529920" cy="595080"/>
            <a:chOff x="1695600" y="4417920"/>
            <a:chExt cx="529920" cy="595080"/>
          </a:xfrm>
        </p:grpSpPr>
        <p:sp>
          <p:nvSpPr>
            <p:cNvPr id="4595" name="Shape 5113"/>
            <p:cNvSpPr/>
            <p:nvPr/>
          </p:nvSpPr>
          <p:spPr>
            <a:xfrm>
              <a:off x="1695600" y="4467240"/>
              <a:ext cx="502920" cy="50292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96" name="Shape 5114"/>
            <p:cNvSpPr/>
            <p:nvPr/>
          </p:nvSpPr>
          <p:spPr>
            <a:xfrm>
              <a:off x="1762200" y="441792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F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4597" name="Shape 5115"/>
          <p:cNvSpPr/>
          <p:nvPr/>
        </p:nvSpPr>
        <p:spPr>
          <a:xfrm>
            <a:off x="8107200" y="2540160"/>
            <a:ext cx="853560" cy="284292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4598" name="Shape 5116"/>
          <p:cNvSpPr/>
          <p:nvPr/>
        </p:nvSpPr>
        <p:spPr>
          <a:xfrm>
            <a:off x="8107200" y="2540160"/>
            <a:ext cx="360" cy="286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599" name="Shape 5117"/>
          <p:cNvSpPr/>
          <p:nvPr/>
        </p:nvSpPr>
        <p:spPr>
          <a:xfrm>
            <a:off x="8959680" y="2540160"/>
            <a:ext cx="360" cy="2865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600" name="Shape 5118"/>
          <p:cNvSpPr/>
          <p:nvPr/>
        </p:nvSpPr>
        <p:spPr>
          <a:xfrm>
            <a:off x="8107200" y="5391000"/>
            <a:ext cx="8377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601" name="Shape 5119"/>
          <p:cNvSpPr/>
          <p:nvPr/>
        </p:nvSpPr>
        <p:spPr>
          <a:xfrm>
            <a:off x="8137440" y="4853160"/>
            <a:ext cx="809280" cy="52524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02" name="Shape 5120"/>
          <p:cNvSpPr/>
          <p:nvPr/>
        </p:nvSpPr>
        <p:spPr>
          <a:xfrm>
            <a:off x="8124840" y="4319640"/>
            <a:ext cx="809280" cy="52524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F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03" name="Shape 5121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80" dur="indefinite" restart="never" nodeType="tmRoot">
          <p:childTnLst>
            <p:seq>
              <p:cTn id="1181" dur="indefinite" nodeType="mainSeq">
                <p:childTnLst>
                  <p:par>
                    <p:cTn id="1182" fill="hold">
                      <p:stCondLst>
                        <p:cond delay="indefinite"/>
                      </p:stCondLst>
                      <p:childTnLst>
                        <p:par>
                          <p:cTn id="1183" fill="hold">
                            <p:stCondLst>
                              <p:cond delay="0"/>
                            </p:stCondLst>
                            <p:childTnLst>
                              <p:par>
                                <p:cTn id="1184" nodeType="clickEffect" fill="hold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1185" dur="500"/>
                                        <p:tgtEl>
                                          <p:spTgt spid="4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7" fill="hold">
                      <p:stCondLst>
                        <p:cond delay="indefinite"/>
                      </p:stCondLst>
                      <p:childTnLst>
                        <p:par>
                          <p:cTn id="1188" fill="hold">
                            <p:stCondLst>
                              <p:cond delay="0"/>
                            </p:stCondLst>
                            <p:childTnLst>
                              <p:par>
                                <p:cTn id="1189" nodeType="clickEffect" fill="hold" presetClass="exi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1190" dur="500"/>
                                        <p:tgtEl>
                                          <p:spTgt spid="4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4" name="Shape 5126"/>
          <p:cNvSpPr/>
          <p:nvPr/>
        </p:nvSpPr>
        <p:spPr>
          <a:xfrm>
            <a:off x="547560" y="2241720"/>
            <a:ext cx="7970400" cy="35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栈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初始化；累加器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count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初始化；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扫描顶点表，将没有前驱的顶点压栈；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当栈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非空时循环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3.1 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=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退出栈顶元素；输出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；累加器加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3.2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将顶点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的各个邻接点的入度减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3.3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将新的入度为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的顶点入栈；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4. if 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count&lt;vertexNum</a:t>
            </a:r>
            <a:r>
              <a:rPr b="1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输出有回路信息；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05" name="Shape 5127"/>
          <p:cNvSpPr/>
          <p:nvPr/>
        </p:nvSpPr>
        <p:spPr>
          <a:xfrm>
            <a:off x="426960" y="1281240"/>
            <a:ext cx="595440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拓扑排序算法——伪代码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606" name="Shape 5128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7" name="Shape 5133"/>
          <p:cNvSpPr/>
          <p:nvPr/>
        </p:nvSpPr>
        <p:spPr>
          <a:xfrm>
            <a:off x="307800" y="1219320"/>
            <a:ext cx="3627000" cy="57924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AOE</a:t>
            </a: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网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608" name="Shape 5134"/>
          <p:cNvSpPr/>
          <p:nvPr/>
        </p:nvSpPr>
        <p:spPr>
          <a:xfrm>
            <a:off x="380880" y="1874880"/>
            <a:ext cx="8381520" cy="22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AOE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网：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在一个表示工程的带权有向图中，用顶点表示事件，用有向边表示活动，边上的权值表示活动的持续时间，称这样的有向图叫做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边表示活动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的网，简称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AOE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网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AOE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网中没有入边的顶点称为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始点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（或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源点），没有出边的顶点称为</a:t>
            </a:r>
            <a:r>
              <a:rPr b="1" lang="ja-JP" sz="2800" spc="-1" strike="noStrike">
                <a:solidFill>
                  <a:srgbClr val="ff0000"/>
                </a:solidFill>
                <a:latin typeface="Arial"/>
                <a:ea typeface="Arial"/>
              </a:rPr>
              <a:t>终点</a:t>
            </a:r>
            <a:r>
              <a:rPr b="1" lang="ja-JP" sz="2800" spc="-1" strike="noStrike">
                <a:solidFill>
                  <a:srgbClr val="000000"/>
                </a:solidFill>
                <a:latin typeface="Arial"/>
                <a:ea typeface="Arial"/>
              </a:rPr>
              <a:t>（或汇点）。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09" name="Shape 5135"/>
          <p:cNvSpPr/>
          <p:nvPr/>
        </p:nvSpPr>
        <p:spPr>
          <a:xfrm>
            <a:off x="333360" y="4125960"/>
            <a:ext cx="8457840" cy="24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AOE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网的性质：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839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⑴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只有在某顶点所代表的事件发生后，从该顶点出发的各活动才能开始；</a:t>
            </a:r>
            <a:endParaRPr b="0" lang="en-US" sz="28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839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⑵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只有在进入某顶点的各活动都结束，该顶点所代表的事件才能发生。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10" name="Shape 5136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1" name="Shape 5141"/>
          <p:cNvSpPr/>
          <p:nvPr/>
        </p:nvSpPr>
        <p:spPr>
          <a:xfrm>
            <a:off x="307800" y="1219320"/>
            <a:ext cx="3627000" cy="57924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AOE</a:t>
            </a: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网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612" name="Shape 5142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4613" name="Shape 5143" descr=""/>
          <p:cNvPicPr/>
          <p:nvPr/>
        </p:nvPicPr>
        <p:blipFill>
          <a:blip r:embed="rId1"/>
          <a:stretch/>
        </p:blipFill>
        <p:spPr>
          <a:xfrm>
            <a:off x="1260360" y="2135160"/>
            <a:ext cx="5246280" cy="2963520"/>
          </a:xfrm>
          <a:prstGeom prst="rect">
            <a:avLst/>
          </a:prstGeom>
          <a:ln w="28575">
            <a:solidFill>
              <a:srgbClr val="3333cc"/>
            </a:solidFill>
            <a:miter/>
          </a:ln>
        </p:spPr>
      </p:pic>
      <p:sp>
        <p:nvSpPr>
          <p:cNvPr id="4614" name="Shape 5144"/>
          <p:cNvSpPr/>
          <p:nvPr/>
        </p:nvSpPr>
        <p:spPr>
          <a:xfrm>
            <a:off x="363600" y="5384880"/>
            <a:ext cx="8287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例如，事件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表示活动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已经结束，活动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和</a:t>
            </a:r>
            <a:r>
              <a:rPr b="1" i="1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4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可以开始。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5" name="Shape 5149"/>
          <p:cNvSpPr/>
          <p:nvPr/>
        </p:nvSpPr>
        <p:spPr>
          <a:xfrm>
            <a:off x="380880" y="1965240"/>
            <a:ext cx="8213400" cy="16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AOE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网可以回答下列问题：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完成整个工程</a:t>
            </a: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至少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需要多少时间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?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为缩短完成工程所需的时间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应当加快哪些活动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?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 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16" name="Shape 5150"/>
          <p:cNvSpPr/>
          <p:nvPr/>
        </p:nvSpPr>
        <p:spPr>
          <a:xfrm>
            <a:off x="307800" y="1219320"/>
            <a:ext cx="3627000" cy="57924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AOE</a:t>
            </a:r>
            <a:r>
              <a:rPr b="1" lang="ja-JP" sz="3200" spc="-1" strike="noStrike">
                <a:solidFill>
                  <a:srgbClr val="3333cc"/>
                </a:solidFill>
                <a:latin typeface="Arial"/>
                <a:ea typeface="Arial"/>
              </a:rPr>
              <a:t>网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617" name="Shape 5151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4618" name="Shape 5152"/>
          <p:cNvGrpSpPr/>
          <p:nvPr/>
        </p:nvGrpSpPr>
        <p:grpSpPr>
          <a:xfrm>
            <a:off x="357120" y="3822840"/>
            <a:ext cx="7900920" cy="2515680"/>
            <a:chOff x="357120" y="3822840"/>
            <a:chExt cx="7900920" cy="2515680"/>
          </a:xfrm>
        </p:grpSpPr>
        <p:grpSp>
          <p:nvGrpSpPr>
            <p:cNvPr id="4619" name="Shape 5153"/>
            <p:cNvGrpSpPr/>
            <p:nvPr/>
          </p:nvGrpSpPr>
          <p:grpSpPr>
            <a:xfrm>
              <a:off x="357120" y="3822840"/>
              <a:ext cx="7900920" cy="518760"/>
              <a:chOff x="357120" y="3822840"/>
              <a:chExt cx="7900920" cy="518760"/>
            </a:xfrm>
          </p:grpSpPr>
          <p:sp>
            <p:nvSpPr>
              <p:cNvPr id="4620" name="Shape 5154"/>
              <p:cNvSpPr/>
              <p:nvPr/>
            </p:nvSpPr>
            <p:spPr>
              <a:xfrm>
                <a:off x="866880" y="3822840"/>
                <a:ext cx="7391160" cy="518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ja-JP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以下</a:t>
                </a:r>
                <a:r>
                  <a:rPr b="1" lang="en-US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AOE</a:t>
                </a:r>
                <a:r>
                  <a:rPr b="1" lang="ja-JP" sz="28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网的最短工期是多少？</a:t>
                </a:r>
                <a:endParaRPr b="0" lang="en-US" sz="2800" spc="-1" strike="noStrike">
                  <a:latin typeface="Arial"/>
                </a:endParaRPr>
              </a:p>
            </p:txBody>
          </p:sp>
          <p:pic>
            <p:nvPicPr>
              <p:cNvPr id="4621" name="Shape 5155" descr=""/>
              <p:cNvPicPr/>
              <p:nvPr/>
            </p:nvPicPr>
            <p:blipFill>
              <a:blip r:embed="rId1"/>
              <a:stretch/>
            </p:blipFill>
            <p:spPr>
              <a:xfrm>
                <a:off x="357120" y="3833640"/>
                <a:ext cx="506160" cy="496440"/>
              </a:xfrm>
              <a:prstGeom prst="rect">
                <a:avLst/>
              </a:prstGeom>
              <a:ln w="0">
                <a:noFill/>
              </a:ln>
            </p:spPr>
          </p:pic>
        </p:grpSp>
        <p:grpSp>
          <p:nvGrpSpPr>
            <p:cNvPr id="4622" name="Shape 5156"/>
            <p:cNvGrpSpPr/>
            <p:nvPr/>
          </p:nvGrpSpPr>
          <p:grpSpPr>
            <a:xfrm>
              <a:off x="1157400" y="4495680"/>
              <a:ext cx="3057120" cy="1842840"/>
              <a:chOff x="1157400" y="4495680"/>
              <a:chExt cx="3057120" cy="1842840"/>
            </a:xfrm>
          </p:grpSpPr>
          <p:sp>
            <p:nvSpPr>
              <p:cNvPr id="4623" name="Shape 5157"/>
              <p:cNvSpPr/>
              <p:nvPr/>
            </p:nvSpPr>
            <p:spPr>
              <a:xfrm>
                <a:off x="1157400" y="518004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0" i="1" lang="en-US" sz="24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0" lang="en-US" sz="24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0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4624" name="Shape 5158"/>
              <p:cNvSpPr/>
              <p:nvPr/>
            </p:nvSpPr>
            <p:spPr>
              <a:xfrm flipH="1" rot="10800000">
                <a:off x="1608840" y="4834440"/>
                <a:ext cx="826560" cy="4806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/>
                <a:tailEnd len="med" type="stealth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25" name="Shape 5159"/>
              <p:cNvSpPr/>
              <p:nvPr/>
            </p:nvSpPr>
            <p:spPr>
              <a:xfrm>
                <a:off x="2419200" y="449568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0" i="1" lang="en-US" sz="24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0" lang="en-US" sz="24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1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4626" name="Shape 5160"/>
              <p:cNvSpPr/>
              <p:nvPr/>
            </p:nvSpPr>
            <p:spPr>
              <a:xfrm>
                <a:off x="3711600" y="515448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0" i="1" lang="en-US" sz="24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0" lang="en-US" sz="24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3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4627" name="Shape 5161"/>
              <p:cNvSpPr/>
              <p:nvPr/>
            </p:nvSpPr>
            <p:spPr>
              <a:xfrm>
                <a:off x="2448000" y="5775480"/>
                <a:ext cx="502920" cy="502920"/>
              </a:xfrm>
              <a:prstGeom prst="ellipse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8f6b"/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72000" rIns="0" tIns="0" bIns="0" anchor="t">
                <a:noAutofit/>
              </a:bodyPr>
              <a:p>
                <a:pPr algn="ctr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0" i="1" lang="en-US" sz="2400" spc="-1" strike="noStrike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v</a:t>
                </a:r>
                <a:r>
                  <a:rPr b="0" lang="en-US" sz="2400" spc="-1" strike="noStrike" baseline="-25000">
                    <a:solidFill>
                      <a:srgbClr val="ffffff"/>
                    </a:solidFill>
                    <a:latin typeface="Times New Roman"/>
                    <a:ea typeface="Times New Roman"/>
                  </a:rPr>
                  <a:t>2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4628" name="Shape 5162"/>
              <p:cNvSpPr/>
              <p:nvPr/>
            </p:nvSpPr>
            <p:spPr>
              <a:xfrm>
                <a:off x="1593720" y="5560920"/>
                <a:ext cx="826560" cy="4806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/>
                <a:tailEnd len="med" type="stealth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29" name="Shape 5163"/>
              <p:cNvSpPr/>
              <p:nvPr/>
            </p:nvSpPr>
            <p:spPr>
              <a:xfrm>
                <a:off x="2898720" y="4807080"/>
                <a:ext cx="826560" cy="4806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/>
                <a:tailEnd len="med" type="stealth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30" name="Shape 5164"/>
              <p:cNvSpPr/>
              <p:nvPr/>
            </p:nvSpPr>
            <p:spPr>
              <a:xfrm flipH="1" rot="10800000">
                <a:off x="2943720" y="5559840"/>
                <a:ext cx="826560" cy="480600"/>
              </a:xfrm>
              <a:custGeom>
                <a:avLst/>
                <a:gdLst/>
                <a:ah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miter/>
                <a:tailEnd len="med" type="stealth" w="med"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31" name="Shape 5165"/>
              <p:cNvSpPr/>
              <p:nvPr/>
            </p:nvSpPr>
            <p:spPr>
              <a:xfrm>
                <a:off x="1581120" y="4705200"/>
                <a:ext cx="661680" cy="517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4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a</a:t>
                </a:r>
                <a:r>
                  <a:rPr b="1" lang="en-US" sz="2400" spc="-1" strike="noStrike" baseline="-2500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0</a:t>
                </a:r>
                <a:r>
                  <a:rPr b="1" lang="en-US" sz="24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=5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4632" name="Shape 5166"/>
              <p:cNvSpPr/>
              <p:nvPr/>
            </p:nvSpPr>
            <p:spPr>
              <a:xfrm>
                <a:off x="1495440" y="5821200"/>
                <a:ext cx="661680" cy="517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4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a</a:t>
                </a:r>
                <a:r>
                  <a:rPr b="1" lang="en-US" sz="2400" spc="-1" strike="noStrike" baseline="-2500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1</a:t>
                </a:r>
                <a:r>
                  <a:rPr b="1" lang="en-US" sz="24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=6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4633" name="Shape 5167"/>
              <p:cNvSpPr/>
              <p:nvPr/>
            </p:nvSpPr>
            <p:spPr>
              <a:xfrm>
                <a:off x="3192480" y="4645080"/>
                <a:ext cx="661680" cy="517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4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a</a:t>
                </a:r>
                <a:r>
                  <a:rPr b="1" lang="en-US" sz="2400" spc="-1" strike="noStrike" baseline="-2500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2</a:t>
                </a:r>
                <a:r>
                  <a:rPr b="1" lang="en-US" sz="24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=3</a:t>
                </a:r>
                <a:endParaRPr b="0" lang="en-US" sz="2400" spc="-1" strike="noStrike">
                  <a:latin typeface="Arial"/>
                </a:endParaRPr>
              </a:p>
            </p:txBody>
          </p:sp>
          <p:sp>
            <p:nvSpPr>
              <p:cNvPr id="4634" name="Shape 5168"/>
              <p:cNvSpPr/>
              <p:nvPr/>
            </p:nvSpPr>
            <p:spPr>
              <a:xfrm>
                <a:off x="3206880" y="5775480"/>
                <a:ext cx="661680" cy="517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 algn="just"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i="1" lang="en-US" sz="24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a</a:t>
                </a:r>
                <a:r>
                  <a:rPr b="1" lang="en-US" sz="2400" spc="-1" strike="noStrike" baseline="-25000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3</a:t>
                </a:r>
                <a:r>
                  <a:rPr b="1" lang="en-US" sz="2400" spc="-1" strike="noStrike">
                    <a:solidFill>
                      <a:srgbClr val="000000"/>
                    </a:solidFill>
                    <a:latin typeface="Times New Roman"/>
                    <a:ea typeface="Times New Roman"/>
                  </a:rPr>
                  <a:t>=4</a:t>
                </a:r>
                <a:endParaRPr b="0" lang="en-US" sz="2400" spc="-1" strike="noStrike">
                  <a:latin typeface="Arial"/>
                </a:endParaRPr>
              </a:p>
            </p:txBody>
          </p:sp>
        </p:grpSp>
      </p:grpSp>
      <p:sp>
        <p:nvSpPr>
          <p:cNvPr id="4635" name="Shape 5169"/>
          <p:cNvSpPr/>
          <p:nvPr/>
        </p:nvSpPr>
        <p:spPr>
          <a:xfrm>
            <a:off x="4906800" y="5079960"/>
            <a:ext cx="3687480" cy="485280"/>
          </a:xfrm>
          <a:prstGeom prst="rect">
            <a:avLst/>
          </a:prstGeom>
          <a:noFill/>
          <a:ln w="28575">
            <a:solidFill>
              <a:srgbClr val="00cc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最短工期应该是最长路径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92" dur="indefinite" restart="never" nodeType="tmRoot">
          <p:childTnLst>
            <p:seq>
              <p:cTn id="1193" dur="indefinite" nodeType="mainSeq">
                <p:childTnLst>
                  <p:par>
                    <p:cTn id="1194" fill="hold">
                      <p:stCondLst>
                        <p:cond delay="indefinite"/>
                      </p:stCondLst>
                      <p:childTnLst>
                        <p:par>
                          <p:cTn id="1195" fill="hold">
                            <p:stCondLst>
                              <p:cond delay="0"/>
                            </p:stCondLst>
                            <p:childTnLst>
                              <p:par>
                                <p:cTn id="11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8" dur="500"/>
                                        <p:tgtEl>
                                          <p:spTgt spid="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6" name="Shape 5174"/>
          <p:cNvSpPr/>
          <p:nvPr/>
        </p:nvSpPr>
        <p:spPr>
          <a:xfrm>
            <a:off x="307800" y="1219320"/>
            <a:ext cx="3627000" cy="57924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关键路径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637" name="Shape 5175"/>
          <p:cNvSpPr/>
          <p:nvPr/>
        </p:nvSpPr>
        <p:spPr>
          <a:xfrm>
            <a:off x="304920" y="2057400"/>
            <a:ext cx="8548200" cy="20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关键路径：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在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AOE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网中，从始点到终点具有最大路径长度（该路径上的各个活动所持续的时间之和）的路径称为关键路径。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关键活动：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关键路径上的活动称为关键活动。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38" name="Shape 5176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639" name="Shape 5177"/>
          <p:cNvSpPr/>
          <p:nvPr/>
        </p:nvSpPr>
        <p:spPr>
          <a:xfrm>
            <a:off x="654120" y="4457880"/>
            <a:ext cx="7872840" cy="547560"/>
          </a:xfrm>
          <a:prstGeom prst="rect">
            <a:avLst/>
          </a:prstGeom>
          <a:noFill/>
          <a:ln w="28575">
            <a:solidFill>
              <a:srgbClr val="00cc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关键路径可能不只一条，重要的是找到关键活动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99" dur="indefinite" restart="never" nodeType="tmRoot">
          <p:childTnLst>
            <p:seq>
              <p:cTn id="1200" dur="indefinite" nodeType="mainSeq">
                <p:childTnLst>
                  <p:par>
                    <p:cTn id="1201" fill="hold">
                      <p:stCondLst>
                        <p:cond delay="indefinite"/>
                      </p:stCondLst>
                      <p:childTnLst>
                        <p:par>
                          <p:cTn id="1202" fill="hold">
                            <p:stCondLst>
                              <p:cond delay="0"/>
                            </p:stCondLst>
                            <p:childTnLst>
                              <p:par>
                                <p:cTn id="12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05" dur="500"/>
                                        <p:tgtEl>
                                          <p:spTgt spid="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0" name="Shape 5182"/>
          <p:cNvSpPr/>
          <p:nvPr/>
        </p:nvSpPr>
        <p:spPr>
          <a:xfrm>
            <a:off x="390600" y="1952640"/>
            <a:ext cx="846576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要找出关键路径，必须找出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关键活动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即不按期完成就会影响整个工程完成的活动。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41" name="Shape 5183"/>
          <p:cNvSpPr/>
          <p:nvPr/>
        </p:nvSpPr>
        <p:spPr>
          <a:xfrm>
            <a:off x="307800" y="1219320"/>
            <a:ext cx="3627000" cy="57924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关键路径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642" name="PlaceHolder 1"/>
          <p:cNvSpPr>
            <a:spLocks noGrp="1"/>
          </p:cNvSpPr>
          <p:nvPr>
            <p:ph type="title"/>
          </p:nvPr>
        </p:nvSpPr>
        <p:spPr>
          <a:xfrm>
            <a:off x="395280" y="2955960"/>
            <a:ext cx="7314840" cy="533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首先计算以下与关键活动有关的量：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3" name="Shape 5185"/>
          <p:cNvSpPr/>
          <p:nvPr/>
        </p:nvSpPr>
        <p:spPr>
          <a:xfrm>
            <a:off x="487440" y="3567240"/>
            <a:ext cx="7676640" cy="18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⑴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事件的最早发生时间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ve[k]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⑵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事件的最迟发生时间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vl[k]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⑶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活动的最早开始时间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e[i]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⑷ 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活动的最晚开始时间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l[i]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44" name="Shape 5186"/>
          <p:cNvSpPr/>
          <p:nvPr/>
        </p:nvSpPr>
        <p:spPr>
          <a:xfrm>
            <a:off x="473040" y="4890960"/>
            <a:ext cx="2725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45" name="Shape 5187"/>
          <p:cNvSpPr/>
          <p:nvPr/>
        </p:nvSpPr>
        <p:spPr>
          <a:xfrm>
            <a:off x="431640" y="5459400"/>
            <a:ext cx="856908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最后计算各个活动的时间余量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l[k] - e[k]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，时间余量为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者即为关键活动。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46" name="Shape 5188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7" name="Shape 5193"/>
          <p:cNvSpPr/>
          <p:nvPr/>
        </p:nvSpPr>
        <p:spPr>
          <a:xfrm>
            <a:off x="455760" y="2300400"/>
            <a:ext cx="8044920" cy="12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ve[k]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是指从始点开始到顶点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的最大路径长度。这个长度决定了所有从顶点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发出的活动能够开工的最早时间。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48" name="Shape 5194"/>
          <p:cNvSpPr/>
          <p:nvPr/>
        </p:nvSpPr>
        <p:spPr>
          <a:xfrm>
            <a:off x="452520" y="4960800"/>
            <a:ext cx="6932160" cy="16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ve[1]=0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ve[k]=max{ve[j]+len&lt;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&gt;} (&lt;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&gt;∈p[k])                       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p[k]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表示所有到达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vk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的有向边的集合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49" name="Shape 5195"/>
          <p:cNvSpPr/>
          <p:nvPr/>
        </p:nvSpPr>
        <p:spPr>
          <a:xfrm>
            <a:off x="366840" y="1568520"/>
            <a:ext cx="47048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⑴ 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事件的最早发生时间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ve[k] 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4650" name="Shape 5196"/>
          <p:cNvGrpSpPr/>
          <p:nvPr/>
        </p:nvGrpSpPr>
        <p:grpSpPr>
          <a:xfrm>
            <a:off x="4468680" y="3233880"/>
            <a:ext cx="2084400" cy="2229840"/>
            <a:chOff x="4468680" y="3233880"/>
            <a:chExt cx="2084400" cy="2229840"/>
          </a:xfrm>
        </p:grpSpPr>
        <p:sp>
          <p:nvSpPr>
            <p:cNvPr id="4651" name="Shape 5197"/>
            <p:cNvSpPr/>
            <p:nvPr/>
          </p:nvSpPr>
          <p:spPr>
            <a:xfrm>
              <a:off x="4611600" y="3233880"/>
              <a:ext cx="334440" cy="46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52" name="Shape 5198"/>
            <p:cNvSpPr/>
            <p:nvPr/>
          </p:nvSpPr>
          <p:spPr>
            <a:xfrm>
              <a:off x="4994280" y="3629160"/>
              <a:ext cx="1130040" cy="620280"/>
            </a:xfrm>
            <a:custGeom>
              <a:avLst/>
              <a:gdLst/>
              <a:ahLst/>
              <a:rect l="l" t="t" r="r" b="b"/>
              <a:pathLst>
                <a:path w="947" h="527">
                  <a:moveTo>
                    <a:pt x="0" y="0"/>
                  </a:moveTo>
                  <a:lnTo>
                    <a:pt x="947" y="527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53" name="Shape 5199"/>
            <p:cNvSpPr/>
            <p:nvPr/>
          </p:nvSpPr>
          <p:spPr>
            <a:xfrm>
              <a:off x="4929120" y="4421160"/>
              <a:ext cx="1142640" cy="1080"/>
            </a:xfrm>
            <a:custGeom>
              <a:avLst/>
              <a:gdLst/>
              <a:ahLst/>
              <a:rect l="l" t="t" r="r" b="b"/>
              <a:pathLst>
                <a:path w="910" h="3">
                  <a:moveTo>
                    <a:pt x="0" y="0"/>
                  </a:moveTo>
                  <a:lnTo>
                    <a:pt x="910" y="3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54" name="Shape 5200"/>
            <p:cNvSpPr/>
            <p:nvPr/>
          </p:nvSpPr>
          <p:spPr>
            <a:xfrm>
              <a:off x="4960800" y="4583160"/>
              <a:ext cx="1147320" cy="634680"/>
            </a:xfrm>
            <a:custGeom>
              <a:avLst/>
              <a:gdLst/>
              <a:ahLst/>
              <a:rect l="l" t="t" r="r" b="b"/>
              <a:pathLst>
                <a:path w="864" h="506">
                  <a:moveTo>
                    <a:pt x="0" y="506"/>
                  </a:moveTo>
                  <a:lnTo>
                    <a:pt x="864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55" name="Shape 5201"/>
            <p:cNvSpPr/>
            <p:nvPr/>
          </p:nvSpPr>
          <p:spPr>
            <a:xfrm>
              <a:off x="4468680" y="4187880"/>
              <a:ext cx="468000" cy="46800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56" name="Shape 5202"/>
            <p:cNvSpPr/>
            <p:nvPr/>
          </p:nvSpPr>
          <p:spPr>
            <a:xfrm>
              <a:off x="4521240" y="41385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24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j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4657" name="Shape 5203"/>
            <p:cNvSpPr/>
            <p:nvPr/>
          </p:nvSpPr>
          <p:spPr>
            <a:xfrm>
              <a:off x="4514760" y="3362400"/>
              <a:ext cx="468000" cy="46800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58" name="Shape 5204"/>
            <p:cNvSpPr/>
            <p:nvPr/>
          </p:nvSpPr>
          <p:spPr>
            <a:xfrm>
              <a:off x="4484520" y="4995720"/>
              <a:ext cx="468000" cy="46800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59" name="Shape 5205"/>
            <p:cNvSpPr/>
            <p:nvPr/>
          </p:nvSpPr>
          <p:spPr>
            <a:xfrm>
              <a:off x="6037200" y="4218120"/>
              <a:ext cx="468000" cy="46800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60" name="Shape 5206"/>
            <p:cNvSpPr/>
            <p:nvPr/>
          </p:nvSpPr>
          <p:spPr>
            <a:xfrm>
              <a:off x="6089760" y="416880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4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24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k</a:t>
              </a:r>
              <a:endParaRPr b="0" lang="en-US" sz="2400" spc="-1" strike="noStrike">
                <a:latin typeface="Arial"/>
              </a:endParaRPr>
            </a:p>
          </p:txBody>
        </p:sp>
      </p:grpSp>
      <p:sp>
        <p:nvSpPr>
          <p:cNvPr id="4661" name="Shape 5207"/>
          <p:cNvSpPr/>
          <p:nvPr/>
        </p:nvSpPr>
        <p:spPr>
          <a:xfrm>
            <a:off x="318960" y="5253120"/>
            <a:ext cx="175680" cy="587160"/>
          </a:xfrm>
          <a:prstGeom prst="leftBrace">
            <a:avLst>
              <a:gd name="adj1" fmla="val 8333"/>
              <a:gd name="adj2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662" name="Shape 5208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3" name="Shape 5213"/>
          <p:cNvGrpSpPr/>
          <p:nvPr/>
        </p:nvGrpSpPr>
        <p:grpSpPr>
          <a:xfrm>
            <a:off x="2071800" y="4924440"/>
            <a:ext cx="6095520" cy="518760"/>
            <a:chOff x="2071800" y="4924440"/>
            <a:chExt cx="6095520" cy="518760"/>
          </a:xfrm>
        </p:grpSpPr>
        <p:sp>
          <p:nvSpPr>
            <p:cNvPr id="4664" name="Shape 5214"/>
            <p:cNvSpPr/>
            <p:nvPr/>
          </p:nvSpPr>
          <p:spPr>
            <a:xfrm>
              <a:off x="2748960" y="492444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665" name="Shape 5215"/>
            <p:cNvSpPr/>
            <p:nvPr/>
          </p:nvSpPr>
          <p:spPr>
            <a:xfrm>
              <a:off x="6135840" y="492444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666" name="Shape 5216"/>
            <p:cNvSpPr/>
            <p:nvPr/>
          </p:nvSpPr>
          <p:spPr>
            <a:xfrm>
              <a:off x="5458320" y="492444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667" name="Shape 5217"/>
            <p:cNvSpPr/>
            <p:nvPr/>
          </p:nvSpPr>
          <p:spPr>
            <a:xfrm>
              <a:off x="4781160" y="492444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668" name="Shape 5218"/>
            <p:cNvSpPr/>
            <p:nvPr/>
          </p:nvSpPr>
          <p:spPr>
            <a:xfrm>
              <a:off x="4103640" y="492444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669" name="Shape 5219"/>
            <p:cNvSpPr/>
            <p:nvPr/>
          </p:nvSpPr>
          <p:spPr>
            <a:xfrm>
              <a:off x="2071800" y="492444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670" name="Shape 5220"/>
            <p:cNvSpPr/>
            <p:nvPr/>
          </p:nvSpPr>
          <p:spPr>
            <a:xfrm>
              <a:off x="3426480" y="492444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671" name="Shape 5221"/>
            <p:cNvSpPr/>
            <p:nvPr/>
          </p:nvSpPr>
          <p:spPr>
            <a:xfrm>
              <a:off x="7490520" y="492444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8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672" name="Shape 5222"/>
            <p:cNvSpPr/>
            <p:nvPr/>
          </p:nvSpPr>
          <p:spPr>
            <a:xfrm>
              <a:off x="6813000" y="492444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673" name="Shape 5223"/>
          <p:cNvGrpSpPr/>
          <p:nvPr/>
        </p:nvGrpSpPr>
        <p:grpSpPr>
          <a:xfrm>
            <a:off x="914400" y="5450040"/>
            <a:ext cx="7157520" cy="569520"/>
            <a:chOff x="914400" y="5450040"/>
            <a:chExt cx="7157520" cy="569520"/>
          </a:xfrm>
        </p:grpSpPr>
        <p:grpSp>
          <p:nvGrpSpPr>
            <p:cNvPr id="4674" name="Shape 5224"/>
            <p:cNvGrpSpPr/>
            <p:nvPr/>
          </p:nvGrpSpPr>
          <p:grpSpPr>
            <a:xfrm>
              <a:off x="1976400" y="5462640"/>
              <a:ext cx="6095520" cy="556920"/>
              <a:chOff x="1976400" y="5462640"/>
              <a:chExt cx="6095520" cy="556920"/>
            </a:xfrm>
          </p:grpSpPr>
          <p:sp>
            <p:nvSpPr>
              <p:cNvPr id="4675" name="Shape 5225"/>
              <p:cNvSpPr/>
              <p:nvPr/>
            </p:nvSpPr>
            <p:spPr>
              <a:xfrm>
                <a:off x="2653920" y="546264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76" name="Shape 5226"/>
              <p:cNvSpPr/>
              <p:nvPr/>
            </p:nvSpPr>
            <p:spPr>
              <a:xfrm>
                <a:off x="6040440" y="546264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77" name="Shape 5227"/>
              <p:cNvSpPr/>
              <p:nvPr/>
            </p:nvSpPr>
            <p:spPr>
              <a:xfrm>
                <a:off x="5363280" y="546264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78" name="Shape 5228"/>
              <p:cNvSpPr/>
              <p:nvPr/>
            </p:nvSpPr>
            <p:spPr>
              <a:xfrm>
                <a:off x="4685760" y="546264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79" name="Shape 5229"/>
              <p:cNvSpPr/>
              <p:nvPr/>
            </p:nvSpPr>
            <p:spPr>
              <a:xfrm>
                <a:off x="4008600" y="546264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80" name="Shape 5230"/>
              <p:cNvSpPr/>
              <p:nvPr/>
            </p:nvSpPr>
            <p:spPr>
              <a:xfrm>
                <a:off x="1976400" y="546264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81" name="Shape 5231"/>
              <p:cNvSpPr/>
              <p:nvPr/>
            </p:nvSpPr>
            <p:spPr>
              <a:xfrm>
                <a:off x="3331080" y="546264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82" name="Shape 5232"/>
              <p:cNvSpPr/>
              <p:nvPr/>
            </p:nvSpPr>
            <p:spPr>
              <a:xfrm>
                <a:off x="7395120" y="546264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83" name="Shape 5233"/>
              <p:cNvSpPr/>
              <p:nvPr/>
            </p:nvSpPr>
            <p:spPr>
              <a:xfrm>
                <a:off x="6717600" y="546264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4684" name="Shape 5234"/>
            <p:cNvSpPr/>
            <p:nvPr/>
          </p:nvSpPr>
          <p:spPr>
            <a:xfrm>
              <a:off x="914400" y="5450040"/>
              <a:ext cx="99036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ve[k]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4685" name="Shape 5235"/>
          <p:cNvSpPr/>
          <p:nvPr/>
        </p:nvSpPr>
        <p:spPr>
          <a:xfrm>
            <a:off x="1978200" y="546876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86" name="Shape 5236"/>
          <p:cNvSpPr/>
          <p:nvPr/>
        </p:nvSpPr>
        <p:spPr>
          <a:xfrm>
            <a:off x="2700360" y="550080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87" name="Shape 5237"/>
          <p:cNvSpPr/>
          <p:nvPr/>
        </p:nvSpPr>
        <p:spPr>
          <a:xfrm>
            <a:off x="3386160" y="548784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88" name="Shape 5238"/>
          <p:cNvSpPr/>
          <p:nvPr/>
        </p:nvSpPr>
        <p:spPr>
          <a:xfrm>
            <a:off x="4046400" y="548784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89" name="Shape 5239"/>
          <p:cNvSpPr/>
          <p:nvPr/>
        </p:nvSpPr>
        <p:spPr>
          <a:xfrm>
            <a:off x="4719600" y="549108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90" name="Shape 5240"/>
          <p:cNvSpPr/>
          <p:nvPr/>
        </p:nvSpPr>
        <p:spPr>
          <a:xfrm>
            <a:off x="5392800" y="550692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91" name="Shape 5241"/>
          <p:cNvSpPr/>
          <p:nvPr/>
        </p:nvSpPr>
        <p:spPr>
          <a:xfrm>
            <a:off x="6041880" y="549288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16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92" name="Shape 5242"/>
          <p:cNvSpPr/>
          <p:nvPr/>
        </p:nvSpPr>
        <p:spPr>
          <a:xfrm>
            <a:off x="6726240" y="548784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14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93" name="Shape 5243"/>
          <p:cNvSpPr/>
          <p:nvPr/>
        </p:nvSpPr>
        <p:spPr>
          <a:xfrm>
            <a:off x="7400880" y="548964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18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94" name="Shape 5244"/>
          <p:cNvSpPr/>
          <p:nvPr/>
        </p:nvSpPr>
        <p:spPr>
          <a:xfrm>
            <a:off x="4416480" y="4086360"/>
            <a:ext cx="4524120" cy="60444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ve[k]=max{ve[j]+len&lt;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&gt;}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95" name="Shape 5245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4696" name="Shape 5246" descr=""/>
          <p:cNvPicPr/>
          <p:nvPr/>
        </p:nvPicPr>
        <p:blipFill>
          <a:blip r:embed="rId1"/>
          <a:stretch/>
        </p:blipFill>
        <p:spPr>
          <a:xfrm>
            <a:off x="230040" y="1265400"/>
            <a:ext cx="4781160" cy="2700000"/>
          </a:xfrm>
          <a:prstGeom prst="rect">
            <a:avLst/>
          </a:prstGeom>
          <a:ln w="28575">
            <a:solidFill>
              <a:srgbClr val="3333cc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06" dur="indefinite" restart="never" nodeType="tmRoot">
          <p:childTnLst>
            <p:seq>
              <p:cTn id="1207" dur="indefinite" nodeType="mainSeq">
                <p:childTnLst>
                  <p:par>
                    <p:cTn id="1208" fill="hold">
                      <p:stCondLst>
                        <p:cond delay="indefinite"/>
                      </p:stCondLst>
                      <p:childTnLst>
                        <p:par>
                          <p:cTn id="1209" fill="hold">
                            <p:stCondLst>
                              <p:cond delay="0"/>
                            </p:stCondLst>
                            <p:childTnLst>
                              <p:par>
                                <p:cTn id="12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12" dur="500"/>
                                        <p:tgtEl>
                                          <p:spTgt spid="4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3" fill="hold">
                      <p:stCondLst>
                        <p:cond delay="indefinite"/>
                      </p:stCondLst>
                      <p:childTnLst>
                        <p:par>
                          <p:cTn id="1214" fill="hold">
                            <p:stCondLst>
                              <p:cond delay="0"/>
                            </p:stCondLst>
                            <p:childTnLst>
                              <p:par>
                                <p:cTn id="12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17" dur="500"/>
                                        <p:tgtEl>
                                          <p:spTgt spid="4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8" fill="hold">
                      <p:stCondLst>
                        <p:cond delay="indefinite"/>
                      </p:stCondLst>
                      <p:childTnLst>
                        <p:par>
                          <p:cTn id="1219" fill="hold">
                            <p:stCondLst>
                              <p:cond delay="0"/>
                            </p:stCondLst>
                            <p:childTnLst>
                              <p:par>
                                <p:cTn id="12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22" dur="500"/>
                                        <p:tgtEl>
                                          <p:spTgt spid="4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3" fill="hold">
                      <p:stCondLst>
                        <p:cond delay="indefinite"/>
                      </p:stCondLst>
                      <p:childTnLst>
                        <p:par>
                          <p:cTn id="1224" fill="hold">
                            <p:stCondLst>
                              <p:cond delay="0"/>
                            </p:stCondLst>
                            <p:childTnLst>
                              <p:par>
                                <p:cTn id="12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27" dur="500"/>
                                        <p:tgtEl>
                                          <p:spTgt spid="4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8" fill="hold">
                      <p:stCondLst>
                        <p:cond delay="indefinite"/>
                      </p:stCondLst>
                      <p:childTnLst>
                        <p:par>
                          <p:cTn id="1229" fill="hold">
                            <p:stCondLst>
                              <p:cond delay="0"/>
                            </p:stCondLst>
                            <p:childTnLst>
                              <p:par>
                                <p:cTn id="12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32" dur="500"/>
                                        <p:tgtEl>
                                          <p:spTgt spid="4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3" fill="hold">
                      <p:stCondLst>
                        <p:cond delay="indefinite"/>
                      </p:stCondLst>
                      <p:childTnLst>
                        <p:par>
                          <p:cTn id="1234" fill="hold">
                            <p:stCondLst>
                              <p:cond delay="0"/>
                            </p:stCondLst>
                            <p:childTnLst>
                              <p:par>
                                <p:cTn id="123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37" dur="500"/>
                                        <p:tgtEl>
                                          <p:spTgt spid="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8" fill="hold">
                      <p:stCondLst>
                        <p:cond delay="indefinite"/>
                      </p:stCondLst>
                      <p:childTnLst>
                        <p:par>
                          <p:cTn id="1239" fill="hold">
                            <p:stCondLst>
                              <p:cond delay="0"/>
                            </p:stCondLst>
                            <p:childTnLst>
                              <p:par>
                                <p:cTn id="124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2" dur="500"/>
                                        <p:tgtEl>
                                          <p:spTgt spid="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3" fill="hold">
                      <p:stCondLst>
                        <p:cond delay="indefinite"/>
                      </p:stCondLst>
                      <p:childTnLst>
                        <p:par>
                          <p:cTn id="1244" fill="hold">
                            <p:stCondLst>
                              <p:cond delay="0"/>
                            </p:stCondLst>
                            <p:childTnLst>
                              <p:par>
                                <p:cTn id="12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7" dur="500"/>
                                        <p:tgtEl>
                                          <p:spTgt spid="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8" fill="hold">
                      <p:stCondLst>
                        <p:cond delay="indefinite"/>
                      </p:stCondLst>
                      <p:childTnLst>
                        <p:par>
                          <p:cTn id="1249" fill="hold">
                            <p:stCondLst>
                              <p:cond delay="0"/>
                            </p:stCondLst>
                            <p:childTnLst>
                              <p:par>
                                <p:cTn id="125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52" dur="500"/>
                                        <p:tgtEl>
                                          <p:spTgt spid="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7" name="Shape 5251"/>
          <p:cNvSpPr/>
          <p:nvPr/>
        </p:nvSpPr>
        <p:spPr>
          <a:xfrm>
            <a:off x="554040" y="2376360"/>
            <a:ext cx="798480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vl[k]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是指在不推迟整个工期的前提下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事件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允许的最晚发生时间。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698" name="Shape 5252"/>
          <p:cNvSpPr/>
          <p:nvPr/>
        </p:nvSpPr>
        <p:spPr>
          <a:xfrm>
            <a:off x="366840" y="1568520"/>
            <a:ext cx="46461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⑵ 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事件的最迟发生时间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vl[k] 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4699" name="Shape 5253"/>
          <p:cNvGrpSpPr/>
          <p:nvPr/>
        </p:nvGrpSpPr>
        <p:grpSpPr>
          <a:xfrm>
            <a:off x="3755880" y="2941560"/>
            <a:ext cx="2081160" cy="2214360"/>
            <a:chOff x="3755880" y="2941560"/>
            <a:chExt cx="2081160" cy="2214360"/>
          </a:xfrm>
        </p:grpSpPr>
        <p:sp>
          <p:nvSpPr>
            <p:cNvPr id="4700" name="Shape 5254"/>
            <p:cNvSpPr/>
            <p:nvPr/>
          </p:nvSpPr>
          <p:spPr>
            <a:xfrm>
              <a:off x="5346720" y="3627360"/>
              <a:ext cx="166320" cy="2124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0800" rIns="0" tIns="28800" bIns="1080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i="1" lang="en-US" sz="1000" spc="-1" strike="noStrike">
                  <a:solidFill>
                    <a:srgbClr val="3333cc"/>
                  </a:solidFill>
                  <a:latin typeface="Times New Roman"/>
                  <a:ea typeface="Times New Roman"/>
                </a:rPr>
                <a:t>v</a:t>
              </a:r>
              <a:r>
                <a:rPr b="0" i="1" lang="en-US" sz="1000" spc="-1" strike="noStrike" baseline="-25000">
                  <a:solidFill>
                    <a:srgbClr val="3333cc"/>
                  </a:solidFill>
                  <a:latin typeface="Times New Roman"/>
                  <a:ea typeface="Times New Roman"/>
                </a:rPr>
                <a:t>j</a:t>
              </a:r>
              <a:endParaRPr b="0" lang="en-US" sz="1000" spc="-1" strike="noStrike">
                <a:latin typeface="Arial"/>
              </a:endParaRPr>
            </a:p>
          </p:txBody>
        </p:sp>
        <p:sp>
          <p:nvSpPr>
            <p:cNvPr id="4701" name="Shape 5255"/>
            <p:cNvSpPr/>
            <p:nvPr/>
          </p:nvSpPr>
          <p:spPr>
            <a:xfrm>
              <a:off x="5332320" y="4092480"/>
              <a:ext cx="196560" cy="17748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02" name="Shape 5256"/>
            <p:cNvSpPr/>
            <p:nvPr/>
          </p:nvSpPr>
          <p:spPr>
            <a:xfrm>
              <a:off x="5479920" y="2941560"/>
              <a:ext cx="334440" cy="46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03" name="Shape 5257"/>
            <p:cNvSpPr/>
            <p:nvPr/>
          </p:nvSpPr>
          <p:spPr>
            <a:xfrm>
              <a:off x="4186080" y="4297320"/>
              <a:ext cx="1130040" cy="620280"/>
            </a:xfrm>
            <a:custGeom>
              <a:avLst/>
              <a:gdLst/>
              <a:ahLst/>
              <a:rect l="l" t="t" r="r" b="b"/>
              <a:pathLst>
                <a:path w="947" h="527">
                  <a:moveTo>
                    <a:pt x="0" y="0"/>
                  </a:moveTo>
                  <a:lnTo>
                    <a:pt x="947" y="527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04" name="Shape 5258"/>
            <p:cNvSpPr/>
            <p:nvPr/>
          </p:nvSpPr>
          <p:spPr>
            <a:xfrm>
              <a:off x="4200480" y="4146480"/>
              <a:ext cx="1142640" cy="1080"/>
            </a:xfrm>
            <a:custGeom>
              <a:avLst/>
              <a:gdLst/>
              <a:ahLst/>
              <a:rect l="l" t="t" r="r" b="b"/>
              <a:pathLst>
                <a:path w="910" h="3">
                  <a:moveTo>
                    <a:pt x="0" y="0"/>
                  </a:moveTo>
                  <a:lnTo>
                    <a:pt x="910" y="3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05" name="Shape 5259"/>
            <p:cNvSpPr/>
            <p:nvPr/>
          </p:nvSpPr>
          <p:spPr>
            <a:xfrm>
              <a:off x="4151160" y="3360600"/>
              <a:ext cx="1147320" cy="634680"/>
            </a:xfrm>
            <a:custGeom>
              <a:avLst/>
              <a:gdLst/>
              <a:ahLst/>
              <a:rect l="l" t="t" r="r" b="b"/>
              <a:pathLst>
                <a:path w="864" h="506">
                  <a:moveTo>
                    <a:pt x="0" y="506"/>
                  </a:moveTo>
                  <a:lnTo>
                    <a:pt x="864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06" name="Shape 5260"/>
            <p:cNvSpPr/>
            <p:nvPr/>
          </p:nvSpPr>
          <p:spPr>
            <a:xfrm>
              <a:off x="5337000" y="3895560"/>
              <a:ext cx="468000" cy="46800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07" name="Shape 5261"/>
            <p:cNvSpPr/>
            <p:nvPr/>
          </p:nvSpPr>
          <p:spPr>
            <a:xfrm>
              <a:off x="5373720" y="381636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j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708" name="Shape 5262"/>
            <p:cNvSpPr/>
            <p:nvPr/>
          </p:nvSpPr>
          <p:spPr>
            <a:xfrm>
              <a:off x="5288040" y="3102120"/>
              <a:ext cx="468000" cy="46800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09" name="Shape 5263"/>
            <p:cNvSpPr/>
            <p:nvPr/>
          </p:nvSpPr>
          <p:spPr>
            <a:xfrm>
              <a:off x="5321160" y="4687920"/>
              <a:ext cx="468000" cy="46800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10" name="Shape 5264"/>
            <p:cNvSpPr/>
            <p:nvPr/>
          </p:nvSpPr>
          <p:spPr>
            <a:xfrm>
              <a:off x="3755880" y="3929040"/>
              <a:ext cx="468000" cy="468000"/>
            </a:xfrm>
            <a:prstGeom prst="ellipse">
              <a:avLst/>
            </a:prstGeom>
            <a:gradFill rotWithShape="0">
              <a:gsLst>
                <a:gs pos="0">
                  <a:srgbClr val="00cc99"/>
                </a:gs>
                <a:gs pos="100000">
                  <a:srgbClr val="008f6b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11" name="Shape 5265"/>
            <p:cNvSpPr/>
            <p:nvPr/>
          </p:nvSpPr>
          <p:spPr>
            <a:xfrm>
              <a:off x="3776760" y="3849840"/>
              <a:ext cx="463320" cy="595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0" tIns="18000" bIns="10800" anchor="t">
              <a:noAutofit/>
            </a:bodyPr>
            <a:p>
              <a:pPr algn="just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ffffff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2800" spc="-1" strike="noStrike" baseline="-25000">
                  <a:solidFill>
                    <a:srgbClr val="ffffff"/>
                  </a:solidFill>
                  <a:latin typeface="Times New Roman"/>
                  <a:ea typeface="Times New Roman"/>
                </a:rPr>
                <a:t>k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4712" name="Shape 5266"/>
          <p:cNvSpPr/>
          <p:nvPr/>
        </p:nvSpPr>
        <p:spPr>
          <a:xfrm>
            <a:off x="0" y="3122640"/>
            <a:ext cx="91436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13" name="Shape 5267"/>
          <p:cNvSpPr/>
          <p:nvPr/>
        </p:nvSpPr>
        <p:spPr>
          <a:xfrm>
            <a:off x="471600" y="5207040"/>
            <a:ext cx="175680" cy="587160"/>
          </a:xfrm>
          <a:prstGeom prst="leftBrace">
            <a:avLst>
              <a:gd name="adj1" fmla="val 8333"/>
              <a:gd name="adj2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714" name="Shape 5268"/>
          <p:cNvSpPr/>
          <p:nvPr/>
        </p:nvSpPr>
        <p:spPr>
          <a:xfrm>
            <a:off x="639720" y="4856040"/>
            <a:ext cx="7057800" cy="16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vl[n]=ve[n]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vl[k]=min{vl[j]-len&lt;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&gt;}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（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&gt;∈s[k]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）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s[k]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为所有从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发出的有向边的集合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15" name="Shape 5269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6" name="Shape 5274"/>
          <p:cNvGrpSpPr/>
          <p:nvPr/>
        </p:nvGrpSpPr>
        <p:grpSpPr>
          <a:xfrm>
            <a:off x="2124000" y="4900680"/>
            <a:ext cx="6095520" cy="518760"/>
            <a:chOff x="2124000" y="4900680"/>
            <a:chExt cx="6095520" cy="518760"/>
          </a:xfrm>
        </p:grpSpPr>
        <p:sp>
          <p:nvSpPr>
            <p:cNvPr id="4717" name="Shape 5275"/>
            <p:cNvSpPr/>
            <p:nvPr/>
          </p:nvSpPr>
          <p:spPr>
            <a:xfrm>
              <a:off x="2801520" y="490068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718" name="Shape 5276"/>
            <p:cNvSpPr/>
            <p:nvPr/>
          </p:nvSpPr>
          <p:spPr>
            <a:xfrm>
              <a:off x="6188040" y="490068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719" name="Shape 5277"/>
            <p:cNvSpPr/>
            <p:nvPr/>
          </p:nvSpPr>
          <p:spPr>
            <a:xfrm>
              <a:off x="5510880" y="490068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720" name="Shape 5278"/>
            <p:cNvSpPr/>
            <p:nvPr/>
          </p:nvSpPr>
          <p:spPr>
            <a:xfrm>
              <a:off x="4833360" y="490068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721" name="Shape 5279"/>
            <p:cNvSpPr/>
            <p:nvPr/>
          </p:nvSpPr>
          <p:spPr>
            <a:xfrm>
              <a:off x="4156200" y="490068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722" name="Shape 5280"/>
            <p:cNvSpPr/>
            <p:nvPr/>
          </p:nvSpPr>
          <p:spPr>
            <a:xfrm>
              <a:off x="2124000" y="490068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723" name="Shape 5281"/>
            <p:cNvSpPr/>
            <p:nvPr/>
          </p:nvSpPr>
          <p:spPr>
            <a:xfrm>
              <a:off x="3478680" y="490068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724" name="Shape 5282"/>
            <p:cNvSpPr/>
            <p:nvPr/>
          </p:nvSpPr>
          <p:spPr>
            <a:xfrm>
              <a:off x="7542720" y="490068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8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725" name="Shape 5283"/>
            <p:cNvSpPr/>
            <p:nvPr/>
          </p:nvSpPr>
          <p:spPr>
            <a:xfrm>
              <a:off x="6865560" y="490068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726" name="Shape 5284"/>
          <p:cNvGrpSpPr/>
          <p:nvPr/>
        </p:nvGrpSpPr>
        <p:grpSpPr>
          <a:xfrm>
            <a:off x="2028960" y="5435640"/>
            <a:ext cx="6095160" cy="556920"/>
            <a:chOff x="2028960" y="5435640"/>
            <a:chExt cx="6095160" cy="556920"/>
          </a:xfrm>
        </p:grpSpPr>
        <p:sp>
          <p:nvSpPr>
            <p:cNvPr id="4727" name="Shape 5285"/>
            <p:cNvSpPr/>
            <p:nvPr/>
          </p:nvSpPr>
          <p:spPr>
            <a:xfrm>
              <a:off x="2706120" y="543564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28" name="Shape 5286"/>
            <p:cNvSpPr/>
            <p:nvPr/>
          </p:nvSpPr>
          <p:spPr>
            <a:xfrm>
              <a:off x="6093000" y="543564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29" name="Shape 5287"/>
            <p:cNvSpPr/>
            <p:nvPr/>
          </p:nvSpPr>
          <p:spPr>
            <a:xfrm>
              <a:off x="5415480" y="543564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30" name="Shape 5288"/>
            <p:cNvSpPr/>
            <p:nvPr/>
          </p:nvSpPr>
          <p:spPr>
            <a:xfrm>
              <a:off x="4738320" y="543564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31" name="Shape 5289"/>
            <p:cNvSpPr/>
            <p:nvPr/>
          </p:nvSpPr>
          <p:spPr>
            <a:xfrm>
              <a:off x="4060800" y="543564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32" name="Shape 5290"/>
            <p:cNvSpPr/>
            <p:nvPr/>
          </p:nvSpPr>
          <p:spPr>
            <a:xfrm>
              <a:off x="2028960" y="543564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33" name="Shape 5291"/>
            <p:cNvSpPr/>
            <p:nvPr/>
          </p:nvSpPr>
          <p:spPr>
            <a:xfrm>
              <a:off x="3383640" y="543564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34" name="Shape 5292"/>
            <p:cNvSpPr/>
            <p:nvPr/>
          </p:nvSpPr>
          <p:spPr>
            <a:xfrm>
              <a:off x="7447320" y="543564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35" name="Shape 5293"/>
            <p:cNvSpPr/>
            <p:nvPr/>
          </p:nvSpPr>
          <p:spPr>
            <a:xfrm>
              <a:off x="6770160" y="543564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736" name="Shape 5294"/>
          <p:cNvSpPr/>
          <p:nvPr/>
        </p:nvSpPr>
        <p:spPr>
          <a:xfrm>
            <a:off x="733320" y="5423040"/>
            <a:ext cx="12949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ve[k]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4737" name="Shape 5295"/>
          <p:cNvGrpSpPr/>
          <p:nvPr/>
        </p:nvGrpSpPr>
        <p:grpSpPr>
          <a:xfrm>
            <a:off x="733320" y="5981760"/>
            <a:ext cx="7390800" cy="556920"/>
            <a:chOff x="733320" y="5981760"/>
            <a:chExt cx="7390800" cy="556920"/>
          </a:xfrm>
        </p:grpSpPr>
        <p:grpSp>
          <p:nvGrpSpPr>
            <p:cNvPr id="4738" name="Shape 5296"/>
            <p:cNvGrpSpPr/>
            <p:nvPr/>
          </p:nvGrpSpPr>
          <p:grpSpPr>
            <a:xfrm>
              <a:off x="2028960" y="5981760"/>
              <a:ext cx="6095160" cy="556920"/>
              <a:chOff x="2028960" y="5981760"/>
              <a:chExt cx="6095160" cy="556920"/>
            </a:xfrm>
          </p:grpSpPr>
          <p:sp>
            <p:nvSpPr>
              <p:cNvPr id="4739" name="Shape 5297"/>
              <p:cNvSpPr/>
              <p:nvPr/>
            </p:nvSpPr>
            <p:spPr>
              <a:xfrm>
                <a:off x="2706120" y="598176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40" name="Shape 5298"/>
              <p:cNvSpPr/>
              <p:nvPr/>
            </p:nvSpPr>
            <p:spPr>
              <a:xfrm>
                <a:off x="6093000" y="598176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41" name="Shape 5299"/>
              <p:cNvSpPr/>
              <p:nvPr/>
            </p:nvSpPr>
            <p:spPr>
              <a:xfrm>
                <a:off x="5415480" y="598176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42" name="Shape 5300"/>
              <p:cNvSpPr/>
              <p:nvPr/>
            </p:nvSpPr>
            <p:spPr>
              <a:xfrm>
                <a:off x="4738320" y="598176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43" name="Shape 5301"/>
              <p:cNvSpPr/>
              <p:nvPr/>
            </p:nvSpPr>
            <p:spPr>
              <a:xfrm>
                <a:off x="4060800" y="598176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44" name="Shape 5302"/>
              <p:cNvSpPr/>
              <p:nvPr/>
            </p:nvSpPr>
            <p:spPr>
              <a:xfrm>
                <a:off x="2028960" y="598176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45" name="Shape 5303"/>
              <p:cNvSpPr/>
              <p:nvPr/>
            </p:nvSpPr>
            <p:spPr>
              <a:xfrm>
                <a:off x="3383640" y="598176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46" name="Shape 5304"/>
              <p:cNvSpPr/>
              <p:nvPr/>
            </p:nvSpPr>
            <p:spPr>
              <a:xfrm>
                <a:off x="7447320" y="598176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47" name="Shape 5305"/>
              <p:cNvSpPr/>
              <p:nvPr/>
            </p:nvSpPr>
            <p:spPr>
              <a:xfrm>
                <a:off x="6770160" y="598176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4748" name="Shape 5306"/>
            <p:cNvSpPr/>
            <p:nvPr/>
          </p:nvSpPr>
          <p:spPr>
            <a:xfrm>
              <a:off x="733320" y="5981760"/>
              <a:ext cx="12949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vl[k]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4749" name="Shape 5307"/>
          <p:cNvSpPr/>
          <p:nvPr/>
        </p:nvSpPr>
        <p:spPr>
          <a:xfrm>
            <a:off x="2104920" y="548640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50" name="Shape 5308"/>
          <p:cNvSpPr/>
          <p:nvPr/>
        </p:nvSpPr>
        <p:spPr>
          <a:xfrm>
            <a:off x="2752560" y="547380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51" name="Shape 5309"/>
          <p:cNvSpPr/>
          <p:nvPr/>
        </p:nvSpPr>
        <p:spPr>
          <a:xfrm>
            <a:off x="3438360" y="546084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52" name="Shape 5310"/>
          <p:cNvSpPr/>
          <p:nvPr/>
        </p:nvSpPr>
        <p:spPr>
          <a:xfrm>
            <a:off x="4098960" y="546084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53" name="Shape 5311"/>
          <p:cNvSpPr/>
          <p:nvPr/>
        </p:nvSpPr>
        <p:spPr>
          <a:xfrm>
            <a:off x="4772160" y="544824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54" name="Shape 5312"/>
          <p:cNvSpPr/>
          <p:nvPr/>
        </p:nvSpPr>
        <p:spPr>
          <a:xfrm>
            <a:off x="5445000" y="543564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55" name="Shape 5313"/>
          <p:cNvSpPr/>
          <p:nvPr/>
        </p:nvSpPr>
        <p:spPr>
          <a:xfrm>
            <a:off x="6080040" y="543564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56" name="Shape 5314"/>
          <p:cNvSpPr/>
          <p:nvPr/>
        </p:nvSpPr>
        <p:spPr>
          <a:xfrm>
            <a:off x="6778800" y="546084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57" name="Shape 5315"/>
          <p:cNvSpPr/>
          <p:nvPr/>
        </p:nvSpPr>
        <p:spPr>
          <a:xfrm>
            <a:off x="7439040" y="544824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58" name="Shape 5316"/>
          <p:cNvSpPr/>
          <p:nvPr/>
        </p:nvSpPr>
        <p:spPr>
          <a:xfrm>
            <a:off x="7451640" y="601992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18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59" name="Shape 5317"/>
          <p:cNvSpPr/>
          <p:nvPr/>
        </p:nvSpPr>
        <p:spPr>
          <a:xfrm>
            <a:off x="6778800" y="600696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14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60" name="Shape 5318"/>
          <p:cNvSpPr/>
          <p:nvPr/>
        </p:nvSpPr>
        <p:spPr>
          <a:xfrm>
            <a:off x="6143760" y="601992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16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61" name="Shape 5319"/>
          <p:cNvSpPr/>
          <p:nvPr/>
        </p:nvSpPr>
        <p:spPr>
          <a:xfrm>
            <a:off x="5457960" y="601992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10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62" name="Shape 5320"/>
          <p:cNvSpPr/>
          <p:nvPr/>
        </p:nvSpPr>
        <p:spPr>
          <a:xfrm>
            <a:off x="4772160" y="601992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63" name="Shape 5321"/>
          <p:cNvSpPr/>
          <p:nvPr/>
        </p:nvSpPr>
        <p:spPr>
          <a:xfrm>
            <a:off x="4086360" y="601992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64" name="Shape 5322"/>
          <p:cNvSpPr/>
          <p:nvPr/>
        </p:nvSpPr>
        <p:spPr>
          <a:xfrm>
            <a:off x="3400560" y="601992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65" name="Shape 5323"/>
          <p:cNvSpPr/>
          <p:nvPr/>
        </p:nvSpPr>
        <p:spPr>
          <a:xfrm>
            <a:off x="2727360" y="601992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66" name="Shape 5324"/>
          <p:cNvSpPr/>
          <p:nvPr/>
        </p:nvSpPr>
        <p:spPr>
          <a:xfrm>
            <a:off x="2079720" y="600552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67" name="Shape 5325"/>
          <p:cNvSpPr/>
          <p:nvPr/>
        </p:nvSpPr>
        <p:spPr>
          <a:xfrm>
            <a:off x="4481640" y="4162320"/>
            <a:ext cx="4325400" cy="60444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vl[k]=min{vl[j]-len&lt;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&gt;}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68" name="Shape 5326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4769" name="Shape 5327" descr=""/>
          <p:cNvPicPr/>
          <p:nvPr/>
        </p:nvPicPr>
        <p:blipFill>
          <a:blip r:embed="rId1"/>
          <a:stretch/>
        </p:blipFill>
        <p:spPr>
          <a:xfrm>
            <a:off x="230040" y="1265400"/>
            <a:ext cx="4781160" cy="2700000"/>
          </a:xfrm>
          <a:prstGeom prst="rect">
            <a:avLst/>
          </a:prstGeom>
          <a:ln w="28575">
            <a:solidFill>
              <a:srgbClr val="3333cc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53" dur="indefinite" restart="never" nodeType="tmRoot">
          <p:childTnLst>
            <p:seq>
              <p:cTn id="1254" dur="indefinite" nodeType="mainSeq">
                <p:childTnLst>
                  <p:par>
                    <p:cTn id="1255" fill="hold">
                      <p:stCondLst>
                        <p:cond delay="indefinite"/>
                      </p:stCondLst>
                      <p:childTnLst>
                        <p:par>
                          <p:cTn id="1256" fill="hold">
                            <p:stCondLst>
                              <p:cond delay="0"/>
                            </p:stCondLst>
                            <p:childTnLst>
                              <p:par>
                                <p:cTn id="12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59" dur="500"/>
                                        <p:tgtEl>
                                          <p:spTgt spid="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0" fill="hold">
                      <p:stCondLst>
                        <p:cond delay="indefinite"/>
                      </p:stCondLst>
                      <p:childTnLst>
                        <p:par>
                          <p:cTn id="1261" fill="hold">
                            <p:stCondLst>
                              <p:cond delay="0"/>
                            </p:stCondLst>
                            <p:childTnLst>
                              <p:par>
                                <p:cTn id="12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64" dur="500"/>
                                        <p:tgtEl>
                                          <p:spTgt spid="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5" fill="hold">
                      <p:stCondLst>
                        <p:cond delay="indefinite"/>
                      </p:stCondLst>
                      <p:childTnLst>
                        <p:par>
                          <p:cTn id="1266" fill="hold">
                            <p:stCondLst>
                              <p:cond delay="0"/>
                            </p:stCondLst>
                            <p:childTnLst>
                              <p:par>
                                <p:cTn id="126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69" dur="500"/>
                                        <p:tgtEl>
                                          <p:spTgt spid="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0" fill="hold">
                      <p:stCondLst>
                        <p:cond delay="indefinite"/>
                      </p:stCondLst>
                      <p:childTnLst>
                        <p:par>
                          <p:cTn id="1271" fill="hold">
                            <p:stCondLst>
                              <p:cond delay="0"/>
                            </p:stCondLst>
                            <p:childTnLst>
                              <p:par>
                                <p:cTn id="127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74" dur="500"/>
                                        <p:tgtEl>
                                          <p:spTgt spid="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5" fill="hold">
                      <p:stCondLst>
                        <p:cond delay="indefinite"/>
                      </p:stCondLst>
                      <p:childTnLst>
                        <p:par>
                          <p:cTn id="1276" fill="hold">
                            <p:stCondLst>
                              <p:cond delay="0"/>
                            </p:stCondLst>
                            <p:childTnLst>
                              <p:par>
                                <p:cTn id="12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79" dur="500"/>
                                        <p:tgtEl>
                                          <p:spTgt spid="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0" fill="hold">
                      <p:stCondLst>
                        <p:cond delay="indefinite"/>
                      </p:stCondLst>
                      <p:childTnLst>
                        <p:par>
                          <p:cTn id="1281" fill="hold">
                            <p:stCondLst>
                              <p:cond delay="0"/>
                            </p:stCondLst>
                            <p:childTnLst>
                              <p:par>
                                <p:cTn id="12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84" dur="500"/>
                                        <p:tgtEl>
                                          <p:spTgt spid="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5" fill="hold">
                      <p:stCondLst>
                        <p:cond delay="indefinite"/>
                      </p:stCondLst>
                      <p:childTnLst>
                        <p:par>
                          <p:cTn id="1286" fill="hold">
                            <p:stCondLst>
                              <p:cond delay="0"/>
                            </p:stCondLst>
                            <p:childTnLst>
                              <p:par>
                                <p:cTn id="128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89" dur="500"/>
                                        <p:tgtEl>
                                          <p:spTgt spid="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0" fill="hold">
                      <p:stCondLst>
                        <p:cond delay="indefinite"/>
                      </p:stCondLst>
                      <p:childTnLst>
                        <p:par>
                          <p:cTn id="1291" fill="hold">
                            <p:stCondLst>
                              <p:cond delay="0"/>
                            </p:stCondLst>
                            <p:childTnLst>
                              <p:par>
                                <p:cTn id="12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94" dur="500"/>
                                        <p:tgtEl>
                                          <p:spTgt spid="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5" fill="hold">
                      <p:stCondLst>
                        <p:cond delay="indefinite"/>
                      </p:stCondLst>
                      <p:childTnLst>
                        <p:par>
                          <p:cTn id="1296" fill="hold">
                            <p:stCondLst>
                              <p:cond delay="0"/>
                            </p:stCondLst>
                            <p:childTnLst>
                              <p:par>
                                <p:cTn id="129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99" dur="500"/>
                                        <p:tgtEl>
                                          <p:spTgt spid="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0" name="Shape 5332"/>
          <p:cNvSpPr/>
          <p:nvPr/>
        </p:nvSpPr>
        <p:spPr>
          <a:xfrm>
            <a:off x="366840" y="1407960"/>
            <a:ext cx="451620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 ⑶ 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活动的最早开始时间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e[i]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71" name="Shape 5333"/>
          <p:cNvSpPr/>
          <p:nvPr/>
        </p:nvSpPr>
        <p:spPr>
          <a:xfrm>
            <a:off x="479520" y="2022480"/>
            <a:ext cx="8334000" cy="158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若活动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是由弧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表示，则活动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的最早开始时间应等于事件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的最早发生时间。因此，有：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e[i]=ve[k]                                           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72" name="Shape 5334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773" name="Shape 5335"/>
          <p:cNvSpPr/>
          <p:nvPr/>
        </p:nvSpPr>
        <p:spPr>
          <a:xfrm>
            <a:off x="484200" y="4406760"/>
            <a:ext cx="8319600" cy="158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若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由弧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，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&gt;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表示，则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i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的最晚开始时间要保证事件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ja-JP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的最迟发生时间不拖后。因此，有：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     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l[i]=vl[j]-len&lt;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k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, </a:t>
            </a: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v</a:t>
            </a:r>
            <a:r>
              <a:rPr b="1" i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j</a:t>
            </a: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&gt;                                  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74" name="Shape 5336"/>
          <p:cNvSpPr/>
          <p:nvPr/>
        </p:nvSpPr>
        <p:spPr>
          <a:xfrm>
            <a:off x="425520" y="3768840"/>
            <a:ext cx="427968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⑷ </a:t>
            </a:r>
            <a:r>
              <a:rPr b="1" lang="ja-JP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活动的最晚开始时间</a:t>
            </a:r>
            <a:r>
              <a:rPr b="1" lang="en-US" sz="28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l[i]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5" name="Shape 5341"/>
          <p:cNvSpPr/>
          <p:nvPr/>
        </p:nvSpPr>
        <p:spPr>
          <a:xfrm>
            <a:off x="2205000" y="5783400"/>
            <a:ext cx="67608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776" name="Shape 5342"/>
          <p:cNvSpPr/>
          <p:nvPr/>
        </p:nvSpPr>
        <p:spPr>
          <a:xfrm>
            <a:off x="5591160" y="578340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777" name="Shape 5343"/>
          <p:cNvSpPr/>
          <p:nvPr/>
        </p:nvSpPr>
        <p:spPr>
          <a:xfrm>
            <a:off x="4913280" y="578340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778" name="Shape 5344"/>
          <p:cNvSpPr/>
          <p:nvPr/>
        </p:nvSpPr>
        <p:spPr>
          <a:xfrm>
            <a:off x="4237200" y="5783400"/>
            <a:ext cx="67608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779" name="Shape 5345"/>
          <p:cNvSpPr/>
          <p:nvPr/>
        </p:nvSpPr>
        <p:spPr>
          <a:xfrm>
            <a:off x="3559320" y="578340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780" name="Shape 5346"/>
          <p:cNvSpPr/>
          <p:nvPr/>
        </p:nvSpPr>
        <p:spPr>
          <a:xfrm>
            <a:off x="1527120" y="578340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781" name="Shape 5347"/>
          <p:cNvSpPr/>
          <p:nvPr/>
        </p:nvSpPr>
        <p:spPr>
          <a:xfrm>
            <a:off x="2881440" y="578340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782" name="Shape 5348"/>
          <p:cNvSpPr/>
          <p:nvPr/>
        </p:nvSpPr>
        <p:spPr>
          <a:xfrm>
            <a:off x="6945480" y="578340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783" name="Shape 5349"/>
          <p:cNvSpPr/>
          <p:nvPr/>
        </p:nvSpPr>
        <p:spPr>
          <a:xfrm>
            <a:off x="6269040" y="5783400"/>
            <a:ext cx="67608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784" name="Shape 5350"/>
          <p:cNvSpPr/>
          <p:nvPr/>
        </p:nvSpPr>
        <p:spPr>
          <a:xfrm>
            <a:off x="500040" y="5740560"/>
            <a:ext cx="8996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e[i]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85" name="Shape 5351"/>
          <p:cNvSpPr/>
          <p:nvPr/>
        </p:nvSpPr>
        <p:spPr>
          <a:xfrm>
            <a:off x="1590840" y="582120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86" name="Shape 5352"/>
          <p:cNvSpPr/>
          <p:nvPr/>
        </p:nvSpPr>
        <p:spPr>
          <a:xfrm>
            <a:off x="2251080" y="582120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87" name="Shape 5353"/>
          <p:cNvSpPr/>
          <p:nvPr/>
        </p:nvSpPr>
        <p:spPr>
          <a:xfrm>
            <a:off x="2936880" y="580860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88" name="Shape 5354"/>
          <p:cNvSpPr/>
          <p:nvPr/>
        </p:nvSpPr>
        <p:spPr>
          <a:xfrm>
            <a:off x="3597120" y="580860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89" name="Shape 5355"/>
          <p:cNvSpPr/>
          <p:nvPr/>
        </p:nvSpPr>
        <p:spPr>
          <a:xfrm>
            <a:off x="4270320" y="579600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90" name="Shape 5356"/>
          <p:cNvSpPr/>
          <p:nvPr/>
        </p:nvSpPr>
        <p:spPr>
          <a:xfrm>
            <a:off x="4943520" y="578340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91" name="Shape 5357"/>
          <p:cNvSpPr/>
          <p:nvPr/>
        </p:nvSpPr>
        <p:spPr>
          <a:xfrm>
            <a:off x="5603760" y="578340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92" name="Shape 5358"/>
          <p:cNvSpPr/>
          <p:nvPr/>
        </p:nvSpPr>
        <p:spPr>
          <a:xfrm>
            <a:off x="6335640" y="576576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793" name="Shape 5359"/>
          <p:cNvSpPr/>
          <p:nvPr/>
        </p:nvSpPr>
        <p:spPr>
          <a:xfrm>
            <a:off x="7018200" y="5765760"/>
            <a:ext cx="5331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4794" name="Shape 5360"/>
          <p:cNvGrpSpPr/>
          <p:nvPr/>
        </p:nvGrpSpPr>
        <p:grpSpPr>
          <a:xfrm>
            <a:off x="1654200" y="5251320"/>
            <a:ext cx="7332120" cy="534600"/>
            <a:chOff x="1654200" y="5251320"/>
            <a:chExt cx="7332120" cy="534600"/>
          </a:xfrm>
        </p:grpSpPr>
        <p:sp>
          <p:nvSpPr>
            <p:cNvPr id="4795" name="Shape 5361"/>
            <p:cNvSpPr/>
            <p:nvPr/>
          </p:nvSpPr>
          <p:spPr>
            <a:xfrm>
              <a:off x="2332080" y="5267160"/>
              <a:ext cx="67608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796" name="Shape 5362"/>
            <p:cNvSpPr/>
            <p:nvPr/>
          </p:nvSpPr>
          <p:spPr>
            <a:xfrm>
              <a:off x="5718240" y="5267160"/>
              <a:ext cx="6775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797" name="Shape 5363"/>
            <p:cNvSpPr/>
            <p:nvPr/>
          </p:nvSpPr>
          <p:spPr>
            <a:xfrm>
              <a:off x="5040360" y="5267160"/>
              <a:ext cx="6775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798" name="Shape 5364"/>
            <p:cNvSpPr/>
            <p:nvPr/>
          </p:nvSpPr>
          <p:spPr>
            <a:xfrm>
              <a:off x="4363920" y="5267160"/>
              <a:ext cx="67608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799" name="Shape 5365"/>
            <p:cNvSpPr/>
            <p:nvPr/>
          </p:nvSpPr>
          <p:spPr>
            <a:xfrm>
              <a:off x="3686040" y="5267160"/>
              <a:ext cx="6775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00" name="Shape 5366"/>
            <p:cNvSpPr/>
            <p:nvPr/>
          </p:nvSpPr>
          <p:spPr>
            <a:xfrm>
              <a:off x="1654200" y="5267160"/>
              <a:ext cx="6775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01" name="Shape 5367"/>
            <p:cNvSpPr/>
            <p:nvPr/>
          </p:nvSpPr>
          <p:spPr>
            <a:xfrm>
              <a:off x="3008160" y="5267160"/>
              <a:ext cx="6775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02" name="Shape 5368"/>
            <p:cNvSpPr/>
            <p:nvPr/>
          </p:nvSpPr>
          <p:spPr>
            <a:xfrm>
              <a:off x="7072200" y="5267160"/>
              <a:ext cx="6775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8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03" name="Shape 5369"/>
            <p:cNvSpPr/>
            <p:nvPr/>
          </p:nvSpPr>
          <p:spPr>
            <a:xfrm>
              <a:off x="6396120" y="5267160"/>
              <a:ext cx="67608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04" name="Shape 5370"/>
            <p:cNvSpPr/>
            <p:nvPr/>
          </p:nvSpPr>
          <p:spPr>
            <a:xfrm>
              <a:off x="7645320" y="5251320"/>
              <a:ext cx="6775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9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05" name="Shape 5371"/>
            <p:cNvSpPr/>
            <p:nvPr/>
          </p:nvSpPr>
          <p:spPr>
            <a:xfrm>
              <a:off x="8308800" y="5267160"/>
              <a:ext cx="6775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a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10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4806" name="Shape 5372"/>
          <p:cNvSpPr/>
          <p:nvPr/>
        </p:nvSpPr>
        <p:spPr>
          <a:xfrm>
            <a:off x="7684920" y="5762520"/>
            <a:ext cx="6775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16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807" name="Shape 5373"/>
          <p:cNvSpPr/>
          <p:nvPr/>
        </p:nvSpPr>
        <p:spPr>
          <a:xfrm>
            <a:off x="8342280" y="5765760"/>
            <a:ext cx="6775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14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808" name="Shape 5374"/>
          <p:cNvSpPr/>
          <p:nvPr/>
        </p:nvSpPr>
        <p:spPr>
          <a:xfrm>
            <a:off x="7616880" y="578340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809" name="Shape 5375"/>
          <p:cNvSpPr/>
          <p:nvPr/>
        </p:nvSpPr>
        <p:spPr>
          <a:xfrm>
            <a:off x="8307360" y="578340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810" name="Shape 5376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4811" name="Shape 5377" descr=""/>
          <p:cNvPicPr/>
          <p:nvPr/>
        </p:nvPicPr>
        <p:blipFill>
          <a:blip r:embed="rId1"/>
          <a:stretch/>
        </p:blipFill>
        <p:spPr>
          <a:xfrm>
            <a:off x="230040" y="1265400"/>
            <a:ext cx="4142880" cy="2339640"/>
          </a:xfrm>
          <a:prstGeom prst="rect">
            <a:avLst/>
          </a:prstGeom>
          <a:ln w="28575">
            <a:solidFill>
              <a:srgbClr val="3333cc"/>
            </a:solidFill>
            <a:miter/>
          </a:ln>
        </p:spPr>
      </p:pic>
      <p:grpSp>
        <p:nvGrpSpPr>
          <p:cNvPr id="4812" name="Shape 5378"/>
          <p:cNvGrpSpPr/>
          <p:nvPr/>
        </p:nvGrpSpPr>
        <p:grpSpPr>
          <a:xfrm>
            <a:off x="5524560" y="2000160"/>
            <a:ext cx="3212640" cy="1041120"/>
            <a:chOff x="5524560" y="2000160"/>
            <a:chExt cx="3212640" cy="1041120"/>
          </a:xfrm>
        </p:grpSpPr>
        <p:sp>
          <p:nvSpPr>
            <p:cNvPr id="4813" name="Shape 5379"/>
            <p:cNvSpPr/>
            <p:nvPr/>
          </p:nvSpPr>
          <p:spPr>
            <a:xfrm>
              <a:off x="5526000" y="2000160"/>
              <a:ext cx="2025360" cy="51876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e[i]=ve[k]                                            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14" name="Shape 5380"/>
            <p:cNvSpPr/>
            <p:nvPr/>
          </p:nvSpPr>
          <p:spPr>
            <a:xfrm>
              <a:off x="5524560" y="2522520"/>
              <a:ext cx="3212640" cy="518760"/>
            </a:xfrm>
            <a:prstGeom prst="rect">
              <a:avLst/>
            </a:prstGeom>
            <a:solidFill>
              <a:schemeClr val="hlink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l[i]=vl[j]-len&lt;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k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, </a:t>
              </a: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i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j</a:t>
              </a: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&gt;                                   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815" name="Shape 5381"/>
          <p:cNvGrpSpPr/>
          <p:nvPr/>
        </p:nvGrpSpPr>
        <p:grpSpPr>
          <a:xfrm>
            <a:off x="1643040" y="3660840"/>
            <a:ext cx="6095520" cy="518760"/>
            <a:chOff x="1643040" y="3660840"/>
            <a:chExt cx="6095520" cy="518760"/>
          </a:xfrm>
        </p:grpSpPr>
        <p:sp>
          <p:nvSpPr>
            <p:cNvPr id="4816" name="Shape 5382"/>
            <p:cNvSpPr/>
            <p:nvPr/>
          </p:nvSpPr>
          <p:spPr>
            <a:xfrm>
              <a:off x="2320560" y="366084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17" name="Shape 5383"/>
            <p:cNvSpPr/>
            <p:nvPr/>
          </p:nvSpPr>
          <p:spPr>
            <a:xfrm>
              <a:off x="5707080" y="366084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18" name="Shape 5384"/>
            <p:cNvSpPr/>
            <p:nvPr/>
          </p:nvSpPr>
          <p:spPr>
            <a:xfrm>
              <a:off x="5029560" y="366084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19" name="Shape 5385"/>
            <p:cNvSpPr/>
            <p:nvPr/>
          </p:nvSpPr>
          <p:spPr>
            <a:xfrm>
              <a:off x="4352400" y="366084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20" name="Shape 5386"/>
            <p:cNvSpPr/>
            <p:nvPr/>
          </p:nvSpPr>
          <p:spPr>
            <a:xfrm>
              <a:off x="3675240" y="366084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3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21" name="Shape 5387"/>
            <p:cNvSpPr/>
            <p:nvPr/>
          </p:nvSpPr>
          <p:spPr>
            <a:xfrm>
              <a:off x="1643040" y="366084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22" name="Shape 5388"/>
            <p:cNvSpPr/>
            <p:nvPr/>
          </p:nvSpPr>
          <p:spPr>
            <a:xfrm>
              <a:off x="2997720" y="366084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23" name="Shape 5389"/>
            <p:cNvSpPr/>
            <p:nvPr/>
          </p:nvSpPr>
          <p:spPr>
            <a:xfrm>
              <a:off x="7061760" y="366084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8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24" name="Shape 5390"/>
            <p:cNvSpPr/>
            <p:nvPr/>
          </p:nvSpPr>
          <p:spPr>
            <a:xfrm>
              <a:off x="6384240" y="3660840"/>
              <a:ext cx="67680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i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</a:t>
              </a:r>
              <a:r>
                <a:rPr b="1" lang="en-US" sz="2800" spc="-1" strike="noStrike" baseline="-25000">
                  <a:solidFill>
                    <a:srgbClr val="000000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</p:grpSp>
      <p:grpSp>
        <p:nvGrpSpPr>
          <p:cNvPr id="4825" name="Shape 5391"/>
          <p:cNvGrpSpPr/>
          <p:nvPr/>
        </p:nvGrpSpPr>
        <p:grpSpPr>
          <a:xfrm>
            <a:off x="378000" y="4168800"/>
            <a:ext cx="7268400" cy="1096560"/>
            <a:chOff x="378000" y="4168800"/>
            <a:chExt cx="7268400" cy="1096560"/>
          </a:xfrm>
        </p:grpSpPr>
        <p:grpSp>
          <p:nvGrpSpPr>
            <p:cNvPr id="4826" name="Shape 5392"/>
            <p:cNvGrpSpPr/>
            <p:nvPr/>
          </p:nvGrpSpPr>
          <p:grpSpPr>
            <a:xfrm>
              <a:off x="1547640" y="4181400"/>
              <a:ext cx="6095520" cy="556920"/>
              <a:chOff x="1547640" y="4181400"/>
              <a:chExt cx="6095520" cy="556920"/>
            </a:xfrm>
          </p:grpSpPr>
          <p:sp>
            <p:nvSpPr>
              <p:cNvPr id="4827" name="Shape 5393"/>
              <p:cNvSpPr/>
              <p:nvPr/>
            </p:nvSpPr>
            <p:spPr>
              <a:xfrm>
                <a:off x="2225160" y="418140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28" name="Shape 5394"/>
              <p:cNvSpPr/>
              <p:nvPr/>
            </p:nvSpPr>
            <p:spPr>
              <a:xfrm>
                <a:off x="5611680" y="418140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29" name="Shape 5395"/>
              <p:cNvSpPr/>
              <p:nvPr/>
            </p:nvSpPr>
            <p:spPr>
              <a:xfrm>
                <a:off x="4934520" y="418140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30" name="Shape 5396"/>
              <p:cNvSpPr/>
              <p:nvPr/>
            </p:nvSpPr>
            <p:spPr>
              <a:xfrm>
                <a:off x="4257000" y="418140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31" name="Shape 5397"/>
              <p:cNvSpPr/>
              <p:nvPr/>
            </p:nvSpPr>
            <p:spPr>
              <a:xfrm>
                <a:off x="3579840" y="418140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32" name="Shape 5398"/>
              <p:cNvSpPr/>
              <p:nvPr/>
            </p:nvSpPr>
            <p:spPr>
              <a:xfrm>
                <a:off x="1547640" y="418140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33" name="Shape 5399"/>
              <p:cNvSpPr/>
              <p:nvPr/>
            </p:nvSpPr>
            <p:spPr>
              <a:xfrm>
                <a:off x="2902320" y="418140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34" name="Shape 5400"/>
              <p:cNvSpPr/>
              <p:nvPr/>
            </p:nvSpPr>
            <p:spPr>
              <a:xfrm>
                <a:off x="6966360" y="418140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35" name="Shape 5401"/>
              <p:cNvSpPr/>
              <p:nvPr/>
            </p:nvSpPr>
            <p:spPr>
              <a:xfrm>
                <a:off x="6289200" y="418140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4836" name="Shape 5402"/>
            <p:cNvSpPr/>
            <p:nvPr/>
          </p:nvSpPr>
          <p:spPr>
            <a:xfrm>
              <a:off x="452520" y="4168800"/>
              <a:ext cx="12949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ve[k]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37" name="Shape 5403"/>
            <p:cNvSpPr/>
            <p:nvPr/>
          </p:nvSpPr>
          <p:spPr>
            <a:xfrm>
              <a:off x="1623960" y="4232160"/>
              <a:ext cx="60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38" name="Shape 5404"/>
            <p:cNvSpPr/>
            <p:nvPr/>
          </p:nvSpPr>
          <p:spPr>
            <a:xfrm>
              <a:off x="2271600" y="4219560"/>
              <a:ext cx="60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39" name="Shape 5405"/>
            <p:cNvSpPr/>
            <p:nvPr/>
          </p:nvSpPr>
          <p:spPr>
            <a:xfrm>
              <a:off x="2957400" y="4206960"/>
              <a:ext cx="60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4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40" name="Shape 5406"/>
            <p:cNvSpPr/>
            <p:nvPr/>
          </p:nvSpPr>
          <p:spPr>
            <a:xfrm>
              <a:off x="3618000" y="4206960"/>
              <a:ext cx="60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5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41" name="Shape 5407"/>
            <p:cNvSpPr/>
            <p:nvPr/>
          </p:nvSpPr>
          <p:spPr>
            <a:xfrm>
              <a:off x="4290840" y="4194000"/>
              <a:ext cx="60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42" name="Shape 5408"/>
            <p:cNvSpPr/>
            <p:nvPr/>
          </p:nvSpPr>
          <p:spPr>
            <a:xfrm>
              <a:off x="4964040" y="4181400"/>
              <a:ext cx="60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43" name="Shape 5409"/>
            <p:cNvSpPr/>
            <p:nvPr/>
          </p:nvSpPr>
          <p:spPr>
            <a:xfrm>
              <a:off x="5599080" y="4181400"/>
              <a:ext cx="60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16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44" name="Shape 5410"/>
            <p:cNvSpPr/>
            <p:nvPr/>
          </p:nvSpPr>
          <p:spPr>
            <a:xfrm>
              <a:off x="6297480" y="4206960"/>
              <a:ext cx="60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14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45" name="Shape 5411"/>
            <p:cNvSpPr/>
            <p:nvPr/>
          </p:nvSpPr>
          <p:spPr>
            <a:xfrm>
              <a:off x="6958080" y="4194000"/>
              <a:ext cx="60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18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46" name="Shape 5412"/>
            <p:cNvSpPr/>
            <p:nvPr/>
          </p:nvSpPr>
          <p:spPr>
            <a:xfrm>
              <a:off x="378000" y="4511520"/>
              <a:ext cx="1294920" cy="57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4847" name="Shape 5413"/>
            <p:cNvGrpSpPr/>
            <p:nvPr/>
          </p:nvGrpSpPr>
          <p:grpSpPr>
            <a:xfrm>
              <a:off x="1550880" y="4708440"/>
              <a:ext cx="6095520" cy="556920"/>
              <a:chOff x="1550880" y="4708440"/>
              <a:chExt cx="6095520" cy="556920"/>
            </a:xfrm>
          </p:grpSpPr>
          <p:sp>
            <p:nvSpPr>
              <p:cNvPr id="4848" name="Shape 5414"/>
              <p:cNvSpPr/>
              <p:nvPr/>
            </p:nvSpPr>
            <p:spPr>
              <a:xfrm>
                <a:off x="2228400" y="470844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49" name="Shape 5415"/>
              <p:cNvSpPr/>
              <p:nvPr/>
            </p:nvSpPr>
            <p:spPr>
              <a:xfrm>
                <a:off x="5614920" y="470844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50" name="Shape 5416"/>
              <p:cNvSpPr/>
              <p:nvPr/>
            </p:nvSpPr>
            <p:spPr>
              <a:xfrm>
                <a:off x="4937760" y="470844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51" name="Shape 5417"/>
              <p:cNvSpPr/>
              <p:nvPr/>
            </p:nvSpPr>
            <p:spPr>
              <a:xfrm>
                <a:off x="4260240" y="470844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52" name="Shape 5418"/>
              <p:cNvSpPr/>
              <p:nvPr/>
            </p:nvSpPr>
            <p:spPr>
              <a:xfrm>
                <a:off x="3583080" y="470844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53" name="Shape 5419"/>
              <p:cNvSpPr/>
              <p:nvPr/>
            </p:nvSpPr>
            <p:spPr>
              <a:xfrm>
                <a:off x="1550880" y="470844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54" name="Shape 5420"/>
              <p:cNvSpPr/>
              <p:nvPr/>
            </p:nvSpPr>
            <p:spPr>
              <a:xfrm>
                <a:off x="2905560" y="470844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55" name="Shape 5421"/>
              <p:cNvSpPr/>
              <p:nvPr/>
            </p:nvSpPr>
            <p:spPr>
              <a:xfrm>
                <a:off x="6969600" y="470844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56" name="Shape 5422"/>
              <p:cNvSpPr/>
              <p:nvPr/>
            </p:nvSpPr>
            <p:spPr>
              <a:xfrm>
                <a:off x="6292440" y="4708440"/>
                <a:ext cx="676800" cy="55692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4857" name="Shape 5423"/>
            <p:cNvSpPr/>
            <p:nvPr/>
          </p:nvSpPr>
          <p:spPr>
            <a:xfrm>
              <a:off x="509760" y="4722840"/>
              <a:ext cx="12949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vl[k]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58" name="Shape 5424"/>
            <p:cNvSpPr/>
            <p:nvPr/>
          </p:nvSpPr>
          <p:spPr>
            <a:xfrm>
              <a:off x="6973920" y="4746600"/>
              <a:ext cx="60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18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59" name="Shape 5425"/>
            <p:cNvSpPr/>
            <p:nvPr/>
          </p:nvSpPr>
          <p:spPr>
            <a:xfrm>
              <a:off x="6300720" y="4734000"/>
              <a:ext cx="60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14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60" name="Shape 5426"/>
            <p:cNvSpPr/>
            <p:nvPr/>
          </p:nvSpPr>
          <p:spPr>
            <a:xfrm>
              <a:off x="5665680" y="4746600"/>
              <a:ext cx="60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16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61" name="Shape 5427"/>
            <p:cNvSpPr/>
            <p:nvPr/>
          </p:nvSpPr>
          <p:spPr>
            <a:xfrm>
              <a:off x="4979880" y="4746600"/>
              <a:ext cx="60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10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62" name="Shape 5428"/>
            <p:cNvSpPr/>
            <p:nvPr/>
          </p:nvSpPr>
          <p:spPr>
            <a:xfrm>
              <a:off x="4294080" y="4746600"/>
              <a:ext cx="60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7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63" name="Shape 5429"/>
            <p:cNvSpPr/>
            <p:nvPr/>
          </p:nvSpPr>
          <p:spPr>
            <a:xfrm>
              <a:off x="3608280" y="4746600"/>
              <a:ext cx="60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8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64" name="Shape 5430"/>
            <p:cNvSpPr/>
            <p:nvPr/>
          </p:nvSpPr>
          <p:spPr>
            <a:xfrm>
              <a:off x="2922480" y="4746600"/>
              <a:ext cx="60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65" name="Shape 5431"/>
            <p:cNvSpPr/>
            <p:nvPr/>
          </p:nvSpPr>
          <p:spPr>
            <a:xfrm>
              <a:off x="2249640" y="4746600"/>
              <a:ext cx="60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6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4866" name="Shape 5432"/>
            <p:cNvSpPr/>
            <p:nvPr/>
          </p:nvSpPr>
          <p:spPr>
            <a:xfrm>
              <a:off x="1601640" y="4721400"/>
              <a:ext cx="609120" cy="518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0</a:t>
              </a:r>
              <a:endParaRPr b="0" lang="en-US" sz="2800" spc="-1" strike="noStrike">
                <a:latin typeface="Arial"/>
              </a:endParaRPr>
            </a:p>
          </p:txBody>
        </p:sp>
      </p:grpSp>
      <p:sp>
        <p:nvSpPr>
          <p:cNvPr id="4867" name="Shape 5433"/>
          <p:cNvSpPr/>
          <p:nvPr/>
        </p:nvSpPr>
        <p:spPr>
          <a:xfrm>
            <a:off x="2198520" y="6335640"/>
            <a:ext cx="67608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868" name="Shape 5434"/>
          <p:cNvSpPr/>
          <p:nvPr/>
        </p:nvSpPr>
        <p:spPr>
          <a:xfrm>
            <a:off x="5584680" y="633564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869" name="Shape 5435"/>
          <p:cNvSpPr/>
          <p:nvPr/>
        </p:nvSpPr>
        <p:spPr>
          <a:xfrm>
            <a:off x="4906800" y="633564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870" name="Shape 5436"/>
          <p:cNvSpPr/>
          <p:nvPr/>
        </p:nvSpPr>
        <p:spPr>
          <a:xfrm>
            <a:off x="4230720" y="6335640"/>
            <a:ext cx="67608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871" name="Shape 5437"/>
          <p:cNvSpPr/>
          <p:nvPr/>
        </p:nvSpPr>
        <p:spPr>
          <a:xfrm>
            <a:off x="3552840" y="633564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872" name="Shape 5438"/>
          <p:cNvSpPr/>
          <p:nvPr/>
        </p:nvSpPr>
        <p:spPr>
          <a:xfrm>
            <a:off x="1521000" y="633564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873" name="Shape 5439"/>
          <p:cNvSpPr/>
          <p:nvPr/>
        </p:nvSpPr>
        <p:spPr>
          <a:xfrm>
            <a:off x="2874960" y="633564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874" name="Shape 5440"/>
          <p:cNvSpPr/>
          <p:nvPr/>
        </p:nvSpPr>
        <p:spPr>
          <a:xfrm>
            <a:off x="6939000" y="633564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875" name="Shape 5441"/>
          <p:cNvSpPr/>
          <p:nvPr/>
        </p:nvSpPr>
        <p:spPr>
          <a:xfrm>
            <a:off x="6262560" y="6335640"/>
            <a:ext cx="67608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876" name="Shape 5442"/>
          <p:cNvSpPr/>
          <p:nvPr/>
        </p:nvSpPr>
        <p:spPr>
          <a:xfrm>
            <a:off x="544680" y="6319800"/>
            <a:ext cx="6411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l[i]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877" name="Shape 5443"/>
          <p:cNvSpPr/>
          <p:nvPr/>
        </p:nvSpPr>
        <p:spPr>
          <a:xfrm>
            <a:off x="6975360" y="636120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10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878" name="Shape 5444"/>
          <p:cNvSpPr/>
          <p:nvPr/>
        </p:nvSpPr>
        <p:spPr>
          <a:xfrm>
            <a:off x="6270480" y="636120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879" name="Shape 5445"/>
          <p:cNvSpPr/>
          <p:nvPr/>
        </p:nvSpPr>
        <p:spPr>
          <a:xfrm>
            <a:off x="5635800" y="637380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880" name="Shape 5446"/>
          <p:cNvSpPr/>
          <p:nvPr/>
        </p:nvSpPr>
        <p:spPr>
          <a:xfrm>
            <a:off x="4929120" y="636120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881" name="Shape 5447"/>
          <p:cNvSpPr/>
          <p:nvPr/>
        </p:nvSpPr>
        <p:spPr>
          <a:xfrm>
            <a:off x="4264200" y="637380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882" name="Shape 5448"/>
          <p:cNvSpPr/>
          <p:nvPr/>
        </p:nvSpPr>
        <p:spPr>
          <a:xfrm>
            <a:off x="3578400" y="637380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883" name="Shape 5449"/>
          <p:cNvSpPr/>
          <p:nvPr/>
        </p:nvSpPr>
        <p:spPr>
          <a:xfrm>
            <a:off x="2892600" y="637380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884" name="Shape 5450"/>
          <p:cNvSpPr/>
          <p:nvPr/>
        </p:nvSpPr>
        <p:spPr>
          <a:xfrm>
            <a:off x="2219400" y="637380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885" name="Shape 5451"/>
          <p:cNvSpPr/>
          <p:nvPr/>
        </p:nvSpPr>
        <p:spPr>
          <a:xfrm>
            <a:off x="1558800" y="637380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886" name="Shape 5452"/>
          <p:cNvSpPr/>
          <p:nvPr/>
        </p:nvSpPr>
        <p:spPr>
          <a:xfrm>
            <a:off x="7662960" y="6356520"/>
            <a:ext cx="6775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16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887" name="Shape 5453"/>
          <p:cNvSpPr/>
          <p:nvPr/>
        </p:nvSpPr>
        <p:spPr>
          <a:xfrm>
            <a:off x="8361360" y="6340320"/>
            <a:ext cx="6775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14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888" name="Shape 5454"/>
          <p:cNvSpPr/>
          <p:nvPr/>
        </p:nvSpPr>
        <p:spPr>
          <a:xfrm>
            <a:off x="7626240" y="633564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889" name="Shape 5455"/>
          <p:cNvSpPr/>
          <p:nvPr/>
        </p:nvSpPr>
        <p:spPr>
          <a:xfrm>
            <a:off x="8310600" y="633564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00" dur="indefinite" restart="never" nodeType="tmRoot">
          <p:childTnLst>
            <p:seq>
              <p:cTn id="1301" dur="indefinite" nodeType="mainSeq">
                <p:childTnLst>
                  <p:par>
                    <p:cTn id="1302" fill="hold">
                      <p:stCondLst>
                        <p:cond delay="indefinite"/>
                      </p:stCondLst>
                      <p:childTnLst>
                        <p:par>
                          <p:cTn id="1303" fill="hold">
                            <p:stCondLst>
                              <p:cond delay="0"/>
                            </p:stCondLst>
                            <p:childTnLst>
                              <p:par>
                                <p:cTn id="13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06" dur="500"/>
                                        <p:tgtEl>
                                          <p:spTgt spid="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7" fill="hold">
                      <p:stCondLst>
                        <p:cond delay="indefinite"/>
                      </p:stCondLst>
                      <p:childTnLst>
                        <p:par>
                          <p:cTn id="1308" fill="hold">
                            <p:stCondLst>
                              <p:cond delay="0"/>
                            </p:stCondLst>
                            <p:childTnLst>
                              <p:par>
                                <p:cTn id="130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11" dur="500"/>
                                        <p:tgtEl>
                                          <p:spTgt spid="4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2" fill="hold">
                      <p:stCondLst>
                        <p:cond delay="indefinite"/>
                      </p:stCondLst>
                      <p:childTnLst>
                        <p:par>
                          <p:cTn id="1313" fill="hold">
                            <p:stCondLst>
                              <p:cond delay="0"/>
                            </p:stCondLst>
                            <p:childTnLst>
                              <p:par>
                                <p:cTn id="131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16" dur="500"/>
                                        <p:tgtEl>
                                          <p:spTgt spid="4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7" fill="hold">
                      <p:stCondLst>
                        <p:cond delay="indefinite"/>
                      </p:stCondLst>
                      <p:childTnLst>
                        <p:par>
                          <p:cTn id="1318" fill="hold">
                            <p:stCondLst>
                              <p:cond delay="0"/>
                            </p:stCondLst>
                            <p:childTnLst>
                              <p:par>
                                <p:cTn id="13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21" dur="500"/>
                                        <p:tgtEl>
                                          <p:spTgt spid="4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2" fill="hold">
                      <p:stCondLst>
                        <p:cond delay="indefinite"/>
                      </p:stCondLst>
                      <p:childTnLst>
                        <p:par>
                          <p:cTn id="1323" fill="hold">
                            <p:stCondLst>
                              <p:cond delay="0"/>
                            </p:stCondLst>
                            <p:childTnLst>
                              <p:par>
                                <p:cTn id="13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26" dur="500"/>
                                        <p:tgtEl>
                                          <p:spTgt spid="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7" fill="hold">
                      <p:stCondLst>
                        <p:cond delay="indefinite"/>
                      </p:stCondLst>
                      <p:childTnLst>
                        <p:par>
                          <p:cTn id="1328" fill="hold">
                            <p:stCondLst>
                              <p:cond delay="0"/>
                            </p:stCondLst>
                            <p:childTnLst>
                              <p:par>
                                <p:cTn id="13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31" dur="500"/>
                                        <p:tgtEl>
                                          <p:spTgt spid="4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2" fill="hold">
                      <p:stCondLst>
                        <p:cond delay="indefinite"/>
                      </p:stCondLst>
                      <p:childTnLst>
                        <p:par>
                          <p:cTn id="1333" fill="hold">
                            <p:stCondLst>
                              <p:cond delay="0"/>
                            </p:stCondLst>
                            <p:childTnLst>
                              <p:par>
                                <p:cTn id="13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36" dur="500"/>
                                        <p:tgtEl>
                                          <p:spTgt spid="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7" fill="hold">
                      <p:stCondLst>
                        <p:cond delay="indefinite"/>
                      </p:stCondLst>
                      <p:childTnLst>
                        <p:par>
                          <p:cTn id="1338" fill="hold">
                            <p:stCondLst>
                              <p:cond delay="0"/>
                            </p:stCondLst>
                            <p:childTnLst>
                              <p:par>
                                <p:cTn id="13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41" dur="500"/>
                                        <p:tgtEl>
                                          <p:spTgt spid="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2" fill="hold">
                      <p:stCondLst>
                        <p:cond delay="indefinite"/>
                      </p:stCondLst>
                      <p:childTnLst>
                        <p:par>
                          <p:cTn id="1343" fill="hold">
                            <p:stCondLst>
                              <p:cond delay="0"/>
                            </p:stCondLst>
                            <p:childTnLst>
                              <p:par>
                                <p:cTn id="134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46" dur="500"/>
                                        <p:tgtEl>
                                          <p:spTgt spid="4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7" fill="hold">
                      <p:stCondLst>
                        <p:cond delay="indefinite"/>
                      </p:stCondLst>
                      <p:childTnLst>
                        <p:par>
                          <p:cTn id="1348" fill="hold">
                            <p:stCondLst>
                              <p:cond delay="0"/>
                            </p:stCondLst>
                            <p:childTnLst>
                              <p:par>
                                <p:cTn id="134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51" dur="500"/>
                                        <p:tgtEl>
                                          <p:spTgt spid="4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2" fill="hold">
                      <p:stCondLst>
                        <p:cond delay="indefinite"/>
                      </p:stCondLst>
                      <p:childTnLst>
                        <p:par>
                          <p:cTn id="1353" fill="hold">
                            <p:stCondLst>
                              <p:cond delay="0"/>
                            </p:stCondLst>
                            <p:childTnLst>
                              <p:par>
                                <p:cTn id="135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56" dur="500"/>
                                        <p:tgtEl>
                                          <p:spTgt spid="4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7" fill="hold">
                      <p:stCondLst>
                        <p:cond delay="indefinite"/>
                      </p:stCondLst>
                      <p:childTnLst>
                        <p:par>
                          <p:cTn id="1358" fill="hold">
                            <p:stCondLst>
                              <p:cond delay="0"/>
                            </p:stCondLst>
                            <p:childTnLst>
                              <p:par>
                                <p:cTn id="13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61" dur="500"/>
                                        <p:tgtEl>
                                          <p:spTgt spid="4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2" fill="hold">
                      <p:stCondLst>
                        <p:cond delay="indefinite"/>
                      </p:stCondLst>
                      <p:childTnLst>
                        <p:par>
                          <p:cTn id="1363" fill="hold">
                            <p:stCondLst>
                              <p:cond delay="0"/>
                            </p:stCondLst>
                            <p:childTnLst>
                              <p:par>
                                <p:cTn id="136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66" dur="500"/>
                                        <p:tgtEl>
                                          <p:spTgt spid="4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7" fill="hold">
                      <p:stCondLst>
                        <p:cond delay="indefinite"/>
                      </p:stCondLst>
                      <p:childTnLst>
                        <p:par>
                          <p:cTn id="1368" fill="hold">
                            <p:stCondLst>
                              <p:cond delay="0"/>
                            </p:stCondLst>
                            <p:childTnLst>
                              <p:par>
                                <p:cTn id="13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71" dur="500"/>
                                        <p:tgtEl>
                                          <p:spTgt spid="4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2" fill="hold">
                      <p:stCondLst>
                        <p:cond delay="indefinite"/>
                      </p:stCondLst>
                      <p:childTnLst>
                        <p:par>
                          <p:cTn id="1373" fill="hold">
                            <p:stCondLst>
                              <p:cond delay="0"/>
                            </p:stCondLst>
                            <p:childTnLst>
                              <p:par>
                                <p:cTn id="13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76" dur="500"/>
                                        <p:tgtEl>
                                          <p:spTgt spid="4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7" fill="hold">
                      <p:stCondLst>
                        <p:cond delay="indefinite"/>
                      </p:stCondLst>
                      <p:childTnLst>
                        <p:par>
                          <p:cTn id="1378" fill="hold">
                            <p:stCondLst>
                              <p:cond delay="0"/>
                            </p:stCondLst>
                            <p:childTnLst>
                              <p:par>
                                <p:cTn id="13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81" dur="500"/>
                                        <p:tgtEl>
                                          <p:spTgt spid="4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2" fill="hold">
                      <p:stCondLst>
                        <p:cond delay="indefinite"/>
                      </p:stCondLst>
                      <p:childTnLst>
                        <p:par>
                          <p:cTn id="1383" fill="hold">
                            <p:stCondLst>
                              <p:cond delay="0"/>
                            </p:stCondLst>
                            <p:childTnLst>
                              <p:par>
                                <p:cTn id="13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86" dur="500"/>
                                        <p:tgtEl>
                                          <p:spTgt spid="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7" fill="hold">
                      <p:stCondLst>
                        <p:cond delay="indefinite"/>
                      </p:stCondLst>
                      <p:childTnLst>
                        <p:par>
                          <p:cTn id="1388" fill="hold">
                            <p:stCondLst>
                              <p:cond delay="0"/>
                            </p:stCondLst>
                            <p:childTnLst>
                              <p:par>
                                <p:cTn id="138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91" dur="500"/>
                                        <p:tgtEl>
                                          <p:spTgt spid="4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2" fill="hold">
                      <p:stCondLst>
                        <p:cond delay="indefinite"/>
                      </p:stCondLst>
                      <p:childTnLst>
                        <p:par>
                          <p:cTn id="1393" fill="hold">
                            <p:stCondLst>
                              <p:cond delay="0"/>
                            </p:stCondLst>
                            <p:childTnLst>
                              <p:par>
                                <p:cTn id="139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96" dur="500"/>
                                        <p:tgtEl>
                                          <p:spTgt spid="4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7" fill="hold">
                      <p:stCondLst>
                        <p:cond delay="indefinite"/>
                      </p:stCondLst>
                      <p:childTnLst>
                        <p:par>
                          <p:cTn id="1398" fill="hold">
                            <p:stCondLst>
                              <p:cond delay="0"/>
                            </p:stCondLst>
                            <p:childTnLst>
                              <p:par>
                                <p:cTn id="139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01" dur="500"/>
                                        <p:tgtEl>
                                          <p:spTgt spid="4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2" fill="hold">
                      <p:stCondLst>
                        <p:cond delay="indefinite"/>
                      </p:stCondLst>
                      <p:childTnLst>
                        <p:par>
                          <p:cTn id="1403" fill="hold">
                            <p:stCondLst>
                              <p:cond delay="0"/>
                            </p:stCondLst>
                            <p:childTnLst>
                              <p:par>
                                <p:cTn id="14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06" dur="500"/>
                                        <p:tgtEl>
                                          <p:spTgt spid="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7" fill="hold">
                      <p:stCondLst>
                        <p:cond delay="indefinite"/>
                      </p:stCondLst>
                      <p:childTnLst>
                        <p:par>
                          <p:cTn id="1408" fill="hold">
                            <p:stCondLst>
                              <p:cond delay="0"/>
                            </p:stCondLst>
                            <p:childTnLst>
                              <p:par>
                                <p:cTn id="140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11" dur="500"/>
                                        <p:tgtEl>
                                          <p:spTgt spid="4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0" name="Shape 5460"/>
          <p:cNvSpPr/>
          <p:nvPr/>
        </p:nvSpPr>
        <p:spPr>
          <a:xfrm>
            <a:off x="7653240" y="4722840"/>
            <a:ext cx="685440" cy="1676160"/>
          </a:xfrm>
          <a:prstGeom prst="rect">
            <a:avLst/>
          </a:prstGeom>
          <a:solidFill>
            <a:srgbClr val="ff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91" name="Shape 5461"/>
          <p:cNvSpPr/>
          <p:nvPr/>
        </p:nvSpPr>
        <p:spPr>
          <a:xfrm>
            <a:off x="5575320" y="4749840"/>
            <a:ext cx="685440" cy="1676160"/>
          </a:xfrm>
          <a:prstGeom prst="rect">
            <a:avLst/>
          </a:prstGeom>
          <a:solidFill>
            <a:srgbClr val="ff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92" name="Shape 5462"/>
          <p:cNvSpPr/>
          <p:nvPr/>
        </p:nvSpPr>
        <p:spPr>
          <a:xfrm>
            <a:off x="2085840" y="380880"/>
            <a:ext cx="530352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6.5  </a:t>
            </a: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有向无环图及其应用 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4893" name="Shape 5463" descr=""/>
          <p:cNvPicPr/>
          <p:nvPr/>
        </p:nvPicPr>
        <p:blipFill>
          <a:blip r:embed="rId1"/>
          <a:stretch/>
        </p:blipFill>
        <p:spPr>
          <a:xfrm>
            <a:off x="230040" y="1265400"/>
            <a:ext cx="4887720" cy="2760480"/>
          </a:xfrm>
          <a:prstGeom prst="rect">
            <a:avLst/>
          </a:prstGeom>
          <a:ln w="28575">
            <a:solidFill>
              <a:srgbClr val="3333cc"/>
            </a:solidFill>
            <a:miter/>
          </a:ln>
        </p:spPr>
      </p:pic>
      <p:sp>
        <p:nvSpPr>
          <p:cNvPr id="4894" name="Shape 5464"/>
          <p:cNvSpPr/>
          <p:nvPr/>
        </p:nvSpPr>
        <p:spPr>
          <a:xfrm>
            <a:off x="1542960" y="4724280"/>
            <a:ext cx="685440" cy="1676160"/>
          </a:xfrm>
          <a:prstGeom prst="rect">
            <a:avLst/>
          </a:prstGeom>
          <a:solidFill>
            <a:srgbClr val="ff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95" name="Shape 5465"/>
          <p:cNvSpPr/>
          <p:nvPr/>
        </p:nvSpPr>
        <p:spPr>
          <a:xfrm>
            <a:off x="3581280" y="4724280"/>
            <a:ext cx="685440" cy="1676160"/>
          </a:xfrm>
          <a:prstGeom prst="rect">
            <a:avLst/>
          </a:prstGeom>
          <a:solidFill>
            <a:srgbClr val="ff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96" name="Shape 5466"/>
          <p:cNvSpPr/>
          <p:nvPr/>
        </p:nvSpPr>
        <p:spPr>
          <a:xfrm>
            <a:off x="6292800" y="4724280"/>
            <a:ext cx="685440" cy="1676160"/>
          </a:xfrm>
          <a:prstGeom prst="rect">
            <a:avLst/>
          </a:prstGeom>
          <a:solidFill>
            <a:srgbClr val="ff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97" name="Shape 5467"/>
          <p:cNvSpPr/>
          <p:nvPr/>
        </p:nvSpPr>
        <p:spPr>
          <a:xfrm>
            <a:off x="8318520" y="4737240"/>
            <a:ext cx="685440" cy="1676160"/>
          </a:xfrm>
          <a:prstGeom prst="rect">
            <a:avLst/>
          </a:prstGeom>
          <a:solidFill>
            <a:srgbClr val="ff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98" name="Shape 5468"/>
          <p:cNvSpPr/>
          <p:nvPr/>
        </p:nvSpPr>
        <p:spPr>
          <a:xfrm>
            <a:off x="2222640" y="4737240"/>
            <a:ext cx="67608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899" name="Shape 5469"/>
          <p:cNvSpPr/>
          <p:nvPr/>
        </p:nvSpPr>
        <p:spPr>
          <a:xfrm>
            <a:off x="5608800" y="473724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00" name="Shape 5470"/>
          <p:cNvSpPr/>
          <p:nvPr/>
        </p:nvSpPr>
        <p:spPr>
          <a:xfrm>
            <a:off x="4930920" y="473724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01" name="Shape 5471"/>
          <p:cNvSpPr/>
          <p:nvPr/>
        </p:nvSpPr>
        <p:spPr>
          <a:xfrm>
            <a:off x="4254480" y="4737240"/>
            <a:ext cx="67608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02" name="Shape 5472"/>
          <p:cNvSpPr/>
          <p:nvPr/>
        </p:nvSpPr>
        <p:spPr>
          <a:xfrm>
            <a:off x="3576600" y="473724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03" name="Shape 5473"/>
          <p:cNvSpPr/>
          <p:nvPr/>
        </p:nvSpPr>
        <p:spPr>
          <a:xfrm>
            <a:off x="1544760" y="473724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04" name="Shape 5474"/>
          <p:cNvSpPr/>
          <p:nvPr/>
        </p:nvSpPr>
        <p:spPr>
          <a:xfrm>
            <a:off x="2898720" y="473724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05" name="Shape 5475"/>
          <p:cNvSpPr/>
          <p:nvPr/>
        </p:nvSpPr>
        <p:spPr>
          <a:xfrm>
            <a:off x="6962760" y="473724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06" name="Shape 5476"/>
          <p:cNvSpPr/>
          <p:nvPr/>
        </p:nvSpPr>
        <p:spPr>
          <a:xfrm>
            <a:off x="6286680" y="4737240"/>
            <a:ext cx="67608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4907" name="Shape 5477"/>
          <p:cNvGrpSpPr/>
          <p:nvPr/>
        </p:nvGrpSpPr>
        <p:grpSpPr>
          <a:xfrm>
            <a:off x="1544760" y="5295960"/>
            <a:ext cx="6095520" cy="556920"/>
            <a:chOff x="1544760" y="5295960"/>
            <a:chExt cx="6095520" cy="556920"/>
          </a:xfrm>
        </p:grpSpPr>
        <p:sp>
          <p:nvSpPr>
            <p:cNvPr id="4908" name="Shape 5478"/>
            <p:cNvSpPr/>
            <p:nvPr/>
          </p:nvSpPr>
          <p:spPr>
            <a:xfrm>
              <a:off x="2221920" y="529596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09" name="Shape 5479"/>
            <p:cNvSpPr/>
            <p:nvPr/>
          </p:nvSpPr>
          <p:spPr>
            <a:xfrm>
              <a:off x="5608800" y="529596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10" name="Shape 5480"/>
            <p:cNvSpPr/>
            <p:nvPr/>
          </p:nvSpPr>
          <p:spPr>
            <a:xfrm>
              <a:off x="4931280" y="529596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11" name="Shape 5481"/>
            <p:cNvSpPr/>
            <p:nvPr/>
          </p:nvSpPr>
          <p:spPr>
            <a:xfrm>
              <a:off x="4254120" y="529596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12" name="Shape 5482"/>
            <p:cNvSpPr/>
            <p:nvPr/>
          </p:nvSpPr>
          <p:spPr>
            <a:xfrm>
              <a:off x="3576600" y="529596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13" name="Shape 5483"/>
            <p:cNvSpPr/>
            <p:nvPr/>
          </p:nvSpPr>
          <p:spPr>
            <a:xfrm>
              <a:off x="1544760" y="529596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14" name="Shape 5484"/>
            <p:cNvSpPr/>
            <p:nvPr/>
          </p:nvSpPr>
          <p:spPr>
            <a:xfrm>
              <a:off x="2899440" y="529596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15" name="Shape 5485"/>
            <p:cNvSpPr/>
            <p:nvPr/>
          </p:nvSpPr>
          <p:spPr>
            <a:xfrm>
              <a:off x="6963480" y="529596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16" name="Shape 5486"/>
            <p:cNvSpPr/>
            <p:nvPr/>
          </p:nvSpPr>
          <p:spPr>
            <a:xfrm>
              <a:off x="6285960" y="529596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917" name="Shape 5487"/>
          <p:cNvGrpSpPr/>
          <p:nvPr/>
        </p:nvGrpSpPr>
        <p:grpSpPr>
          <a:xfrm>
            <a:off x="1544760" y="5842080"/>
            <a:ext cx="6095520" cy="556920"/>
            <a:chOff x="1544760" y="5842080"/>
            <a:chExt cx="6095520" cy="556920"/>
          </a:xfrm>
        </p:grpSpPr>
        <p:sp>
          <p:nvSpPr>
            <p:cNvPr id="4918" name="Shape 5488"/>
            <p:cNvSpPr/>
            <p:nvPr/>
          </p:nvSpPr>
          <p:spPr>
            <a:xfrm>
              <a:off x="2221920" y="584208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19" name="Shape 5489"/>
            <p:cNvSpPr/>
            <p:nvPr/>
          </p:nvSpPr>
          <p:spPr>
            <a:xfrm>
              <a:off x="5608800" y="584208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20" name="Shape 5490"/>
            <p:cNvSpPr/>
            <p:nvPr/>
          </p:nvSpPr>
          <p:spPr>
            <a:xfrm>
              <a:off x="4931280" y="584208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21" name="Shape 5491"/>
            <p:cNvSpPr/>
            <p:nvPr/>
          </p:nvSpPr>
          <p:spPr>
            <a:xfrm>
              <a:off x="4254120" y="584208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22" name="Shape 5492"/>
            <p:cNvSpPr/>
            <p:nvPr/>
          </p:nvSpPr>
          <p:spPr>
            <a:xfrm>
              <a:off x="3576600" y="584208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23" name="Shape 5493"/>
            <p:cNvSpPr/>
            <p:nvPr/>
          </p:nvSpPr>
          <p:spPr>
            <a:xfrm>
              <a:off x="1544760" y="584208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24" name="Shape 5494"/>
            <p:cNvSpPr/>
            <p:nvPr/>
          </p:nvSpPr>
          <p:spPr>
            <a:xfrm>
              <a:off x="2899440" y="584208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25" name="Shape 5495"/>
            <p:cNvSpPr/>
            <p:nvPr/>
          </p:nvSpPr>
          <p:spPr>
            <a:xfrm>
              <a:off x="6963480" y="584208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26" name="Shape 5496"/>
            <p:cNvSpPr/>
            <p:nvPr/>
          </p:nvSpPr>
          <p:spPr>
            <a:xfrm>
              <a:off x="6285960" y="5842080"/>
              <a:ext cx="676800" cy="5569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927" name="Shape 5497"/>
          <p:cNvSpPr/>
          <p:nvPr/>
        </p:nvSpPr>
        <p:spPr>
          <a:xfrm>
            <a:off x="741240" y="5251320"/>
            <a:ext cx="69984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e[i]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28" name="Shape 5498"/>
          <p:cNvSpPr/>
          <p:nvPr/>
        </p:nvSpPr>
        <p:spPr>
          <a:xfrm>
            <a:off x="773280" y="5842080"/>
            <a:ext cx="6235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l[i]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29" name="Shape 5499"/>
          <p:cNvSpPr/>
          <p:nvPr/>
        </p:nvSpPr>
        <p:spPr>
          <a:xfrm>
            <a:off x="1576440" y="533412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30" name="Shape 5500"/>
          <p:cNvSpPr/>
          <p:nvPr/>
        </p:nvSpPr>
        <p:spPr>
          <a:xfrm>
            <a:off x="2268360" y="533412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31" name="Shape 5501"/>
          <p:cNvSpPr/>
          <p:nvPr/>
        </p:nvSpPr>
        <p:spPr>
          <a:xfrm>
            <a:off x="2954160" y="532116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32" name="Shape 5502"/>
          <p:cNvSpPr/>
          <p:nvPr/>
        </p:nvSpPr>
        <p:spPr>
          <a:xfrm>
            <a:off x="3614760" y="532116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33" name="Shape 5503"/>
          <p:cNvSpPr/>
          <p:nvPr/>
        </p:nvSpPr>
        <p:spPr>
          <a:xfrm>
            <a:off x="4287960" y="530856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34" name="Shape 5504"/>
          <p:cNvSpPr/>
          <p:nvPr/>
        </p:nvSpPr>
        <p:spPr>
          <a:xfrm>
            <a:off x="4960800" y="529596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35" name="Shape 5505"/>
          <p:cNvSpPr/>
          <p:nvPr/>
        </p:nvSpPr>
        <p:spPr>
          <a:xfrm>
            <a:off x="5621400" y="529596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36" name="Shape 5506"/>
          <p:cNvSpPr/>
          <p:nvPr/>
        </p:nvSpPr>
        <p:spPr>
          <a:xfrm>
            <a:off x="6275520" y="530856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37" name="Shape 5507"/>
          <p:cNvSpPr/>
          <p:nvPr/>
        </p:nvSpPr>
        <p:spPr>
          <a:xfrm>
            <a:off x="7005600" y="5308560"/>
            <a:ext cx="53316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38" name="Shape 5508"/>
          <p:cNvSpPr/>
          <p:nvPr/>
        </p:nvSpPr>
        <p:spPr>
          <a:xfrm>
            <a:off x="6967440" y="588024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39" name="Shape 5509"/>
          <p:cNvSpPr/>
          <p:nvPr/>
        </p:nvSpPr>
        <p:spPr>
          <a:xfrm>
            <a:off x="6262560" y="586728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40" name="Shape 5510"/>
          <p:cNvSpPr/>
          <p:nvPr/>
        </p:nvSpPr>
        <p:spPr>
          <a:xfrm>
            <a:off x="5659560" y="588024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41" name="Shape 5511"/>
          <p:cNvSpPr/>
          <p:nvPr/>
        </p:nvSpPr>
        <p:spPr>
          <a:xfrm>
            <a:off x="4952880" y="586728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42" name="Shape 5512"/>
          <p:cNvSpPr/>
          <p:nvPr/>
        </p:nvSpPr>
        <p:spPr>
          <a:xfrm>
            <a:off x="4287960" y="588024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43" name="Shape 5513"/>
          <p:cNvSpPr/>
          <p:nvPr/>
        </p:nvSpPr>
        <p:spPr>
          <a:xfrm>
            <a:off x="3602160" y="588024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44" name="Shape 5514"/>
          <p:cNvSpPr/>
          <p:nvPr/>
        </p:nvSpPr>
        <p:spPr>
          <a:xfrm>
            <a:off x="2916360" y="588024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45" name="Shape 5515"/>
          <p:cNvSpPr/>
          <p:nvPr/>
        </p:nvSpPr>
        <p:spPr>
          <a:xfrm>
            <a:off x="2243160" y="588024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46" name="Shape 5516"/>
          <p:cNvSpPr/>
          <p:nvPr/>
        </p:nvSpPr>
        <p:spPr>
          <a:xfrm>
            <a:off x="1550880" y="5880240"/>
            <a:ext cx="6091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47" name="Shape 5517"/>
          <p:cNvSpPr/>
          <p:nvPr/>
        </p:nvSpPr>
        <p:spPr>
          <a:xfrm>
            <a:off x="7653240" y="473724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48" name="Shape 5518"/>
          <p:cNvSpPr/>
          <p:nvPr/>
        </p:nvSpPr>
        <p:spPr>
          <a:xfrm>
            <a:off x="8326440" y="473724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</a:t>
            </a:r>
            <a:r>
              <a:rPr b="1" lang="en-US" sz="28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49" name="Shape 5519"/>
          <p:cNvSpPr/>
          <p:nvPr/>
        </p:nvSpPr>
        <p:spPr>
          <a:xfrm>
            <a:off x="7653240" y="529596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50" name="Shape 5520"/>
          <p:cNvSpPr/>
          <p:nvPr/>
        </p:nvSpPr>
        <p:spPr>
          <a:xfrm>
            <a:off x="8326440" y="529596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51" name="Shape 5521"/>
          <p:cNvSpPr/>
          <p:nvPr/>
        </p:nvSpPr>
        <p:spPr>
          <a:xfrm>
            <a:off x="7653240" y="585612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16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4952" name="Shape 5522"/>
          <p:cNvSpPr/>
          <p:nvPr/>
        </p:nvSpPr>
        <p:spPr>
          <a:xfrm>
            <a:off x="8323200" y="5854680"/>
            <a:ext cx="677520" cy="556920"/>
          </a:xfrm>
          <a:prstGeom prst="rect">
            <a:avLst/>
          </a:prstGeom>
          <a:noFill/>
          <a:ln w="381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14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4953" name="Shape 5523"/>
          <p:cNvGrpSpPr/>
          <p:nvPr/>
        </p:nvGrpSpPr>
        <p:grpSpPr>
          <a:xfrm>
            <a:off x="711360" y="1859040"/>
            <a:ext cx="3920760" cy="1117440"/>
            <a:chOff x="711360" y="1859040"/>
            <a:chExt cx="3920760" cy="1117440"/>
          </a:xfrm>
        </p:grpSpPr>
        <p:sp>
          <p:nvSpPr>
            <p:cNvPr id="4954" name="Shape 5524"/>
            <p:cNvSpPr/>
            <p:nvPr/>
          </p:nvSpPr>
          <p:spPr>
            <a:xfrm flipH="1" rot="10800000">
              <a:off x="711000" y="1945080"/>
              <a:ext cx="566280" cy="523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55" name="Shape 5525"/>
            <p:cNvSpPr/>
            <p:nvPr/>
          </p:nvSpPr>
          <p:spPr>
            <a:xfrm>
              <a:off x="1641600" y="1859040"/>
              <a:ext cx="798120" cy="259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56" name="Shape 5526"/>
            <p:cNvSpPr/>
            <p:nvPr/>
          </p:nvSpPr>
          <p:spPr>
            <a:xfrm flipH="1" rot="10800000">
              <a:off x="2903040" y="1989360"/>
              <a:ext cx="812520" cy="1886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57" name="Shape 5527"/>
            <p:cNvSpPr/>
            <p:nvPr/>
          </p:nvSpPr>
          <p:spPr>
            <a:xfrm>
              <a:off x="2801880" y="2367000"/>
              <a:ext cx="667800" cy="506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58" name="Shape 5528"/>
            <p:cNvSpPr/>
            <p:nvPr/>
          </p:nvSpPr>
          <p:spPr>
            <a:xfrm flipH="1" rot="10800000">
              <a:off x="3889800" y="2743560"/>
              <a:ext cx="740880" cy="232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59" name="Shape 5529"/>
            <p:cNvSpPr/>
            <p:nvPr/>
          </p:nvSpPr>
          <p:spPr>
            <a:xfrm>
              <a:off x="4137120" y="2019240"/>
              <a:ext cx="495000" cy="50616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12" dur="indefinite" restart="never" nodeType="tmRoot">
          <p:childTnLst>
            <p:seq>
              <p:cTn id="1413" dur="indefinite" nodeType="mainSeq">
                <p:childTnLst>
                  <p:par>
                    <p:cTn id="1414" fill="hold">
                      <p:stCondLst>
                        <p:cond delay="indefinite"/>
                      </p:stCondLst>
                      <p:childTnLst>
                        <p:par>
                          <p:cTn id="1415" fill="hold">
                            <p:stCondLst>
                              <p:cond delay="0"/>
                            </p:stCondLst>
                            <p:childTnLst>
                              <p:par>
                                <p:cTn id="14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18" dur="500"/>
                                        <p:tgtEl>
                                          <p:spTgt spid="4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9" fill="hold">
                      <p:stCondLst>
                        <p:cond delay="indefinite"/>
                      </p:stCondLst>
                      <p:childTnLst>
                        <p:par>
                          <p:cTn id="1420" fill="hold">
                            <p:stCondLst>
                              <p:cond delay="0"/>
                            </p:stCondLst>
                            <p:childTnLst>
                              <p:par>
                                <p:cTn id="14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23" dur="500"/>
                                        <p:tgtEl>
                                          <p:spTgt spid="4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4" fill="hold">
                      <p:stCondLst>
                        <p:cond delay="indefinite"/>
                      </p:stCondLst>
                      <p:childTnLst>
                        <p:par>
                          <p:cTn id="1425" fill="hold">
                            <p:stCondLst>
                              <p:cond delay="0"/>
                            </p:stCondLst>
                            <p:childTnLst>
                              <p:par>
                                <p:cTn id="142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28" dur="500"/>
                                        <p:tgtEl>
                                          <p:spTgt spid="4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9" fill="hold">
                      <p:stCondLst>
                        <p:cond delay="indefinite"/>
                      </p:stCondLst>
                      <p:childTnLst>
                        <p:par>
                          <p:cTn id="1430" fill="hold">
                            <p:stCondLst>
                              <p:cond delay="0"/>
                            </p:stCondLst>
                            <p:childTnLst>
                              <p:par>
                                <p:cTn id="143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33" dur="500"/>
                                        <p:tgtEl>
                                          <p:spTgt spid="4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4" fill="hold">
                      <p:stCondLst>
                        <p:cond delay="indefinite"/>
                      </p:stCondLst>
                      <p:childTnLst>
                        <p:par>
                          <p:cTn id="1435" fill="hold">
                            <p:stCondLst>
                              <p:cond delay="0"/>
                            </p:stCondLst>
                            <p:childTnLst>
                              <p:par>
                                <p:cTn id="143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38" dur="500"/>
                                        <p:tgtEl>
                                          <p:spTgt spid="4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9" fill="hold">
                      <p:stCondLst>
                        <p:cond delay="indefinite"/>
                      </p:stCondLst>
                      <p:childTnLst>
                        <p:par>
                          <p:cTn id="1440" fill="hold">
                            <p:stCondLst>
                              <p:cond delay="0"/>
                            </p:stCondLst>
                            <p:childTnLst>
                              <p:par>
                                <p:cTn id="144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43" dur="500"/>
                                        <p:tgtEl>
                                          <p:spTgt spid="4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ccff"/>
            </a:gs>
            <a:gs pos="100000">
              <a:srgbClr val="ffff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0" name="Shape 5534"/>
          <p:cNvSpPr/>
          <p:nvPr/>
        </p:nvSpPr>
        <p:spPr>
          <a:xfrm>
            <a:off x="3057480" y="380880"/>
            <a:ext cx="2937960" cy="641160"/>
          </a:xfrm>
          <a:prstGeom prst="rect">
            <a:avLst/>
          </a:prstGeom>
          <a:noFill/>
          <a:ln w="0">
            <a:noFill/>
          </a:ln>
          <a:effectLst>
            <a:outerShdw blurRad="63360" dir="1593903" dist="28174">
              <a:schemeClr val="lt2"/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ja-JP" sz="3600" spc="-1" strike="noStrike">
                <a:solidFill>
                  <a:srgbClr val="3333cc"/>
                </a:solidFill>
                <a:latin typeface="Times New Roman"/>
                <a:ea typeface="Times New Roman"/>
              </a:rPr>
              <a:t>本章总结</a:t>
            </a:r>
            <a:endParaRPr b="0" lang="en-US" sz="3600" spc="-1" strike="noStrike">
              <a:latin typeface="Arial"/>
            </a:endParaRPr>
          </a:p>
        </p:txBody>
      </p:sp>
      <p:grpSp>
        <p:nvGrpSpPr>
          <p:cNvPr id="4961" name="Shape 5535"/>
          <p:cNvGrpSpPr/>
          <p:nvPr/>
        </p:nvGrpSpPr>
        <p:grpSpPr>
          <a:xfrm>
            <a:off x="282600" y="1252440"/>
            <a:ext cx="8170200" cy="4797000"/>
            <a:chOff x="282600" y="1252440"/>
            <a:chExt cx="8170200" cy="4797000"/>
          </a:xfrm>
        </p:grpSpPr>
        <p:sp>
          <p:nvSpPr>
            <p:cNvPr id="4962" name="Shape 5536"/>
            <p:cNvSpPr/>
            <p:nvPr/>
          </p:nvSpPr>
          <p:spPr>
            <a:xfrm>
              <a:off x="3368520" y="1252440"/>
              <a:ext cx="2152440" cy="52812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  <a:effectLst>
              <a:outerShdw blurRad="63360" dir="5400000" dist="38160">
                <a:srgbClr val="808080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54000" rIns="54000" tIns="1080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4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图结构</a:t>
              </a:r>
              <a:endParaRPr b="0" lang="en-US" sz="2400" spc="-1" strike="noStrike">
                <a:latin typeface="Arial"/>
              </a:endParaRPr>
            </a:p>
          </p:txBody>
        </p:sp>
        <p:sp>
          <p:nvSpPr>
            <p:cNvPr id="4963" name="Shape 5537"/>
            <p:cNvSpPr/>
            <p:nvPr/>
          </p:nvSpPr>
          <p:spPr>
            <a:xfrm>
              <a:off x="615960" y="2262240"/>
              <a:ext cx="1775880" cy="52668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  <a:effectLst>
              <a:outerShdw blurRad="63360" dir="5400000" dist="38160">
                <a:srgbClr val="808080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54000" rIns="18000" tIns="1080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逻辑结构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964" name="Shape 5538"/>
            <p:cNvSpPr/>
            <p:nvPr/>
          </p:nvSpPr>
          <p:spPr>
            <a:xfrm>
              <a:off x="3552840" y="2259000"/>
              <a:ext cx="1775880" cy="52812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  <a:effectLst>
              <a:outerShdw blurRad="63360" dir="5400000" dist="38160">
                <a:srgbClr val="808080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54000" rIns="18000" tIns="1080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存储结构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965" name="Shape 5539"/>
            <p:cNvSpPr/>
            <p:nvPr/>
          </p:nvSpPr>
          <p:spPr>
            <a:xfrm>
              <a:off x="282600" y="3360600"/>
              <a:ext cx="401400" cy="155232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10800" bIns="1080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图的定义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966" name="Shape 5540"/>
            <p:cNvSpPr/>
            <p:nvPr/>
          </p:nvSpPr>
          <p:spPr>
            <a:xfrm>
              <a:off x="988920" y="3354480"/>
              <a:ext cx="401400" cy="158724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10800" bIns="1080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基本术语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967" name="Shape 5541"/>
            <p:cNvSpPr/>
            <p:nvPr/>
          </p:nvSpPr>
          <p:spPr>
            <a:xfrm>
              <a:off x="1724040" y="3354480"/>
              <a:ext cx="423360" cy="160452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10800" bIns="10800" anchor="t">
              <a:noAutofit/>
            </a:bodyPr>
            <a:p>
              <a:pPr algn="ctr">
                <a:lnSpc>
                  <a:spcPct val="85000"/>
                </a:lnSpc>
                <a:buNone/>
                <a:tabLst>
                  <a:tab algn="l" pos="0"/>
                </a:tabLst>
              </a:pP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抽象数据类型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968" name="Shape 5542"/>
            <p:cNvSpPr/>
            <p:nvPr/>
          </p:nvSpPr>
          <p:spPr>
            <a:xfrm>
              <a:off x="2398680" y="3354480"/>
              <a:ext cx="425160" cy="160452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10800" bIns="1080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图的遍历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969" name="Shape 5543"/>
            <p:cNvSpPr/>
            <p:nvPr/>
          </p:nvSpPr>
          <p:spPr>
            <a:xfrm>
              <a:off x="3228840" y="3363840"/>
              <a:ext cx="423360" cy="160452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10800" bIns="1080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邻接矩阵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970" name="Shape 5544"/>
            <p:cNvSpPr/>
            <p:nvPr/>
          </p:nvSpPr>
          <p:spPr>
            <a:xfrm>
              <a:off x="3921120" y="3363840"/>
              <a:ext cx="423360" cy="160452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10800" bIns="1080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邻接表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971" name="Shape 5545"/>
            <p:cNvSpPr/>
            <p:nvPr/>
          </p:nvSpPr>
          <p:spPr>
            <a:xfrm>
              <a:off x="4586400" y="3363840"/>
              <a:ext cx="423360" cy="160452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10800" bIns="1080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十字链表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972" name="Shape 5546"/>
            <p:cNvSpPr/>
            <p:nvPr/>
          </p:nvSpPr>
          <p:spPr>
            <a:xfrm>
              <a:off x="5221440" y="3363840"/>
              <a:ext cx="423360" cy="160452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10800" bIns="10800" anchor="t">
              <a:noAutofit/>
            </a:bodyPr>
            <a:p>
              <a:pPr algn="ctr">
                <a:lnSpc>
                  <a:spcPct val="96000"/>
                </a:lnSpc>
                <a:buNone/>
                <a:tabLst>
                  <a:tab algn="l" pos="0"/>
                </a:tabLst>
              </a:pP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邻接多重表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973" name="Shape 5547"/>
            <p:cNvSpPr/>
            <p:nvPr/>
          </p:nvSpPr>
          <p:spPr>
            <a:xfrm>
              <a:off x="6365880" y="2259000"/>
              <a:ext cx="1774440" cy="52668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  <a:effectLst>
              <a:outerShdw blurRad="63360" dir="5400000" dist="38160">
                <a:srgbClr val="808080"/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54000" rIns="18000" tIns="10800" anchor="t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经典应用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974" name="Shape 5548"/>
            <p:cNvSpPr/>
            <p:nvPr/>
          </p:nvSpPr>
          <p:spPr>
            <a:xfrm>
              <a:off x="6027840" y="3363840"/>
              <a:ext cx="423360" cy="160452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10800" bIns="10800" anchor="t">
              <a:noAutofit/>
            </a:bodyPr>
            <a:p>
              <a:pPr algn="ctr">
                <a:lnSpc>
                  <a:spcPct val="96000"/>
                </a:lnSpc>
                <a:buNone/>
                <a:tabLst>
                  <a:tab algn="l" pos="0"/>
                </a:tabLst>
              </a:pP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最小生成树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975" name="Shape 5549"/>
            <p:cNvSpPr/>
            <p:nvPr/>
          </p:nvSpPr>
          <p:spPr>
            <a:xfrm>
              <a:off x="6673680" y="3363840"/>
              <a:ext cx="425160" cy="160452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10800" bIns="10800" anchor="t">
              <a:noAutofit/>
            </a:bodyPr>
            <a:p>
              <a:pPr algn="ctr">
                <a:lnSpc>
                  <a:spcPct val="96000"/>
                </a:lnSpc>
                <a:buNone/>
                <a:tabLst>
                  <a:tab algn="l" pos="0"/>
                </a:tabLst>
              </a:pP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最短路径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976" name="Shape 5550"/>
            <p:cNvSpPr/>
            <p:nvPr/>
          </p:nvSpPr>
          <p:spPr>
            <a:xfrm>
              <a:off x="7351560" y="3363840"/>
              <a:ext cx="425160" cy="160452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10800" bIns="10800" anchor="t">
              <a:noAutofit/>
            </a:bodyPr>
            <a:p>
              <a:pPr algn="ctr">
                <a:lnSpc>
                  <a:spcPct val="96000"/>
                </a:lnSpc>
                <a:buNone/>
                <a:tabLst>
                  <a:tab algn="l" pos="0"/>
                </a:tabLst>
              </a:pP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拓扑排序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977" name="Shape 5551"/>
            <p:cNvSpPr/>
            <p:nvPr/>
          </p:nvSpPr>
          <p:spPr>
            <a:xfrm>
              <a:off x="8029440" y="3359160"/>
              <a:ext cx="423360" cy="160308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10800" bIns="10800" anchor="t">
              <a:noAutofit/>
            </a:bodyPr>
            <a:p>
              <a:pPr algn="ctr">
                <a:lnSpc>
                  <a:spcPct val="96000"/>
                </a:lnSpc>
                <a:buNone/>
                <a:tabLst>
                  <a:tab algn="l" pos="0"/>
                </a:tabLst>
              </a:pP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关键路径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978" name="Shape 5552"/>
            <p:cNvSpPr/>
            <p:nvPr/>
          </p:nvSpPr>
          <p:spPr>
            <a:xfrm>
              <a:off x="898560" y="5408640"/>
              <a:ext cx="1941120" cy="628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10800" bIns="10800" anchor="t">
              <a:noAutofit/>
            </a:bodyPr>
            <a:p>
              <a:pPr algn="just">
                <a:lnSpc>
                  <a:spcPct val="96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⑴</a:t>
              </a: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深度优先遍历</a:t>
              </a:r>
              <a:endParaRPr b="0" lang="en-US" sz="2000" spc="-1" strike="noStrike">
                <a:latin typeface="Arial"/>
              </a:endParaRPr>
            </a:p>
            <a:p>
              <a:pPr algn="just">
                <a:lnSpc>
                  <a:spcPct val="96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⑵</a:t>
              </a: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广度优先遍历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979" name="Shape 5553"/>
            <p:cNvSpPr/>
            <p:nvPr/>
          </p:nvSpPr>
          <p:spPr>
            <a:xfrm>
              <a:off x="3203640" y="5405400"/>
              <a:ext cx="1788840" cy="64404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18000" rIns="18000" tIns="10800" bIns="10800" anchor="t">
              <a:noAutofit/>
            </a:bodyPr>
            <a:p>
              <a:pPr algn="just">
                <a:lnSpc>
                  <a:spcPct val="96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⑴</a:t>
              </a: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遍历的实现</a:t>
              </a:r>
              <a:endParaRPr b="0" lang="en-US" sz="2000" spc="-1" strike="noStrike">
                <a:latin typeface="Arial"/>
              </a:endParaRPr>
            </a:p>
            <a:p>
              <a:pPr algn="just">
                <a:lnSpc>
                  <a:spcPct val="96000"/>
                </a:lnSpc>
                <a:buNone/>
                <a:tabLst>
                  <a:tab algn="l" pos="0"/>
                </a:tabLst>
              </a:pPr>
              <a:r>
                <a:rPr b="1" lang="en-US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⑵</a:t>
              </a:r>
              <a:r>
                <a:rPr b="1" lang="ja-JP" sz="2000" spc="-1" strike="noStrike">
                  <a:solidFill>
                    <a:srgbClr val="000000"/>
                  </a:solidFill>
                  <a:latin typeface="Times New Roman"/>
                  <a:ea typeface="Times New Roman"/>
                </a:rPr>
                <a:t>其他算法</a:t>
              </a:r>
              <a:endParaRPr b="0" lang="en-US" sz="2000" spc="-1" strike="noStrike">
                <a:latin typeface="Arial"/>
              </a:endParaRPr>
            </a:p>
          </p:txBody>
        </p:sp>
        <p:sp>
          <p:nvSpPr>
            <p:cNvPr id="4980" name="Shape 5554"/>
            <p:cNvSpPr/>
            <p:nvPr/>
          </p:nvSpPr>
          <p:spPr>
            <a:xfrm>
              <a:off x="2627280" y="4959360"/>
              <a:ext cx="360" cy="4363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81" name="Shape 5555"/>
            <p:cNvSpPr/>
            <p:nvPr/>
          </p:nvSpPr>
          <p:spPr>
            <a:xfrm>
              <a:off x="2092320" y="1654200"/>
              <a:ext cx="1345680" cy="672840"/>
            </a:xfrm>
            <a:custGeom>
              <a:avLst/>
              <a:gdLst/>
              <a:ahLst/>
              <a:rect l="l" t="t" r="r" b="b"/>
              <a:pathLst>
                <a:path w="1728" h="929">
                  <a:moveTo>
                    <a:pt x="1728" y="0"/>
                  </a:moveTo>
                  <a:lnTo>
                    <a:pt x="0" y="929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82" name="Shape 5556"/>
            <p:cNvSpPr/>
            <p:nvPr/>
          </p:nvSpPr>
          <p:spPr>
            <a:xfrm flipH="1">
              <a:off x="4404600" y="1773360"/>
              <a:ext cx="39240" cy="490320"/>
            </a:xfrm>
            <a:custGeom>
              <a:avLst/>
              <a:gdLst/>
              <a:ahLst/>
              <a:rect l="l" t="t" r="r" b="b"/>
              <a:pathLst>
                <a:path w="1" h="795">
                  <a:moveTo>
                    <a:pt x="0" y="0"/>
                  </a:moveTo>
                  <a:lnTo>
                    <a:pt x="0" y="795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83" name="Shape 5557"/>
            <p:cNvSpPr/>
            <p:nvPr/>
          </p:nvSpPr>
          <p:spPr>
            <a:xfrm flipH="1">
              <a:off x="476280" y="2752560"/>
              <a:ext cx="493200" cy="596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84" name="Shape 5558"/>
            <p:cNvSpPr/>
            <p:nvPr/>
          </p:nvSpPr>
          <p:spPr>
            <a:xfrm>
              <a:off x="1117440" y="2781360"/>
              <a:ext cx="190080" cy="593280"/>
            </a:xfrm>
            <a:custGeom>
              <a:avLst/>
              <a:gdLst/>
              <a:ahLst/>
              <a:rect l="l" t="t" r="r" b="b"/>
              <a:pathLst>
                <a:path w="120" h="660">
                  <a:moveTo>
                    <a:pt x="120" y="0"/>
                  </a:moveTo>
                  <a:lnTo>
                    <a:pt x="0" y="66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85" name="Shape 5559"/>
            <p:cNvSpPr/>
            <p:nvPr/>
          </p:nvSpPr>
          <p:spPr>
            <a:xfrm flipH="1">
              <a:off x="1773360" y="2782800"/>
              <a:ext cx="190080" cy="593280"/>
            </a:xfrm>
            <a:custGeom>
              <a:avLst/>
              <a:gdLst/>
              <a:ahLst/>
              <a:rect l="l" t="t" r="r" b="b"/>
              <a:pathLst>
                <a:path w="120" h="660">
                  <a:moveTo>
                    <a:pt x="120" y="0"/>
                  </a:moveTo>
                  <a:lnTo>
                    <a:pt x="0" y="66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86" name="Shape 5560"/>
            <p:cNvSpPr/>
            <p:nvPr/>
          </p:nvSpPr>
          <p:spPr>
            <a:xfrm>
              <a:off x="2100240" y="2738520"/>
              <a:ext cx="491760" cy="596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87" name="Shape 5561"/>
            <p:cNvSpPr/>
            <p:nvPr/>
          </p:nvSpPr>
          <p:spPr>
            <a:xfrm flipH="1">
              <a:off x="5353200" y="1654200"/>
              <a:ext cx="1345680" cy="671040"/>
            </a:xfrm>
            <a:custGeom>
              <a:avLst/>
              <a:gdLst/>
              <a:ahLst/>
              <a:rect l="l" t="t" r="r" b="b"/>
              <a:pathLst>
                <a:path w="1728" h="929">
                  <a:moveTo>
                    <a:pt x="1728" y="0"/>
                  </a:moveTo>
                  <a:lnTo>
                    <a:pt x="0" y="929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88" name="Shape 5562"/>
            <p:cNvSpPr/>
            <p:nvPr/>
          </p:nvSpPr>
          <p:spPr>
            <a:xfrm flipH="1">
              <a:off x="3397320" y="2741760"/>
              <a:ext cx="491760" cy="595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89" name="Shape 5563"/>
            <p:cNvSpPr/>
            <p:nvPr/>
          </p:nvSpPr>
          <p:spPr>
            <a:xfrm>
              <a:off x="4037040" y="2770200"/>
              <a:ext cx="191880" cy="593280"/>
            </a:xfrm>
            <a:custGeom>
              <a:avLst/>
              <a:gdLst/>
              <a:ahLst/>
              <a:rect l="l" t="t" r="r" b="b"/>
              <a:pathLst>
                <a:path w="120" h="660">
                  <a:moveTo>
                    <a:pt x="120" y="0"/>
                  </a:moveTo>
                  <a:lnTo>
                    <a:pt x="0" y="66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90" name="Shape 5564"/>
            <p:cNvSpPr/>
            <p:nvPr/>
          </p:nvSpPr>
          <p:spPr>
            <a:xfrm flipH="1">
              <a:off x="4692600" y="2771640"/>
              <a:ext cx="190080" cy="591840"/>
            </a:xfrm>
            <a:custGeom>
              <a:avLst/>
              <a:gdLst/>
              <a:ahLst/>
              <a:rect l="l" t="t" r="r" b="b"/>
              <a:pathLst>
                <a:path w="120" h="660">
                  <a:moveTo>
                    <a:pt x="120" y="0"/>
                  </a:moveTo>
                  <a:lnTo>
                    <a:pt x="0" y="66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91" name="Shape 5565"/>
            <p:cNvSpPr/>
            <p:nvPr/>
          </p:nvSpPr>
          <p:spPr>
            <a:xfrm>
              <a:off x="5019840" y="2727360"/>
              <a:ext cx="493200" cy="596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92" name="Shape 5566"/>
            <p:cNvSpPr/>
            <p:nvPr/>
          </p:nvSpPr>
          <p:spPr>
            <a:xfrm flipH="1">
              <a:off x="6145200" y="2751120"/>
              <a:ext cx="493200" cy="596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93" name="Shape 5567"/>
            <p:cNvSpPr/>
            <p:nvPr/>
          </p:nvSpPr>
          <p:spPr>
            <a:xfrm>
              <a:off x="6786720" y="2781360"/>
              <a:ext cx="190080" cy="591840"/>
            </a:xfrm>
            <a:custGeom>
              <a:avLst/>
              <a:gdLst/>
              <a:ahLst/>
              <a:rect l="l" t="t" r="r" b="b"/>
              <a:pathLst>
                <a:path w="120" h="660">
                  <a:moveTo>
                    <a:pt x="120" y="0"/>
                  </a:moveTo>
                  <a:lnTo>
                    <a:pt x="0" y="66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94" name="Shape 5568"/>
            <p:cNvSpPr/>
            <p:nvPr/>
          </p:nvSpPr>
          <p:spPr>
            <a:xfrm flipH="1">
              <a:off x="7442280" y="2781360"/>
              <a:ext cx="190080" cy="593280"/>
            </a:xfrm>
            <a:custGeom>
              <a:avLst/>
              <a:gdLst/>
              <a:ahLst/>
              <a:rect l="l" t="t" r="r" b="b"/>
              <a:pathLst>
                <a:path w="120" h="660">
                  <a:moveTo>
                    <a:pt x="120" y="0"/>
                  </a:moveTo>
                  <a:lnTo>
                    <a:pt x="0" y="66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95" name="Shape 5569"/>
            <p:cNvSpPr/>
            <p:nvPr/>
          </p:nvSpPr>
          <p:spPr>
            <a:xfrm>
              <a:off x="7769160" y="2736720"/>
              <a:ext cx="493200" cy="596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96" name="Shape 5570"/>
            <p:cNvSpPr/>
            <p:nvPr/>
          </p:nvSpPr>
          <p:spPr>
            <a:xfrm>
              <a:off x="3424320" y="4971960"/>
              <a:ext cx="360" cy="434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97" name="Shape 5571"/>
            <p:cNvSpPr/>
            <p:nvPr/>
          </p:nvSpPr>
          <p:spPr>
            <a:xfrm>
              <a:off x="4122720" y="4971960"/>
              <a:ext cx="360" cy="4345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LibreOffice/7.3.5.2$Windows_X86_64 LibreOffice_project/184fe81b8c8c30d8b5082578aee2fed2ea847c01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2023-10-25T14:36:37Z</dcterms:modified>
  <cp:revision>4</cp:revision>
  <dc:subject/>
  <dc:title>第六章      图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165</vt:i4>
  </property>
  <property fmtid="{D5CDD505-2E9C-101B-9397-08002B2CF9AE}" pid="3" name="PresentationFormat">
    <vt:lpwstr>On-screen Show (4:3)</vt:lpwstr>
  </property>
  <property fmtid="{D5CDD505-2E9C-101B-9397-08002B2CF9AE}" pid="4" name="Slides">
    <vt:i4>165</vt:i4>
  </property>
</Properties>
</file>